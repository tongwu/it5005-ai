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50" r:id="rId1"/>
  </p:sldMasterIdLst>
  <p:notesMasterIdLst>
    <p:notesMasterId r:id="rId27"/>
  </p:notesMasterIdLst>
  <p:sldIdLst>
    <p:sldId id="256" r:id="rId2"/>
    <p:sldId id="297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314" r:id="rId20"/>
    <p:sldId id="315" r:id="rId21"/>
    <p:sldId id="316" r:id="rId22"/>
    <p:sldId id="317" r:id="rId23"/>
    <p:sldId id="318" r:id="rId24"/>
    <p:sldId id="319" r:id="rId25"/>
    <p:sldId id="296" r:id="rId26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6600"/>
    <a:srgbClr val="FFFFCC"/>
    <a:srgbClr val="FF3300"/>
    <a:srgbClr val="FF6600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2" autoAdjust="0"/>
    <p:restoredTop sz="94672"/>
  </p:normalViewPr>
  <p:slideViewPr>
    <p:cSldViewPr snapToGrid="0">
      <p:cViewPr varScale="1">
        <p:scale>
          <a:sx n="114" d="100"/>
          <a:sy n="114" d="100"/>
        </p:scale>
        <p:origin x="3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949B68-130A-43A3-A4FA-9BA4D12CC16D}" type="datetimeFigureOut">
              <a:rPr lang="en-US" smtClean="0"/>
              <a:t>3/7/2023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C78552-4062-41D7-8062-EDD305A5F88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500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60CFD70-C9DA-43F5-BE93-98E72C2DD3BB}" type="datetime1">
              <a:rPr lang="en-US" smtClean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44B1419-A6FF-474F-B11C-837FC17D387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5774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EA9-4BB2-4E01-90D1-AAB7FBE40271}" type="datetime1">
              <a:rPr lang="en-US" smtClean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46406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1629-E7E4-41BF-9475-9509A1DEBF55}" type="datetime1">
              <a:rPr lang="en-US" smtClean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678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EA9-4BB2-4E01-90D1-AAB7FBE40271}" type="datetime1">
              <a:rPr lang="en-US" smtClean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04797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EA9-4BB2-4E01-90D1-AAB7FBE40271}" type="datetime1">
              <a:rPr lang="en-US" smtClean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93935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9AF9F-C457-4136-A768-04193CDC4DC5}" type="datetime1">
              <a:rPr lang="en-US" smtClean="0"/>
              <a:t>3/7/2023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957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D36F-68DB-4E75-A07B-243AE2FCBECE}" type="datetime1">
              <a:rPr lang="en-US" smtClean="0"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4479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EA9-4BB2-4E01-90D1-AAB7FBE40271}" type="datetime1">
              <a:rPr lang="en-US" smtClean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4315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EA9-4BB2-4E01-90D1-AAB7FBE40271}" type="datetime1">
              <a:rPr lang="en-US" smtClean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93885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EA9-4BB2-4E01-90D1-AAB7FBE40271}" type="datetime1">
              <a:rPr lang="en-US" smtClean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8263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EA9-4BB2-4E01-90D1-AAB7FBE40271}" type="datetime1">
              <a:rPr lang="en-US" smtClean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87875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E195AEA9-4BB2-4E01-90D1-AAB7FBE40271}" type="datetime1">
              <a:rPr lang="en-US" smtClean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D44B1419-A6FF-474F-B11C-837FC17D38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824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51" r:id="rId1"/>
    <p:sldLayoutId id="2147484452" r:id="rId2"/>
    <p:sldLayoutId id="2147484453" r:id="rId3"/>
    <p:sldLayoutId id="2147484454" r:id="rId4"/>
    <p:sldLayoutId id="2147484455" r:id="rId5"/>
    <p:sldLayoutId id="2147484456" r:id="rId6"/>
    <p:sldLayoutId id="2147484457" r:id="rId7"/>
    <p:sldLayoutId id="2147484458" r:id="rId8"/>
    <p:sldLayoutId id="2147484459" r:id="rId9"/>
    <p:sldLayoutId id="2147484460" r:id="rId10"/>
    <p:sldLayoutId id="21474844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E2214-9E78-4D03-8199-9B78813307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IT5005</a:t>
            </a:r>
            <a:br>
              <a:rPr lang="en-SG" dirty="0"/>
            </a:br>
            <a:r>
              <a:rPr lang="en-SG" dirty="0"/>
              <a:t>Tutorial </a:t>
            </a:r>
            <a:r>
              <a:rPr lang="en-SG" dirty="0" smtClean="0"/>
              <a:t>#5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551B19-CA45-4421-9AD2-83F2CAB191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Informed and Adversarial Search</a:t>
            </a:r>
            <a:endParaRPr lang="en-US" sz="4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309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EE74-A130-1449-6315-4E6D901B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60BF1-9A49-93FD-019E-721AB234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13DA0-572D-1790-364C-0C52D15A4036}"/>
              </a:ext>
            </a:extLst>
          </p:cNvPr>
          <p:cNvSpPr txBox="1"/>
          <p:nvPr/>
        </p:nvSpPr>
        <p:spPr>
          <a:xfrm>
            <a:off x="983609" y="3562083"/>
            <a:ext cx="622032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b="1" dirty="0" smtClean="0"/>
              <a:t>(a) Give </a:t>
            </a:r>
            <a:r>
              <a:rPr lang="en-GB" b="1" dirty="0"/>
              <a:t>the representation of a state in this problem</a:t>
            </a:r>
            <a:endParaRPr lang="en-SG" sz="2400" b="1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222" y="1564372"/>
            <a:ext cx="7629525" cy="1866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609" y="4066956"/>
            <a:ext cx="708660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475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EE74-A130-1449-6315-4E6D901B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60BF1-9A49-93FD-019E-721AB234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13DA0-572D-1790-364C-0C52D15A4036}"/>
              </a:ext>
            </a:extLst>
          </p:cNvPr>
          <p:cNvSpPr txBox="1"/>
          <p:nvPr/>
        </p:nvSpPr>
        <p:spPr>
          <a:xfrm>
            <a:off x="983609" y="3562083"/>
            <a:ext cx="7719138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GB" b="1" dirty="0" smtClean="0"/>
              <a:t>(b) Using </a:t>
            </a:r>
            <a:r>
              <a:rPr lang="en-GB" b="1" dirty="0"/>
              <a:t>the state representation deﬁned above, specify the initial state and goal state.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222" y="1564372"/>
            <a:ext cx="7629525" cy="1866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561" y="4460497"/>
            <a:ext cx="69913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73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EE74-A130-1449-6315-4E6D901B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60BF1-9A49-93FD-019E-721AB234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13DA0-572D-1790-364C-0C52D15A4036}"/>
              </a:ext>
            </a:extLst>
          </p:cNvPr>
          <p:cNvSpPr txBox="1"/>
          <p:nvPr/>
        </p:nvSpPr>
        <p:spPr>
          <a:xfrm>
            <a:off x="983609" y="3562083"/>
            <a:ext cx="622032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GB" b="1" dirty="0" smtClean="0"/>
              <a:t>(c) Deﬁne </a:t>
            </a:r>
            <a:r>
              <a:rPr lang="en-GB" b="1" dirty="0"/>
              <a:t>its actions; and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222" y="1564372"/>
            <a:ext cx="7629525" cy="1866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222" y="4133543"/>
            <a:ext cx="738187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709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EE74-A130-1449-6315-4E6D901B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60BF1-9A49-93FD-019E-721AB234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13DA0-572D-1790-364C-0C52D15A4036}"/>
              </a:ext>
            </a:extLst>
          </p:cNvPr>
          <p:cNvSpPr txBox="1"/>
          <p:nvPr/>
        </p:nvSpPr>
        <p:spPr>
          <a:xfrm>
            <a:off x="1143000" y="1653596"/>
            <a:ext cx="7719138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GB" b="1" dirty="0" smtClean="0"/>
              <a:t>(d) </a:t>
            </a:r>
            <a:r>
              <a:rPr lang="en-GB" b="1" dirty="0"/>
              <a:t>Using the state representation and actions deﬁned above, specify the transition model/</a:t>
            </a:r>
            <a:r>
              <a:rPr lang="en-GB" b="1" dirty="0" err="1"/>
              <a:t>function</a:t>
            </a:r>
            <a:r>
              <a:rPr lang="en-GB" b="1" i="1" dirty="0" err="1"/>
              <a:t>T</a:t>
            </a:r>
            <a:r>
              <a:rPr lang="en-GB" b="1" dirty="0"/>
              <a:t> (i.e., when each of the actions deﬁned above is applied to a current state, what is the resulting next state?).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707737"/>
            <a:ext cx="7058025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381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EE74-A130-1449-6315-4E6D901B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</a:t>
            </a:r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60BF1-9A49-93FD-019E-721AB234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13DA0-572D-1790-364C-0C52D15A4036}"/>
              </a:ext>
            </a:extLst>
          </p:cNvPr>
          <p:cNvSpPr txBox="1"/>
          <p:nvPr/>
        </p:nvSpPr>
        <p:spPr>
          <a:xfrm>
            <a:off x="1143000" y="1653596"/>
            <a:ext cx="7719138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GB" dirty="0" smtClean="0"/>
              <a:t>(a) </a:t>
            </a:r>
            <a:r>
              <a:rPr lang="en-GB" b="1" dirty="0" smtClean="0"/>
              <a:t>Give </a:t>
            </a:r>
            <a:r>
              <a:rPr lang="en-GB" b="1" dirty="0"/>
              <a:t>a trace of the BFS algorithm in the style of Figure 3. That is, show the search tree at each stage (all repeated states are eliminated).</a:t>
            </a:r>
            <a:endParaRPr lang="en-US" b="1" dirty="0"/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10302240" y="275633"/>
            <a:ext cx="1432560" cy="10731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99" y="2539679"/>
            <a:ext cx="8758021" cy="313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1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EE74-A130-1449-6315-4E6D901B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</a:t>
            </a:r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60BF1-9A49-93FD-019E-721AB234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13DA0-572D-1790-364C-0C52D15A4036}"/>
              </a:ext>
            </a:extLst>
          </p:cNvPr>
          <p:cNvSpPr txBox="1"/>
          <p:nvPr/>
        </p:nvSpPr>
        <p:spPr>
          <a:xfrm>
            <a:off x="1143000" y="1653596"/>
            <a:ext cx="7719138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b="1" dirty="0" smtClean="0"/>
              <a:t>(b) </a:t>
            </a:r>
            <a:r>
              <a:rPr lang="en-GB" b="1" dirty="0"/>
              <a:t>Give a similar trace of the DFS search algorithm</a:t>
            </a:r>
            <a:r>
              <a:rPr lang="en-GB" b="1" dirty="0" smtClean="0"/>
              <a:t>.</a:t>
            </a:r>
            <a:endParaRPr lang="en-US" b="1" dirty="0"/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10302240" y="275633"/>
            <a:ext cx="1432560" cy="1073150"/>
          </a:xfrm>
          <a:prstGeom prst="rect">
            <a:avLst/>
          </a:prstGeom>
        </p:spPr>
      </p:pic>
      <p:pic>
        <p:nvPicPr>
          <p:cNvPr id="8" name="Picture 7" descr="A picture containing text, red, black, clock&#10;&#10;Description automatically generated"/>
          <p:cNvPicPr/>
          <p:nvPr/>
        </p:nvPicPr>
        <p:blipFill>
          <a:blip r:embed="rId3"/>
          <a:stretch>
            <a:fillRect/>
          </a:stretch>
        </p:blipFill>
        <p:spPr>
          <a:xfrm>
            <a:off x="2466364" y="2389822"/>
            <a:ext cx="5293654" cy="330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30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EE74-A130-1449-6315-4E6D901B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</a:t>
            </a:r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60BF1-9A49-93FD-019E-721AB234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13DA0-572D-1790-364C-0C52D15A4036}"/>
              </a:ext>
            </a:extLst>
          </p:cNvPr>
          <p:cNvSpPr txBox="1"/>
          <p:nvPr/>
        </p:nvSpPr>
        <p:spPr>
          <a:xfrm>
            <a:off x="1143000" y="1653596"/>
            <a:ext cx="7719138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b="1" dirty="0" smtClean="0"/>
              <a:t>(c) </a:t>
            </a:r>
            <a:r>
              <a:rPr lang="en-GB" b="1" dirty="0"/>
              <a:t>Which of these two search algorithms is better for this problem? Why? Is one search strategy always better than the other in general</a:t>
            </a:r>
            <a:r>
              <a:rPr lang="en-GB" b="1" dirty="0" smtClean="0"/>
              <a:t>?</a:t>
            </a:r>
            <a:endParaRPr lang="en-US" b="1" dirty="0"/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10302240" y="275633"/>
            <a:ext cx="1432560" cy="10731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372373"/>
            <a:ext cx="6657975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13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EE74-A130-1449-6315-4E6D901B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60BF1-9A49-93FD-019E-721AB234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097" y="1632750"/>
            <a:ext cx="7553325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012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EE74-A130-1449-6315-4E6D901B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60BF1-9A49-93FD-019E-721AB234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B13DA0-572D-1790-364C-0C52D15A4036}"/>
                  </a:ext>
                </a:extLst>
              </p:cNvPr>
              <p:cNvSpPr txBox="1"/>
              <p:nvPr/>
            </p:nvSpPr>
            <p:spPr>
              <a:xfrm>
                <a:off x="1143000" y="1653596"/>
                <a:ext cx="7719138" cy="309604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GB" b="1" dirty="0" smtClean="0"/>
                  <a:t>(a) </a:t>
                </a:r>
                <a:r>
                  <a:rPr lang="en-GB" b="1" dirty="0"/>
                  <a:t>We start with two heuristics:</a:t>
                </a:r>
                <a:endParaRPr lang="en-US" b="1" dirty="0"/>
              </a:p>
              <a:p>
                <a:r>
                  <a:rPr lang="en-GB" b="1" dirty="0"/>
                  <a:t> </a:t>
                </a:r>
                <a:endParaRPr lang="en-US" b="1" dirty="0"/>
              </a:p>
              <a:p>
                <a:r>
                  <a:rPr lang="en-GB" b="1" i="1" dirty="0"/>
                  <a:t>h</a:t>
                </a:r>
                <a:r>
                  <a:rPr lang="en-GB" b="1" i="1" baseline="-25000" dirty="0"/>
                  <a:t>1</a:t>
                </a:r>
                <a:r>
                  <a:rPr lang="en-GB" b="1" i="1" dirty="0"/>
                  <a:t> = # of misplaced tiles</a:t>
                </a:r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</m:sSub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/>
              </a:p>
              <a:p>
                <a:r>
                  <a:rPr lang="en-GB" b="1" dirty="0"/>
                  <a:t>Where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sub>
                        </m:sSub>
                        <m:r>
                          <a:rPr lang="en-GB" b="1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b="1" dirty="0"/>
                  <a:t> is the actual position of a tile,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a:rPr lang="en-GB" b="1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b="1" dirty="0"/>
                  <a:t> is its target position. The top left position is (1, 1) and the bottom right position is (3, 3). This is traditionally called a “Manhattan Distance”.</a:t>
                </a:r>
                <a:endParaRPr lang="en-US" b="1" dirty="0"/>
              </a:p>
              <a:p>
                <a:r>
                  <a:rPr lang="en-GB" b="1" dirty="0"/>
                  <a:t> </a:t>
                </a:r>
                <a:endParaRPr lang="en-US" b="1" dirty="0"/>
              </a:p>
              <a:p>
                <a:r>
                  <a:rPr lang="en-GB" b="1" dirty="0"/>
                  <a:t>Are both heuristics admissible? Why or why not?</a:t>
                </a:r>
                <a:endParaRPr 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B13DA0-572D-1790-364C-0C52D15A4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1653596"/>
                <a:ext cx="7719138" cy="3096040"/>
              </a:xfrm>
              <a:prstGeom prst="rect">
                <a:avLst/>
              </a:prstGeom>
              <a:blipFill>
                <a:blip r:embed="rId2"/>
                <a:stretch>
                  <a:fillRect l="-711" t="-984" b="-2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10302240" y="275633"/>
            <a:ext cx="1432560" cy="107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702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11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587267"/>
            <a:ext cx="7648575" cy="1905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492267"/>
            <a:ext cx="7210425" cy="1447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940067"/>
            <a:ext cx="7200900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588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12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98377"/>
            <a:ext cx="7172325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815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EE74-A130-1449-6315-4E6D901B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60BF1-9A49-93FD-019E-721AB234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B13DA0-572D-1790-364C-0C52D15A4036}"/>
                  </a:ext>
                </a:extLst>
              </p:cNvPr>
              <p:cNvSpPr txBox="1"/>
              <p:nvPr/>
            </p:nvSpPr>
            <p:spPr>
              <a:xfrm>
                <a:off x="1143000" y="1653596"/>
                <a:ext cx="7719138" cy="200144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GB" b="1" dirty="0" smtClean="0"/>
                  <a:t>(b) </a:t>
                </a:r>
                <a:r>
                  <a:rPr lang="en-GB" b="1" dirty="0"/>
                  <a:t>Consider two more heuristic functions:</a:t>
                </a:r>
                <a:endParaRPr lang="en-US" b="1" dirty="0"/>
              </a:p>
              <a:p>
                <a:r>
                  <a:rPr lang="en-GB" b="1" dirty="0"/>
                  <a:t> </a:t>
                </a:r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  <a:p>
                <a:r>
                  <a:rPr lang="en-GB" b="1" dirty="0"/>
                  <a:t> </a:t>
                </a:r>
                <a:endParaRPr lang="en-US" b="1" dirty="0"/>
              </a:p>
              <a:p>
                <a:r>
                  <a:rPr lang="en-GB" b="1" dirty="0"/>
                  <a:t>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GB" b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GB" b="1" dirty="0"/>
                  <a:t> admissible? Why or why not?</a:t>
                </a:r>
                <a:endParaRPr 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B13DA0-572D-1790-364C-0C52D15A4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1653596"/>
                <a:ext cx="7719138" cy="2001445"/>
              </a:xfrm>
              <a:prstGeom prst="rect">
                <a:avLst/>
              </a:prstGeom>
              <a:blipFill>
                <a:blip r:embed="rId2"/>
                <a:stretch>
                  <a:fillRect l="-711" t="-1520" b="-3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10302240" y="275633"/>
            <a:ext cx="1432560" cy="10731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937037"/>
            <a:ext cx="600075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595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EE74-A130-1449-6315-4E6D901B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60BF1-9A49-93FD-019E-721AB234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B13DA0-572D-1790-364C-0C52D15A4036}"/>
                  </a:ext>
                </a:extLst>
              </p:cNvPr>
              <p:cNvSpPr txBox="1"/>
              <p:nvPr/>
            </p:nvSpPr>
            <p:spPr>
              <a:xfrm>
                <a:off x="1143000" y="1653596"/>
                <a:ext cx="7719138" cy="200144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GB" b="1" dirty="0" smtClean="0"/>
                  <a:t>(b) </a:t>
                </a:r>
                <a:r>
                  <a:rPr lang="en-GB" b="1" dirty="0"/>
                  <a:t>Consider two more heuristic functions:</a:t>
                </a:r>
                <a:endParaRPr lang="en-US" b="1" dirty="0"/>
              </a:p>
              <a:p>
                <a:r>
                  <a:rPr lang="en-GB" b="1" dirty="0"/>
                  <a:t> </a:t>
                </a:r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  <a:p>
                <a:r>
                  <a:rPr lang="en-GB" b="1" dirty="0"/>
                  <a:t> </a:t>
                </a:r>
                <a:endParaRPr lang="en-US" b="1" dirty="0"/>
              </a:p>
              <a:p>
                <a:r>
                  <a:rPr lang="en-GB" b="1" dirty="0"/>
                  <a:t>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GB" b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GB" b="1" dirty="0"/>
                  <a:t> admissible? Why or why not?</a:t>
                </a:r>
                <a:endParaRPr 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B13DA0-572D-1790-364C-0C52D15A4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1653596"/>
                <a:ext cx="7719138" cy="2001445"/>
              </a:xfrm>
              <a:prstGeom prst="rect">
                <a:avLst/>
              </a:prstGeom>
              <a:blipFill>
                <a:blip r:embed="rId2"/>
                <a:stretch>
                  <a:fillRect l="-711" t="-1520" b="-3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10302240" y="275633"/>
            <a:ext cx="1432560" cy="10731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903328"/>
            <a:ext cx="763905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803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EE74-A130-1449-6315-4E6D901B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60BF1-9A49-93FD-019E-721AB234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B13DA0-572D-1790-364C-0C52D15A4036}"/>
                  </a:ext>
                </a:extLst>
              </p:cNvPr>
              <p:cNvSpPr txBox="1"/>
              <p:nvPr/>
            </p:nvSpPr>
            <p:spPr>
              <a:xfrm>
                <a:off x="1143000" y="1653596"/>
                <a:ext cx="7719138" cy="92333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GB" b="1" dirty="0" smtClean="0"/>
                  <a:t>(c) </a:t>
                </a:r>
                <a:r>
                  <a:rPr lang="en-GB" dirty="0"/>
                  <a:t>We consider the idea of dominance. A heuristic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is said to be dominant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if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GB" dirty="0"/>
                  <a:t> if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are admissible.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dominant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?  Compare the dominance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dirty="0"/>
                  <a:t>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B13DA0-572D-1790-364C-0C52D15A4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1653596"/>
                <a:ext cx="7719138" cy="923330"/>
              </a:xfrm>
              <a:prstGeom prst="rect">
                <a:avLst/>
              </a:prstGeom>
              <a:blipFill>
                <a:blip r:embed="rId2"/>
                <a:stretch>
                  <a:fillRect l="-711" t="-3289" r="-110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10302240" y="275633"/>
            <a:ext cx="1432560" cy="10731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753031"/>
            <a:ext cx="7991475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968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16</a:t>
            </a:fld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5713386" y="2690069"/>
            <a:ext cx="5731510" cy="1843405"/>
          </a:xfrm>
          <a:prstGeom prst="rect">
            <a:avLst/>
          </a:prstGeom>
        </p:spPr>
      </p:pic>
      <p:pic>
        <p:nvPicPr>
          <p:cNvPr id="6" name="Picture 5" descr="Text&#10;&#10;Description automatically generated"/>
          <p:cNvPicPr/>
          <p:nvPr/>
        </p:nvPicPr>
        <p:blipFill>
          <a:blip r:embed="rId3"/>
          <a:stretch>
            <a:fillRect/>
          </a:stretch>
        </p:blipFill>
        <p:spPr>
          <a:xfrm>
            <a:off x="1571820" y="1965960"/>
            <a:ext cx="3872137" cy="402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734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EE74-A130-1449-6315-4E6D901B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</a:t>
            </a:r>
            <a:r>
              <a:rPr lang="en-GB" dirty="0" smtClean="0"/>
              <a:t>4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60BF1-9A49-93FD-019E-721AB234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13DA0-572D-1790-364C-0C52D15A4036}"/>
              </a:ext>
            </a:extLst>
          </p:cNvPr>
          <p:cNvSpPr txBox="1"/>
          <p:nvPr/>
        </p:nvSpPr>
        <p:spPr>
          <a:xfrm>
            <a:off x="1143000" y="1653596"/>
            <a:ext cx="7719138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GB" dirty="0" smtClean="0"/>
              <a:t>(a) </a:t>
            </a:r>
            <a:r>
              <a:rPr lang="en-GB" dirty="0"/>
              <a:t>Assume that we iterate over nodes from right to left; mark with an ‘X’ all ARCS that are pruned by </a:t>
            </a:r>
            <a:r>
              <a:rPr lang="en-GB" i="1" dirty="0"/>
              <a:t>α</a:t>
            </a:r>
            <a:r>
              <a:rPr lang="en-GB" dirty="0"/>
              <a:t>-</a:t>
            </a:r>
            <a:r>
              <a:rPr lang="en-GB" i="1" dirty="0"/>
              <a:t>β</a:t>
            </a:r>
            <a:r>
              <a:rPr lang="en-GB" dirty="0"/>
              <a:t> pruning, if any</a:t>
            </a:r>
            <a:endParaRPr lang="en-US" dirty="0"/>
          </a:p>
        </p:txBody>
      </p:sp>
      <p:pic>
        <p:nvPicPr>
          <p:cNvPr id="11" name="Picture 10" descr="Text&#10;&#10;Description automatically generated"/>
          <p:cNvPicPr/>
          <p:nvPr/>
        </p:nvPicPr>
        <p:blipFill>
          <a:blip r:embed="rId2"/>
          <a:stretch>
            <a:fillRect/>
          </a:stretch>
        </p:blipFill>
        <p:spPr>
          <a:xfrm>
            <a:off x="8167764" y="2407572"/>
            <a:ext cx="3551158" cy="369484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219" y="2407572"/>
            <a:ext cx="4076700" cy="13906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2794" y="3905867"/>
            <a:ext cx="401955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040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EE74-A130-1449-6315-4E6D901B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4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60BF1-9A49-93FD-019E-721AB234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13DA0-572D-1790-364C-0C52D15A4036}"/>
              </a:ext>
            </a:extLst>
          </p:cNvPr>
          <p:cNvSpPr txBox="1"/>
          <p:nvPr/>
        </p:nvSpPr>
        <p:spPr>
          <a:xfrm>
            <a:off x="1143000" y="1653596"/>
            <a:ext cx="7719138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GB" dirty="0" smtClean="0"/>
              <a:t>(a) </a:t>
            </a:r>
            <a:r>
              <a:rPr lang="en-GB" dirty="0"/>
              <a:t>Assume that we iterate over nodes from right to left; mark with an ‘X’ all ARCS that are pruned by </a:t>
            </a:r>
            <a:r>
              <a:rPr lang="en-GB" i="1" dirty="0"/>
              <a:t>α</a:t>
            </a:r>
            <a:r>
              <a:rPr lang="en-GB" dirty="0"/>
              <a:t>-</a:t>
            </a:r>
            <a:r>
              <a:rPr lang="en-GB" i="1" dirty="0"/>
              <a:t>β</a:t>
            </a:r>
            <a:r>
              <a:rPr lang="en-GB" dirty="0"/>
              <a:t> pruning, if any</a:t>
            </a:r>
            <a:endParaRPr lang="en-US" dirty="0"/>
          </a:p>
        </p:txBody>
      </p:sp>
      <p:pic>
        <p:nvPicPr>
          <p:cNvPr id="11" name="Picture 10" descr="Text&#10;&#10;Description automatically generated"/>
          <p:cNvPicPr/>
          <p:nvPr/>
        </p:nvPicPr>
        <p:blipFill>
          <a:blip r:embed="rId2"/>
          <a:stretch>
            <a:fillRect/>
          </a:stretch>
        </p:blipFill>
        <p:spPr>
          <a:xfrm>
            <a:off x="8167764" y="2407572"/>
            <a:ext cx="3551158" cy="36948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094" y="2407572"/>
            <a:ext cx="5314950" cy="15621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3656" y="4077317"/>
            <a:ext cx="545782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72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EE74-A130-1449-6315-4E6D901B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4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60BF1-9A49-93FD-019E-721AB234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19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13DA0-572D-1790-364C-0C52D15A4036}"/>
              </a:ext>
            </a:extLst>
          </p:cNvPr>
          <p:cNvSpPr txBox="1"/>
          <p:nvPr/>
        </p:nvSpPr>
        <p:spPr>
          <a:xfrm>
            <a:off x="1143000" y="1653596"/>
            <a:ext cx="7719138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GB" dirty="0" smtClean="0"/>
              <a:t>(a) </a:t>
            </a:r>
            <a:r>
              <a:rPr lang="en-GB" dirty="0"/>
              <a:t>Assume that we iterate over nodes from right to left; mark with an ‘X’ all ARCS that are pruned by </a:t>
            </a:r>
            <a:r>
              <a:rPr lang="en-GB" i="1" dirty="0"/>
              <a:t>α</a:t>
            </a:r>
            <a:r>
              <a:rPr lang="en-GB" dirty="0"/>
              <a:t>-</a:t>
            </a:r>
            <a:r>
              <a:rPr lang="en-GB" i="1" dirty="0"/>
              <a:t>β</a:t>
            </a:r>
            <a:r>
              <a:rPr lang="en-GB" dirty="0"/>
              <a:t> pruning, if any</a:t>
            </a:r>
            <a:endParaRPr lang="en-US" dirty="0"/>
          </a:p>
        </p:txBody>
      </p:sp>
      <p:pic>
        <p:nvPicPr>
          <p:cNvPr id="10" name="Picture 9" descr="Text&#10;&#10;Description automatically generated"/>
          <p:cNvPicPr/>
          <p:nvPr/>
        </p:nvPicPr>
        <p:blipFill>
          <a:blip r:embed="rId2"/>
          <a:stretch>
            <a:fillRect/>
          </a:stretch>
        </p:blipFill>
        <p:spPr>
          <a:xfrm>
            <a:off x="8167764" y="2407572"/>
            <a:ext cx="3551158" cy="369484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308" y="4153517"/>
            <a:ext cx="5067300" cy="19240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7039" y="2419967"/>
            <a:ext cx="5800725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127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EE74-A130-1449-6315-4E6D901B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4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60BF1-9A49-93FD-019E-721AB234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20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13DA0-572D-1790-364C-0C52D15A4036}"/>
              </a:ext>
            </a:extLst>
          </p:cNvPr>
          <p:cNvSpPr txBox="1"/>
          <p:nvPr/>
        </p:nvSpPr>
        <p:spPr>
          <a:xfrm>
            <a:off x="1143000" y="1653596"/>
            <a:ext cx="7719138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GB" b="1" dirty="0" smtClean="0"/>
              <a:t>(b)</a:t>
            </a:r>
            <a:r>
              <a:rPr lang="en-GB" b="1" dirty="0"/>
              <a:t> Does you answer change if we iterate over nodes from left to right?</a:t>
            </a:r>
            <a:endParaRPr lang="en-US" b="1" dirty="0"/>
          </a:p>
        </p:txBody>
      </p:sp>
      <p:pic>
        <p:nvPicPr>
          <p:cNvPr id="10" name="Picture 9" descr="Text&#10;&#10;Description automatically generated"/>
          <p:cNvPicPr/>
          <p:nvPr/>
        </p:nvPicPr>
        <p:blipFill>
          <a:blip r:embed="rId2"/>
          <a:stretch>
            <a:fillRect/>
          </a:stretch>
        </p:blipFill>
        <p:spPr>
          <a:xfrm>
            <a:off x="8167764" y="2407572"/>
            <a:ext cx="3551158" cy="36948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070" y="2405880"/>
            <a:ext cx="4295775" cy="1333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2119" y="4122332"/>
            <a:ext cx="4257675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36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EE74-A130-1449-6315-4E6D901B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4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60BF1-9A49-93FD-019E-721AB234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13DA0-572D-1790-364C-0C52D15A4036}"/>
              </a:ext>
            </a:extLst>
          </p:cNvPr>
          <p:cNvSpPr txBox="1"/>
          <p:nvPr/>
        </p:nvSpPr>
        <p:spPr>
          <a:xfrm>
            <a:off x="1143000" y="1653596"/>
            <a:ext cx="7719138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GB" b="1" dirty="0" smtClean="0"/>
              <a:t>(b)</a:t>
            </a:r>
            <a:r>
              <a:rPr lang="en-GB" b="1" dirty="0"/>
              <a:t> Does you answer change if we iterate over nodes from left to right?</a:t>
            </a:r>
            <a:endParaRPr lang="en-US" b="1" dirty="0"/>
          </a:p>
        </p:txBody>
      </p:sp>
      <p:pic>
        <p:nvPicPr>
          <p:cNvPr id="10" name="Picture 9" descr="Text&#10;&#10;Description automatically generated"/>
          <p:cNvPicPr/>
          <p:nvPr/>
        </p:nvPicPr>
        <p:blipFill>
          <a:blip r:embed="rId2"/>
          <a:stretch>
            <a:fillRect/>
          </a:stretch>
        </p:blipFill>
        <p:spPr>
          <a:xfrm>
            <a:off x="8167764" y="2407572"/>
            <a:ext cx="3551158" cy="369484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769" y="2407572"/>
            <a:ext cx="4419600" cy="18383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194" y="4242202"/>
            <a:ext cx="4448175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39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EE74-A130-1449-6315-4E6D901B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4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60BF1-9A49-93FD-019E-721AB234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22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13DA0-572D-1790-364C-0C52D15A4036}"/>
              </a:ext>
            </a:extLst>
          </p:cNvPr>
          <p:cNvSpPr txBox="1"/>
          <p:nvPr/>
        </p:nvSpPr>
        <p:spPr>
          <a:xfrm>
            <a:off x="1143000" y="1653596"/>
            <a:ext cx="7719138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GB" b="1" dirty="0" smtClean="0"/>
              <a:t>(b)</a:t>
            </a:r>
            <a:r>
              <a:rPr lang="en-GB" b="1" dirty="0"/>
              <a:t> Does you answer change if we iterate over nodes from left to right?</a:t>
            </a:r>
            <a:endParaRPr lang="en-US" b="1" dirty="0"/>
          </a:p>
        </p:txBody>
      </p:sp>
      <p:pic>
        <p:nvPicPr>
          <p:cNvPr id="10" name="Picture 9" descr="Text&#10;&#10;Description automatically generated"/>
          <p:cNvPicPr/>
          <p:nvPr/>
        </p:nvPicPr>
        <p:blipFill>
          <a:blip r:embed="rId2"/>
          <a:stretch>
            <a:fillRect/>
          </a:stretch>
        </p:blipFill>
        <p:spPr>
          <a:xfrm>
            <a:off x="8167764" y="2407572"/>
            <a:ext cx="3551158" cy="369484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381" y="2407572"/>
            <a:ext cx="4524375" cy="21145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118" y="4474403"/>
            <a:ext cx="4152900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933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EE74-A130-1449-6315-4E6D901B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4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60BF1-9A49-93FD-019E-721AB234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23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13DA0-572D-1790-364C-0C52D15A4036}"/>
              </a:ext>
            </a:extLst>
          </p:cNvPr>
          <p:cNvSpPr txBox="1"/>
          <p:nvPr/>
        </p:nvSpPr>
        <p:spPr>
          <a:xfrm>
            <a:off x="1143000" y="1653596"/>
            <a:ext cx="7719138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GB" b="1" dirty="0" smtClean="0"/>
              <a:t>(b)</a:t>
            </a:r>
            <a:r>
              <a:rPr lang="en-GB" b="1" dirty="0"/>
              <a:t> Does you answer change if we iterate over nodes from left to right?</a:t>
            </a:r>
            <a:endParaRPr lang="en-US" b="1" dirty="0"/>
          </a:p>
        </p:txBody>
      </p:sp>
      <p:pic>
        <p:nvPicPr>
          <p:cNvPr id="10" name="Picture 9" descr="Text&#10;&#10;Description automatically generated"/>
          <p:cNvPicPr/>
          <p:nvPr/>
        </p:nvPicPr>
        <p:blipFill>
          <a:blip r:embed="rId2"/>
          <a:stretch>
            <a:fillRect/>
          </a:stretch>
        </p:blipFill>
        <p:spPr>
          <a:xfrm>
            <a:off x="8167764" y="2407572"/>
            <a:ext cx="3551158" cy="369484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1344" y="2114582"/>
            <a:ext cx="4362450" cy="2295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1344" y="4360103"/>
            <a:ext cx="455295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84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EE74-A130-1449-6315-4E6D901B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4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60BF1-9A49-93FD-019E-721AB234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24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13DA0-572D-1790-364C-0C52D15A4036}"/>
              </a:ext>
            </a:extLst>
          </p:cNvPr>
          <p:cNvSpPr txBox="1"/>
          <p:nvPr/>
        </p:nvSpPr>
        <p:spPr>
          <a:xfrm>
            <a:off x="1143000" y="1653596"/>
            <a:ext cx="7719138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GB" b="1" dirty="0" smtClean="0"/>
              <a:t>(b)</a:t>
            </a:r>
            <a:r>
              <a:rPr lang="en-GB" b="1" dirty="0"/>
              <a:t> Does you answer change if we iterate over nodes from left to right?</a:t>
            </a:r>
            <a:endParaRPr lang="en-US" b="1" dirty="0"/>
          </a:p>
        </p:txBody>
      </p:sp>
      <p:pic>
        <p:nvPicPr>
          <p:cNvPr id="10" name="Picture 9" descr="Text&#10;&#10;Description automatically generated"/>
          <p:cNvPicPr/>
          <p:nvPr/>
        </p:nvPicPr>
        <p:blipFill>
          <a:blip r:embed="rId2"/>
          <a:stretch>
            <a:fillRect/>
          </a:stretch>
        </p:blipFill>
        <p:spPr>
          <a:xfrm>
            <a:off x="8167764" y="2407572"/>
            <a:ext cx="3551158" cy="369484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519" y="2407572"/>
            <a:ext cx="4610100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42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1419-A6FF-474F-B11C-837FC17D387F}" type="slidenum">
              <a:rPr lang="en-US" smtClean="0"/>
              <a:t>25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807A13-2327-4E5F-A79E-55A24B63E860}"/>
              </a:ext>
            </a:extLst>
          </p:cNvPr>
          <p:cNvSpPr txBox="1"/>
          <p:nvPr/>
        </p:nvSpPr>
        <p:spPr>
          <a:xfrm>
            <a:off x="2346960" y="2844225"/>
            <a:ext cx="754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SG" sz="4800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49029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sis">
  <a:themeElements>
    <a:clrScheme name="Custom 1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2570</TotalTime>
  <Words>824</Words>
  <Application>Microsoft Office PowerPoint</Application>
  <PresentationFormat>Widescreen</PresentationFormat>
  <Paragraphs>86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Calibri</vt:lpstr>
      <vt:lpstr>Cambria Math</vt:lpstr>
      <vt:lpstr>Corbel</vt:lpstr>
      <vt:lpstr>Basis</vt:lpstr>
      <vt:lpstr>IT5005 Tutorial #5</vt:lpstr>
      <vt:lpstr>Question 1</vt:lpstr>
      <vt:lpstr>Question 1</vt:lpstr>
      <vt:lpstr>Question 1</vt:lpstr>
      <vt:lpstr>Question 1</vt:lpstr>
      <vt:lpstr>Question 2</vt:lpstr>
      <vt:lpstr>Question 2</vt:lpstr>
      <vt:lpstr>Question 2</vt:lpstr>
      <vt:lpstr>Question 3</vt:lpstr>
      <vt:lpstr>Question 3</vt:lpstr>
      <vt:lpstr>Question 3</vt:lpstr>
      <vt:lpstr>Question 3</vt:lpstr>
      <vt:lpstr>Question 3</vt:lpstr>
      <vt:lpstr>Question 3</vt:lpstr>
      <vt:lpstr>Question 3</vt:lpstr>
      <vt:lpstr>Question 4</vt:lpstr>
      <vt:lpstr>Question 4</vt:lpstr>
      <vt:lpstr>Question 4</vt:lpstr>
      <vt:lpstr>Question 4</vt:lpstr>
      <vt:lpstr>Question 4</vt:lpstr>
      <vt:lpstr>Question 4</vt:lpstr>
      <vt:lpstr>Question 4</vt:lpstr>
      <vt:lpstr>Question 4</vt:lpstr>
      <vt:lpstr>Question 4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Tut9</dc:title>
  <dc:creator>Biao Wu</dc:creator>
  <cp:lastModifiedBy>Tan Keng Yan, Colin</cp:lastModifiedBy>
  <cp:revision>447</cp:revision>
  <cp:lastPrinted>2020-04-01T05:50:33Z</cp:lastPrinted>
  <dcterms:created xsi:type="dcterms:W3CDTF">2020-03-29T08:20:19Z</dcterms:created>
  <dcterms:modified xsi:type="dcterms:W3CDTF">2023-03-07T02:49:17Z</dcterms:modified>
</cp:coreProperties>
</file>