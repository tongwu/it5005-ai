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50" r:id="rId1"/>
  </p:sldMasterIdLst>
  <p:notesMasterIdLst>
    <p:notesMasterId r:id="rId26"/>
  </p:notesMasterIdLst>
  <p:sldIdLst>
    <p:sldId id="256" r:id="rId2"/>
    <p:sldId id="297" r:id="rId3"/>
    <p:sldId id="33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40" r:id="rId24"/>
    <p:sldId id="296" r:id="rId25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00"/>
    <a:srgbClr val="FFFFCC"/>
    <a:srgbClr val="FF3300"/>
    <a:srgbClr val="FF66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2" autoAdjust="0"/>
    <p:restoredTop sz="94672"/>
  </p:normalViewPr>
  <p:slideViewPr>
    <p:cSldViewPr snapToGrid="0">
      <p:cViewPr varScale="1">
        <p:scale>
          <a:sx n="99" d="100"/>
          <a:sy n="99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49B68-130A-43A3-A4FA-9BA4D12CC16D}" type="datetimeFigureOut">
              <a:rPr lang="en-US" smtClean="0"/>
              <a:t>3/13/23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78552-4062-41D7-8062-EDD305A5F8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50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0CFD70-C9DA-43F5-BE93-98E72C2DD3BB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577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6406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629-E7E4-41BF-9475-9509A1DEBF55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67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4797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9393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9AF9F-C457-4136-A768-04193CDC4DC5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95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D36F-68DB-4E75-A07B-243AE2FCBECE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447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4315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3885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263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8787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195AEA9-4BB2-4E01-90D1-AAB7FBE40271}" type="datetime1">
              <a:rPr lang="en-US" smtClean="0"/>
              <a:t>3/13/23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824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1" r:id="rId1"/>
    <p:sldLayoutId id="2147484452" r:id="rId2"/>
    <p:sldLayoutId id="2147484453" r:id="rId3"/>
    <p:sldLayoutId id="2147484454" r:id="rId4"/>
    <p:sldLayoutId id="2147484455" r:id="rId5"/>
    <p:sldLayoutId id="2147484456" r:id="rId6"/>
    <p:sldLayoutId id="2147484457" r:id="rId7"/>
    <p:sldLayoutId id="2147484458" r:id="rId8"/>
    <p:sldLayoutId id="2147484459" r:id="rId9"/>
    <p:sldLayoutId id="2147484460" r:id="rId10"/>
    <p:sldLayoutId id="21474844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2214-9E78-4D03-8199-9B7881330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IT5005</a:t>
            </a:r>
            <a:br>
              <a:rPr lang="en-SG" dirty="0"/>
            </a:br>
            <a:r>
              <a:rPr lang="en-SG" dirty="0"/>
              <a:t>Tutorial #6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51B19-CA45-4421-9AD2-83F2CAB191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800" dirty="0"/>
              <a:t>Adversarial Search,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30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449546-AF7A-4AE4-7916-9CC5A573E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1541037"/>
            <a:ext cx="9434060" cy="23355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65F6F3-2CE9-907D-3E24-ABF7FDB81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892" y="3991002"/>
            <a:ext cx="1706216" cy="223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7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6C7A-C45A-5C18-0394-8D418A90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5390F-3FA6-5E94-651B-E463321E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5CA3C-638D-7D1A-A2D3-DAB3AA1E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52599"/>
            <a:ext cx="7357056" cy="485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6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983608" y="1781294"/>
            <a:ext cx="3627029" cy="18466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(a) </a:t>
            </a:r>
          </a:p>
          <a:p>
            <a:r>
              <a:rPr lang="en-SG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the minimax algorithm to determine the first move of the player, searching 2-ply deep search space shown in Figure 2.</a:t>
            </a:r>
          </a:p>
          <a:p>
            <a:endParaRPr lang="en-SG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259E5-8B5B-B23D-4A26-90C91F17C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17" y="1015455"/>
            <a:ext cx="7212914" cy="493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2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983608" y="1781294"/>
            <a:ext cx="5653583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(b) </a:t>
            </a:r>
          </a:p>
          <a:p>
            <a:r>
              <a:rPr lang="en-SG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Assume that the “x” player will now make his second move after his opponent has placed an “o”. Complete the following minimax tree in Figure 3</a:t>
            </a:r>
            <a:r>
              <a:rPr lang="en-SG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SG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by filling the remaining blank boards at the leaf nodes. Compute the evaluation function for each of the filled leaf nodes and determine the second move of the “x” player (searching 2-ply deep).</a:t>
            </a:r>
            <a:r>
              <a:rPr lang="en-SG" dirty="0">
                <a:effectLst/>
              </a:rPr>
              <a:t> </a:t>
            </a:r>
            <a:endParaRPr lang="en-SG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73E35A-486C-5DD1-C360-31F22E0C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191" y="447361"/>
            <a:ext cx="4902005" cy="614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6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92BA-CA2C-4574-9066-535D4CC0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8156A-6959-F5FB-D0A0-C907684E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0923F-F08E-EF6A-8DB1-7B5D84DE1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1833002"/>
            <a:ext cx="8749140" cy="159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9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F970-5129-4ED8-E9D9-7275E31D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8398C-3970-8471-C116-5FD6D31E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F1EFD-C8F7-7D4C-4829-486F749A57B6}"/>
              </a:ext>
            </a:extLst>
          </p:cNvPr>
          <p:cNvSpPr txBox="1"/>
          <p:nvPr/>
        </p:nvSpPr>
        <p:spPr>
          <a:xfrm>
            <a:off x="983608" y="1781294"/>
            <a:ext cx="10034912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(a) </a:t>
            </a:r>
          </a:p>
          <a:p>
            <a:r>
              <a:rPr lang="en-SG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Model this problem as a minimax search problem. Draw out the search tree. What is the defender’s payoff in this game?</a:t>
            </a:r>
            <a:r>
              <a:rPr lang="en-SG" dirty="0">
                <a:effectLst/>
              </a:rPr>
              <a:t> </a:t>
            </a:r>
            <a:endParaRPr lang="en-SG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3A22EB-2E1C-3E41-878D-C01BD825E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368" y="2943701"/>
            <a:ext cx="4266459" cy="285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6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F970-5129-4ED8-E9D9-7275E31D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8398C-3970-8471-C116-5FD6D31E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F1EFD-C8F7-7D4C-4829-486F749A57B6}"/>
              </a:ext>
            </a:extLst>
          </p:cNvPr>
          <p:cNvSpPr txBox="1"/>
          <p:nvPr/>
        </p:nvSpPr>
        <p:spPr>
          <a:xfrm>
            <a:off x="983608" y="1781294"/>
            <a:ext cx="1003491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(b) </a:t>
            </a:r>
          </a:p>
          <a:p>
            <a:r>
              <a:rPr lang="en-SG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Can the defender do better by randomizing? What is the defender’s optimal strategy? Prove your claim.</a:t>
            </a:r>
            <a:r>
              <a:rPr lang="en-SG" dirty="0">
                <a:effectLst/>
              </a:rPr>
              <a:t> </a:t>
            </a:r>
            <a:endParaRPr lang="en-SG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78CA2-327B-8579-5D31-B84E7938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08" y="2540754"/>
            <a:ext cx="10137016" cy="211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1A5F-2AFF-118A-90FA-A178E771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A3878-A7F0-D1FA-44BE-F9A432C3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A6C17-BA28-7A2F-AD48-28E624C33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03399"/>
            <a:ext cx="7176752" cy="381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2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F970-5129-4ED8-E9D9-7275E31D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8398C-3970-8471-C116-5FD6D31E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6F1EFD-C8F7-7D4C-4829-486F749A57B6}"/>
                  </a:ext>
                </a:extLst>
              </p:cNvPr>
              <p:cNvSpPr txBox="1"/>
              <p:nvPr/>
            </p:nvSpPr>
            <p:spPr>
              <a:xfrm>
                <a:off x="983608" y="1781294"/>
                <a:ext cx="10034912" cy="258057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</a:rPr>
                  <a:t>(a) </a:t>
                </a:r>
              </a:p>
              <a:p>
                <a:pPr lvl="0" algn="just"/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Using an L2 norm (a “norm” is just another name for distance) defined as:</a:t>
                </a:r>
                <a:endParaRPr lang="en-SG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algn="just"/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SG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SG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SG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SG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SG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SG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29235" indent="-6350" algn="just">
                  <a:lnSpc>
                    <a:spcPct val="104000"/>
                  </a:lnSpc>
                  <a:spcAft>
                    <a:spcPts val="14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 </a:t>
                </a:r>
                <a:endParaRPr lang="en-SG" sz="18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229235" indent="-6350" algn="l">
                  <a:lnSpc>
                    <a:spcPct val="104000"/>
                  </a:lnSpc>
                  <a:spcAft>
                    <a:spcPts val="14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 </a:t>
                </a:r>
                <a:endParaRPr lang="en-SG" sz="18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229235" indent="-6350" algn="just">
                  <a:lnSpc>
                    <a:spcPct val="104000"/>
                  </a:lnSpc>
                  <a:spcAft>
                    <a:spcPts val="14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	Compute the following table showing the distance between X and each of the units:</a:t>
                </a:r>
                <a:endParaRPr lang="en-SG" sz="18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6F1EFD-C8F7-7D4C-4829-486F749A5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08" y="1781294"/>
                <a:ext cx="10034912" cy="2580578"/>
              </a:xfrm>
              <a:prstGeom prst="rect">
                <a:avLst/>
              </a:prstGeom>
              <a:blipFill>
                <a:blip r:embed="rId2"/>
                <a:stretch>
                  <a:fillRect l="-506" t="-980"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014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0EDE-020C-5103-1D8D-415E4524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14D11-EBFA-B0C8-7BDA-93A48A49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B211B-41BE-9D87-3B3B-E433F0D0A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38" y="1728410"/>
            <a:ext cx="7673662" cy="386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7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F970-5129-4ED8-E9D9-7275E31D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8398C-3970-8471-C116-5FD6D31E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F1EFD-C8F7-7D4C-4829-486F749A57B6}"/>
              </a:ext>
            </a:extLst>
          </p:cNvPr>
          <p:cNvSpPr txBox="1"/>
          <p:nvPr/>
        </p:nvSpPr>
        <p:spPr>
          <a:xfrm>
            <a:off x="983608" y="1781294"/>
            <a:ext cx="1003491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(b) </a:t>
            </a:r>
          </a:p>
          <a:p>
            <a:pPr lvl="0"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Explain the purpose of the neighborhood function 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Kohonen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maps.</a:t>
            </a:r>
            <a:r>
              <a:rPr lang="en-SG" dirty="0">
                <a:effectLst/>
              </a:rPr>
              <a:t> </a:t>
            </a:r>
            <a:endParaRPr lang="en-SG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870DD-6F93-7C7E-C462-7A616BD2F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2616953"/>
            <a:ext cx="9232575" cy="16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4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F970-5129-4ED8-E9D9-7275E31D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8398C-3970-8471-C116-5FD6D31E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F1EFD-C8F7-7D4C-4829-486F749A57B6}"/>
              </a:ext>
            </a:extLst>
          </p:cNvPr>
          <p:cNvSpPr txBox="1"/>
          <p:nvPr/>
        </p:nvSpPr>
        <p:spPr>
          <a:xfrm>
            <a:off x="983608" y="1781294"/>
            <a:ext cx="10034912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(b) </a:t>
            </a:r>
          </a:p>
          <a:p>
            <a:pPr lvl="0"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 have the following neighborhood function:</a:t>
            </a:r>
          </a:p>
          <a:p>
            <a:pPr lvl="0" algn="just"/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0" algn="just"/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57200" algn="just"/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a training rate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0.7, update 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Kohonen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map based on your results in part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a.  Write out the new map below</a:t>
            </a:r>
            <a:r>
              <a:rPr lang="en-SG" dirty="0">
                <a:effectLst/>
              </a:rPr>
              <a:t>  </a:t>
            </a:r>
          </a:p>
          <a:p>
            <a:pPr lvl="0" algn="just"/>
            <a:endParaRPr lang="en-SG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/>
            <a:endParaRPr lang="en-SG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D2746B-FD09-A03B-B334-CF68B73DF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08" y="2381458"/>
            <a:ext cx="56007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96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17C34-8860-600E-43D0-5AC0EB2E8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5D6F3-E1BF-E701-0F91-162A45D7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37EFA-CD32-955B-FBC3-4C98D85FE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29932"/>
            <a:ext cx="8049024" cy="394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6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5CFA-CB07-DA81-07F2-D3F532A1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86AF8-CDC4-F305-4D53-EC355487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BB8AC1-8F14-DABF-8E8D-82F0AC78D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23999"/>
            <a:ext cx="8357172" cy="506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BABA-1D41-C8D9-7A59-B1C31BCE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7C1-554E-4134-116C-801B008A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3EE0F-8957-0762-F493-5C4020CD24FD}"/>
              </a:ext>
            </a:extLst>
          </p:cNvPr>
          <p:cNvSpPr txBox="1"/>
          <p:nvPr/>
        </p:nvSpPr>
        <p:spPr>
          <a:xfrm>
            <a:off x="983608" y="1781294"/>
            <a:ext cx="10034912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(a) </a:t>
            </a:r>
          </a:p>
          <a:p>
            <a:pPr lvl="0"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What is the purpose of the bias 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Perceptrons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? Show, using a suitable example, the importance if this bias.</a:t>
            </a:r>
            <a:r>
              <a:rPr lang="en-SG" dirty="0">
                <a:effectLst/>
              </a:rPr>
              <a:t> </a:t>
            </a:r>
            <a:endParaRPr lang="en-SG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600DE-7C57-7FE4-8C30-476971F35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08" y="2911118"/>
            <a:ext cx="10096414" cy="166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2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BABA-1D41-C8D9-7A59-B1C31BCE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7C1-554E-4134-116C-801B008A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3EE0F-8957-0762-F493-5C4020CD24FD}"/>
              </a:ext>
            </a:extLst>
          </p:cNvPr>
          <p:cNvSpPr txBox="1"/>
          <p:nvPr/>
        </p:nvSpPr>
        <p:spPr>
          <a:xfrm>
            <a:off x="983608" y="1781294"/>
            <a:ext cx="1003491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(b) </a:t>
            </a:r>
          </a:p>
          <a:p>
            <a:pPr lvl="0"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Does the value of the bias matter? Why or why not?</a:t>
            </a:r>
            <a:r>
              <a:rPr lang="en-SG" dirty="0">
                <a:effectLst/>
              </a:rPr>
              <a:t> </a:t>
            </a:r>
            <a:endParaRPr lang="en-SG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ED3314-0F62-39A7-DEC5-E5D67C3BC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07" y="2740550"/>
            <a:ext cx="10012213" cy="168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5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BABA-1D41-C8D9-7A59-B1C31BCE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7C1-554E-4134-116C-801B008A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3EE0F-8957-0762-F493-5C4020CD24FD}"/>
              </a:ext>
            </a:extLst>
          </p:cNvPr>
          <p:cNvSpPr txBox="1"/>
          <p:nvPr/>
        </p:nvSpPr>
        <p:spPr>
          <a:xfrm>
            <a:off x="983608" y="1781294"/>
            <a:ext cx="10034912" cy="4524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(c) </a:t>
            </a:r>
          </a:p>
          <a:p>
            <a:pPr lvl="0"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 have a 1-input Perceptron shown below, with a bias input of 1:</a:t>
            </a:r>
            <a:r>
              <a:rPr lang="en-SG" dirty="0">
                <a:effectLst/>
              </a:rPr>
              <a:t> </a:t>
            </a:r>
          </a:p>
          <a:p>
            <a:pPr lvl="0" algn="just"/>
            <a:endParaRPr lang="en-SG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/>
            <a:endParaRPr lang="en-SG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/>
            <a:endParaRPr lang="en-SG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/>
            <a:endParaRPr lang="en-SG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/>
            <a:endParaRPr lang="en-SG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/>
            <a:endParaRPr lang="en-SG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Given the following data to be learnt:</a:t>
            </a:r>
          </a:p>
          <a:p>
            <a:pPr algn="just"/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en-SG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Complete the following table:</a:t>
            </a:r>
            <a:endParaRPr lang="en-SG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/>
            <a:r>
              <a:rPr lang="en-SG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88AF756-64BC-D4A2-D3E8-387059D68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59" y="4350608"/>
            <a:ext cx="6096000" cy="1079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B5DA0F-3D01-F0ED-AA0C-D6B7971CF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91" y="2507392"/>
            <a:ext cx="3445743" cy="172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39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1AD9-1CE5-2A57-B575-1DFE3CEB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B67AE-96AB-3A36-9705-F2D78C04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3F995-36CC-1445-ACEA-BD8D48E6F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1536700"/>
            <a:ext cx="9744295" cy="288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1BD0E-FB1E-3343-5376-9A261583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2A315-C116-F5FD-7F48-FE4D8D86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5F293-B08E-9B13-1D86-8047EFFC6A23}"/>
              </a:ext>
            </a:extLst>
          </p:cNvPr>
          <p:cNvSpPr txBox="1"/>
          <p:nvPr/>
        </p:nvSpPr>
        <p:spPr>
          <a:xfrm>
            <a:off x="983608" y="1781294"/>
            <a:ext cx="3511119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(d)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Using the results in part c., apply the Perceptron learning law to update the weights, using a learning rate of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2" charset="2"/>
              </a:rPr>
              <a:t>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= 0.6. Write the new weights on the diagrams below:</a:t>
            </a:r>
            <a:r>
              <a:rPr lang="en-SG" dirty="0">
                <a:effectLst/>
              </a:rPr>
              <a:t> </a:t>
            </a:r>
            <a:endParaRPr lang="en-SG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E724F4-D6DF-BFBE-5A57-D0A35FA19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120" y="1592508"/>
            <a:ext cx="7265116" cy="490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3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70322-5CA5-04B5-0408-489E54C41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02676-2281-5667-1A0D-1B62950C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E8C85-CEB7-EB1F-9435-EF329FE84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1651828"/>
            <a:ext cx="7485845" cy="497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1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0C5AB-3BE8-33DC-E1E5-1B854408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71707-5D46-FF11-E4FE-DA3241E21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6E9A64-A503-43E7-8FDF-E511D6EEE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097" y="269046"/>
            <a:ext cx="8103413" cy="595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C915-9869-2B1A-1BA1-519652F6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2D7DF-1B8B-D392-5FA2-40E070B2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527F9-F03F-1B26-A298-552665B26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822" y="765131"/>
            <a:ext cx="7361797" cy="551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5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07A13-2327-4E5F-A79E-55A24B63E860}"/>
              </a:ext>
            </a:extLst>
          </p:cNvPr>
          <p:cNvSpPr txBox="1"/>
          <p:nvPr/>
        </p:nvSpPr>
        <p:spPr>
          <a:xfrm>
            <a:off x="2346960" y="2844225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48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49029267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2813</TotalTime>
  <Words>433</Words>
  <Application>Microsoft Macintosh PowerPoint</Application>
  <PresentationFormat>Widescreen</PresentationFormat>
  <Paragraphs>93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Cambria Math</vt:lpstr>
      <vt:lpstr>Corbel</vt:lpstr>
      <vt:lpstr>Basis</vt:lpstr>
      <vt:lpstr>IT5005 Tutorial #6</vt:lpstr>
      <vt:lpstr>Question 1</vt:lpstr>
      <vt:lpstr>Question 1</vt:lpstr>
      <vt:lpstr>Question 1</vt:lpstr>
      <vt:lpstr>Question 1</vt:lpstr>
      <vt:lpstr>Question 2</vt:lpstr>
      <vt:lpstr>Question 2</vt:lpstr>
      <vt:lpstr>Question 2</vt:lpstr>
      <vt:lpstr>Question 3</vt:lpstr>
      <vt:lpstr>Question 3</vt:lpstr>
      <vt:lpstr>Question 3</vt:lpstr>
      <vt:lpstr>Question 3</vt:lpstr>
      <vt:lpstr>Question 3</vt:lpstr>
      <vt:lpstr>Question 3</vt:lpstr>
      <vt:lpstr>Question 3</vt:lpstr>
      <vt:lpstr>Question 4</vt:lpstr>
      <vt:lpstr>Question 4</vt:lpstr>
      <vt:lpstr>Question 4</vt:lpstr>
      <vt:lpstr>Question 4</vt:lpstr>
      <vt:lpstr>Question 4</vt:lpstr>
      <vt:lpstr>Question 4</vt:lpstr>
      <vt:lpstr>Question 4</vt:lpstr>
      <vt:lpstr>Question 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Tut9</dc:title>
  <dc:creator>Biao Wu</dc:creator>
  <cp:lastModifiedBy>Tan Keng Yan, Colin</cp:lastModifiedBy>
  <cp:revision>465</cp:revision>
  <cp:lastPrinted>2020-04-01T05:50:33Z</cp:lastPrinted>
  <dcterms:created xsi:type="dcterms:W3CDTF">2020-03-29T08:20:19Z</dcterms:created>
  <dcterms:modified xsi:type="dcterms:W3CDTF">2023-03-13T12:23:09Z</dcterms:modified>
</cp:coreProperties>
</file>