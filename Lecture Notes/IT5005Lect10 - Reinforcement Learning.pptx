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85" r:id="rId3"/>
  </p:sldMasterIdLst>
  <p:notesMasterIdLst>
    <p:notesMasterId r:id="rId41"/>
  </p:notesMasterIdLst>
  <p:sldIdLst>
    <p:sldId id="256" r:id="rId4"/>
    <p:sldId id="397" r:id="rId5"/>
    <p:sldId id="398" r:id="rId6"/>
    <p:sldId id="476" r:id="rId7"/>
    <p:sldId id="477" r:id="rId8"/>
    <p:sldId id="478" r:id="rId9"/>
    <p:sldId id="479" r:id="rId10"/>
    <p:sldId id="480" r:id="rId11"/>
    <p:sldId id="481" r:id="rId12"/>
    <p:sldId id="482" r:id="rId13"/>
    <p:sldId id="483" r:id="rId14"/>
    <p:sldId id="501" r:id="rId15"/>
    <p:sldId id="500" r:id="rId16"/>
    <p:sldId id="486" r:id="rId17"/>
    <p:sldId id="488" r:id="rId18"/>
    <p:sldId id="493" r:id="rId19"/>
    <p:sldId id="494" r:id="rId20"/>
    <p:sldId id="495" r:id="rId21"/>
    <p:sldId id="496" r:id="rId22"/>
    <p:sldId id="497" r:id="rId23"/>
    <p:sldId id="498" r:id="rId24"/>
    <p:sldId id="499" r:id="rId25"/>
    <p:sldId id="515" r:id="rId26"/>
    <p:sldId id="516" r:id="rId27"/>
    <p:sldId id="502" r:id="rId28"/>
    <p:sldId id="503" r:id="rId29"/>
    <p:sldId id="504" r:id="rId30"/>
    <p:sldId id="505" r:id="rId31"/>
    <p:sldId id="506" r:id="rId32"/>
    <p:sldId id="507" r:id="rId33"/>
    <p:sldId id="508" r:id="rId34"/>
    <p:sldId id="509" r:id="rId35"/>
    <p:sldId id="511" r:id="rId36"/>
    <p:sldId id="512" r:id="rId37"/>
    <p:sldId id="513" r:id="rId38"/>
    <p:sldId id="517" r:id="rId39"/>
    <p:sldId id="518" r:id="rId4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2"/>
    <p:restoredTop sz="94722"/>
  </p:normalViewPr>
  <p:slideViewPr>
    <p:cSldViewPr snapToGrid="0" snapToObjects="1">
      <p:cViewPr varScale="1">
        <p:scale>
          <a:sx n="114" d="100"/>
          <a:sy n="114" d="100"/>
        </p:scale>
        <p:origin x="8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FB812-A9EC-154A-AEED-8655930439B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2C8E0-764B-DD40-AB5B-8F1D61D4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3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3. Pruning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7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11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23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80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16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93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8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6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77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74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96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37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53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51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01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86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03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94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87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007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444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579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65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559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66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2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GB" altLang="en-US" noProof="0"/>
              <a:t>Click to edit Master title style</a:t>
            </a:r>
            <a:endParaRPr lang="en-US" altLang="en-US" noProof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GB" altLang="en-US" noProof="0"/>
              <a:t>Click to edit Master subtitle style</a:t>
            </a:r>
            <a:endParaRPr lang="en-US" altLang="en-US" noProof="0"/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 sz="1800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2641602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800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1480800" y="6400800"/>
            <a:ext cx="71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91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3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9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90600"/>
            <a:ext cx="5384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90600"/>
            <a:ext cx="5384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2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1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1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1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1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7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2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6"/>
            <a:ext cx="2743200" cy="619918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6"/>
            <a:ext cx="8026400" cy="619918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6"/>
            <a:ext cx="10972800" cy="71278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90600"/>
            <a:ext cx="10972800" cy="5486400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1480800" y="6400800"/>
            <a:ext cx="711200" cy="457200"/>
          </a:xfrm>
        </p:spPr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0" y="6521450"/>
            <a:ext cx="59944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74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2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GB" altLang="en-US" noProof="0"/>
              <a:t>Click to edit Master title style</a:t>
            </a:r>
            <a:endParaRPr lang="en-US" altLang="en-US" noProof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GB" altLang="en-US" noProof="0"/>
              <a:t>Click to edit Master subtitle style</a:t>
            </a:r>
            <a:endParaRPr lang="en-US" altLang="en-US" noProof="0"/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2641602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3979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18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053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53848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3848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029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6674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037F2-F589-6C47-BEEA-57FDCEB8E4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80800" y="6400800"/>
            <a:ext cx="71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448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148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7594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4368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5032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63246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63246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94881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 algn="ctr">
              <a:buNone/>
              <a:defRPr sz="2100"/>
            </a:lvl2pPr>
            <a:lvl3pPr marL="685783" indent="0" algn="ctr">
              <a:buNone/>
              <a:defRPr sz="1800"/>
            </a:lvl3pPr>
            <a:lvl4pPr marL="1028674" indent="0" algn="ctr">
              <a:buNone/>
              <a:defRPr sz="1500"/>
            </a:lvl4pPr>
            <a:lvl5pPr marL="1371566" indent="0" algn="ctr">
              <a:buNone/>
              <a:defRPr sz="1500"/>
            </a:lvl5pPr>
            <a:lvl6pPr marL="1714457" indent="0" algn="ctr">
              <a:buNone/>
              <a:defRPr sz="1500"/>
            </a:lvl6pPr>
            <a:lvl7pPr marL="2057349" indent="0" algn="ctr">
              <a:buNone/>
              <a:defRPr sz="1500"/>
            </a:lvl7pPr>
            <a:lvl8pPr marL="2400240" indent="0" algn="ctr">
              <a:buNone/>
              <a:defRPr sz="1500"/>
            </a:lvl8pPr>
            <a:lvl9pPr marL="2743131" indent="0" algn="ctr">
              <a:buNone/>
              <a:defRPr sz="15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24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91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88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503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756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157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735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19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199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166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1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6"/>
            <a:ext cx="109728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90600"/>
            <a:ext cx="109728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80800" y="6400800"/>
            <a:ext cx="71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 sz="1800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609600" y="66294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80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12800" y="6521450"/>
            <a:ext cx="29464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9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09" indent="-325431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25" indent="-35083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17" indent="-31590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21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09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498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686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875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10972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508000" y="152400"/>
            <a:ext cx="109728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609600" y="66294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29400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1200" y="6553200"/>
            <a:ext cx="2540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19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09" indent="-325431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25" indent="-35083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17" indent="-31590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21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09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498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686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875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0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4.png"/><Relationship Id="rId18" Type="http://schemas.openxmlformats.org/officeDocument/2006/relationships/image" Target="../media/image37.png"/><Relationship Id="rId3" Type="http://schemas.openxmlformats.org/officeDocument/2006/relationships/image" Target="../media/image49.png"/><Relationship Id="rId21" Type="http://schemas.openxmlformats.org/officeDocument/2006/relationships/image" Target="../media/image40.png"/><Relationship Id="rId7" Type="http://schemas.openxmlformats.org/officeDocument/2006/relationships/image" Target="../media/image33.png"/><Relationship Id="rId12" Type="http://schemas.openxmlformats.org/officeDocument/2006/relationships/image" Target="../media/image43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42.png"/><Relationship Id="rId5" Type="http://schemas.openxmlformats.org/officeDocument/2006/relationships/image" Target="../media/image31.png"/><Relationship Id="rId15" Type="http://schemas.openxmlformats.org/officeDocument/2006/relationships/image" Target="../media/image46.png"/><Relationship Id="rId10" Type="http://schemas.openxmlformats.org/officeDocument/2006/relationships/image" Target="../media/image48.png"/><Relationship Id="rId19" Type="http://schemas.openxmlformats.org/officeDocument/2006/relationships/image" Target="../media/image38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99B68-287C-FA4D-B67F-91369F86E5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IT5005</a:t>
            </a: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Artificial Intelligence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CED21-3B30-7E45-9162-7839221A6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10: Reinforcement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94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Introduction to Learning Agents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Reinforcement Learning Formulation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Agent policy and optimal policies 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Learning an optimal policy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Q-learning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65729" y="237112"/>
            <a:ext cx="9586319" cy="673586"/>
          </a:xfrm>
        </p:spPr>
        <p:txBody>
          <a:bodyPr>
            <a:normAutofit/>
          </a:bodyPr>
          <a:lstStyle/>
          <a:p>
            <a:r>
              <a:rPr lang="en-US" sz="3600" dirty="0"/>
              <a:t>Supervised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69170D2-D1FA-4E45-AD3F-0EC5037F836E}"/>
              </a:ext>
            </a:extLst>
          </p:cNvPr>
          <p:cNvGrpSpPr/>
          <p:nvPr/>
        </p:nvGrpSpPr>
        <p:grpSpPr>
          <a:xfrm>
            <a:off x="3124200" y="3200400"/>
            <a:ext cx="536088" cy="700034"/>
            <a:chOff x="6429969" y="4398067"/>
            <a:chExt cx="1495035" cy="195224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654316-A089-854D-AE7D-F910C6C9C071}"/>
                </a:ext>
              </a:extLst>
            </p:cNvPr>
            <p:cNvGrpSpPr/>
            <p:nvPr/>
          </p:nvGrpSpPr>
          <p:grpSpPr>
            <a:xfrm>
              <a:off x="6429969" y="4517104"/>
              <a:ext cx="1495035" cy="1833207"/>
              <a:chOff x="752825" y="629021"/>
              <a:chExt cx="2015685" cy="2471627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243E29F-E0AE-2F4A-9710-46017F712501}"/>
                  </a:ext>
                </a:extLst>
              </p:cNvPr>
              <p:cNvSpPr/>
              <p:nvPr/>
            </p:nvSpPr>
            <p:spPr>
              <a:xfrm flipV="1">
                <a:off x="753961" y="1866572"/>
                <a:ext cx="2013677" cy="1234076"/>
              </a:xfrm>
              <a:custGeom>
                <a:avLst/>
                <a:gdLst>
                  <a:gd name="connsiteX0" fmla="*/ 1390638 w 2781276"/>
                  <a:gd name="connsiteY0" fmla="*/ 0 h 1704496"/>
                  <a:gd name="connsiteX1" fmla="*/ 2781276 w 2781276"/>
                  <a:gd name="connsiteY1" fmla="*/ 1628912 h 1704496"/>
                  <a:gd name="connsiteX2" fmla="*/ 2778018 w 2781276"/>
                  <a:gd name="connsiteY2" fmla="*/ 1704496 h 1704496"/>
                  <a:gd name="connsiteX3" fmla="*/ 3259 w 2781276"/>
                  <a:gd name="connsiteY3" fmla="*/ 1704496 h 1704496"/>
                  <a:gd name="connsiteX4" fmla="*/ 0 w 2781276"/>
                  <a:gd name="connsiteY4" fmla="*/ 1628912 h 1704496"/>
                  <a:gd name="connsiteX5" fmla="*/ 1390638 w 2781276"/>
                  <a:gd name="connsiteY5" fmla="*/ 0 h 1704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81276" h="1704496">
                    <a:moveTo>
                      <a:pt x="1390638" y="0"/>
                    </a:moveTo>
                    <a:cubicBezTo>
                      <a:pt x="2158666" y="0"/>
                      <a:pt x="2781276" y="729289"/>
                      <a:pt x="2781276" y="1628912"/>
                    </a:cubicBezTo>
                    <a:lnTo>
                      <a:pt x="2778018" y="1704496"/>
                    </a:lnTo>
                    <a:lnTo>
                      <a:pt x="3259" y="1704496"/>
                    </a:lnTo>
                    <a:lnTo>
                      <a:pt x="0" y="1628912"/>
                    </a:lnTo>
                    <a:cubicBezTo>
                      <a:pt x="0" y="729289"/>
                      <a:pt x="622610" y="0"/>
                      <a:pt x="1390638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A0CD988-BD78-2C43-BAD9-846D6A453B81}"/>
                  </a:ext>
                </a:extLst>
              </p:cNvPr>
              <p:cNvSpPr/>
              <p:nvPr/>
            </p:nvSpPr>
            <p:spPr>
              <a:xfrm flipV="1">
                <a:off x="752825" y="629021"/>
                <a:ext cx="2015685" cy="1757831"/>
              </a:xfrm>
              <a:custGeom>
                <a:avLst/>
                <a:gdLst>
                  <a:gd name="connsiteX0" fmla="*/ 1390638 w 2784050"/>
                  <a:gd name="connsiteY0" fmla="*/ 2427902 h 2427902"/>
                  <a:gd name="connsiteX1" fmla="*/ 2781276 w 2784050"/>
                  <a:gd name="connsiteY1" fmla="*/ 798990 h 2427902"/>
                  <a:gd name="connsiteX2" fmla="*/ 2778018 w 2784050"/>
                  <a:gd name="connsiteY2" fmla="*/ 723406 h 2427902"/>
                  <a:gd name="connsiteX3" fmla="*/ 2784050 w 2784050"/>
                  <a:gd name="connsiteY3" fmla="*/ 723406 h 2427902"/>
                  <a:gd name="connsiteX4" fmla="*/ 1392650 w 2784050"/>
                  <a:gd name="connsiteY4" fmla="*/ 0 h 2427902"/>
                  <a:gd name="connsiteX5" fmla="*/ 1250 w 2784050"/>
                  <a:gd name="connsiteY5" fmla="*/ 723406 h 2427902"/>
                  <a:gd name="connsiteX6" fmla="*/ 3259 w 2784050"/>
                  <a:gd name="connsiteY6" fmla="*/ 723406 h 2427902"/>
                  <a:gd name="connsiteX7" fmla="*/ 0 w 2784050"/>
                  <a:gd name="connsiteY7" fmla="*/ 798990 h 2427902"/>
                  <a:gd name="connsiteX8" fmla="*/ 1390638 w 2784050"/>
                  <a:gd name="connsiteY8" fmla="*/ 2427902 h 2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84050" h="2427902">
                    <a:moveTo>
                      <a:pt x="1390638" y="2427902"/>
                    </a:moveTo>
                    <a:cubicBezTo>
                      <a:pt x="2158666" y="2427902"/>
                      <a:pt x="2781276" y="1698613"/>
                      <a:pt x="2781276" y="798990"/>
                    </a:cubicBezTo>
                    <a:lnTo>
                      <a:pt x="2778018" y="723406"/>
                    </a:lnTo>
                    <a:lnTo>
                      <a:pt x="2784050" y="723406"/>
                    </a:lnTo>
                    <a:lnTo>
                      <a:pt x="1392650" y="0"/>
                    </a:lnTo>
                    <a:lnTo>
                      <a:pt x="1250" y="723406"/>
                    </a:lnTo>
                    <a:lnTo>
                      <a:pt x="3259" y="723406"/>
                    </a:lnTo>
                    <a:lnTo>
                      <a:pt x="0" y="798990"/>
                    </a:lnTo>
                    <a:cubicBezTo>
                      <a:pt x="0" y="1698613"/>
                      <a:pt x="622610" y="2427902"/>
                      <a:pt x="1390638" y="242790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ED45AE6-F650-DC4C-9432-9681789DB84B}"/>
                  </a:ext>
                </a:extLst>
              </p:cNvPr>
              <p:cNvSpPr/>
              <p:nvPr/>
            </p:nvSpPr>
            <p:spPr>
              <a:xfrm>
                <a:off x="2098289" y="1356304"/>
                <a:ext cx="308344" cy="30834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E85BB47-8C27-C442-AAC9-26EE065B4084}"/>
                  </a:ext>
                </a:extLst>
              </p:cNvPr>
              <p:cNvSpPr/>
              <p:nvPr/>
            </p:nvSpPr>
            <p:spPr>
              <a:xfrm>
                <a:off x="1148874" y="1356304"/>
                <a:ext cx="308344" cy="30834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5-Point Star 8">
              <a:extLst>
                <a:ext uri="{FF2B5EF4-FFF2-40B4-BE49-F238E27FC236}">
                  <a16:creationId xmlns:a16="http://schemas.microsoft.com/office/drawing/2014/main" id="{D41E7927-C1AF-7A44-8539-479776AC8936}"/>
                </a:ext>
              </a:extLst>
            </p:cNvPr>
            <p:cNvSpPr/>
            <p:nvPr/>
          </p:nvSpPr>
          <p:spPr>
            <a:xfrm rot="20593057">
              <a:off x="6441107" y="4398067"/>
              <a:ext cx="1266092" cy="258077"/>
            </a:xfrm>
            <a:prstGeom prst="star5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C17DE5B-BBA8-EF4C-96F1-F43356140322}"/>
              </a:ext>
            </a:extLst>
          </p:cNvPr>
          <p:cNvSpPr txBox="1"/>
          <p:nvPr/>
        </p:nvSpPr>
        <p:spPr>
          <a:xfrm>
            <a:off x="2782644" y="264987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7C7C3A-6971-6049-8DEB-A5D2B8978A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530"/>
          <a:stretch/>
        </p:blipFill>
        <p:spPr>
          <a:xfrm>
            <a:off x="4685084" y="2133091"/>
            <a:ext cx="1256992" cy="7155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38E8F9-DCAB-0748-A5F0-4583C401D3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412"/>
          <a:stretch/>
        </p:blipFill>
        <p:spPr>
          <a:xfrm>
            <a:off x="7277408" y="2089454"/>
            <a:ext cx="1256992" cy="8895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AF1482-8762-074D-9F35-7A1F801AAE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239"/>
          <a:stretch/>
        </p:blipFill>
        <p:spPr>
          <a:xfrm>
            <a:off x="4685084" y="3021668"/>
            <a:ext cx="1256992" cy="7638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B09C09-F20A-634F-8FDF-B9FA7C49B5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15"/>
          <a:stretch/>
        </p:blipFill>
        <p:spPr>
          <a:xfrm>
            <a:off x="7277408" y="991196"/>
            <a:ext cx="1256992" cy="91857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0F4B9B-5081-8545-A979-7D3C5A403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084" y="991196"/>
            <a:ext cx="1256992" cy="9379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3E0E0C-DAC7-544E-B69B-37243BB5EAC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109"/>
          <a:stretch/>
        </p:blipFill>
        <p:spPr>
          <a:xfrm>
            <a:off x="7277408" y="3158706"/>
            <a:ext cx="1256992" cy="87989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DD71F81-8ABF-164C-8B04-A6595727A8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065" y="5410200"/>
            <a:ext cx="1739900" cy="11557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69183CC-15C0-2D45-BD16-EE50DEFF3DFE}"/>
              </a:ext>
            </a:extLst>
          </p:cNvPr>
          <p:cNvSpPr txBox="1"/>
          <p:nvPr/>
        </p:nvSpPr>
        <p:spPr>
          <a:xfrm>
            <a:off x="5980938" y="1275483"/>
            <a:ext cx="125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=dog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EAC90D-5A38-7D47-8FBF-3AB7A72520AE}"/>
              </a:ext>
            </a:extLst>
          </p:cNvPr>
          <p:cNvSpPr txBox="1"/>
          <p:nvPr/>
        </p:nvSpPr>
        <p:spPr>
          <a:xfrm>
            <a:off x="5996512" y="2277492"/>
            <a:ext cx="125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=cat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388423-A97A-C54E-9E4E-D8B86ABB9BA3}"/>
              </a:ext>
            </a:extLst>
          </p:cNvPr>
          <p:cNvSpPr txBox="1"/>
          <p:nvPr/>
        </p:nvSpPr>
        <p:spPr>
          <a:xfrm>
            <a:off x="6019800" y="3202889"/>
            <a:ext cx="125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=cat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5D323F-697D-2048-B74C-27ECD2065CA8}"/>
              </a:ext>
            </a:extLst>
          </p:cNvPr>
          <p:cNvSpPr txBox="1"/>
          <p:nvPr/>
        </p:nvSpPr>
        <p:spPr>
          <a:xfrm>
            <a:off x="8612124" y="1265814"/>
            <a:ext cx="125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=dog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E53932-1980-9647-B5E0-67ECDA98078F}"/>
              </a:ext>
            </a:extLst>
          </p:cNvPr>
          <p:cNvSpPr txBox="1"/>
          <p:nvPr/>
        </p:nvSpPr>
        <p:spPr>
          <a:xfrm>
            <a:off x="8612124" y="2312326"/>
            <a:ext cx="125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=cat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169463-87E4-3740-A5B4-E0638AAE93D1}"/>
              </a:ext>
            </a:extLst>
          </p:cNvPr>
          <p:cNvSpPr txBox="1"/>
          <p:nvPr/>
        </p:nvSpPr>
        <p:spPr>
          <a:xfrm>
            <a:off x="8612124" y="3358838"/>
            <a:ext cx="125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=dog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4715B4-8216-4C46-9AB1-41BA113EE79A}"/>
              </a:ext>
            </a:extLst>
          </p:cNvPr>
          <p:cNvSpPr txBox="1"/>
          <p:nvPr/>
        </p:nvSpPr>
        <p:spPr>
          <a:xfrm>
            <a:off x="7696200" y="5803384"/>
            <a:ext cx="125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8AF8BDE-0BDD-3544-8776-219025585B30}"/>
              </a:ext>
            </a:extLst>
          </p:cNvPr>
          <p:cNvSpPr/>
          <p:nvPr/>
        </p:nvSpPr>
        <p:spPr>
          <a:xfrm>
            <a:off x="2971800" y="3962400"/>
            <a:ext cx="3200400" cy="27289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0723301-9EDD-2D4E-AA2E-4868C1524A68}"/>
              </a:ext>
            </a:extLst>
          </p:cNvPr>
          <p:cNvSpPr/>
          <p:nvPr/>
        </p:nvSpPr>
        <p:spPr>
          <a:xfrm>
            <a:off x="6576036" y="3962400"/>
            <a:ext cx="3200400" cy="27289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2936"/>
            <a:ext cx="8915400" cy="763864"/>
          </a:xfrm>
        </p:spPr>
        <p:txBody>
          <a:bodyPr>
            <a:normAutofit/>
          </a:bodyPr>
          <a:lstStyle/>
          <a:p>
            <a:r>
              <a:rPr lang="en-US" sz="3600" dirty="0"/>
              <a:t>Unsupervised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69170D2-D1FA-4E45-AD3F-0EC5037F836E}"/>
              </a:ext>
            </a:extLst>
          </p:cNvPr>
          <p:cNvGrpSpPr/>
          <p:nvPr/>
        </p:nvGrpSpPr>
        <p:grpSpPr>
          <a:xfrm>
            <a:off x="3124200" y="3200400"/>
            <a:ext cx="536088" cy="700034"/>
            <a:chOff x="6429969" y="4398067"/>
            <a:chExt cx="1495035" cy="195224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654316-A089-854D-AE7D-F910C6C9C071}"/>
                </a:ext>
              </a:extLst>
            </p:cNvPr>
            <p:cNvGrpSpPr/>
            <p:nvPr/>
          </p:nvGrpSpPr>
          <p:grpSpPr>
            <a:xfrm>
              <a:off x="6429969" y="4517104"/>
              <a:ext cx="1495035" cy="1833207"/>
              <a:chOff x="752825" y="629021"/>
              <a:chExt cx="2015685" cy="2471627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243E29F-E0AE-2F4A-9710-46017F712501}"/>
                  </a:ext>
                </a:extLst>
              </p:cNvPr>
              <p:cNvSpPr/>
              <p:nvPr/>
            </p:nvSpPr>
            <p:spPr>
              <a:xfrm flipV="1">
                <a:off x="753961" y="1866572"/>
                <a:ext cx="2013677" cy="1234076"/>
              </a:xfrm>
              <a:custGeom>
                <a:avLst/>
                <a:gdLst>
                  <a:gd name="connsiteX0" fmla="*/ 1390638 w 2781276"/>
                  <a:gd name="connsiteY0" fmla="*/ 0 h 1704496"/>
                  <a:gd name="connsiteX1" fmla="*/ 2781276 w 2781276"/>
                  <a:gd name="connsiteY1" fmla="*/ 1628912 h 1704496"/>
                  <a:gd name="connsiteX2" fmla="*/ 2778018 w 2781276"/>
                  <a:gd name="connsiteY2" fmla="*/ 1704496 h 1704496"/>
                  <a:gd name="connsiteX3" fmla="*/ 3259 w 2781276"/>
                  <a:gd name="connsiteY3" fmla="*/ 1704496 h 1704496"/>
                  <a:gd name="connsiteX4" fmla="*/ 0 w 2781276"/>
                  <a:gd name="connsiteY4" fmla="*/ 1628912 h 1704496"/>
                  <a:gd name="connsiteX5" fmla="*/ 1390638 w 2781276"/>
                  <a:gd name="connsiteY5" fmla="*/ 0 h 1704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81276" h="1704496">
                    <a:moveTo>
                      <a:pt x="1390638" y="0"/>
                    </a:moveTo>
                    <a:cubicBezTo>
                      <a:pt x="2158666" y="0"/>
                      <a:pt x="2781276" y="729289"/>
                      <a:pt x="2781276" y="1628912"/>
                    </a:cubicBezTo>
                    <a:lnTo>
                      <a:pt x="2778018" y="1704496"/>
                    </a:lnTo>
                    <a:lnTo>
                      <a:pt x="3259" y="1704496"/>
                    </a:lnTo>
                    <a:lnTo>
                      <a:pt x="0" y="1628912"/>
                    </a:lnTo>
                    <a:cubicBezTo>
                      <a:pt x="0" y="729289"/>
                      <a:pt x="622610" y="0"/>
                      <a:pt x="1390638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A0CD988-BD78-2C43-BAD9-846D6A453B81}"/>
                  </a:ext>
                </a:extLst>
              </p:cNvPr>
              <p:cNvSpPr/>
              <p:nvPr/>
            </p:nvSpPr>
            <p:spPr>
              <a:xfrm flipV="1">
                <a:off x="752825" y="629021"/>
                <a:ext cx="2015685" cy="1757831"/>
              </a:xfrm>
              <a:custGeom>
                <a:avLst/>
                <a:gdLst>
                  <a:gd name="connsiteX0" fmla="*/ 1390638 w 2784050"/>
                  <a:gd name="connsiteY0" fmla="*/ 2427902 h 2427902"/>
                  <a:gd name="connsiteX1" fmla="*/ 2781276 w 2784050"/>
                  <a:gd name="connsiteY1" fmla="*/ 798990 h 2427902"/>
                  <a:gd name="connsiteX2" fmla="*/ 2778018 w 2784050"/>
                  <a:gd name="connsiteY2" fmla="*/ 723406 h 2427902"/>
                  <a:gd name="connsiteX3" fmla="*/ 2784050 w 2784050"/>
                  <a:gd name="connsiteY3" fmla="*/ 723406 h 2427902"/>
                  <a:gd name="connsiteX4" fmla="*/ 1392650 w 2784050"/>
                  <a:gd name="connsiteY4" fmla="*/ 0 h 2427902"/>
                  <a:gd name="connsiteX5" fmla="*/ 1250 w 2784050"/>
                  <a:gd name="connsiteY5" fmla="*/ 723406 h 2427902"/>
                  <a:gd name="connsiteX6" fmla="*/ 3259 w 2784050"/>
                  <a:gd name="connsiteY6" fmla="*/ 723406 h 2427902"/>
                  <a:gd name="connsiteX7" fmla="*/ 0 w 2784050"/>
                  <a:gd name="connsiteY7" fmla="*/ 798990 h 2427902"/>
                  <a:gd name="connsiteX8" fmla="*/ 1390638 w 2784050"/>
                  <a:gd name="connsiteY8" fmla="*/ 2427902 h 2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84050" h="2427902">
                    <a:moveTo>
                      <a:pt x="1390638" y="2427902"/>
                    </a:moveTo>
                    <a:cubicBezTo>
                      <a:pt x="2158666" y="2427902"/>
                      <a:pt x="2781276" y="1698613"/>
                      <a:pt x="2781276" y="798990"/>
                    </a:cubicBezTo>
                    <a:lnTo>
                      <a:pt x="2778018" y="723406"/>
                    </a:lnTo>
                    <a:lnTo>
                      <a:pt x="2784050" y="723406"/>
                    </a:lnTo>
                    <a:lnTo>
                      <a:pt x="1392650" y="0"/>
                    </a:lnTo>
                    <a:lnTo>
                      <a:pt x="1250" y="723406"/>
                    </a:lnTo>
                    <a:lnTo>
                      <a:pt x="3259" y="723406"/>
                    </a:lnTo>
                    <a:lnTo>
                      <a:pt x="0" y="798990"/>
                    </a:lnTo>
                    <a:cubicBezTo>
                      <a:pt x="0" y="1698613"/>
                      <a:pt x="622610" y="2427902"/>
                      <a:pt x="1390638" y="242790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ED45AE6-F650-DC4C-9432-9681789DB84B}"/>
                  </a:ext>
                </a:extLst>
              </p:cNvPr>
              <p:cNvSpPr/>
              <p:nvPr/>
            </p:nvSpPr>
            <p:spPr>
              <a:xfrm>
                <a:off x="2098289" y="1356304"/>
                <a:ext cx="308344" cy="30834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E85BB47-8C27-C442-AAC9-26EE065B4084}"/>
                  </a:ext>
                </a:extLst>
              </p:cNvPr>
              <p:cNvSpPr/>
              <p:nvPr/>
            </p:nvSpPr>
            <p:spPr>
              <a:xfrm>
                <a:off x="1148874" y="1356304"/>
                <a:ext cx="308344" cy="30834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5-Point Star 8">
              <a:extLst>
                <a:ext uri="{FF2B5EF4-FFF2-40B4-BE49-F238E27FC236}">
                  <a16:creationId xmlns:a16="http://schemas.microsoft.com/office/drawing/2014/main" id="{D41E7927-C1AF-7A44-8539-479776AC8936}"/>
                </a:ext>
              </a:extLst>
            </p:cNvPr>
            <p:cNvSpPr/>
            <p:nvPr/>
          </p:nvSpPr>
          <p:spPr>
            <a:xfrm rot="20593057">
              <a:off x="6441107" y="4398067"/>
              <a:ext cx="1266092" cy="258077"/>
            </a:xfrm>
            <a:prstGeom prst="star5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C17DE5B-BBA8-EF4C-96F1-F43356140322}"/>
              </a:ext>
            </a:extLst>
          </p:cNvPr>
          <p:cNvSpPr txBox="1"/>
          <p:nvPr/>
        </p:nvSpPr>
        <p:spPr>
          <a:xfrm>
            <a:off x="2782644" y="264987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7C7C3A-6971-6049-8DEB-A5D2B8978A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530"/>
          <a:stretch/>
        </p:blipFill>
        <p:spPr>
          <a:xfrm>
            <a:off x="4685084" y="2133091"/>
            <a:ext cx="1256992" cy="7155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38E8F9-DCAB-0748-A5F0-4583C401D3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412"/>
          <a:stretch/>
        </p:blipFill>
        <p:spPr>
          <a:xfrm>
            <a:off x="7277408" y="2089454"/>
            <a:ext cx="1256992" cy="8895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AF1482-8762-074D-9F35-7A1F801AAE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239"/>
          <a:stretch/>
        </p:blipFill>
        <p:spPr>
          <a:xfrm>
            <a:off x="4685084" y="3021668"/>
            <a:ext cx="1256992" cy="7638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B09C09-F20A-634F-8FDF-B9FA7C49B5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15"/>
          <a:stretch/>
        </p:blipFill>
        <p:spPr>
          <a:xfrm>
            <a:off x="7277408" y="991196"/>
            <a:ext cx="1256992" cy="91857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0F4B9B-5081-8545-A979-7D3C5A4033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084" y="991196"/>
            <a:ext cx="1256992" cy="9379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3E0E0C-DAC7-544E-B69B-37243BB5EAC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109"/>
          <a:stretch/>
        </p:blipFill>
        <p:spPr>
          <a:xfrm>
            <a:off x="7277408" y="3158706"/>
            <a:ext cx="1256992" cy="87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4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44444E-6 L -0.16215 0.303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08" y="15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-0.275 0.29491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50" y="1474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3.7037E-6 L -0.07917 0.3259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1629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48148E-6 L 0.22726 0.45394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54" y="2268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0.01875 0.62199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8" y="3108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0.1 0.1333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666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95084"/>
            <a:ext cx="8915400" cy="716114"/>
          </a:xfrm>
        </p:spPr>
        <p:txBody>
          <a:bodyPr>
            <a:normAutofit/>
          </a:bodyPr>
          <a:lstStyle/>
          <a:p>
            <a:r>
              <a:rPr lang="en-US" sz="3600" dirty="0"/>
              <a:t>Reinforcement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8C0819-1C60-2A4B-A137-FE56AE86199F}"/>
              </a:ext>
            </a:extLst>
          </p:cNvPr>
          <p:cNvSpPr/>
          <p:nvPr/>
        </p:nvSpPr>
        <p:spPr>
          <a:xfrm>
            <a:off x="6400800" y="2514601"/>
            <a:ext cx="3406116" cy="1979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9170D2-D1FA-4E45-AD3F-0EC5037F836E}"/>
              </a:ext>
            </a:extLst>
          </p:cNvPr>
          <p:cNvGrpSpPr/>
          <p:nvPr/>
        </p:nvGrpSpPr>
        <p:grpSpPr>
          <a:xfrm>
            <a:off x="2398956" y="3200400"/>
            <a:ext cx="536088" cy="700034"/>
            <a:chOff x="6429969" y="4398067"/>
            <a:chExt cx="1495035" cy="195224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2654316-A089-854D-AE7D-F910C6C9C071}"/>
                </a:ext>
              </a:extLst>
            </p:cNvPr>
            <p:cNvGrpSpPr/>
            <p:nvPr/>
          </p:nvGrpSpPr>
          <p:grpSpPr>
            <a:xfrm>
              <a:off x="6429969" y="4517104"/>
              <a:ext cx="1495035" cy="1833207"/>
              <a:chOff x="752825" y="629021"/>
              <a:chExt cx="2015685" cy="2471627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243E29F-E0AE-2F4A-9710-46017F712501}"/>
                  </a:ext>
                </a:extLst>
              </p:cNvPr>
              <p:cNvSpPr/>
              <p:nvPr/>
            </p:nvSpPr>
            <p:spPr>
              <a:xfrm flipV="1">
                <a:off x="753961" y="1866572"/>
                <a:ext cx="2013677" cy="1234076"/>
              </a:xfrm>
              <a:custGeom>
                <a:avLst/>
                <a:gdLst>
                  <a:gd name="connsiteX0" fmla="*/ 1390638 w 2781276"/>
                  <a:gd name="connsiteY0" fmla="*/ 0 h 1704496"/>
                  <a:gd name="connsiteX1" fmla="*/ 2781276 w 2781276"/>
                  <a:gd name="connsiteY1" fmla="*/ 1628912 h 1704496"/>
                  <a:gd name="connsiteX2" fmla="*/ 2778018 w 2781276"/>
                  <a:gd name="connsiteY2" fmla="*/ 1704496 h 1704496"/>
                  <a:gd name="connsiteX3" fmla="*/ 3259 w 2781276"/>
                  <a:gd name="connsiteY3" fmla="*/ 1704496 h 1704496"/>
                  <a:gd name="connsiteX4" fmla="*/ 0 w 2781276"/>
                  <a:gd name="connsiteY4" fmla="*/ 1628912 h 1704496"/>
                  <a:gd name="connsiteX5" fmla="*/ 1390638 w 2781276"/>
                  <a:gd name="connsiteY5" fmla="*/ 0 h 1704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81276" h="1704496">
                    <a:moveTo>
                      <a:pt x="1390638" y="0"/>
                    </a:moveTo>
                    <a:cubicBezTo>
                      <a:pt x="2158666" y="0"/>
                      <a:pt x="2781276" y="729289"/>
                      <a:pt x="2781276" y="1628912"/>
                    </a:cubicBezTo>
                    <a:lnTo>
                      <a:pt x="2778018" y="1704496"/>
                    </a:lnTo>
                    <a:lnTo>
                      <a:pt x="3259" y="1704496"/>
                    </a:lnTo>
                    <a:lnTo>
                      <a:pt x="0" y="1628912"/>
                    </a:lnTo>
                    <a:cubicBezTo>
                      <a:pt x="0" y="729289"/>
                      <a:pt x="622610" y="0"/>
                      <a:pt x="1390638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5A0CD988-BD78-2C43-BAD9-846D6A453B81}"/>
                  </a:ext>
                </a:extLst>
              </p:cNvPr>
              <p:cNvSpPr/>
              <p:nvPr/>
            </p:nvSpPr>
            <p:spPr>
              <a:xfrm flipV="1">
                <a:off x="752825" y="629021"/>
                <a:ext cx="2015685" cy="1757831"/>
              </a:xfrm>
              <a:custGeom>
                <a:avLst/>
                <a:gdLst>
                  <a:gd name="connsiteX0" fmla="*/ 1390638 w 2784050"/>
                  <a:gd name="connsiteY0" fmla="*/ 2427902 h 2427902"/>
                  <a:gd name="connsiteX1" fmla="*/ 2781276 w 2784050"/>
                  <a:gd name="connsiteY1" fmla="*/ 798990 h 2427902"/>
                  <a:gd name="connsiteX2" fmla="*/ 2778018 w 2784050"/>
                  <a:gd name="connsiteY2" fmla="*/ 723406 h 2427902"/>
                  <a:gd name="connsiteX3" fmla="*/ 2784050 w 2784050"/>
                  <a:gd name="connsiteY3" fmla="*/ 723406 h 2427902"/>
                  <a:gd name="connsiteX4" fmla="*/ 1392650 w 2784050"/>
                  <a:gd name="connsiteY4" fmla="*/ 0 h 2427902"/>
                  <a:gd name="connsiteX5" fmla="*/ 1250 w 2784050"/>
                  <a:gd name="connsiteY5" fmla="*/ 723406 h 2427902"/>
                  <a:gd name="connsiteX6" fmla="*/ 3259 w 2784050"/>
                  <a:gd name="connsiteY6" fmla="*/ 723406 h 2427902"/>
                  <a:gd name="connsiteX7" fmla="*/ 0 w 2784050"/>
                  <a:gd name="connsiteY7" fmla="*/ 798990 h 2427902"/>
                  <a:gd name="connsiteX8" fmla="*/ 1390638 w 2784050"/>
                  <a:gd name="connsiteY8" fmla="*/ 2427902 h 2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84050" h="2427902">
                    <a:moveTo>
                      <a:pt x="1390638" y="2427902"/>
                    </a:moveTo>
                    <a:cubicBezTo>
                      <a:pt x="2158666" y="2427902"/>
                      <a:pt x="2781276" y="1698613"/>
                      <a:pt x="2781276" y="798990"/>
                    </a:cubicBezTo>
                    <a:lnTo>
                      <a:pt x="2778018" y="723406"/>
                    </a:lnTo>
                    <a:lnTo>
                      <a:pt x="2784050" y="723406"/>
                    </a:lnTo>
                    <a:lnTo>
                      <a:pt x="1392650" y="0"/>
                    </a:lnTo>
                    <a:lnTo>
                      <a:pt x="1250" y="723406"/>
                    </a:lnTo>
                    <a:lnTo>
                      <a:pt x="3259" y="723406"/>
                    </a:lnTo>
                    <a:lnTo>
                      <a:pt x="0" y="798990"/>
                    </a:lnTo>
                    <a:cubicBezTo>
                      <a:pt x="0" y="1698613"/>
                      <a:pt x="622610" y="2427902"/>
                      <a:pt x="1390638" y="242790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ED45AE6-F650-DC4C-9432-9681789DB84B}"/>
                  </a:ext>
                </a:extLst>
              </p:cNvPr>
              <p:cNvSpPr/>
              <p:nvPr/>
            </p:nvSpPr>
            <p:spPr>
              <a:xfrm>
                <a:off x="2098289" y="1356304"/>
                <a:ext cx="308344" cy="30834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E85BB47-8C27-C442-AAC9-26EE065B4084}"/>
                  </a:ext>
                </a:extLst>
              </p:cNvPr>
              <p:cNvSpPr/>
              <p:nvPr/>
            </p:nvSpPr>
            <p:spPr>
              <a:xfrm>
                <a:off x="1148874" y="1356304"/>
                <a:ext cx="308344" cy="30834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5-Point Star 17">
              <a:extLst>
                <a:ext uri="{FF2B5EF4-FFF2-40B4-BE49-F238E27FC236}">
                  <a16:creationId xmlns:a16="http://schemas.microsoft.com/office/drawing/2014/main" id="{D41E7927-C1AF-7A44-8539-479776AC8936}"/>
                </a:ext>
              </a:extLst>
            </p:cNvPr>
            <p:cNvSpPr/>
            <p:nvPr/>
          </p:nvSpPr>
          <p:spPr>
            <a:xfrm rot="20593057">
              <a:off x="6441107" y="4398067"/>
              <a:ext cx="1266092" cy="258077"/>
            </a:xfrm>
            <a:prstGeom prst="star5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C17DE5B-BBA8-EF4C-96F1-F43356140322}"/>
              </a:ext>
            </a:extLst>
          </p:cNvPr>
          <p:cNvSpPr txBox="1"/>
          <p:nvPr/>
        </p:nvSpPr>
        <p:spPr>
          <a:xfrm>
            <a:off x="2057400" y="264987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</a:t>
            </a:r>
          </a:p>
        </p:txBody>
      </p:sp>
      <p:sp>
        <p:nvSpPr>
          <p:cNvPr id="25" name="Striped Right Arrow 24">
            <a:extLst>
              <a:ext uri="{FF2B5EF4-FFF2-40B4-BE49-F238E27FC236}">
                <a16:creationId xmlns:a16="http://schemas.microsoft.com/office/drawing/2014/main" id="{6AF77679-5AF2-314D-82E4-8A9F361EF410}"/>
              </a:ext>
            </a:extLst>
          </p:cNvPr>
          <p:cNvSpPr/>
          <p:nvPr/>
        </p:nvSpPr>
        <p:spPr>
          <a:xfrm flipH="1">
            <a:off x="3276600" y="1447800"/>
            <a:ext cx="3086100" cy="1404000"/>
          </a:xfrm>
          <a:prstGeom prst="striped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Receive Input Information</a:t>
            </a:r>
          </a:p>
        </p:txBody>
      </p:sp>
      <p:sp>
        <p:nvSpPr>
          <p:cNvPr id="26" name="Striped Right Arrow 25">
            <a:extLst>
              <a:ext uri="{FF2B5EF4-FFF2-40B4-BE49-F238E27FC236}">
                <a16:creationId xmlns:a16="http://schemas.microsoft.com/office/drawing/2014/main" id="{DC164D16-42DE-9C41-BB35-2AEFEC2E487E}"/>
              </a:ext>
            </a:extLst>
          </p:cNvPr>
          <p:cNvSpPr/>
          <p:nvPr/>
        </p:nvSpPr>
        <p:spPr>
          <a:xfrm>
            <a:off x="3381932" y="2862084"/>
            <a:ext cx="3360424" cy="1405116"/>
          </a:xfrm>
          <a:prstGeom prst="stripedRightArrow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Perform valid action</a:t>
            </a:r>
          </a:p>
        </p:txBody>
      </p:sp>
      <p:sp>
        <p:nvSpPr>
          <p:cNvPr id="27" name="Striped Right Arrow 26">
            <a:extLst>
              <a:ext uri="{FF2B5EF4-FFF2-40B4-BE49-F238E27FC236}">
                <a16:creationId xmlns:a16="http://schemas.microsoft.com/office/drawing/2014/main" id="{D8141F59-FE21-7047-A6EA-53832839BA5A}"/>
              </a:ext>
            </a:extLst>
          </p:cNvPr>
          <p:cNvSpPr/>
          <p:nvPr/>
        </p:nvSpPr>
        <p:spPr>
          <a:xfrm flipH="1">
            <a:off x="3389556" y="4114800"/>
            <a:ext cx="2973144" cy="1405116"/>
          </a:xfrm>
          <a:prstGeom prst="stripedRightArrow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Obtain reward</a:t>
            </a:r>
          </a:p>
        </p:txBody>
      </p:sp>
    </p:spTree>
    <p:extLst>
      <p:ext uri="{BB962C8B-B14F-4D97-AF65-F5344CB8AC3E}">
        <p14:creationId xmlns:p14="http://schemas.microsoft.com/office/powerpoint/2010/main" val="324286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8E1781D2-C523-DD44-9A67-62973708ACF5}"/>
                  </a:ext>
                </a:extLst>
              </p:cNvPr>
              <p:cNvSpPr/>
              <p:nvPr/>
            </p:nvSpPr>
            <p:spPr>
              <a:xfrm>
                <a:off x="6858001" y="4551745"/>
                <a:ext cx="1597631" cy="106680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Reward: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8E1781D2-C523-DD44-9A67-62973708AC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1" y="4551745"/>
                <a:ext cx="1597631" cy="1066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B9AB9B6-C56D-0345-903B-CE034E69B58C}"/>
                  </a:ext>
                </a:extLst>
              </p:cNvPr>
              <p:cNvSpPr/>
              <p:nvPr/>
            </p:nvSpPr>
            <p:spPr>
              <a:xfrm>
                <a:off x="7800402" y="3076647"/>
                <a:ext cx="2562798" cy="106680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Action: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(state dependent)</a:t>
                </a:r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B9AB9B6-C56D-0345-903B-CE034E69B5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402" y="3076647"/>
                <a:ext cx="2562798" cy="1066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107B725-40F8-C94D-825E-2B4B8B9C5EBA}"/>
                  </a:ext>
                </a:extLst>
              </p:cNvPr>
              <p:cNvSpPr/>
              <p:nvPr/>
            </p:nvSpPr>
            <p:spPr>
              <a:xfrm>
                <a:off x="6781801" y="1601549"/>
                <a:ext cx="1673831" cy="106680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107B725-40F8-C94D-825E-2B4B8B9C5E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1" y="1601549"/>
                <a:ext cx="1673831" cy="10668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83862"/>
            <a:ext cx="8915400" cy="727336"/>
          </a:xfrm>
        </p:spPr>
        <p:txBody>
          <a:bodyPr>
            <a:normAutofit/>
          </a:bodyPr>
          <a:lstStyle/>
          <a:p>
            <a:r>
              <a:rPr lang="en-US" sz="3600" dirty="0"/>
              <a:t>Reinforcement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69170D2-D1FA-4E45-AD3F-0EC5037F836E}"/>
              </a:ext>
            </a:extLst>
          </p:cNvPr>
          <p:cNvGrpSpPr/>
          <p:nvPr/>
        </p:nvGrpSpPr>
        <p:grpSpPr>
          <a:xfrm>
            <a:off x="2398956" y="3200400"/>
            <a:ext cx="536088" cy="700034"/>
            <a:chOff x="6429969" y="4398067"/>
            <a:chExt cx="1495035" cy="195224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654316-A089-854D-AE7D-F910C6C9C071}"/>
                </a:ext>
              </a:extLst>
            </p:cNvPr>
            <p:cNvGrpSpPr/>
            <p:nvPr/>
          </p:nvGrpSpPr>
          <p:grpSpPr>
            <a:xfrm>
              <a:off x="6429969" y="4517104"/>
              <a:ext cx="1495035" cy="1833207"/>
              <a:chOff x="752825" y="629021"/>
              <a:chExt cx="2015685" cy="2471627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243E29F-E0AE-2F4A-9710-46017F712501}"/>
                  </a:ext>
                </a:extLst>
              </p:cNvPr>
              <p:cNvSpPr/>
              <p:nvPr/>
            </p:nvSpPr>
            <p:spPr>
              <a:xfrm flipV="1">
                <a:off x="753961" y="1866572"/>
                <a:ext cx="2013677" cy="1234076"/>
              </a:xfrm>
              <a:custGeom>
                <a:avLst/>
                <a:gdLst>
                  <a:gd name="connsiteX0" fmla="*/ 1390638 w 2781276"/>
                  <a:gd name="connsiteY0" fmla="*/ 0 h 1704496"/>
                  <a:gd name="connsiteX1" fmla="*/ 2781276 w 2781276"/>
                  <a:gd name="connsiteY1" fmla="*/ 1628912 h 1704496"/>
                  <a:gd name="connsiteX2" fmla="*/ 2778018 w 2781276"/>
                  <a:gd name="connsiteY2" fmla="*/ 1704496 h 1704496"/>
                  <a:gd name="connsiteX3" fmla="*/ 3259 w 2781276"/>
                  <a:gd name="connsiteY3" fmla="*/ 1704496 h 1704496"/>
                  <a:gd name="connsiteX4" fmla="*/ 0 w 2781276"/>
                  <a:gd name="connsiteY4" fmla="*/ 1628912 h 1704496"/>
                  <a:gd name="connsiteX5" fmla="*/ 1390638 w 2781276"/>
                  <a:gd name="connsiteY5" fmla="*/ 0 h 1704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81276" h="1704496">
                    <a:moveTo>
                      <a:pt x="1390638" y="0"/>
                    </a:moveTo>
                    <a:cubicBezTo>
                      <a:pt x="2158666" y="0"/>
                      <a:pt x="2781276" y="729289"/>
                      <a:pt x="2781276" y="1628912"/>
                    </a:cubicBezTo>
                    <a:lnTo>
                      <a:pt x="2778018" y="1704496"/>
                    </a:lnTo>
                    <a:lnTo>
                      <a:pt x="3259" y="1704496"/>
                    </a:lnTo>
                    <a:lnTo>
                      <a:pt x="0" y="1628912"/>
                    </a:lnTo>
                    <a:cubicBezTo>
                      <a:pt x="0" y="729289"/>
                      <a:pt x="622610" y="0"/>
                      <a:pt x="1390638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A0CD988-BD78-2C43-BAD9-846D6A453B81}"/>
                  </a:ext>
                </a:extLst>
              </p:cNvPr>
              <p:cNvSpPr/>
              <p:nvPr/>
            </p:nvSpPr>
            <p:spPr>
              <a:xfrm flipV="1">
                <a:off x="752825" y="629021"/>
                <a:ext cx="2015685" cy="1757831"/>
              </a:xfrm>
              <a:custGeom>
                <a:avLst/>
                <a:gdLst>
                  <a:gd name="connsiteX0" fmla="*/ 1390638 w 2784050"/>
                  <a:gd name="connsiteY0" fmla="*/ 2427902 h 2427902"/>
                  <a:gd name="connsiteX1" fmla="*/ 2781276 w 2784050"/>
                  <a:gd name="connsiteY1" fmla="*/ 798990 h 2427902"/>
                  <a:gd name="connsiteX2" fmla="*/ 2778018 w 2784050"/>
                  <a:gd name="connsiteY2" fmla="*/ 723406 h 2427902"/>
                  <a:gd name="connsiteX3" fmla="*/ 2784050 w 2784050"/>
                  <a:gd name="connsiteY3" fmla="*/ 723406 h 2427902"/>
                  <a:gd name="connsiteX4" fmla="*/ 1392650 w 2784050"/>
                  <a:gd name="connsiteY4" fmla="*/ 0 h 2427902"/>
                  <a:gd name="connsiteX5" fmla="*/ 1250 w 2784050"/>
                  <a:gd name="connsiteY5" fmla="*/ 723406 h 2427902"/>
                  <a:gd name="connsiteX6" fmla="*/ 3259 w 2784050"/>
                  <a:gd name="connsiteY6" fmla="*/ 723406 h 2427902"/>
                  <a:gd name="connsiteX7" fmla="*/ 0 w 2784050"/>
                  <a:gd name="connsiteY7" fmla="*/ 798990 h 2427902"/>
                  <a:gd name="connsiteX8" fmla="*/ 1390638 w 2784050"/>
                  <a:gd name="connsiteY8" fmla="*/ 2427902 h 2427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84050" h="2427902">
                    <a:moveTo>
                      <a:pt x="1390638" y="2427902"/>
                    </a:moveTo>
                    <a:cubicBezTo>
                      <a:pt x="2158666" y="2427902"/>
                      <a:pt x="2781276" y="1698613"/>
                      <a:pt x="2781276" y="798990"/>
                    </a:cubicBezTo>
                    <a:lnTo>
                      <a:pt x="2778018" y="723406"/>
                    </a:lnTo>
                    <a:lnTo>
                      <a:pt x="2784050" y="723406"/>
                    </a:lnTo>
                    <a:lnTo>
                      <a:pt x="1392650" y="0"/>
                    </a:lnTo>
                    <a:lnTo>
                      <a:pt x="1250" y="723406"/>
                    </a:lnTo>
                    <a:lnTo>
                      <a:pt x="3259" y="723406"/>
                    </a:lnTo>
                    <a:lnTo>
                      <a:pt x="0" y="798990"/>
                    </a:lnTo>
                    <a:cubicBezTo>
                      <a:pt x="0" y="1698613"/>
                      <a:pt x="622610" y="2427902"/>
                      <a:pt x="1390638" y="242790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ED45AE6-F650-DC4C-9432-9681789DB84B}"/>
                  </a:ext>
                </a:extLst>
              </p:cNvPr>
              <p:cNvSpPr/>
              <p:nvPr/>
            </p:nvSpPr>
            <p:spPr>
              <a:xfrm>
                <a:off x="2098289" y="1356304"/>
                <a:ext cx="308344" cy="30834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E85BB47-8C27-C442-AAC9-26EE065B4084}"/>
                  </a:ext>
                </a:extLst>
              </p:cNvPr>
              <p:cNvSpPr/>
              <p:nvPr/>
            </p:nvSpPr>
            <p:spPr>
              <a:xfrm>
                <a:off x="1148874" y="1356304"/>
                <a:ext cx="308344" cy="30834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5-Point Star 8">
              <a:extLst>
                <a:ext uri="{FF2B5EF4-FFF2-40B4-BE49-F238E27FC236}">
                  <a16:creationId xmlns:a16="http://schemas.microsoft.com/office/drawing/2014/main" id="{D41E7927-C1AF-7A44-8539-479776AC8936}"/>
                </a:ext>
              </a:extLst>
            </p:cNvPr>
            <p:cNvSpPr/>
            <p:nvPr/>
          </p:nvSpPr>
          <p:spPr>
            <a:xfrm rot="20593057">
              <a:off x="6441107" y="4398067"/>
              <a:ext cx="1266092" cy="258077"/>
            </a:xfrm>
            <a:prstGeom prst="star5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C17DE5B-BBA8-EF4C-96F1-F43356140322}"/>
              </a:ext>
            </a:extLst>
          </p:cNvPr>
          <p:cNvSpPr txBox="1"/>
          <p:nvPr/>
        </p:nvSpPr>
        <p:spPr>
          <a:xfrm>
            <a:off x="2057400" y="264987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</a:t>
            </a:r>
          </a:p>
        </p:txBody>
      </p:sp>
      <p:sp>
        <p:nvSpPr>
          <p:cNvPr id="6" name="Striped Right Arrow 5">
            <a:extLst>
              <a:ext uri="{FF2B5EF4-FFF2-40B4-BE49-F238E27FC236}">
                <a16:creationId xmlns:a16="http://schemas.microsoft.com/office/drawing/2014/main" id="{6AF77679-5AF2-314D-82E4-8A9F361EF410}"/>
              </a:ext>
            </a:extLst>
          </p:cNvPr>
          <p:cNvSpPr/>
          <p:nvPr/>
        </p:nvSpPr>
        <p:spPr>
          <a:xfrm flipH="1">
            <a:off x="3276600" y="1447800"/>
            <a:ext cx="3086100" cy="1404000"/>
          </a:xfrm>
          <a:prstGeom prst="striped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Receive Input Information</a:t>
            </a:r>
          </a:p>
        </p:txBody>
      </p:sp>
      <p:sp>
        <p:nvSpPr>
          <p:cNvPr id="15" name="Striped Right Arrow 14">
            <a:extLst>
              <a:ext uri="{FF2B5EF4-FFF2-40B4-BE49-F238E27FC236}">
                <a16:creationId xmlns:a16="http://schemas.microsoft.com/office/drawing/2014/main" id="{DC164D16-42DE-9C41-BB35-2AEFEC2E487E}"/>
              </a:ext>
            </a:extLst>
          </p:cNvPr>
          <p:cNvSpPr/>
          <p:nvPr/>
        </p:nvSpPr>
        <p:spPr>
          <a:xfrm>
            <a:off x="3381932" y="2862084"/>
            <a:ext cx="3360424" cy="1405116"/>
          </a:xfrm>
          <a:prstGeom prst="stripedRightArrow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Perform valid action</a:t>
            </a:r>
          </a:p>
        </p:txBody>
      </p:sp>
      <p:sp>
        <p:nvSpPr>
          <p:cNvPr id="23" name="Striped Right Arrow 22">
            <a:extLst>
              <a:ext uri="{FF2B5EF4-FFF2-40B4-BE49-F238E27FC236}">
                <a16:creationId xmlns:a16="http://schemas.microsoft.com/office/drawing/2014/main" id="{D8141F59-FE21-7047-A6EA-53832839BA5A}"/>
              </a:ext>
            </a:extLst>
          </p:cNvPr>
          <p:cNvSpPr/>
          <p:nvPr/>
        </p:nvSpPr>
        <p:spPr>
          <a:xfrm flipH="1">
            <a:off x="3389556" y="4114800"/>
            <a:ext cx="2973144" cy="1405116"/>
          </a:xfrm>
          <a:prstGeom prst="stripedRightArrow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Obtain reward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A822C9-D92D-924B-919A-EFDF41F3D6C9}"/>
                  </a:ext>
                </a:extLst>
              </p:cNvPr>
              <p:cNvSpPr txBox="1"/>
              <p:nvPr/>
            </p:nvSpPr>
            <p:spPr>
              <a:xfrm>
                <a:off x="6781800" y="1048937"/>
                <a:ext cx="1903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At time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="0" dirty="0"/>
                  <a:t>: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A822C9-D92D-924B-919A-EFDF41F3D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1048937"/>
                <a:ext cx="1903656" cy="369332"/>
              </a:xfrm>
              <a:prstGeom prst="rect">
                <a:avLst/>
              </a:prstGeom>
              <a:blipFill>
                <a:blip r:embed="rId6"/>
                <a:stretch>
                  <a:fillRect l="-3333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own Arrow 17">
            <a:extLst>
              <a:ext uri="{FF2B5EF4-FFF2-40B4-BE49-F238E27FC236}">
                <a16:creationId xmlns:a16="http://schemas.microsoft.com/office/drawing/2014/main" id="{16CBF641-B891-FA45-B560-0B788F00D8C7}"/>
              </a:ext>
            </a:extLst>
          </p:cNvPr>
          <p:cNvSpPr/>
          <p:nvPr/>
        </p:nvSpPr>
        <p:spPr>
          <a:xfrm>
            <a:off x="7076943" y="2582611"/>
            <a:ext cx="381000" cy="2054873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AF82A21F-F111-4449-B3F4-C58586A5A43C}"/>
              </a:ext>
            </a:extLst>
          </p:cNvPr>
          <p:cNvSpPr/>
          <p:nvPr/>
        </p:nvSpPr>
        <p:spPr>
          <a:xfrm>
            <a:off x="7924800" y="4053301"/>
            <a:ext cx="381000" cy="594899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265D652B-6267-2644-A813-97C8D10092D3}"/>
                  </a:ext>
                </a:extLst>
              </p:cNvPr>
              <p:cNvSpPr/>
              <p:nvPr/>
            </p:nvSpPr>
            <p:spPr>
              <a:xfrm>
                <a:off x="8686801" y="1600691"/>
                <a:ext cx="1679550" cy="106680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265D652B-6267-2644-A813-97C8D1009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1" y="1600691"/>
                <a:ext cx="1679550" cy="10668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Down Arrow 26">
            <a:extLst>
              <a:ext uri="{FF2B5EF4-FFF2-40B4-BE49-F238E27FC236}">
                <a16:creationId xmlns:a16="http://schemas.microsoft.com/office/drawing/2014/main" id="{D2990051-0071-3E48-864F-79D240E7D83D}"/>
              </a:ext>
            </a:extLst>
          </p:cNvPr>
          <p:cNvSpPr/>
          <p:nvPr/>
        </p:nvSpPr>
        <p:spPr>
          <a:xfrm>
            <a:off x="7966764" y="2593327"/>
            <a:ext cx="381000" cy="594899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B1CBE98B-7C46-AF42-932E-40B016492BDE}"/>
              </a:ext>
            </a:extLst>
          </p:cNvPr>
          <p:cNvSpPr/>
          <p:nvPr/>
        </p:nvSpPr>
        <p:spPr>
          <a:xfrm rot="10800000">
            <a:off x="9336076" y="2540702"/>
            <a:ext cx="381000" cy="594899"/>
          </a:xfrm>
          <a:prstGeom prst="down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7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8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586DAA7-EE6E-374F-9848-2771A6114A6A}"/>
              </a:ext>
            </a:extLst>
          </p:cNvPr>
          <p:cNvCxnSpPr>
            <a:cxnSpLocks/>
            <a:stCxn id="2" idx="3"/>
            <a:endCxn id="35" idx="0"/>
          </p:cNvCxnSpPr>
          <p:nvPr/>
        </p:nvCxnSpPr>
        <p:spPr>
          <a:xfrm>
            <a:off x="3810000" y="2068202"/>
            <a:ext cx="689665" cy="280859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26E2547-8A70-FA49-BA16-2966BE22004B}"/>
              </a:ext>
            </a:extLst>
          </p:cNvPr>
          <p:cNvCxnSpPr>
            <a:cxnSpLocks/>
            <a:stCxn id="19" idx="2"/>
            <a:endCxn id="35" idx="0"/>
          </p:cNvCxnSpPr>
          <p:nvPr/>
        </p:nvCxnSpPr>
        <p:spPr>
          <a:xfrm>
            <a:off x="3467100" y="3661388"/>
            <a:ext cx="1032564" cy="1215413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C923D44-5080-8C4A-9A49-1351A7804801}"/>
              </a:ext>
            </a:extLst>
          </p:cNvPr>
          <p:cNvCxnSpPr>
            <a:cxnSpLocks/>
            <a:stCxn id="30" idx="3"/>
            <a:endCxn id="36" idx="0"/>
          </p:cNvCxnSpPr>
          <p:nvPr/>
        </p:nvCxnSpPr>
        <p:spPr>
          <a:xfrm>
            <a:off x="4842563" y="2068203"/>
            <a:ext cx="683514" cy="2807421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C3F6AA7-A17E-4F49-BD2D-C6F8CB862467}"/>
              </a:ext>
            </a:extLst>
          </p:cNvPr>
          <p:cNvCxnSpPr>
            <a:cxnSpLocks/>
            <a:stCxn id="40" idx="2"/>
            <a:endCxn id="36" idx="0"/>
          </p:cNvCxnSpPr>
          <p:nvPr/>
        </p:nvCxnSpPr>
        <p:spPr>
          <a:xfrm>
            <a:off x="4498523" y="3661387"/>
            <a:ext cx="1027555" cy="121423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A16DA1A-C0B6-244B-82DD-F3E10E90BAF1}"/>
              </a:ext>
            </a:extLst>
          </p:cNvPr>
          <p:cNvCxnSpPr>
            <a:cxnSpLocks/>
            <a:stCxn id="31" idx="3"/>
            <a:endCxn id="37" idx="0"/>
          </p:cNvCxnSpPr>
          <p:nvPr/>
        </p:nvCxnSpPr>
        <p:spPr>
          <a:xfrm>
            <a:off x="5875128" y="2068202"/>
            <a:ext cx="677363" cy="280624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DDB81B6-C22E-8749-8C86-BDADE59B2D65}"/>
              </a:ext>
            </a:extLst>
          </p:cNvPr>
          <p:cNvCxnSpPr>
            <a:cxnSpLocks/>
            <a:stCxn id="41" idx="2"/>
            <a:endCxn id="37" idx="0"/>
          </p:cNvCxnSpPr>
          <p:nvPr/>
        </p:nvCxnSpPr>
        <p:spPr>
          <a:xfrm>
            <a:off x="5529944" y="3670228"/>
            <a:ext cx="1022546" cy="120421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DCC6C3-EC72-894B-8225-EC0D77AAC478}"/>
              </a:ext>
            </a:extLst>
          </p:cNvPr>
          <p:cNvCxnSpPr>
            <a:cxnSpLocks/>
            <a:stCxn id="32" idx="3"/>
            <a:endCxn id="38" idx="0"/>
          </p:cNvCxnSpPr>
          <p:nvPr/>
        </p:nvCxnSpPr>
        <p:spPr>
          <a:xfrm>
            <a:off x="6907691" y="2068202"/>
            <a:ext cx="689664" cy="280624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FB3CC2E-39A2-7543-AF73-367B78685A06}"/>
              </a:ext>
            </a:extLst>
          </p:cNvPr>
          <p:cNvCxnSpPr>
            <a:cxnSpLocks/>
            <a:stCxn id="42" idx="2"/>
            <a:endCxn id="38" idx="0"/>
          </p:cNvCxnSpPr>
          <p:nvPr/>
        </p:nvCxnSpPr>
        <p:spPr>
          <a:xfrm>
            <a:off x="6561367" y="3670228"/>
            <a:ext cx="1035989" cy="120421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F8DD0E2-F971-4D47-9D8E-64D96C815244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>
            <a:off x="7940256" y="2068202"/>
            <a:ext cx="701965" cy="280624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5C511D-FC9E-3744-8924-29862607402E}"/>
              </a:ext>
            </a:extLst>
          </p:cNvPr>
          <p:cNvCxnSpPr>
            <a:cxnSpLocks/>
            <a:stCxn id="43" idx="2"/>
            <a:endCxn id="39" idx="0"/>
          </p:cNvCxnSpPr>
          <p:nvPr/>
        </p:nvCxnSpPr>
        <p:spPr>
          <a:xfrm>
            <a:off x="7592788" y="3657600"/>
            <a:ext cx="1049432" cy="121684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B9AB9B6-C56D-0345-903B-CE034E69B58C}"/>
                  </a:ext>
                </a:extLst>
              </p:cNvPr>
              <p:cNvSpPr/>
              <p:nvPr/>
            </p:nvSpPr>
            <p:spPr>
              <a:xfrm>
                <a:off x="3124201" y="3261169"/>
                <a:ext cx="685799" cy="40021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B9AB9B6-C56D-0345-903B-CE034E69B5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1" y="3261169"/>
                <a:ext cx="685799" cy="40021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107B725-40F8-C94D-825E-2B4B8B9C5EBA}"/>
                  </a:ext>
                </a:extLst>
              </p:cNvPr>
              <p:cNvSpPr/>
              <p:nvPr/>
            </p:nvSpPr>
            <p:spPr>
              <a:xfrm>
                <a:off x="3124201" y="1850404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107B725-40F8-C94D-825E-2B4B8B9C5E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1" y="1850404"/>
                <a:ext cx="685799" cy="43559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117"/>
            <a:ext cx="8915400" cy="908081"/>
          </a:xfrm>
        </p:spPr>
        <p:txBody>
          <a:bodyPr>
            <a:normAutofit/>
          </a:bodyPr>
          <a:lstStyle/>
          <a:p>
            <a:r>
              <a:rPr lang="en-US" sz="3600" dirty="0"/>
              <a:t>Reinforcement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54E22A9-07F8-304E-987D-759F6565F019}"/>
                  </a:ext>
                </a:extLst>
              </p:cNvPr>
              <p:cNvSpPr/>
              <p:nvPr/>
            </p:nvSpPr>
            <p:spPr>
              <a:xfrm>
                <a:off x="4156765" y="1850404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54E22A9-07F8-304E-987D-759F6565F0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765" y="1850404"/>
                <a:ext cx="685799" cy="43559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0F8B6948-A2A9-7F48-B1FB-DCE8A3785D0B}"/>
                  </a:ext>
                </a:extLst>
              </p:cNvPr>
              <p:cNvSpPr/>
              <p:nvPr/>
            </p:nvSpPr>
            <p:spPr>
              <a:xfrm>
                <a:off x="5189329" y="1850404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0F8B6948-A2A9-7F48-B1FB-DCE8A3785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329" y="1850404"/>
                <a:ext cx="685799" cy="43559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F39B720D-221B-C84B-A323-6026331E15C0}"/>
                  </a:ext>
                </a:extLst>
              </p:cNvPr>
              <p:cNvSpPr/>
              <p:nvPr/>
            </p:nvSpPr>
            <p:spPr>
              <a:xfrm>
                <a:off x="6221893" y="1850404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F39B720D-221B-C84B-A323-6026331E1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893" y="1850404"/>
                <a:ext cx="685799" cy="43559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587573EF-6C71-9147-8B52-FD8E97D1B622}"/>
                  </a:ext>
                </a:extLst>
              </p:cNvPr>
              <p:cNvSpPr/>
              <p:nvPr/>
            </p:nvSpPr>
            <p:spPr>
              <a:xfrm>
                <a:off x="7254457" y="1850404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587573EF-6C71-9147-8B52-FD8E97D1B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457" y="1850404"/>
                <a:ext cx="685799" cy="43559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431731AF-F2AF-A34C-8077-A52D2E1E196C}"/>
                  </a:ext>
                </a:extLst>
              </p:cNvPr>
              <p:cNvSpPr/>
              <p:nvPr/>
            </p:nvSpPr>
            <p:spPr>
              <a:xfrm>
                <a:off x="8287021" y="1850404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431731AF-F2AF-A34C-8077-A52D2E1E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021" y="1850404"/>
                <a:ext cx="685799" cy="43559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182741F5-3B33-7F43-A9E6-EFB7E4F834DF}"/>
                  </a:ext>
                </a:extLst>
              </p:cNvPr>
              <p:cNvSpPr/>
              <p:nvPr/>
            </p:nvSpPr>
            <p:spPr>
              <a:xfrm>
                <a:off x="4156765" y="4876800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182741F5-3B33-7F43-A9E6-EFB7E4F83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765" y="4876800"/>
                <a:ext cx="685799" cy="43559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417B0F11-332F-924E-9A80-8E2C6EF3FE35}"/>
                  </a:ext>
                </a:extLst>
              </p:cNvPr>
              <p:cNvSpPr/>
              <p:nvPr/>
            </p:nvSpPr>
            <p:spPr>
              <a:xfrm>
                <a:off x="5183178" y="4875623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417B0F11-332F-924E-9A80-8E2C6EF3F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178" y="4875623"/>
                <a:ext cx="685799" cy="435596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10196732-D93E-CC44-A866-552AD6FF496B}"/>
                  </a:ext>
                </a:extLst>
              </p:cNvPr>
              <p:cNvSpPr/>
              <p:nvPr/>
            </p:nvSpPr>
            <p:spPr>
              <a:xfrm>
                <a:off x="6209591" y="4874446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10196732-D93E-CC44-A866-552AD6FF4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591" y="4874446"/>
                <a:ext cx="685799" cy="43559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7B65136-3943-7D46-BEC9-67DB57CC5215}"/>
                  </a:ext>
                </a:extLst>
              </p:cNvPr>
              <p:cNvSpPr/>
              <p:nvPr/>
            </p:nvSpPr>
            <p:spPr>
              <a:xfrm>
                <a:off x="7254456" y="4874446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7B65136-3943-7D46-BEC9-67DB57CC5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456" y="4874446"/>
                <a:ext cx="685799" cy="43559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0B1A598-9D55-FD4A-8AEF-E5B475076417}"/>
                  </a:ext>
                </a:extLst>
              </p:cNvPr>
              <p:cNvSpPr/>
              <p:nvPr/>
            </p:nvSpPr>
            <p:spPr>
              <a:xfrm>
                <a:off x="8299321" y="4874446"/>
                <a:ext cx="685799" cy="43559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0B1A598-9D55-FD4A-8AEF-E5B475076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321" y="4874446"/>
                <a:ext cx="685799" cy="43559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8611AFDE-FDB1-F24C-9408-FBCC7F85B9BE}"/>
                  </a:ext>
                </a:extLst>
              </p:cNvPr>
              <p:cNvSpPr/>
              <p:nvPr/>
            </p:nvSpPr>
            <p:spPr>
              <a:xfrm>
                <a:off x="4155623" y="3261169"/>
                <a:ext cx="685799" cy="40021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8611AFDE-FDB1-F24C-9408-FBCC7F85B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623" y="3261169"/>
                <a:ext cx="685799" cy="400218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9B18DFE-3110-D64D-ACCD-3D2739153F5B}"/>
                  </a:ext>
                </a:extLst>
              </p:cNvPr>
              <p:cNvSpPr/>
              <p:nvPr/>
            </p:nvSpPr>
            <p:spPr>
              <a:xfrm>
                <a:off x="5187045" y="3270010"/>
                <a:ext cx="685799" cy="40021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9B18DFE-3110-D64D-ACCD-3D2739153F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045" y="3270010"/>
                <a:ext cx="685799" cy="400218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C82FE07A-3883-4548-972E-814338987103}"/>
                  </a:ext>
                </a:extLst>
              </p:cNvPr>
              <p:cNvSpPr/>
              <p:nvPr/>
            </p:nvSpPr>
            <p:spPr>
              <a:xfrm>
                <a:off x="6218467" y="3270010"/>
                <a:ext cx="685799" cy="40021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C82FE07A-3883-4548-972E-814338987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467" y="3270010"/>
                <a:ext cx="685799" cy="400218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31FC8477-7ABA-1047-AF91-BD840C60F523}"/>
                  </a:ext>
                </a:extLst>
              </p:cNvPr>
              <p:cNvSpPr/>
              <p:nvPr/>
            </p:nvSpPr>
            <p:spPr>
              <a:xfrm>
                <a:off x="7249889" y="3257382"/>
                <a:ext cx="685799" cy="40021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31FC8477-7ABA-1047-AF91-BD840C60F5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889" y="3257382"/>
                <a:ext cx="685799" cy="400218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ED6AA5BE-BA23-BD4F-9F22-4D6F87822824}"/>
                  </a:ext>
                </a:extLst>
              </p:cNvPr>
              <p:cNvSpPr/>
              <p:nvPr/>
            </p:nvSpPr>
            <p:spPr>
              <a:xfrm>
                <a:off x="8288435" y="3270010"/>
                <a:ext cx="685799" cy="40021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ED6AA5BE-BA23-BD4F-9F22-4D6F87822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435" y="3270010"/>
                <a:ext cx="685799" cy="400218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6B662D-71E9-1D49-BA50-0EE870A8B85D}"/>
              </a:ext>
            </a:extLst>
          </p:cNvPr>
          <p:cNvCxnSpPr>
            <a:stCxn id="2" idx="2"/>
            <a:endCxn id="19" idx="0"/>
          </p:cNvCxnSpPr>
          <p:nvPr/>
        </p:nvCxnSpPr>
        <p:spPr>
          <a:xfrm>
            <a:off x="3467100" y="2286001"/>
            <a:ext cx="0" cy="9751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8699E30-1226-7748-9E79-359F248F4B1C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 flipH="1">
            <a:off x="4498522" y="2286001"/>
            <a:ext cx="1142" cy="9751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60FE17-7D90-6E46-A708-A7098D878378}"/>
              </a:ext>
            </a:extLst>
          </p:cNvPr>
          <p:cNvCxnSpPr>
            <a:cxnSpLocks/>
            <a:stCxn id="31" idx="2"/>
            <a:endCxn id="41" idx="0"/>
          </p:cNvCxnSpPr>
          <p:nvPr/>
        </p:nvCxnSpPr>
        <p:spPr>
          <a:xfrm flipH="1">
            <a:off x="5529944" y="2286000"/>
            <a:ext cx="2284" cy="9840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F17C7C-9F43-134C-A69E-CCF8E593E71A}"/>
              </a:ext>
            </a:extLst>
          </p:cNvPr>
          <p:cNvCxnSpPr>
            <a:cxnSpLocks/>
            <a:stCxn id="32" idx="2"/>
            <a:endCxn id="42" idx="0"/>
          </p:cNvCxnSpPr>
          <p:nvPr/>
        </p:nvCxnSpPr>
        <p:spPr>
          <a:xfrm flipH="1">
            <a:off x="6561366" y="2286000"/>
            <a:ext cx="3426" cy="9840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6126109-6537-6548-9D1D-080935A88460}"/>
              </a:ext>
            </a:extLst>
          </p:cNvPr>
          <p:cNvCxnSpPr>
            <a:cxnSpLocks/>
            <a:stCxn id="33" idx="2"/>
            <a:endCxn id="43" idx="0"/>
          </p:cNvCxnSpPr>
          <p:nvPr/>
        </p:nvCxnSpPr>
        <p:spPr>
          <a:xfrm flipH="1">
            <a:off x="7592788" y="2286000"/>
            <a:ext cx="4568" cy="97138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44AF7B7-E078-D145-BDF7-323D1D2F84EC}"/>
              </a:ext>
            </a:extLst>
          </p:cNvPr>
          <p:cNvCxnSpPr>
            <a:cxnSpLocks/>
            <a:stCxn id="34" idx="2"/>
            <a:endCxn id="44" idx="0"/>
          </p:cNvCxnSpPr>
          <p:nvPr/>
        </p:nvCxnSpPr>
        <p:spPr>
          <a:xfrm>
            <a:off x="8629920" y="2286000"/>
            <a:ext cx="1414" cy="9840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1A24B53-5473-5047-98EA-CACABEF28F07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 flipV="1">
            <a:off x="3810000" y="2068202"/>
            <a:ext cx="346765" cy="139307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7B159F5-F29A-E548-8C38-32F8FC245BB7}"/>
              </a:ext>
            </a:extLst>
          </p:cNvPr>
          <p:cNvCxnSpPr>
            <a:cxnSpLocks/>
            <a:stCxn id="40" idx="3"/>
            <a:endCxn id="31" idx="1"/>
          </p:cNvCxnSpPr>
          <p:nvPr/>
        </p:nvCxnSpPr>
        <p:spPr>
          <a:xfrm flipV="1">
            <a:off x="4841422" y="2068202"/>
            <a:ext cx="347907" cy="139307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43512A6-F87D-EB4C-AD30-67BC2AE4CBA0}"/>
              </a:ext>
            </a:extLst>
          </p:cNvPr>
          <p:cNvCxnSpPr>
            <a:cxnSpLocks/>
            <a:stCxn id="41" idx="3"/>
            <a:endCxn id="32" idx="1"/>
          </p:cNvCxnSpPr>
          <p:nvPr/>
        </p:nvCxnSpPr>
        <p:spPr>
          <a:xfrm flipV="1">
            <a:off x="5872844" y="2068203"/>
            <a:ext cx="349049" cy="140191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599AC13-870A-2542-A5C5-4FAC7F998ADF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 flipV="1">
            <a:off x="6904266" y="2068203"/>
            <a:ext cx="350191" cy="140191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9B31182-8223-B743-B3A9-2AFEF7AB6DE4}"/>
              </a:ext>
            </a:extLst>
          </p:cNvPr>
          <p:cNvCxnSpPr>
            <a:cxnSpLocks/>
            <a:stCxn id="43" idx="3"/>
            <a:endCxn id="34" idx="1"/>
          </p:cNvCxnSpPr>
          <p:nvPr/>
        </p:nvCxnSpPr>
        <p:spPr>
          <a:xfrm flipV="1">
            <a:off x="7935688" y="2068203"/>
            <a:ext cx="351333" cy="138928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674" name="TextBox 369673">
            <a:extLst>
              <a:ext uri="{FF2B5EF4-FFF2-40B4-BE49-F238E27FC236}">
                <a16:creationId xmlns:a16="http://schemas.microsoft.com/office/drawing/2014/main" id="{323D1AEB-ACED-924B-A43A-F35AD1A5D293}"/>
              </a:ext>
            </a:extLst>
          </p:cNvPr>
          <p:cNvSpPr txBox="1"/>
          <p:nvPr/>
        </p:nvSpPr>
        <p:spPr>
          <a:xfrm>
            <a:off x="3429001" y="5541893"/>
            <a:ext cx="6125367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Markov property: next state is determined only based on current action and state, not entire sequence</a:t>
            </a:r>
          </a:p>
        </p:txBody>
      </p:sp>
    </p:spTree>
    <p:extLst>
      <p:ext uri="{BB962C8B-B14F-4D97-AF65-F5344CB8AC3E}">
        <p14:creationId xmlns:p14="http://schemas.microsoft.com/office/powerpoint/2010/main" val="90834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117"/>
            <a:ext cx="8915400" cy="908081"/>
          </a:xfrm>
        </p:spPr>
        <p:txBody>
          <a:bodyPr>
            <a:normAutofit/>
          </a:bodyPr>
          <a:lstStyle/>
          <a:p>
            <a:r>
              <a:rPr lang="en-US" sz="3600" dirty="0"/>
              <a:t>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586DAA7-EE6E-374F-9848-2771A6114A6A}"/>
              </a:ext>
            </a:extLst>
          </p:cNvPr>
          <p:cNvCxnSpPr>
            <a:cxnSpLocks/>
            <a:stCxn id="2" idx="3"/>
            <a:endCxn id="35" idx="0"/>
          </p:cNvCxnSpPr>
          <p:nvPr/>
        </p:nvCxnSpPr>
        <p:spPr>
          <a:xfrm>
            <a:off x="3210411" y="1113529"/>
            <a:ext cx="546474" cy="222546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26E2547-8A70-FA49-BA16-2966BE22004B}"/>
              </a:ext>
            </a:extLst>
          </p:cNvPr>
          <p:cNvCxnSpPr>
            <a:cxnSpLocks/>
            <a:stCxn id="19" idx="2"/>
            <a:endCxn id="35" idx="0"/>
          </p:cNvCxnSpPr>
          <p:nvPr/>
        </p:nvCxnSpPr>
        <p:spPr>
          <a:xfrm>
            <a:off x="2938707" y="2375931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C923D44-5080-8C4A-9A49-1351A7804801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028590" y="1113529"/>
            <a:ext cx="557880" cy="222500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C3F6AA7-A17E-4F49-BD2D-C6F8CB862467}"/>
              </a:ext>
            </a:extLst>
          </p:cNvPr>
          <p:cNvCxnSpPr>
            <a:cxnSpLocks/>
          </p:cNvCxnSpPr>
          <p:nvPr/>
        </p:nvCxnSpPr>
        <p:spPr>
          <a:xfrm>
            <a:off x="3768292" y="2375465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A16DA1A-C0B6-244B-82DD-F3E10E90BAF1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4846770" y="1113529"/>
            <a:ext cx="569287" cy="222453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DDB81B6-C22E-8749-8C86-BDADE59B2D65}"/>
              </a:ext>
            </a:extLst>
          </p:cNvPr>
          <p:cNvCxnSpPr>
            <a:cxnSpLocks/>
          </p:cNvCxnSpPr>
          <p:nvPr/>
        </p:nvCxnSpPr>
        <p:spPr>
          <a:xfrm>
            <a:off x="4597878" y="2374999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DCC6C3-EC72-894B-8225-EC0D77AAC47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5664949" y="1113529"/>
            <a:ext cx="580693" cy="222406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FB3CC2E-39A2-7543-AF73-367B78685A06}"/>
              </a:ext>
            </a:extLst>
          </p:cNvPr>
          <p:cNvCxnSpPr>
            <a:cxnSpLocks/>
          </p:cNvCxnSpPr>
          <p:nvPr/>
        </p:nvCxnSpPr>
        <p:spPr>
          <a:xfrm>
            <a:off x="5427463" y="2374533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F8DD0E2-F971-4D47-9D8E-64D96C815244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6483129" y="1113529"/>
            <a:ext cx="592099" cy="222360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5C511D-FC9E-3744-8924-29862607402E}"/>
              </a:ext>
            </a:extLst>
          </p:cNvPr>
          <p:cNvCxnSpPr>
            <a:cxnSpLocks/>
          </p:cNvCxnSpPr>
          <p:nvPr/>
        </p:nvCxnSpPr>
        <p:spPr>
          <a:xfrm>
            <a:off x="6257049" y="2374067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107B725-40F8-C94D-825E-2B4B8B9C5EBA}"/>
                  </a:ext>
                </a:extLst>
              </p:cNvPr>
              <p:cNvSpPr/>
              <p:nvPr/>
            </p:nvSpPr>
            <p:spPr>
              <a:xfrm>
                <a:off x="2667001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107B725-40F8-C94D-825E-2B4B8B9C5E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1" y="940951"/>
                <a:ext cx="543411" cy="345156"/>
              </a:xfrm>
              <a:prstGeom prst="round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54E22A9-07F8-304E-987D-759F6565F019}"/>
                  </a:ext>
                </a:extLst>
              </p:cNvPr>
              <p:cNvSpPr/>
              <p:nvPr/>
            </p:nvSpPr>
            <p:spPr>
              <a:xfrm>
                <a:off x="3485180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054E22A9-07F8-304E-987D-759F6565F0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180" y="940951"/>
                <a:ext cx="543411" cy="345156"/>
              </a:xfrm>
              <a:prstGeom prst="round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0F8B6948-A2A9-7F48-B1FB-DCE8A3785D0B}"/>
                  </a:ext>
                </a:extLst>
              </p:cNvPr>
              <p:cNvSpPr/>
              <p:nvPr/>
            </p:nvSpPr>
            <p:spPr>
              <a:xfrm>
                <a:off x="4303359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0F8B6948-A2A9-7F48-B1FB-DCE8A3785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359" y="940951"/>
                <a:ext cx="543411" cy="345156"/>
              </a:xfrm>
              <a:prstGeom prst="round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F39B720D-221B-C84B-A323-6026331E15C0}"/>
                  </a:ext>
                </a:extLst>
              </p:cNvPr>
              <p:cNvSpPr/>
              <p:nvPr/>
            </p:nvSpPr>
            <p:spPr>
              <a:xfrm>
                <a:off x="5121539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F39B720D-221B-C84B-A323-6026331E1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539" y="940951"/>
                <a:ext cx="543411" cy="345156"/>
              </a:xfrm>
              <a:prstGeom prst="roundRect">
                <a:avLst/>
              </a:prstGeom>
              <a:blipFill>
                <a:blip r:embed="rId6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587573EF-6C71-9147-8B52-FD8E97D1B622}"/>
                  </a:ext>
                </a:extLst>
              </p:cNvPr>
              <p:cNvSpPr/>
              <p:nvPr/>
            </p:nvSpPr>
            <p:spPr>
              <a:xfrm>
                <a:off x="5939718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587573EF-6C71-9147-8B52-FD8E97D1B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718" y="940951"/>
                <a:ext cx="543411" cy="345156"/>
              </a:xfrm>
              <a:prstGeom prst="roundRect">
                <a:avLst/>
              </a:prstGeom>
              <a:blipFill>
                <a:blip r:embed="rId7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431731AF-F2AF-A34C-8077-A52D2E1E196C}"/>
                  </a:ext>
                </a:extLst>
              </p:cNvPr>
              <p:cNvSpPr/>
              <p:nvPr/>
            </p:nvSpPr>
            <p:spPr>
              <a:xfrm>
                <a:off x="6757897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431731AF-F2AF-A34C-8077-A52D2E1E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897" y="940951"/>
                <a:ext cx="543411" cy="345156"/>
              </a:xfrm>
              <a:prstGeom prst="roundRect">
                <a:avLst/>
              </a:prstGeom>
              <a:blipFill>
                <a:blip r:embed="rId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182741F5-3B33-7F43-A9E6-EFB7E4F834DF}"/>
                  </a:ext>
                </a:extLst>
              </p:cNvPr>
              <p:cNvSpPr/>
              <p:nvPr/>
            </p:nvSpPr>
            <p:spPr>
              <a:xfrm>
                <a:off x="3485180" y="3338995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182741F5-3B33-7F43-A9E6-EFB7E4F83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180" y="3338995"/>
                <a:ext cx="543411" cy="345156"/>
              </a:xfrm>
              <a:prstGeom prst="roundRect">
                <a:avLst/>
              </a:prstGeom>
              <a:blipFill>
                <a:blip r:embed="rId9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417B0F11-332F-924E-9A80-8E2C6EF3FE35}"/>
                  </a:ext>
                </a:extLst>
              </p:cNvPr>
              <p:cNvSpPr/>
              <p:nvPr/>
            </p:nvSpPr>
            <p:spPr>
              <a:xfrm>
                <a:off x="4298485" y="3338062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417B0F11-332F-924E-9A80-8E2C6EF3F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485" y="3338062"/>
                <a:ext cx="543411" cy="345156"/>
              </a:xfrm>
              <a:prstGeom prst="roundRect">
                <a:avLst/>
              </a:prstGeom>
              <a:blipFill>
                <a:blip r:embed="rId10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10196732-D93E-CC44-A866-552AD6FF496B}"/>
                  </a:ext>
                </a:extLst>
              </p:cNvPr>
              <p:cNvSpPr/>
              <p:nvPr/>
            </p:nvSpPr>
            <p:spPr>
              <a:xfrm>
                <a:off x="5111791" y="3337130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10196732-D93E-CC44-A866-552AD6FF4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791" y="3337130"/>
                <a:ext cx="543411" cy="345156"/>
              </a:xfrm>
              <a:prstGeom prst="round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7B65136-3943-7D46-BEC9-67DB57CC5215}"/>
                  </a:ext>
                </a:extLst>
              </p:cNvPr>
              <p:cNvSpPr/>
              <p:nvPr/>
            </p:nvSpPr>
            <p:spPr>
              <a:xfrm>
                <a:off x="5939717" y="3337130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87B65136-3943-7D46-BEC9-67DB57CC5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717" y="3337130"/>
                <a:ext cx="543411" cy="345156"/>
              </a:xfrm>
              <a:prstGeom prst="round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0B1A598-9D55-FD4A-8AEF-E5B475076417}"/>
                  </a:ext>
                </a:extLst>
              </p:cNvPr>
              <p:cNvSpPr/>
              <p:nvPr/>
            </p:nvSpPr>
            <p:spPr>
              <a:xfrm>
                <a:off x="6767643" y="3337130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0B1A598-9D55-FD4A-8AEF-E5B475076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643" y="3337130"/>
                <a:ext cx="543411" cy="345156"/>
              </a:xfrm>
              <a:prstGeom prst="round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6B662D-71E9-1D49-BA50-0EE870A8B85D}"/>
              </a:ext>
            </a:extLst>
          </p:cNvPr>
          <p:cNvCxnSpPr>
            <a:stCxn id="2" idx="2"/>
            <a:endCxn id="19" idx="0"/>
          </p:cNvCxnSpPr>
          <p:nvPr/>
        </p:nvCxnSpPr>
        <p:spPr>
          <a:xfrm>
            <a:off x="2938706" y="1286108"/>
            <a:ext cx="0" cy="77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8699E30-1226-7748-9E79-359F248F4B1C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 flipH="1">
            <a:off x="3755981" y="1286108"/>
            <a:ext cx="905" cy="77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60FE17-7D90-6E46-A708-A7098D878378}"/>
              </a:ext>
            </a:extLst>
          </p:cNvPr>
          <p:cNvCxnSpPr>
            <a:cxnSpLocks/>
            <a:stCxn id="31" idx="2"/>
            <a:endCxn id="41" idx="0"/>
          </p:cNvCxnSpPr>
          <p:nvPr/>
        </p:nvCxnSpPr>
        <p:spPr>
          <a:xfrm flipH="1">
            <a:off x="4573254" y="1286107"/>
            <a:ext cx="1810" cy="7797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F17C7C-9F43-134C-A69E-CCF8E593E71A}"/>
              </a:ext>
            </a:extLst>
          </p:cNvPr>
          <p:cNvCxnSpPr>
            <a:cxnSpLocks/>
            <a:stCxn id="32" idx="2"/>
            <a:endCxn id="42" idx="0"/>
          </p:cNvCxnSpPr>
          <p:nvPr/>
        </p:nvCxnSpPr>
        <p:spPr>
          <a:xfrm flipH="1">
            <a:off x="5390530" y="1286107"/>
            <a:ext cx="2715" cy="7797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6126109-6537-6548-9D1D-080935A88460}"/>
              </a:ext>
            </a:extLst>
          </p:cNvPr>
          <p:cNvCxnSpPr>
            <a:cxnSpLocks/>
            <a:stCxn id="33" idx="2"/>
            <a:endCxn id="43" idx="0"/>
          </p:cNvCxnSpPr>
          <p:nvPr/>
        </p:nvCxnSpPr>
        <p:spPr>
          <a:xfrm flipH="1">
            <a:off x="6207803" y="1286107"/>
            <a:ext cx="3620" cy="7697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44AF7B7-E078-D145-BDF7-323D1D2F84EC}"/>
              </a:ext>
            </a:extLst>
          </p:cNvPr>
          <p:cNvCxnSpPr>
            <a:cxnSpLocks/>
            <a:stCxn id="34" idx="2"/>
            <a:endCxn id="44" idx="0"/>
          </p:cNvCxnSpPr>
          <p:nvPr/>
        </p:nvCxnSpPr>
        <p:spPr>
          <a:xfrm>
            <a:off x="7029602" y="1286107"/>
            <a:ext cx="1120" cy="7797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1A24B53-5473-5047-98EA-CACABEF28F07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 flipV="1">
            <a:off x="3210411" y="1113529"/>
            <a:ext cx="274768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7B159F5-F29A-E548-8C38-32F8FC245BB7}"/>
              </a:ext>
            </a:extLst>
          </p:cNvPr>
          <p:cNvCxnSpPr>
            <a:cxnSpLocks/>
            <a:stCxn id="40" idx="3"/>
            <a:endCxn id="31" idx="1"/>
          </p:cNvCxnSpPr>
          <p:nvPr/>
        </p:nvCxnSpPr>
        <p:spPr>
          <a:xfrm flipV="1">
            <a:off x="4027686" y="1113529"/>
            <a:ext cx="275673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43512A6-F87D-EB4C-AD30-67BC2AE4CBA0}"/>
              </a:ext>
            </a:extLst>
          </p:cNvPr>
          <p:cNvCxnSpPr>
            <a:cxnSpLocks/>
          </p:cNvCxnSpPr>
          <p:nvPr/>
        </p:nvCxnSpPr>
        <p:spPr>
          <a:xfrm flipV="1">
            <a:off x="4844960" y="1113529"/>
            <a:ext cx="275673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599AC13-870A-2542-A5C5-4FAC7F998ADF}"/>
              </a:ext>
            </a:extLst>
          </p:cNvPr>
          <p:cNvCxnSpPr>
            <a:cxnSpLocks/>
          </p:cNvCxnSpPr>
          <p:nvPr/>
        </p:nvCxnSpPr>
        <p:spPr>
          <a:xfrm flipV="1">
            <a:off x="5662235" y="1113529"/>
            <a:ext cx="275673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9B31182-8223-B743-B3A9-2AFEF7AB6DE4}"/>
              </a:ext>
            </a:extLst>
          </p:cNvPr>
          <p:cNvCxnSpPr>
            <a:cxnSpLocks/>
          </p:cNvCxnSpPr>
          <p:nvPr/>
        </p:nvCxnSpPr>
        <p:spPr>
          <a:xfrm flipV="1">
            <a:off x="6479509" y="1113529"/>
            <a:ext cx="275673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F0005B-28A4-7A43-B2C8-59F5D0F6A17B}"/>
                  </a:ext>
                </a:extLst>
              </p:cNvPr>
              <p:cNvSpPr txBox="1"/>
              <p:nvPr/>
            </p:nvSpPr>
            <p:spPr>
              <a:xfrm>
                <a:off x="2667000" y="4080705"/>
                <a:ext cx="67818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Policy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/>
                  <a:t> determines agent’s behavior, i.e. actions </a:t>
                </a:r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Deterministic policy: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/>
                </a:r>
                <a:br>
                  <a:rPr lang="en-US" sz="2000" dirty="0"/>
                </a:b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Stochastic policy: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sepChr m:val="∣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F0005B-28A4-7A43-B2C8-59F5D0F6A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080705"/>
                <a:ext cx="6781800" cy="1631216"/>
              </a:xfrm>
              <a:prstGeom prst="rect">
                <a:avLst/>
              </a:prstGeom>
              <a:blipFill>
                <a:blip r:embed="rId14"/>
                <a:stretch>
                  <a:fillRect l="-1124" t="-2326" b="-5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Callout 14">
            <a:extLst>
              <a:ext uri="{FF2B5EF4-FFF2-40B4-BE49-F238E27FC236}">
                <a16:creationId xmlns:a16="http://schemas.microsoft.com/office/drawing/2014/main" id="{9A2F037A-EB50-2242-857B-7E6C4F968C00}"/>
              </a:ext>
            </a:extLst>
          </p:cNvPr>
          <p:cNvSpPr/>
          <p:nvPr/>
        </p:nvSpPr>
        <p:spPr>
          <a:xfrm>
            <a:off x="2606614" y="1828800"/>
            <a:ext cx="5490606" cy="8382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8134"/>
            </a:avLst>
          </a:prstGeom>
          <a:solidFill>
            <a:srgbClr val="FFC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B9AB9B6-C56D-0345-903B-CE034E69B58C}"/>
                  </a:ext>
                </a:extLst>
              </p:cNvPr>
              <p:cNvSpPr/>
              <p:nvPr/>
            </p:nvSpPr>
            <p:spPr>
              <a:xfrm>
                <a:off x="2667001" y="2058809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B9AB9B6-C56D-0345-903B-CE034E69B5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1" y="2058809"/>
                <a:ext cx="543411" cy="317123"/>
              </a:xfrm>
              <a:prstGeom prst="round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8611AFDE-FDB1-F24C-9408-FBCC7F85B9BE}"/>
                  </a:ext>
                </a:extLst>
              </p:cNvPr>
              <p:cNvSpPr/>
              <p:nvPr/>
            </p:nvSpPr>
            <p:spPr>
              <a:xfrm>
                <a:off x="3484275" y="2058809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8611AFDE-FDB1-F24C-9408-FBCC7F85B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275" y="2058809"/>
                <a:ext cx="543411" cy="317123"/>
              </a:xfrm>
              <a:prstGeom prst="roundRect">
                <a:avLst/>
              </a:prstGeom>
              <a:blipFill>
                <a:blip r:embed="rId1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9B18DFE-3110-D64D-ACCD-3D2739153F5B}"/>
                  </a:ext>
                </a:extLst>
              </p:cNvPr>
              <p:cNvSpPr/>
              <p:nvPr/>
            </p:nvSpPr>
            <p:spPr>
              <a:xfrm>
                <a:off x="4301550" y="2065814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9B18DFE-3110-D64D-ACCD-3D2739153F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550" y="2065814"/>
                <a:ext cx="543411" cy="317123"/>
              </a:xfrm>
              <a:prstGeom prst="roundRect">
                <a:avLst/>
              </a:prstGeom>
              <a:blipFill>
                <a:blip r:embed="rId17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C82FE07A-3883-4548-972E-814338987103}"/>
                  </a:ext>
                </a:extLst>
              </p:cNvPr>
              <p:cNvSpPr/>
              <p:nvPr/>
            </p:nvSpPr>
            <p:spPr>
              <a:xfrm>
                <a:off x="5118824" y="2065814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C82FE07A-3883-4548-972E-814338987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824" y="2065814"/>
                <a:ext cx="543411" cy="317123"/>
              </a:xfrm>
              <a:prstGeom prst="roundRect">
                <a:avLst/>
              </a:prstGeom>
              <a:blipFill>
                <a:blip r:embed="rId18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31FC8477-7ABA-1047-AF91-BD840C60F523}"/>
                  </a:ext>
                </a:extLst>
              </p:cNvPr>
              <p:cNvSpPr/>
              <p:nvPr/>
            </p:nvSpPr>
            <p:spPr>
              <a:xfrm>
                <a:off x="5936098" y="2055808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31FC8477-7ABA-1047-AF91-BD840C60F5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98" y="2055808"/>
                <a:ext cx="543411" cy="317123"/>
              </a:xfrm>
              <a:prstGeom prst="roundRect">
                <a:avLst/>
              </a:prstGeom>
              <a:blipFill>
                <a:blip r:embed="rId1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ED6AA5BE-BA23-BD4F-9F22-4D6F87822824}"/>
                  </a:ext>
                </a:extLst>
              </p:cNvPr>
              <p:cNvSpPr/>
              <p:nvPr/>
            </p:nvSpPr>
            <p:spPr>
              <a:xfrm>
                <a:off x="6759017" y="2065814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ED6AA5BE-BA23-BD4F-9F22-4D6F87822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017" y="2065814"/>
                <a:ext cx="543411" cy="317123"/>
              </a:xfrm>
              <a:prstGeom prst="roundRect">
                <a:avLst/>
              </a:prstGeom>
              <a:blipFill>
                <a:blip r:embed="rId2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14BF29-5348-1343-B57E-534475753534}"/>
                  </a:ext>
                </a:extLst>
              </p:cNvPr>
              <p:cNvSpPr txBox="1"/>
              <p:nvPr/>
            </p:nvSpPr>
            <p:spPr>
              <a:xfrm>
                <a:off x="8157606" y="1786235"/>
                <a:ext cx="21293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Actions are chosen based on the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14BF29-5348-1343-B57E-534475753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606" y="1786235"/>
                <a:ext cx="2129394" cy="923330"/>
              </a:xfrm>
              <a:prstGeom prst="rect">
                <a:avLst/>
              </a:prstGeom>
              <a:blipFill>
                <a:blip r:embed="rId21"/>
                <a:stretch>
                  <a:fillRect l="-2367" t="-2703" r="-4734" b="-94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17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117"/>
            <a:ext cx="8915400" cy="908081"/>
          </a:xfrm>
        </p:spPr>
        <p:txBody>
          <a:bodyPr>
            <a:normAutofit/>
          </a:bodyPr>
          <a:lstStyle/>
          <a:p>
            <a:r>
              <a:rPr lang="en-US" sz="3600" dirty="0"/>
              <a:t>Value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F0005B-28A4-7A43-B2C8-59F5D0F6A17B}"/>
                  </a:ext>
                </a:extLst>
              </p:cNvPr>
              <p:cNvSpPr txBox="1"/>
              <p:nvPr/>
            </p:nvSpPr>
            <p:spPr>
              <a:xfrm>
                <a:off x="2540589" y="4117783"/>
                <a:ext cx="7728995" cy="216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Value function tries to predict how good a state is, given the rewards.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+…=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ℓ=0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+ℓ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F0005B-28A4-7A43-B2C8-59F5D0F6A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589" y="4117783"/>
                <a:ext cx="7728995" cy="2162067"/>
              </a:xfrm>
              <a:prstGeom prst="rect">
                <a:avLst/>
              </a:prstGeom>
              <a:blipFill>
                <a:blip r:embed="rId3"/>
                <a:stretch>
                  <a:fillRect l="-3612" t="-1754" b="-67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088966-9670-A444-80FB-B9491469025C}"/>
              </a:ext>
            </a:extLst>
          </p:cNvPr>
          <p:cNvCxnSpPr>
            <a:cxnSpLocks/>
            <a:stCxn id="74" idx="3"/>
            <a:endCxn id="80" idx="0"/>
          </p:cNvCxnSpPr>
          <p:nvPr/>
        </p:nvCxnSpPr>
        <p:spPr>
          <a:xfrm>
            <a:off x="3210411" y="1113529"/>
            <a:ext cx="546474" cy="222546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3D7114B-6DA3-EB4C-A96F-9E45EA3AA66C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>
            <a:off x="2938707" y="2375931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43E402F-94BD-FC4E-B68F-A0520EBAE7E5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4028590" y="1113529"/>
            <a:ext cx="557880" cy="222500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253C9B8-6E0F-F647-BD94-1BE6EBB84180}"/>
              </a:ext>
            </a:extLst>
          </p:cNvPr>
          <p:cNvCxnSpPr>
            <a:cxnSpLocks/>
          </p:cNvCxnSpPr>
          <p:nvPr/>
        </p:nvCxnSpPr>
        <p:spPr>
          <a:xfrm>
            <a:off x="3768292" y="2375465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258A865-0593-FC44-BB29-9973AB06D3AF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4846770" y="1113529"/>
            <a:ext cx="569287" cy="222453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8E9BF25-15DE-2644-A3C0-07BA0E9B5A65}"/>
              </a:ext>
            </a:extLst>
          </p:cNvPr>
          <p:cNvCxnSpPr>
            <a:cxnSpLocks/>
          </p:cNvCxnSpPr>
          <p:nvPr/>
        </p:nvCxnSpPr>
        <p:spPr>
          <a:xfrm>
            <a:off x="4597878" y="2374999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0265BA9-6B47-D04D-8164-1CB003F791ED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664949" y="1113529"/>
            <a:ext cx="580693" cy="222406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E05A390-9EB9-4840-91B3-EB5C07A8A1CC}"/>
              </a:ext>
            </a:extLst>
          </p:cNvPr>
          <p:cNvCxnSpPr>
            <a:cxnSpLocks/>
          </p:cNvCxnSpPr>
          <p:nvPr/>
        </p:nvCxnSpPr>
        <p:spPr>
          <a:xfrm>
            <a:off x="5427463" y="2374533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19AD9F4-8065-3F43-8B26-4014B7B23650}"/>
              </a:ext>
            </a:extLst>
          </p:cNvPr>
          <p:cNvCxnSpPr>
            <a:cxnSpLocks/>
            <a:stCxn id="78" idx="3"/>
          </p:cNvCxnSpPr>
          <p:nvPr/>
        </p:nvCxnSpPr>
        <p:spPr>
          <a:xfrm>
            <a:off x="6483129" y="1113529"/>
            <a:ext cx="592099" cy="222360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8297747-FBFD-1A49-8B3E-B29D56766555}"/>
              </a:ext>
            </a:extLst>
          </p:cNvPr>
          <p:cNvCxnSpPr>
            <a:cxnSpLocks/>
          </p:cNvCxnSpPr>
          <p:nvPr/>
        </p:nvCxnSpPr>
        <p:spPr>
          <a:xfrm>
            <a:off x="6257049" y="2374067"/>
            <a:ext cx="818179" cy="963064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0BB450B0-4B1B-FF4B-88AF-E5820AFE8A70}"/>
                  </a:ext>
                </a:extLst>
              </p:cNvPr>
              <p:cNvSpPr/>
              <p:nvPr/>
            </p:nvSpPr>
            <p:spPr>
              <a:xfrm>
                <a:off x="2667001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0BB450B0-4B1B-FF4B-88AF-E5820AFE8A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1" y="940951"/>
                <a:ext cx="543411" cy="345156"/>
              </a:xfrm>
              <a:prstGeom prst="round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1516DE12-5BBE-264E-A815-4EDF601040E4}"/>
                  </a:ext>
                </a:extLst>
              </p:cNvPr>
              <p:cNvSpPr/>
              <p:nvPr/>
            </p:nvSpPr>
            <p:spPr>
              <a:xfrm>
                <a:off x="3485180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1516DE12-5BBE-264E-A815-4EDF601040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180" y="940951"/>
                <a:ext cx="543411" cy="345156"/>
              </a:xfrm>
              <a:prstGeom prst="round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730B5B21-7202-1941-91B7-FCAA9E387E43}"/>
                  </a:ext>
                </a:extLst>
              </p:cNvPr>
              <p:cNvSpPr/>
              <p:nvPr/>
            </p:nvSpPr>
            <p:spPr>
              <a:xfrm>
                <a:off x="4303359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730B5B21-7202-1941-91B7-FCAA9E387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359" y="940951"/>
                <a:ext cx="543411" cy="345156"/>
              </a:xfrm>
              <a:prstGeom prst="roundRect">
                <a:avLst/>
              </a:prstGeom>
              <a:blipFill>
                <a:blip r:embed="rId6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21F2D10B-3281-6B46-9FDD-00F027352C21}"/>
                  </a:ext>
                </a:extLst>
              </p:cNvPr>
              <p:cNvSpPr/>
              <p:nvPr/>
            </p:nvSpPr>
            <p:spPr>
              <a:xfrm>
                <a:off x="5121539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21F2D10B-3281-6B46-9FDD-00F027352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539" y="940951"/>
                <a:ext cx="543411" cy="345156"/>
              </a:xfrm>
              <a:prstGeom prst="roundRect">
                <a:avLst/>
              </a:prstGeom>
              <a:blipFill>
                <a:blip r:embed="rId7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A946C0EE-7731-5344-A73C-D70153E0966B}"/>
                  </a:ext>
                </a:extLst>
              </p:cNvPr>
              <p:cNvSpPr/>
              <p:nvPr/>
            </p:nvSpPr>
            <p:spPr>
              <a:xfrm>
                <a:off x="5939718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A946C0EE-7731-5344-A73C-D70153E096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718" y="940951"/>
                <a:ext cx="543411" cy="345156"/>
              </a:xfrm>
              <a:prstGeom prst="roundRect">
                <a:avLst/>
              </a:prstGeom>
              <a:blipFill>
                <a:blip r:embed="rId8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D49B07E9-D82F-3E48-9454-DD7A6CCBBA78}"/>
                  </a:ext>
                </a:extLst>
              </p:cNvPr>
              <p:cNvSpPr/>
              <p:nvPr/>
            </p:nvSpPr>
            <p:spPr>
              <a:xfrm>
                <a:off x="6757897" y="940951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D49B07E9-D82F-3E48-9454-DD7A6CCBB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897" y="940951"/>
                <a:ext cx="543411" cy="345156"/>
              </a:xfrm>
              <a:prstGeom prst="roundRect">
                <a:avLst/>
              </a:prstGeom>
              <a:blipFill>
                <a:blip r:embed="rId9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2075F7A-303D-2649-BE21-DA0B1AF44107}"/>
              </a:ext>
            </a:extLst>
          </p:cNvPr>
          <p:cNvCxnSpPr>
            <a:stCxn id="74" idx="2"/>
            <a:endCxn id="73" idx="0"/>
          </p:cNvCxnSpPr>
          <p:nvPr/>
        </p:nvCxnSpPr>
        <p:spPr>
          <a:xfrm>
            <a:off x="2938706" y="1286108"/>
            <a:ext cx="0" cy="77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523F7DF-E3ED-FE42-946C-B49DEA06E6BB}"/>
              </a:ext>
            </a:extLst>
          </p:cNvPr>
          <p:cNvCxnSpPr>
            <a:cxnSpLocks/>
            <a:stCxn id="75" idx="2"/>
            <a:endCxn id="89" idx="0"/>
          </p:cNvCxnSpPr>
          <p:nvPr/>
        </p:nvCxnSpPr>
        <p:spPr>
          <a:xfrm flipH="1">
            <a:off x="3755981" y="1286108"/>
            <a:ext cx="905" cy="77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34B31CD-4C35-5D43-AE86-FEAAFC402898}"/>
              </a:ext>
            </a:extLst>
          </p:cNvPr>
          <p:cNvCxnSpPr>
            <a:cxnSpLocks/>
            <a:stCxn id="76" idx="2"/>
            <a:endCxn id="90" idx="0"/>
          </p:cNvCxnSpPr>
          <p:nvPr/>
        </p:nvCxnSpPr>
        <p:spPr>
          <a:xfrm flipH="1">
            <a:off x="4573254" y="1286107"/>
            <a:ext cx="1810" cy="7797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6E4EA1C-C73C-9849-B6A6-7AACD42AF042}"/>
              </a:ext>
            </a:extLst>
          </p:cNvPr>
          <p:cNvCxnSpPr>
            <a:cxnSpLocks/>
            <a:stCxn id="77" idx="2"/>
            <a:endCxn id="91" idx="0"/>
          </p:cNvCxnSpPr>
          <p:nvPr/>
        </p:nvCxnSpPr>
        <p:spPr>
          <a:xfrm flipH="1">
            <a:off x="5390530" y="1286107"/>
            <a:ext cx="2715" cy="7797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3091CC9-F55C-0C41-9094-D6AD6594DE05}"/>
              </a:ext>
            </a:extLst>
          </p:cNvPr>
          <p:cNvCxnSpPr>
            <a:cxnSpLocks/>
            <a:stCxn id="78" idx="2"/>
            <a:endCxn id="92" idx="0"/>
          </p:cNvCxnSpPr>
          <p:nvPr/>
        </p:nvCxnSpPr>
        <p:spPr>
          <a:xfrm flipH="1">
            <a:off x="6207803" y="1286107"/>
            <a:ext cx="3620" cy="7697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EA47859-9E6B-8C44-87D5-DA06105D836E}"/>
              </a:ext>
            </a:extLst>
          </p:cNvPr>
          <p:cNvCxnSpPr>
            <a:cxnSpLocks/>
            <a:stCxn id="79" idx="2"/>
            <a:endCxn id="93" idx="0"/>
          </p:cNvCxnSpPr>
          <p:nvPr/>
        </p:nvCxnSpPr>
        <p:spPr>
          <a:xfrm>
            <a:off x="7029602" y="1286107"/>
            <a:ext cx="1120" cy="7797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427E267-85E5-0346-B18B-0205EB1041F0}"/>
              </a:ext>
            </a:extLst>
          </p:cNvPr>
          <p:cNvCxnSpPr>
            <a:cxnSpLocks/>
            <a:stCxn id="73" idx="3"/>
            <a:endCxn id="75" idx="1"/>
          </p:cNvCxnSpPr>
          <p:nvPr/>
        </p:nvCxnSpPr>
        <p:spPr>
          <a:xfrm flipV="1">
            <a:off x="3210411" y="1113529"/>
            <a:ext cx="274768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9DA19DF-383B-9045-BB9E-F895776C1B17}"/>
              </a:ext>
            </a:extLst>
          </p:cNvPr>
          <p:cNvCxnSpPr>
            <a:cxnSpLocks/>
            <a:stCxn id="89" idx="3"/>
            <a:endCxn id="76" idx="1"/>
          </p:cNvCxnSpPr>
          <p:nvPr/>
        </p:nvCxnSpPr>
        <p:spPr>
          <a:xfrm flipV="1">
            <a:off x="4027686" y="1113529"/>
            <a:ext cx="275673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A7B91D8-CE0E-FA41-9BBF-30B5B4D7E7EB}"/>
              </a:ext>
            </a:extLst>
          </p:cNvPr>
          <p:cNvCxnSpPr>
            <a:cxnSpLocks/>
          </p:cNvCxnSpPr>
          <p:nvPr/>
        </p:nvCxnSpPr>
        <p:spPr>
          <a:xfrm flipV="1">
            <a:off x="4844960" y="1113529"/>
            <a:ext cx="275673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A3EE3A6-3511-D342-88A7-80296C1B2BC7}"/>
              </a:ext>
            </a:extLst>
          </p:cNvPr>
          <p:cNvCxnSpPr>
            <a:cxnSpLocks/>
          </p:cNvCxnSpPr>
          <p:nvPr/>
        </p:nvCxnSpPr>
        <p:spPr>
          <a:xfrm flipV="1">
            <a:off x="5662235" y="1113529"/>
            <a:ext cx="275673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F8E718D-6083-0044-A78B-321F06F7DA28}"/>
              </a:ext>
            </a:extLst>
          </p:cNvPr>
          <p:cNvCxnSpPr>
            <a:cxnSpLocks/>
          </p:cNvCxnSpPr>
          <p:nvPr/>
        </p:nvCxnSpPr>
        <p:spPr>
          <a:xfrm flipV="1">
            <a:off x="6479509" y="1113529"/>
            <a:ext cx="275673" cy="1103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ight Arrow Callout 112">
            <a:extLst>
              <a:ext uri="{FF2B5EF4-FFF2-40B4-BE49-F238E27FC236}">
                <a16:creationId xmlns:a16="http://schemas.microsoft.com/office/drawing/2014/main" id="{FC8EF826-1FB2-A44D-9C28-D7771DDFCE71}"/>
              </a:ext>
            </a:extLst>
          </p:cNvPr>
          <p:cNvSpPr/>
          <p:nvPr/>
        </p:nvSpPr>
        <p:spPr>
          <a:xfrm>
            <a:off x="2606614" y="1828800"/>
            <a:ext cx="5490606" cy="8382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8134"/>
            </a:avLst>
          </a:prstGeom>
          <a:solidFill>
            <a:srgbClr val="FFC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841DA4E-1D77-B842-8922-F074DBD6BD7B}"/>
                  </a:ext>
                </a:extLst>
              </p:cNvPr>
              <p:cNvSpPr txBox="1"/>
              <p:nvPr/>
            </p:nvSpPr>
            <p:spPr>
              <a:xfrm>
                <a:off x="8157606" y="1786235"/>
                <a:ext cx="212939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Actions are chosen based on the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841DA4E-1D77-B842-8922-F074DBD6B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606" y="1786235"/>
                <a:ext cx="2129394" cy="923330"/>
              </a:xfrm>
              <a:prstGeom prst="rect">
                <a:avLst/>
              </a:prstGeom>
              <a:blipFill>
                <a:blip r:embed="rId10"/>
                <a:stretch>
                  <a:fillRect l="-2367" t="-2703" r="-4734" b="-94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Right Arrow Callout 114">
            <a:extLst>
              <a:ext uri="{FF2B5EF4-FFF2-40B4-BE49-F238E27FC236}">
                <a16:creationId xmlns:a16="http://schemas.microsoft.com/office/drawing/2014/main" id="{5E0E5A5B-F4BA-AA43-8206-65B4E2A04C49}"/>
              </a:ext>
            </a:extLst>
          </p:cNvPr>
          <p:cNvSpPr/>
          <p:nvPr/>
        </p:nvSpPr>
        <p:spPr>
          <a:xfrm>
            <a:off x="3352800" y="3053371"/>
            <a:ext cx="4727003" cy="8382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8134"/>
            </a:avLst>
          </a:prstGeom>
          <a:solidFill>
            <a:srgbClr val="92D050">
              <a:alpha val="4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79A5CDE-A8DF-4448-9743-C588DF4A3F45}"/>
              </a:ext>
            </a:extLst>
          </p:cNvPr>
          <p:cNvSpPr txBox="1"/>
          <p:nvPr/>
        </p:nvSpPr>
        <p:spPr>
          <a:xfrm>
            <a:off x="8140189" y="3010806"/>
            <a:ext cx="2129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function computed based on rewards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5A72402C-B854-2E43-93B7-1FEA0A350F27}"/>
                  </a:ext>
                </a:extLst>
              </p:cNvPr>
              <p:cNvSpPr/>
              <p:nvPr/>
            </p:nvSpPr>
            <p:spPr>
              <a:xfrm>
                <a:off x="2667001" y="2058809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5A72402C-B854-2E43-93B7-1FEA0A350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1" y="2058809"/>
                <a:ext cx="543411" cy="317123"/>
              </a:xfrm>
              <a:prstGeom prst="roundRect">
                <a:avLst/>
              </a:prstGeom>
              <a:blipFill>
                <a:blip r:embed="rId11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91AF7CE-1ED5-3346-B277-F875EEAFAE2C}"/>
                  </a:ext>
                </a:extLst>
              </p:cNvPr>
              <p:cNvSpPr/>
              <p:nvPr/>
            </p:nvSpPr>
            <p:spPr>
              <a:xfrm>
                <a:off x="3484275" y="2058809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91AF7CE-1ED5-3346-B277-F875EEAFAE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275" y="2058809"/>
                <a:ext cx="543411" cy="317123"/>
              </a:xfrm>
              <a:prstGeom prst="roundRect">
                <a:avLst/>
              </a:prstGeom>
              <a:blipFill>
                <a:blip r:embed="rId1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ounded Rectangle 89">
                <a:extLst>
                  <a:ext uri="{FF2B5EF4-FFF2-40B4-BE49-F238E27FC236}">
                    <a16:creationId xmlns:a16="http://schemas.microsoft.com/office/drawing/2014/main" id="{85FBFB1B-9CB9-134B-B75D-2F61079320C0}"/>
                  </a:ext>
                </a:extLst>
              </p:cNvPr>
              <p:cNvSpPr/>
              <p:nvPr/>
            </p:nvSpPr>
            <p:spPr>
              <a:xfrm>
                <a:off x="4301550" y="2065814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Rounded Rectangle 89">
                <a:extLst>
                  <a:ext uri="{FF2B5EF4-FFF2-40B4-BE49-F238E27FC236}">
                    <a16:creationId xmlns:a16="http://schemas.microsoft.com/office/drawing/2014/main" id="{85FBFB1B-9CB9-134B-B75D-2F6107932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550" y="2065814"/>
                <a:ext cx="543411" cy="317123"/>
              </a:xfrm>
              <a:prstGeom prst="roundRect">
                <a:avLst/>
              </a:prstGeom>
              <a:blipFill>
                <a:blip r:embed="rId1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ounded Rectangle 90">
                <a:extLst>
                  <a:ext uri="{FF2B5EF4-FFF2-40B4-BE49-F238E27FC236}">
                    <a16:creationId xmlns:a16="http://schemas.microsoft.com/office/drawing/2014/main" id="{3B2EE360-321F-C644-B050-1FC3CE17207A}"/>
                  </a:ext>
                </a:extLst>
              </p:cNvPr>
              <p:cNvSpPr/>
              <p:nvPr/>
            </p:nvSpPr>
            <p:spPr>
              <a:xfrm>
                <a:off x="5118824" y="2065814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Rounded Rectangle 90">
                <a:extLst>
                  <a:ext uri="{FF2B5EF4-FFF2-40B4-BE49-F238E27FC236}">
                    <a16:creationId xmlns:a16="http://schemas.microsoft.com/office/drawing/2014/main" id="{3B2EE360-321F-C644-B050-1FC3CE172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824" y="2065814"/>
                <a:ext cx="543411" cy="317123"/>
              </a:xfrm>
              <a:prstGeom prst="roundRect">
                <a:avLst/>
              </a:prstGeom>
              <a:blipFill>
                <a:blip r:embed="rId1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F7858614-03C0-334B-96C4-071170D54FFF}"/>
                  </a:ext>
                </a:extLst>
              </p:cNvPr>
              <p:cNvSpPr/>
              <p:nvPr/>
            </p:nvSpPr>
            <p:spPr>
              <a:xfrm>
                <a:off x="5936098" y="2055808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F7858614-03C0-334B-96C4-071170D54F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98" y="2055808"/>
                <a:ext cx="543411" cy="317123"/>
              </a:xfrm>
              <a:prstGeom prst="roundRect">
                <a:avLst/>
              </a:prstGeom>
              <a:blipFill>
                <a:blip r:embed="rId1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ounded Rectangle 92">
                <a:extLst>
                  <a:ext uri="{FF2B5EF4-FFF2-40B4-BE49-F238E27FC236}">
                    <a16:creationId xmlns:a16="http://schemas.microsoft.com/office/drawing/2014/main" id="{2125785E-36FB-8649-BE7C-8E8AAC8E6834}"/>
                  </a:ext>
                </a:extLst>
              </p:cNvPr>
              <p:cNvSpPr/>
              <p:nvPr/>
            </p:nvSpPr>
            <p:spPr>
              <a:xfrm>
                <a:off x="6759017" y="2065814"/>
                <a:ext cx="543411" cy="31712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Rounded Rectangle 92">
                <a:extLst>
                  <a:ext uri="{FF2B5EF4-FFF2-40B4-BE49-F238E27FC236}">
                    <a16:creationId xmlns:a16="http://schemas.microsoft.com/office/drawing/2014/main" id="{2125785E-36FB-8649-BE7C-8E8AAC8E6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017" y="2065814"/>
                <a:ext cx="543411" cy="317123"/>
              </a:xfrm>
              <a:prstGeom prst="roundRect">
                <a:avLst/>
              </a:prstGeom>
              <a:blipFill>
                <a:blip r:embed="rId1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ounded Rectangle 79">
                <a:extLst>
                  <a:ext uri="{FF2B5EF4-FFF2-40B4-BE49-F238E27FC236}">
                    <a16:creationId xmlns:a16="http://schemas.microsoft.com/office/drawing/2014/main" id="{370EB4DC-E63B-404B-A24E-DBF9287F3868}"/>
                  </a:ext>
                </a:extLst>
              </p:cNvPr>
              <p:cNvSpPr/>
              <p:nvPr/>
            </p:nvSpPr>
            <p:spPr>
              <a:xfrm>
                <a:off x="3485180" y="3338995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Rounded Rectangle 79">
                <a:extLst>
                  <a:ext uri="{FF2B5EF4-FFF2-40B4-BE49-F238E27FC236}">
                    <a16:creationId xmlns:a16="http://schemas.microsoft.com/office/drawing/2014/main" id="{370EB4DC-E63B-404B-A24E-DBF9287F38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180" y="3338995"/>
                <a:ext cx="543411" cy="345156"/>
              </a:xfrm>
              <a:prstGeom prst="roundRect">
                <a:avLst/>
              </a:prstGeom>
              <a:blipFill>
                <a:blip r:embed="rId17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6E605F8E-27B6-A240-8BF9-DCD1CDEA0C1E}"/>
                  </a:ext>
                </a:extLst>
              </p:cNvPr>
              <p:cNvSpPr/>
              <p:nvPr/>
            </p:nvSpPr>
            <p:spPr>
              <a:xfrm>
                <a:off x="4298485" y="3338062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6E605F8E-27B6-A240-8BF9-DCD1CDEA0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485" y="3338062"/>
                <a:ext cx="543411" cy="345156"/>
              </a:xfrm>
              <a:prstGeom prst="roundRect">
                <a:avLst/>
              </a:prstGeom>
              <a:blipFill>
                <a:blip r:embed="rId18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D8D1B0FE-1A02-2243-A6E8-722F4CB7DDAF}"/>
                  </a:ext>
                </a:extLst>
              </p:cNvPr>
              <p:cNvSpPr/>
              <p:nvPr/>
            </p:nvSpPr>
            <p:spPr>
              <a:xfrm>
                <a:off x="5111791" y="3337130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D8D1B0FE-1A02-2243-A6E8-722F4CB7D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791" y="3337130"/>
                <a:ext cx="543411" cy="345156"/>
              </a:xfrm>
              <a:prstGeom prst="roundRect">
                <a:avLst/>
              </a:prstGeom>
              <a:blipFill>
                <a:blip r:embed="rId1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0758075F-D59B-3640-BB0D-87BE5A040DB2}"/>
                  </a:ext>
                </a:extLst>
              </p:cNvPr>
              <p:cNvSpPr/>
              <p:nvPr/>
            </p:nvSpPr>
            <p:spPr>
              <a:xfrm>
                <a:off x="5939717" y="3337130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0758075F-D59B-3640-BB0D-87BE5A040D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717" y="3337130"/>
                <a:ext cx="543411" cy="345156"/>
              </a:xfrm>
              <a:prstGeom prst="roundRect">
                <a:avLst/>
              </a:prstGeom>
              <a:blipFill>
                <a:blip r:embed="rId2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ounded Rectangle 87">
                <a:extLst>
                  <a:ext uri="{FF2B5EF4-FFF2-40B4-BE49-F238E27FC236}">
                    <a16:creationId xmlns:a16="http://schemas.microsoft.com/office/drawing/2014/main" id="{0941660B-0D5C-C949-A9E0-35D40FF8F400}"/>
                  </a:ext>
                </a:extLst>
              </p:cNvPr>
              <p:cNvSpPr/>
              <p:nvPr/>
            </p:nvSpPr>
            <p:spPr>
              <a:xfrm>
                <a:off x="6767643" y="3337130"/>
                <a:ext cx="543411" cy="34515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ounded Rectangle 87">
                <a:extLst>
                  <a:ext uri="{FF2B5EF4-FFF2-40B4-BE49-F238E27FC236}">
                    <a16:creationId xmlns:a16="http://schemas.microsoft.com/office/drawing/2014/main" id="{0941660B-0D5C-C949-A9E0-35D40FF8F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643" y="3337130"/>
                <a:ext cx="543411" cy="345156"/>
              </a:xfrm>
              <a:prstGeom prst="roundRect">
                <a:avLst/>
              </a:prstGeom>
              <a:blipFill>
                <a:blip r:embed="rId2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21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117"/>
            <a:ext cx="8915400" cy="908081"/>
          </a:xfrm>
        </p:spPr>
        <p:txBody>
          <a:bodyPr>
            <a:normAutofit/>
          </a:bodyPr>
          <a:lstStyle/>
          <a:p>
            <a:r>
              <a:rPr lang="en-US" sz="3600" dirty="0"/>
              <a:t>Value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F0005B-28A4-7A43-B2C8-59F5D0F6A17B}"/>
                  </a:ext>
                </a:extLst>
              </p:cNvPr>
              <p:cNvSpPr txBox="1"/>
              <p:nvPr/>
            </p:nvSpPr>
            <p:spPr>
              <a:xfrm>
                <a:off x="2590801" y="1143000"/>
                <a:ext cx="7728995" cy="3700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Value function tries to predict how good a state is, given the rewards.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+…=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ℓ=0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+ℓ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The value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(a value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 is called the discount rate.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High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– long-sighted agent, cares about future rewards.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Low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– agent is greedy, who cares about the future?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F0005B-28A4-7A43-B2C8-59F5D0F6A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1" y="1143000"/>
                <a:ext cx="7728995" cy="3700950"/>
              </a:xfrm>
              <a:prstGeom prst="rect">
                <a:avLst/>
              </a:prstGeom>
              <a:blipFill>
                <a:blip r:embed="rId3"/>
                <a:stretch>
                  <a:fillRect l="-3777" t="-1027" b="-20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59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117"/>
            <a:ext cx="8915400" cy="908081"/>
          </a:xfrm>
        </p:spPr>
        <p:txBody>
          <a:bodyPr>
            <a:normAutofit/>
          </a:bodyPr>
          <a:lstStyle/>
          <a:p>
            <a:r>
              <a:rPr lang="en-US" sz="3600" dirty="0"/>
              <a:t>Value Function – The Challenge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0005B-28A4-7A43-B2C8-59F5D0F6A17B}"/>
              </a:ext>
            </a:extLst>
          </p:cNvPr>
          <p:cNvSpPr txBox="1"/>
          <p:nvPr/>
        </p:nvSpPr>
        <p:spPr>
          <a:xfrm>
            <a:off x="2590801" y="1143001"/>
            <a:ext cx="77289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want to choose a value maximizing policy. </a:t>
            </a:r>
          </a:p>
          <a:p>
            <a:endParaRPr lang="en-US" sz="2000" dirty="0"/>
          </a:p>
          <a:p>
            <a:pPr algn="l"/>
            <a:r>
              <a:rPr lang="en-US" sz="2000" dirty="0"/>
              <a:t>However, we are missing two key bits of information:</a:t>
            </a:r>
          </a:p>
          <a:p>
            <a:endParaRPr lang="en-US" sz="2000" dirty="0"/>
          </a:p>
          <a:p>
            <a:r>
              <a:rPr lang="en-US" sz="2000" dirty="0"/>
              <a:t>The rewards of unobserved states.</a:t>
            </a:r>
          </a:p>
          <a:p>
            <a:endParaRPr lang="en-US" sz="2000" dirty="0"/>
          </a:p>
          <a:p>
            <a:r>
              <a:rPr lang="en-US" sz="2000" dirty="0"/>
              <a:t>What the next state will be when we take an action.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E04CEC9-E249-BD40-8FE3-2490DC5777DC}"/>
              </a:ext>
            </a:extLst>
          </p:cNvPr>
          <p:cNvSpPr/>
          <p:nvPr/>
        </p:nvSpPr>
        <p:spPr>
          <a:xfrm>
            <a:off x="3087814" y="3697545"/>
            <a:ext cx="6734967" cy="3008055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The challenge:</a:t>
            </a:r>
          </a:p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Infer rewards/state transitions as we go along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…while maximizing revenue.</a:t>
            </a:r>
          </a:p>
        </p:txBody>
      </p:sp>
    </p:spTree>
    <p:extLst>
      <p:ext uri="{BB962C8B-B14F-4D97-AF65-F5344CB8AC3E}">
        <p14:creationId xmlns:p14="http://schemas.microsoft.com/office/powerpoint/2010/main" val="282743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3"/>
                <a:ext cx="3048000" cy="2585323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r>
                  <a:rPr lang="en-US" dirty="0"/>
                  <a:t>Up/Down/Left/Right</a:t>
                </a:r>
              </a:p>
              <a:p>
                <a:endParaRPr lang="en-US" dirty="0"/>
              </a:p>
              <a:p>
                <a:r>
                  <a:rPr lang="en-US" dirty="0"/>
                  <a:t>Reward: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per time step </a:t>
                </a:r>
              </a:p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dirty="0"/>
                  <a:t> for reaching goal)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3"/>
                <a:ext cx="3048000" cy="2585323"/>
              </a:xfrm>
              <a:prstGeom prst="rect">
                <a:avLst/>
              </a:prstGeom>
              <a:blipFill>
                <a:blip r:embed="rId4"/>
                <a:stretch>
                  <a:fillRect l="-816" b="-1442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652337" y="3733800"/>
            <a:ext cx="3048000" cy="2308324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Policy: </a:t>
            </a:r>
          </a:p>
          <a:p>
            <a:r>
              <a:rPr lang="en-US" dirty="0"/>
              <a:t>Direction to go from each position (can be randomized).</a:t>
            </a:r>
          </a:p>
          <a:p>
            <a:endParaRPr lang="en-US" dirty="0"/>
          </a:p>
          <a:p>
            <a:r>
              <a:rPr lang="en-US" dirty="0"/>
              <a:t>Value Function:</a:t>
            </a:r>
          </a:p>
          <a:p>
            <a:r>
              <a:rPr lang="en-US" dirty="0"/>
              <a:t>Total reward of policy execution from given state.</a:t>
            </a:r>
          </a:p>
        </p:txBody>
      </p:sp>
    </p:spTree>
    <p:extLst>
      <p:ext uri="{BB962C8B-B14F-4D97-AF65-F5344CB8AC3E}">
        <p14:creationId xmlns:p14="http://schemas.microsoft.com/office/powerpoint/2010/main" val="110234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 5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36513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540490 h 5400000"/>
              <a:gd name="connsiteX5" fmla="*/ 53506 w 5400000"/>
              <a:gd name="connsiteY5" fmla="*/ 584636 h 5400000"/>
              <a:gd name="connsiteX6" fmla="*/ 266526 w 5400000"/>
              <a:gd name="connsiteY6" fmla="*/ 649705 h 5400000"/>
              <a:gd name="connsiteX7" fmla="*/ 647526 w 5400000"/>
              <a:gd name="connsiteY7" fmla="*/ 268705 h 5400000"/>
              <a:gd name="connsiteX8" fmla="*/ 582457 w 5400000"/>
              <a:gd name="connsiteY8" fmla="*/ 55685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00000" h="5400000">
                <a:moveTo>
                  <a:pt x="536513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540490"/>
                </a:lnTo>
                <a:lnTo>
                  <a:pt x="53506" y="584636"/>
                </a:lnTo>
                <a:cubicBezTo>
                  <a:pt x="114314" y="625717"/>
                  <a:pt x="187619" y="649705"/>
                  <a:pt x="266526" y="649705"/>
                </a:cubicBezTo>
                <a:cubicBezTo>
                  <a:pt x="476946" y="649705"/>
                  <a:pt x="647526" y="479125"/>
                  <a:pt x="647526" y="268705"/>
                </a:cubicBezTo>
                <a:cubicBezTo>
                  <a:pt x="647526" y="189798"/>
                  <a:pt x="623538" y="116493"/>
                  <a:pt x="582457" y="55685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3205261" y="1482194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894444" y="1390072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/>
          <p:cNvSpPr/>
          <p:nvPr/>
        </p:nvSpPr>
        <p:spPr>
          <a:xfrm>
            <a:off x="4876800" y="381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22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Freeform 10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0 w 5400000"/>
              <a:gd name="connsiteY0" fmla="*/ 533400 h 5400000"/>
              <a:gd name="connsiteX1" fmla="*/ 2655 w 5400000"/>
              <a:gd name="connsiteY1" fmla="*/ 533400 h 5400000"/>
              <a:gd name="connsiteX2" fmla="*/ 3662 w 5400000"/>
              <a:gd name="connsiteY2" fmla="*/ 534621 h 5400000"/>
              <a:gd name="connsiteX3" fmla="*/ 1130 w 5400000"/>
              <a:gd name="connsiteY3" fmla="*/ 536709 h 5400000"/>
              <a:gd name="connsiteX4" fmla="*/ 0 w 5400000"/>
              <a:gd name="connsiteY4" fmla="*/ 538078 h 5400000"/>
              <a:gd name="connsiteX5" fmla="*/ 543106 w 5400000"/>
              <a:gd name="connsiteY5" fmla="*/ 0 h 5400000"/>
              <a:gd name="connsiteX6" fmla="*/ 5400000 w 5400000"/>
              <a:gd name="connsiteY6" fmla="*/ 0 h 5400000"/>
              <a:gd name="connsiteX7" fmla="*/ 5400000 w 5400000"/>
              <a:gd name="connsiteY7" fmla="*/ 5400000 h 5400000"/>
              <a:gd name="connsiteX8" fmla="*/ 0 w 5400000"/>
              <a:gd name="connsiteY8" fmla="*/ 5400000 h 5400000"/>
              <a:gd name="connsiteX9" fmla="*/ 0 w 5400000"/>
              <a:gd name="connsiteY9" fmla="*/ 1074155 h 5400000"/>
              <a:gd name="connsiteX10" fmla="*/ 1130 w 5400000"/>
              <a:gd name="connsiteY10" fmla="*/ 1075524 h 5400000"/>
              <a:gd name="connsiteX11" fmla="*/ 270537 w 5400000"/>
              <a:gd name="connsiteY11" fmla="*/ 1187116 h 5400000"/>
              <a:gd name="connsiteX12" fmla="*/ 651537 w 5400000"/>
              <a:gd name="connsiteY12" fmla="*/ 806116 h 5400000"/>
              <a:gd name="connsiteX13" fmla="*/ 586468 w 5400000"/>
              <a:gd name="connsiteY13" fmla="*/ 593096 h 5400000"/>
              <a:gd name="connsiteX14" fmla="*/ 549444 w 5400000"/>
              <a:gd name="connsiteY14" fmla="*/ 548222 h 5400000"/>
              <a:gd name="connsiteX15" fmla="*/ 551976 w 5400000"/>
              <a:gd name="connsiteY15" fmla="*/ 546134 h 5400000"/>
              <a:gd name="connsiteX16" fmla="*/ 663568 w 5400000"/>
              <a:gd name="connsiteY16" fmla="*/ 276726 h 5400000"/>
              <a:gd name="connsiteX17" fmla="*/ 551976 w 5400000"/>
              <a:gd name="connsiteY17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00000" h="5400000">
                <a:moveTo>
                  <a:pt x="0" y="533400"/>
                </a:moveTo>
                <a:lnTo>
                  <a:pt x="2655" y="533400"/>
                </a:lnTo>
                <a:lnTo>
                  <a:pt x="3662" y="534621"/>
                </a:lnTo>
                <a:lnTo>
                  <a:pt x="1130" y="536709"/>
                </a:lnTo>
                <a:lnTo>
                  <a:pt x="0" y="538078"/>
                </a:lnTo>
                <a:close/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74155"/>
                </a:lnTo>
                <a:lnTo>
                  <a:pt x="1130" y="1075524"/>
                </a:lnTo>
                <a:cubicBezTo>
                  <a:pt x="70077" y="1144471"/>
                  <a:pt x="165327" y="1187116"/>
                  <a:pt x="270537" y="1187116"/>
                </a:cubicBezTo>
                <a:cubicBezTo>
                  <a:pt x="480957" y="1187116"/>
                  <a:pt x="651537" y="1016536"/>
                  <a:pt x="651537" y="806116"/>
                </a:cubicBezTo>
                <a:cubicBezTo>
                  <a:pt x="651537" y="727209"/>
                  <a:pt x="627549" y="653904"/>
                  <a:pt x="586468" y="593096"/>
                </a:cubicBezTo>
                <a:lnTo>
                  <a:pt x="549444" y="548222"/>
                </a:lnTo>
                <a:lnTo>
                  <a:pt x="551976" y="546134"/>
                </a:lnTo>
                <a:cubicBezTo>
                  <a:pt x="620923" y="477186"/>
                  <a:pt x="663568" y="381936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2,1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3205261" y="1482194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505201" y="171565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671861" y="1482195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410528" y="1390072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Oval 25"/>
          <p:cNvSpPr/>
          <p:nvPr/>
        </p:nvSpPr>
        <p:spPr>
          <a:xfrm>
            <a:off x="4876800" y="914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117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Freeform 11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43106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1094517 h 5400000"/>
              <a:gd name="connsiteX5" fmla="*/ 5140 w 5400000"/>
              <a:gd name="connsiteY5" fmla="*/ 1100747 h 5400000"/>
              <a:gd name="connsiteX6" fmla="*/ 274547 w 5400000"/>
              <a:gd name="connsiteY6" fmla="*/ 1212339 h 5400000"/>
              <a:gd name="connsiteX7" fmla="*/ 543955 w 5400000"/>
              <a:gd name="connsiteY7" fmla="*/ 1100747 h 5400000"/>
              <a:gd name="connsiteX8" fmla="*/ 550551 w 5400000"/>
              <a:gd name="connsiteY8" fmla="*/ 1092752 h 5400000"/>
              <a:gd name="connsiteX9" fmla="*/ 590917 w 5400000"/>
              <a:gd name="connsiteY9" fmla="*/ 1126057 h 5400000"/>
              <a:gd name="connsiteX10" fmla="*/ 803937 w 5400000"/>
              <a:gd name="connsiteY10" fmla="*/ 1191126 h 5400000"/>
              <a:gd name="connsiteX11" fmla="*/ 1184937 w 5400000"/>
              <a:gd name="connsiteY11" fmla="*/ 810126 h 5400000"/>
              <a:gd name="connsiteX12" fmla="*/ 803937 w 5400000"/>
              <a:gd name="connsiteY12" fmla="*/ 429126 h 5400000"/>
              <a:gd name="connsiteX13" fmla="*/ 655635 w 5400000"/>
              <a:gd name="connsiteY13" fmla="*/ 459067 h 5400000"/>
              <a:gd name="connsiteX14" fmla="*/ 598001 w 5400000"/>
              <a:gd name="connsiteY14" fmla="*/ 490350 h 5400000"/>
              <a:gd name="connsiteX15" fmla="*/ 598499 w 5400000"/>
              <a:gd name="connsiteY15" fmla="*/ 489747 h 5400000"/>
              <a:gd name="connsiteX16" fmla="*/ 663568 w 5400000"/>
              <a:gd name="connsiteY16" fmla="*/ 276726 h 5400000"/>
              <a:gd name="connsiteX17" fmla="*/ 551976 w 5400000"/>
              <a:gd name="connsiteY17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00000" h="5400000"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94517"/>
                </a:lnTo>
                <a:lnTo>
                  <a:pt x="5140" y="1100747"/>
                </a:lnTo>
                <a:cubicBezTo>
                  <a:pt x="74087" y="1169694"/>
                  <a:pt x="169337" y="1212339"/>
                  <a:pt x="274547" y="1212339"/>
                </a:cubicBezTo>
                <a:cubicBezTo>
                  <a:pt x="379757" y="1212339"/>
                  <a:pt x="475007" y="1169694"/>
                  <a:pt x="543955" y="1100747"/>
                </a:cubicBezTo>
                <a:lnTo>
                  <a:pt x="550551" y="1092752"/>
                </a:lnTo>
                <a:lnTo>
                  <a:pt x="590917" y="1126057"/>
                </a:lnTo>
                <a:cubicBezTo>
                  <a:pt x="651725" y="1167138"/>
                  <a:pt x="725030" y="1191126"/>
                  <a:pt x="803937" y="1191126"/>
                </a:cubicBezTo>
                <a:cubicBezTo>
                  <a:pt x="1014357" y="1191126"/>
                  <a:pt x="1184937" y="1020546"/>
                  <a:pt x="1184937" y="810126"/>
                </a:cubicBezTo>
                <a:cubicBezTo>
                  <a:pt x="1184937" y="599706"/>
                  <a:pt x="1014357" y="429126"/>
                  <a:pt x="803937" y="429126"/>
                </a:cubicBezTo>
                <a:cubicBezTo>
                  <a:pt x="751332" y="429126"/>
                  <a:pt x="701217" y="439787"/>
                  <a:pt x="655635" y="459067"/>
                </a:cubicBezTo>
                <a:lnTo>
                  <a:pt x="598001" y="490350"/>
                </a:lnTo>
                <a:lnTo>
                  <a:pt x="598499" y="489747"/>
                </a:lnTo>
                <a:cubicBezTo>
                  <a:pt x="639580" y="428939"/>
                  <a:pt x="663568" y="355634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3505201" y="171565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038601" y="171565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10528" y="1390072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/>
          <p:cNvSpPr/>
          <p:nvPr/>
        </p:nvSpPr>
        <p:spPr>
          <a:xfrm>
            <a:off x="5410200" y="914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110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 5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43106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1094517 h 5400000"/>
              <a:gd name="connsiteX5" fmla="*/ 5140 w 5400000"/>
              <a:gd name="connsiteY5" fmla="*/ 1100747 h 5400000"/>
              <a:gd name="connsiteX6" fmla="*/ 274547 w 5400000"/>
              <a:gd name="connsiteY6" fmla="*/ 1212339 h 5400000"/>
              <a:gd name="connsiteX7" fmla="*/ 543955 w 5400000"/>
              <a:gd name="connsiteY7" fmla="*/ 1100747 h 5400000"/>
              <a:gd name="connsiteX8" fmla="*/ 550551 w 5400000"/>
              <a:gd name="connsiteY8" fmla="*/ 1092752 h 5400000"/>
              <a:gd name="connsiteX9" fmla="*/ 590917 w 5400000"/>
              <a:gd name="connsiteY9" fmla="*/ 1126057 h 5400000"/>
              <a:gd name="connsiteX10" fmla="*/ 803937 w 5400000"/>
              <a:gd name="connsiteY10" fmla="*/ 1191126 h 5400000"/>
              <a:gd name="connsiteX11" fmla="*/ 1073345 w 5400000"/>
              <a:gd name="connsiteY11" fmla="*/ 1079534 h 5400000"/>
              <a:gd name="connsiteX12" fmla="*/ 1089035 w 5400000"/>
              <a:gd name="connsiteY12" fmla="*/ 1060517 h 5400000"/>
              <a:gd name="connsiteX13" fmla="*/ 1108035 w 5400000"/>
              <a:gd name="connsiteY13" fmla="*/ 1083545 h 5400000"/>
              <a:gd name="connsiteX14" fmla="*/ 1377442 w 5400000"/>
              <a:gd name="connsiteY14" fmla="*/ 1195137 h 5400000"/>
              <a:gd name="connsiteX15" fmla="*/ 1758442 w 5400000"/>
              <a:gd name="connsiteY15" fmla="*/ 814137 h 5400000"/>
              <a:gd name="connsiteX16" fmla="*/ 1377442 w 5400000"/>
              <a:gd name="connsiteY16" fmla="*/ 433137 h 5400000"/>
              <a:gd name="connsiteX17" fmla="*/ 1108035 w 5400000"/>
              <a:gd name="connsiteY17" fmla="*/ 544730 h 5400000"/>
              <a:gd name="connsiteX18" fmla="*/ 1092345 w 5400000"/>
              <a:gd name="connsiteY18" fmla="*/ 563746 h 5400000"/>
              <a:gd name="connsiteX19" fmla="*/ 1073345 w 5400000"/>
              <a:gd name="connsiteY19" fmla="*/ 540719 h 5400000"/>
              <a:gd name="connsiteX20" fmla="*/ 803937 w 5400000"/>
              <a:gd name="connsiteY20" fmla="*/ 429126 h 5400000"/>
              <a:gd name="connsiteX21" fmla="*/ 655635 w 5400000"/>
              <a:gd name="connsiteY21" fmla="*/ 459067 h 5400000"/>
              <a:gd name="connsiteX22" fmla="*/ 598001 w 5400000"/>
              <a:gd name="connsiteY22" fmla="*/ 490350 h 5400000"/>
              <a:gd name="connsiteX23" fmla="*/ 598499 w 5400000"/>
              <a:gd name="connsiteY23" fmla="*/ 489747 h 5400000"/>
              <a:gd name="connsiteX24" fmla="*/ 663568 w 5400000"/>
              <a:gd name="connsiteY24" fmla="*/ 276726 h 5400000"/>
              <a:gd name="connsiteX25" fmla="*/ 551976 w 5400000"/>
              <a:gd name="connsiteY25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400000" h="5400000"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94517"/>
                </a:lnTo>
                <a:lnTo>
                  <a:pt x="5140" y="1100747"/>
                </a:lnTo>
                <a:cubicBezTo>
                  <a:pt x="74087" y="1169694"/>
                  <a:pt x="169337" y="1212339"/>
                  <a:pt x="274547" y="1212339"/>
                </a:cubicBezTo>
                <a:cubicBezTo>
                  <a:pt x="379757" y="1212339"/>
                  <a:pt x="475007" y="1169694"/>
                  <a:pt x="543955" y="1100747"/>
                </a:cubicBezTo>
                <a:lnTo>
                  <a:pt x="550551" y="1092752"/>
                </a:lnTo>
                <a:lnTo>
                  <a:pt x="590917" y="1126057"/>
                </a:lnTo>
                <a:cubicBezTo>
                  <a:pt x="651725" y="1167138"/>
                  <a:pt x="725030" y="1191126"/>
                  <a:pt x="803937" y="1191126"/>
                </a:cubicBezTo>
                <a:cubicBezTo>
                  <a:pt x="909147" y="1191126"/>
                  <a:pt x="1004397" y="1148481"/>
                  <a:pt x="1073345" y="1079534"/>
                </a:cubicBezTo>
                <a:lnTo>
                  <a:pt x="1089035" y="1060517"/>
                </a:lnTo>
                <a:lnTo>
                  <a:pt x="1108035" y="1083545"/>
                </a:lnTo>
                <a:cubicBezTo>
                  <a:pt x="1176982" y="1152492"/>
                  <a:pt x="1272232" y="1195137"/>
                  <a:pt x="1377442" y="1195137"/>
                </a:cubicBezTo>
                <a:cubicBezTo>
                  <a:pt x="1587862" y="1195137"/>
                  <a:pt x="1758442" y="1024557"/>
                  <a:pt x="1758442" y="814137"/>
                </a:cubicBezTo>
                <a:cubicBezTo>
                  <a:pt x="1758442" y="603717"/>
                  <a:pt x="1587862" y="433137"/>
                  <a:pt x="1377442" y="433137"/>
                </a:cubicBezTo>
                <a:cubicBezTo>
                  <a:pt x="1272232" y="433137"/>
                  <a:pt x="1176982" y="475782"/>
                  <a:pt x="1108035" y="544730"/>
                </a:cubicBezTo>
                <a:lnTo>
                  <a:pt x="1092345" y="563746"/>
                </a:lnTo>
                <a:lnTo>
                  <a:pt x="1073345" y="540719"/>
                </a:lnTo>
                <a:cubicBezTo>
                  <a:pt x="1004397" y="471771"/>
                  <a:pt x="909147" y="429126"/>
                  <a:pt x="803937" y="429126"/>
                </a:cubicBezTo>
                <a:cubicBezTo>
                  <a:pt x="751332" y="429126"/>
                  <a:pt x="701217" y="439787"/>
                  <a:pt x="655635" y="459067"/>
                </a:cubicBezTo>
                <a:lnTo>
                  <a:pt x="598001" y="490350"/>
                </a:lnTo>
                <a:lnTo>
                  <a:pt x="598499" y="489747"/>
                </a:lnTo>
                <a:cubicBezTo>
                  <a:pt x="639580" y="428939"/>
                  <a:pt x="663568" y="355634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3205261" y="1482194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505201" y="171565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38601" y="171565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95600" y="1390072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/>
          <p:cNvSpPr/>
          <p:nvPr/>
        </p:nvSpPr>
        <p:spPr>
          <a:xfrm>
            <a:off x="5962072" y="914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13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Freeform 6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43106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1094517 h 5400000"/>
              <a:gd name="connsiteX5" fmla="*/ 5140 w 5400000"/>
              <a:gd name="connsiteY5" fmla="*/ 1100747 h 5400000"/>
              <a:gd name="connsiteX6" fmla="*/ 274547 w 5400000"/>
              <a:gd name="connsiteY6" fmla="*/ 1212339 h 5400000"/>
              <a:gd name="connsiteX7" fmla="*/ 543955 w 5400000"/>
              <a:gd name="connsiteY7" fmla="*/ 1100747 h 5400000"/>
              <a:gd name="connsiteX8" fmla="*/ 550551 w 5400000"/>
              <a:gd name="connsiteY8" fmla="*/ 1092752 h 5400000"/>
              <a:gd name="connsiteX9" fmla="*/ 590917 w 5400000"/>
              <a:gd name="connsiteY9" fmla="*/ 1126057 h 5400000"/>
              <a:gd name="connsiteX10" fmla="*/ 803937 w 5400000"/>
              <a:gd name="connsiteY10" fmla="*/ 1191126 h 5400000"/>
              <a:gd name="connsiteX11" fmla="*/ 1073345 w 5400000"/>
              <a:gd name="connsiteY11" fmla="*/ 1079534 h 5400000"/>
              <a:gd name="connsiteX12" fmla="*/ 1089035 w 5400000"/>
              <a:gd name="connsiteY12" fmla="*/ 1060517 h 5400000"/>
              <a:gd name="connsiteX13" fmla="*/ 1108035 w 5400000"/>
              <a:gd name="connsiteY13" fmla="*/ 1083545 h 5400000"/>
              <a:gd name="connsiteX14" fmla="*/ 1111315 w 5400000"/>
              <a:gd name="connsiteY14" fmla="*/ 1086251 h 5400000"/>
              <a:gd name="connsiteX15" fmla="*/ 1091993 w 5400000"/>
              <a:gd name="connsiteY15" fmla="*/ 1102193 h 5400000"/>
              <a:gd name="connsiteX16" fmla="*/ 980400 w 5400000"/>
              <a:gd name="connsiteY16" fmla="*/ 1371600 h 5400000"/>
              <a:gd name="connsiteX17" fmla="*/ 1361400 w 5400000"/>
              <a:gd name="connsiteY17" fmla="*/ 1752600 h 5400000"/>
              <a:gd name="connsiteX18" fmla="*/ 1742400 w 5400000"/>
              <a:gd name="connsiteY18" fmla="*/ 1371600 h 5400000"/>
              <a:gd name="connsiteX19" fmla="*/ 1630808 w 5400000"/>
              <a:gd name="connsiteY19" fmla="*/ 1102193 h 5400000"/>
              <a:gd name="connsiteX20" fmla="*/ 1627528 w 5400000"/>
              <a:gd name="connsiteY20" fmla="*/ 1099487 h 5400000"/>
              <a:gd name="connsiteX21" fmla="*/ 1646850 w 5400000"/>
              <a:gd name="connsiteY21" fmla="*/ 1083545 h 5400000"/>
              <a:gd name="connsiteX22" fmla="*/ 1758442 w 5400000"/>
              <a:gd name="connsiteY22" fmla="*/ 814137 h 5400000"/>
              <a:gd name="connsiteX23" fmla="*/ 1377442 w 5400000"/>
              <a:gd name="connsiteY23" fmla="*/ 433137 h 5400000"/>
              <a:gd name="connsiteX24" fmla="*/ 1108035 w 5400000"/>
              <a:gd name="connsiteY24" fmla="*/ 544730 h 5400000"/>
              <a:gd name="connsiteX25" fmla="*/ 1092345 w 5400000"/>
              <a:gd name="connsiteY25" fmla="*/ 563746 h 5400000"/>
              <a:gd name="connsiteX26" fmla="*/ 1073345 w 5400000"/>
              <a:gd name="connsiteY26" fmla="*/ 540719 h 5400000"/>
              <a:gd name="connsiteX27" fmla="*/ 803937 w 5400000"/>
              <a:gd name="connsiteY27" fmla="*/ 429126 h 5400000"/>
              <a:gd name="connsiteX28" fmla="*/ 655635 w 5400000"/>
              <a:gd name="connsiteY28" fmla="*/ 459067 h 5400000"/>
              <a:gd name="connsiteX29" fmla="*/ 598001 w 5400000"/>
              <a:gd name="connsiteY29" fmla="*/ 490350 h 5400000"/>
              <a:gd name="connsiteX30" fmla="*/ 598499 w 5400000"/>
              <a:gd name="connsiteY30" fmla="*/ 489747 h 5400000"/>
              <a:gd name="connsiteX31" fmla="*/ 663568 w 5400000"/>
              <a:gd name="connsiteY31" fmla="*/ 276726 h 5400000"/>
              <a:gd name="connsiteX32" fmla="*/ 551976 w 5400000"/>
              <a:gd name="connsiteY32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400000" h="5400000"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94517"/>
                </a:lnTo>
                <a:lnTo>
                  <a:pt x="5140" y="1100747"/>
                </a:lnTo>
                <a:cubicBezTo>
                  <a:pt x="74087" y="1169694"/>
                  <a:pt x="169337" y="1212339"/>
                  <a:pt x="274547" y="1212339"/>
                </a:cubicBezTo>
                <a:cubicBezTo>
                  <a:pt x="379757" y="1212339"/>
                  <a:pt x="475007" y="1169694"/>
                  <a:pt x="543955" y="1100747"/>
                </a:cubicBezTo>
                <a:lnTo>
                  <a:pt x="550551" y="1092752"/>
                </a:lnTo>
                <a:lnTo>
                  <a:pt x="590917" y="1126057"/>
                </a:lnTo>
                <a:cubicBezTo>
                  <a:pt x="651725" y="1167138"/>
                  <a:pt x="725030" y="1191126"/>
                  <a:pt x="803937" y="1191126"/>
                </a:cubicBezTo>
                <a:cubicBezTo>
                  <a:pt x="909147" y="1191126"/>
                  <a:pt x="1004397" y="1148481"/>
                  <a:pt x="1073345" y="1079534"/>
                </a:cubicBezTo>
                <a:lnTo>
                  <a:pt x="1089035" y="1060517"/>
                </a:lnTo>
                <a:lnTo>
                  <a:pt x="1108035" y="1083545"/>
                </a:lnTo>
                <a:lnTo>
                  <a:pt x="1111315" y="1086251"/>
                </a:lnTo>
                <a:lnTo>
                  <a:pt x="1091993" y="1102193"/>
                </a:lnTo>
                <a:cubicBezTo>
                  <a:pt x="1023045" y="1171140"/>
                  <a:pt x="980400" y="1266390"/>
                  <a:pt x="980400" y="1371600"/>
                </a:cubicBezTo>
                <a:cubicBezTo>
                  <a:pt x="980400" y="1582020"/>
                  <a:pt x="1150980" y="1752600"/>
                  <a:pt x="1361400" y="1752600"/>
                </a:cubicBezTo>
                <a:cubicBezTo>
                  <a:pt x="1571820" y="1752600"/>
                  <a:pt x="1742400" y="1582020"/>
                  <a:pt x="1742400" y="1371600"/>
                </a:cubicBezTo>
                <a:cubicBezTo>
                  <a:pt x="1742400" y="1266390"/>
                  <a:pt x="1699755" y="1171140"/>
                  <a:pt x="1630808" y="1102193"/>
                </a:cubicBezTo>
                <a:lnTo>
                  <a:pt x="1627528" y="1099487"/>
                </a:lnTo>
                <a:lnTo>
                  <a:pt x="1646850" y="1083545"/>
                </a:lnTo>
                <a:cubicBezTo>
                  <a:pt x="1715797" y="1014597"/>
                  <a:pt x="1758442" y="919347"/>
                  <a:pt x="1758442" y="814137"/>
                </a:cubicBezTo>
                <a:cubicBezTo>
                  <a:pt x="1758442" y="603717"/>
                  <a:pt x="1587862" y="433137"/>
                  <a:pt x="1377442" y="433137"/>
                </a:cubicBezTo>
                <a:cubicBezTo>
                  <a:pt x="1272232" y="433137"/>
                  <a:pt x="1176982" y="475782"/>
                  <a:pt x="1108035" y="544730"/>
                </a:cubicBezTo>
                <a:lnTo>
                  <a:pt x="1092345" y="563746"/>
                </a:lnTo>
                <a:lnTo>
                  <a:pt x="1073345" y="540719"/>
                </a:lnTo>
                <a:cubicBezTo>
                  <a:pt x="1004397" y="471771"/>
                  <a:pt x="909147" y="429126"/>
                  <a:pt x="803937" y="429126"/>
                </a:cubicBezTo>
                <a:cubicBezTo>
                  <a:pt x="751332" y="429126"/>
                  <a:pt x="701217" y="439787"/>
                  <a:pt x="655635" y="459067"/>
                </a:cubicBezTo>
                <a:lnTo>
                  <a:pt x="598001" y="490350"/>
                </a:lnTo>
                <a:lnTo>
                  <a:pt x="598499" y="489747"/>
                </a:lnTo>
                <a:cubicBezTo>
                  <a:pt x="639580" y="428939"/>
                  <a:pt x="663568" y="355634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3,3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3205261" y="1482194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671861" y="1482195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6364" y="1401617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/>
          <p:cNvSpPr/>
          <p:nvPr/>
        </p:nvSpPr>
        <p:spPr>
          <a:xfrm>
            <a:off x="5962072" y="146627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107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 5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43106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1094517 h 5400000"/>
              <a:gd name="connsiteX5" fmla="*/ 5140 w 5400000"/>
              <a:gd name="connsiteY5" fmla="*/ 1100747 h 5400000"/>
              <a:gd name="connsiteX6" fmla="*/ 274547 w 5400000"/>
              <a:gd name="connsiteY6" fmla="*/ 1212339 h 5400000"/>
              <a:gd name="connsiteX7" fmla="*/ 543955 w 5400000"/>
              <a:gd name="connsiteY7" fmla="*/ 1100747 h 5400000"/>
              <a:gd name="connsiteX8" fmla="*/ 550551 w 5400000"/>
              <a:gd name="connsiteY8" fmla="*/ 1092752 h 5400000"/>
              <a:gd name="connsiteX9" fmla="*/ 590917 w 5400000"/>
              <a:gd name="connsiteY9" fmla="*/ 1126057 h 5400000"/>
              <a:gd name="connsiteX10" fmla="*/ 803937 w 5400000"/>
              <a:gd name="connsiteY10" fmla="*/ 1191126 h 5400000"/>
              <a:gd name="connsiteX11" fmla="*/ 1073345 w 5400000"/>
              <a:gd name="connsiteY11" fmla="*/ 1079534 h 5400000"/>
              <a:gd name="connsiteX12" fmla="*/ 1089035 w 5400000"/>
              <a:gd name="connsiteY12" fmla="*/ 1060517 h 5400000"/>
              <a:gd name="connsiteX13" fmla="*/ 1108035 w 5400000"/>
              <a:gd name="connsiteY13" fmla="*/ 1083545 h 5400000"/>
              <a:gd name="connsiteX14" fmla="*/ 1111315 w 5400000"/>
              <a:gd name="connsiteY14" fmla="*/ 1086251 h 5400000"/>
              <a:gd name="connsiteX15" fmla="*/ 1091993 w 5400000"/>
              <a:gd name="connsiteY15" fmla="*/ 1102193 h 5400000"/>
              <a:gd name="connsiteX16" fmla="*/ 980400 w 5400000"/>
              <a:gd name="connsiteY16" fmla="*/ 1371600 h 5400000"/>
              <a:gd name="connsiteX17" fmla="*/ 1045469 w 5400000"/>
              <a:gd name="connsiteY17" fmla="*/ 1584621 h 5400000"/>
              <a:gd name="connsiteX18" fmla="*/ 1089759 w 5400000"/>
              <a:gd name="connsiteY18" fmla="*/ 1638300 h 5400000"/>
              <a:gd name="connsiteX19" fmla="*/ 1045469 w 5400000"/>
              <a:gd name="connsiteY19" fmla="*/ 1691980 h 5400000"/>
              <a:gd name="connsiteX20" fmla="*/ 980400 w 5400000"/>
              <a:gd name="connsiteY20" fmla="*/ 1905000 h 5400000"/>
              <a:gd name="connsiteX21" fmla="*/ 1361400 w 5400000"/>
              <a:gd name="connsiteY21" fmla="*/ 2286000 h 5400000"/>
              <a:gd name="connsiteX22" fmla="*/ 1742400 w 5400000"/>
              <a:gd name="connsiteY22" fmla="*/ 1905000 h 5400000"/>
              <a:gd name="connsiteX23" fmla="*/ 1677331 w 5400000"/>
              <a:gd name="connsiteY23" fmla="*/ 1691980 h 5400000"/>
              <a:gd name="connsiteX24" fmla="*/ 1633042 w 5400000"/>
              <a:gd name="connsiteY24" fmla="*/ 1638300 h 5400000"/>
              <a:gd name="connsiteX25" fmla="*/ 1677331 w 5400000"/>
              <a:gd name="connsiteY25" fmla="*/ 1584621 h 5400000"/>
              <a:gd name="connsiteX26" fmla="*/ 1742400 w 5400000"/>
              <a:gd name="connsiteY26" fmla="*/ 1371600 h 5400000"/>
              <a:gd name="connsiteX27" fmla="*/ 1630808 w 5400000"/>
              <a:gd name="connsiteY27" fmla="*/ 1102193 h 5400000"/>
              <a:gd name="connsiteX28" fmla="*/ 1627528 w 5400000"/>
              <a:gd name="connsiteY28" fmla="*/ 1099487 h 5400000"/>
              <a:gd name="connsiteX29" fmla="*/ 1646850 w 5400000"/>
              <a:gd name="connsiteY29" fmla="*/ 1083545 h 5400000"/>
              <a:gd name="connsiteX30" fmla="*/ 1758442 w 5400000"/>
              <a:gd name="connsiteY30" fmla="*/ 814137 h 5400000"/>
              <a:gd name="connsiteX31" fmla="*/ 1377442 w 5400000"/>
              <a:gd name="connsiteY31" fmla="*/ 433137 h 5400000"/>
              <a:gd name="connsiteX32" fmla="*/ 1108035 w 5400000"/>
              <a:gd name="connsiteY32" fmla="*/ 544730 h 5400000"/>
              <a:gd name="connsiteX33" fmla="*/ 1092345 w 5400000"/>
              <a:gd name="connsiteY33" fmla="*/ 563746 h 5400000"/>
              <a:gd name="connsiteX34" fmla="*/ 1073345 w 5400000"/>
              <a:gd name="connsiteY34" fmla="*/ 540719 h 5400000"/>
              <a:gd name="connsiteX35" fmla="*/ 803937 w 5400000"/>
              <a:gd name="connsiteY35" fmla="*/ 429126 h 5400000"/>
              <a:gd name="connsiteX36" fmla="*/ 655635 w 5400000"/>
              <a:gd name="connsiteY36" fmla="*/ 459067 h 5400000"/>
              <a:gd name="connsiteX37" fmla="*/ 598001 w 5400000"/>
              <a:gd name="connsiteY37" fmla="*/ 490350 h 5400000"/>
              <a:gd name="connsiteX38" fmla="*/ 598499 w 5400000"/>
              <a:gd name="connsiteY38" fmla="*/ 489747 h 5400000"/>
              <a:gd name="connsiteX39" fmla="*/ 663568 w 5400000"/>
              <a:gd name="connsiteY39" fmla="*/ 276726 h 5400000"/>
              <a:gd name="connsiteX40" fmla="*/ 551976 w 5400000"/>
              <a:gd name="connsiteY40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400000" h="5400000"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94517"/>
                </a:lnTo>
                <a:lnTo>
                  <a:pt x="5140" y="1100747"/>
                </a:lnTo>
                <a:cubicBezTo>
                  <a:pt x="74087" y="1169694"/>
                  <a:pt x="169337" y="1212339"/>
                  <a:pt x="274547" y="1212339"/>
                </a:cubicBezTo>
                <a:cubicBezTo>
                  <a:pt x="379757" y="1212339"/>
                  <a:pt x="475007" y="1169694"/>
                  <a:pt x="543955" y="1100747"/>
                </a:cubicBezTo>
                <a:lnTo>
                  <a:pt x="550551" y="1092752"/>
                </a:lnTo>
                <a:lnTo>
                  <a:pt x="590917" y="1126057"/>
                </a:lnTo>
                <a:cubicBezTo>
                  <a:pt x="651725" y="1167138"/>
                  <a:pt x="725030" y="1191126"/>
                  <a:pt x="803937" y="1191126"/>
                </a:cubicBezTo>
                <a:cubicBezTo>
                  <a:pt x="909147" y="1191126"/>
                  <a:pt x="1004397" y="1148481"/>
                  <a:pt x="1073345" y="1079534"/>
                </a:cubicBezTo>
                <a:lnTo>
                  <a:pt x="1089035" y="1060517"/>
                </a:lnTo>
                <a:lnTo>
                  <a:pt x="1108035" y="1083545"/>
                </a:lnTo>
                <a:lnTo>
                  <a:pt x="1111315" y="1086251"/>
                </a:lnTo>
                <a:lnTo>
                  <a:pt x="1091993" y="1102193"/>
                </a:lnTo>
                <a:cubicBezTo>
                  <a:pt x="1023045" y="1171140"/>
                  <a:pt x="980400" y="1266390"/>
                  <a:pt x="980400" y="1371600"/>
                </a:cubicBezTo>
                <a:cubicBezTo>
                  <a:pt x="980400" y="1450508"/>
                  <a:pt x="1004388" y="1523813"/>
                  <a:pt x="1045469" y="1584621"/>
                </a:cubicBezTo>
                <a:lnTo>
                  <a:pt x="1089759" y="1638300"/>
                </a:lnTo>
                <a:lnTo>
                  <a:pt x="1045469" y="1691980"/>
                </a:lnTo>
                <a:cubicBezTo>
                  <a:pt x="1004388" y="1752788"/>
                  <a:pt x="980400" y="1826093"/>
                  <a:pt x="980400" y="1905000"/>
                </a:cubicBezTo>
                <a:cubicBezTo>
                  <a:pt x="980400" y="2115420"/>
                  <a:pt x="1150980" y="2286000"/>
                  <a:pt x="1361400" y="2286000"/>
                </a:cubicBezTo>
                <a:cubicBezTo>
                  <a:pt x="1571820" y="2286000"/>
                  <a:pt x="1742400" y="2115420"/>
                  <a:pt x="1742400" y="1905000"/>
                </a:cubicBezTo>
                <a:cubicBezTo>
                  <a:pt x="1742400" y="1826093"/>
                  <a:pt x="1718413" y="1752788"/>
                  <a:pt x="1677331" y="1691980"/>
                </a:cubicBezTo>
                <a:lnTo>
                  <a:pt x="1633042" y="1638300"/>
                </a:lnTo>
                <a:lnTo>
                  <a:pt x="1677331" y="1584621"/>
                </a:lnTo>
                <a:cubicBezTo>
                  <a:pt x="1718413" y="1523813"/>
                  <a:pt x="1742400" y="1450508"/>
                  <a:pt x="1742400" y="1371600"/>
                </a:cubicBezTo>
                <a:cubicBezTo>
                  <a:pt x="1742400" y="1266390"/>
                  <a:pt x="1699755" y="1171140"/>
                  <a:pt x="1630808" y="1102193"/>
                </a:cubicBezTo>
                <a:lnTo>
                  <a:pt x="1627528" y="1099487"/>
                </a:lnTo>
                <a:lnTo>
                  <a:pt x="1646850" y="1083545"/>
                </a:lnTo>
                <a:cubicBezTo>
                  <a:pt x="1715797" y="1014597"/>
                  <a:pt x="1758442" y="919347"/>
                  <a:pt x="1758442" y="814137"/>
                </a:cubicBezTo>
                <a:cubicBezTo>
                  <a:pt x="1758442" y="603717"/>
                  <a:pt x="1587862" y="433137"/>
                  <a:pt x="1377442" y="433137"/>
                </a:cubicBezTo>
                <a:cubicBezTo>
                  <a:pt x="1272232" y="433137"/>
                  <a:pt x="1176982" y="475782"/>
                  <a:pt x="1108035" y="544730"/>
                </a:cubicBezTo>
                <a:lnTo>
                  <a:pt x="1092345" y="563746"/>
                </a:lnTo>
                <a:lnTo>
                  <a:pt x="1073345" y="540719"/>
                </a:lnTo>
                <a:cubicBezTo>
                  <a:pt x="1004397" y="471771"/>
                  <a:pt x="909147" y="429126"/>
                  <a:pt x="803937" y="429126"/>
                </a:cubicBezTo>
                <a:cubicBezTo>
                  <a:pt x="751332" y="429126"/>
                  <a:pt x="701217" y="439787"/>
                  <a:pt x="655635" y="459067"/>
                </a:cubicBezTo>
                <a:lnTo>
                  <a:pt x="598001" y="490350"/>
                </a:lnTo>
                <a:lnTo>
                  <a:pt x="598499" y="489747"/>
                </a:lnTo>
                <a:cubicBezTo>
                  <a:pt x="639580" y="428939"/>
                  <a:pt x="663568" y="355634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3205261" y="1482194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671861" y="1482195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6364" y="1401617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/>
          <p:cNvSpPr/>
          <p:nvPr/>
        </p:nvSpPr>
        <p:spPr>
          <a:xfrm>
            <a:off x="5962072" y="199967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361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Freeform 6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43106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1094517 h 5400000"/>
              <a:gd name="connsiteX5" fmla="*/ 5140 w 5400000"/>
              <a:gd name="connsiteY5" fmla="*/ 1100747 h 5400000"/>
              <a:gd name="connsiteX6" fmla="*/ 274547 w 5400000"/>
              <a:gd name="connsiteY6" fmla="*/ 1212339 h 5400000"/>
              <a:gd name="connsiteX7" fmla="*/ 543955 w 5400000"/>
              <a:gd name="connsiteY7" fmla="*/ 1100747 h 5400000"/>
              <a:gd name="connsiteX8" fmla="*/ 550551 w 5400000"/>
              <a:gd name="connsiteY8" fmla="*/ 1092752 h 5400000"/>
              <a:gd name="connsiteX9" fmla="*/ 590917 w 5400000"/>
              <a:gd name="connsiteY9" fmla="*/ 1126057 h 5400000"/>
              <a:gd name="connsiteX10" fmla="*/ 803937 w 5400000"/>
              <a:gd name="connsiteY10" fmla="*/ 1191126 h 5400000"/>
              <a:gd name="connsiteX11" fmla="*/ 1073345 w 5400000"/>
              <a:gd name="connsiteY11" fmla="*/ 1079534 h 5400000"/>
              <a:gd name="connsiteX12" fmla="*/ 1089035 w 5400000"/>
              <a:gd name="connsiteY12" fmla="*/ 1060517 h 5400000"/>
              <a:gd name="connsiteX13" fmla="*/ 1108035 w 5400000"/>
              <a:gd name="connsiteY13" fmla="*/ 1083545 h 5400000"/>
              <a:gd name="connsiteX14" fmla="*/ 1111315 w 5400000"/>
              <a:gd name="connsiteY14" fmla="*/ 1086251 h 5400000"/>
              <a:gd name="connsiteX15" fmla="*/ 1091993 w 5400000"/>
              <a:gd name="connsiteY15" fmla="*/ 1102193 h 5400000"/>
              <a:gd name="connsiteX16" fmla="*/ 980400 w 5400000"/>
              <a:gd name="connsiteY16" fmla="*/ 1371600 h 5400000"/>
              <a:gd name="connsiteX17" fmla="*/ 1045469 w 5400000"/>
              <a:gd name="connsiteY17" fmla="*/ 1584621 h 5400000"/>
              <a:gd name="connsiteX18" fmla="*/ 1089759 w 5400000"/>
              <a:gd name="connsiteY18" fmla="*/ 1638300 h 5400000"/>
              <a:gd name="connsiteX19" fmla="*/ 1045469 w 5400000"/>
              <a:gd name="connsiteY19" fmla="*/ 1691980 h 5400000"/>
              <a:gd name="connsiteX20" fmla="*/ 980400 w 5400000"/>
              <a:gd name="connsiteY20" fmla="*/ 1905000 h 5400000"/>
              <a:gd name="connsiteX21" fmla="*/ 1045469 w 5400000"/>
              <a:gd name="connsiteY21" fmla="*/ 2118021 h 5400000"/>
              <a:gd name="connsiteX22" fmla="*/ 1089759 w 5400000"/>
              <a:gd name="connsiteY22" fmla="*/ 2171700 h 5400000"/>
              <a:gd name="connsiteX23" fmla="*/ 1045469 w 5400000"/>
              <a:gd name="connsiteY23" fmla="*/ 2225380 h 5400000"/>
              <a:gd name="connsiteX24" fmla="*/ 980400 w 5400000"/>
              <a:gd name="connsiteY24" fmla="*/ 2438400 h 5400000"/>
              <a:gd name="connsiteX25" fmla="*/ 1361400 w 5400000"/>
              <a:gd name="connsiteY25" fmla="*/ 2819400 h 5400000"/>
              <a:gd name="connsiteX26" fmla="*/ 1742400 w 5400000"/>
              <a:gd name="connsiteY26" fmla="*/ 2438400 h 5400000"/>
              <a:gd name="connsiteX27" fmla="*/ 1677331 w 5400000"/>
              <a:gd name="connsiteY27" fmla="*/ 2225380 h 5400000"/>
              <a:gd name="connsiteX28" fmla="*/ 1633042 w 5400000"/>
              <a:gd name="connsiteY28" fmla="*/ 2171700 h 5400000"/>
              <a:gd name="connsiteX29" fmla="*/ 1677331 w 5400000"/>
              <a:gd name="connsiteY29" fmla="*/ 2118021 h 5400000"/>
              <a:gd name="connsiteX30" fmla="*/ 1742400 w 5400000"/>
              <a:gd name="connsiteY30" fmla="*/ 1905000 h 5400000"/>
              <a:gd name="connsiteX31" fmla="*/ 1677331 w 5400000"/>
              <a:gd name="connsiteY31" fmla="*/ 1691980 h 5400000"/>
              <a:gd name="connsiteX32" fmla="*/ 1633042 w 5400000"/>
              <a:gd name="connsiteY32" fmla="*/ 1638300 h 5400000"/>
              <a:gd name="connsiteX33" fmla="*/ 1677331 w 5400000"/>
              <a:gd name="connsiteY33" fmla="*/ 1584621 h 5400000"/>
              <a:gd name="connsiteX34" fmla="*/ 1742400 w 5400000"/>
              <a:gd name="connsiteY34" fmla="*/ 1371600 h 5400000"/>
              <a:gd name="connsiteX35" fmla="*/ 1630808 w 5400000"/>
              <a:gd name="connsiteY35" fmla="*/ 1102193 h 5400000"/>
              <a:gd name="connsiteX36" fmla="*/ 1627528 w 5400000"/>
              <a:gd name="connsiteY36" fmla="*/ 1099487 h 5400000"/>
              <a:gd name="connsiteX37" fmla="*/ 1646850 w 5400000"/>
              <a:gd name="connsiteY37" fmla="*/ 1083545 h 5400000"/>
              <a:gd name="connsiteX38" fmla="*/ 1758442 w 5400000"/>
              <a:gd name="connsiteY38" fmla="*/ 814137 h 5400000"/>
              <a:gd name="connsiteX39" fmla="*/ 1377442 w 5400000"/>
              <a:gd name="connsiteY39" fmla="*/ 433137 h 5400000"/>
              <a:gd name="connsiteX40" fmla="*/ 1108035 w 5400000"/>
              <a:gd name="connsiteY40" fmla="*/ 544730 h 5400000"/>
              <a:gd name="connsiteX41" fmla="*/ 1092345 w 5400000"/>
              <a:gd name="connsiteY41" fmla="*/ 563746 h 5400000"/>
              <a:gd name="connsiteX42" fmla="*/ 1073345 w 5400000"/>
              <a:gd name="connsiteY42" fmla="*/ 540719 h 5400000"/>
              <a:gd name="connsiteX43" fmla="*/ 803937 w 5400000"/>
              <a:gd name="connsiteY43" fmla="*/ 429126 h 5400000"/>
              <a:gd name="connsiteX44" fmla="*/ 655635 w 5400000"/>
              <a:gd name="connsiteY44" fmla="*/ 459067 h 5400000"/>
              <a:gd name="connsiteX45" fmla="*/ 598001 w 5400000"/>
              <a:gd name="connsiteY45" fmla="*/ 490350 h 5400000"/>
              <a:gd name="connsiteX46" fmla="*/ 598499 w 5400000"/>
              <a:gd name="connsiteY46" fmla="*/ 489747 h 5400000"/>
              <a:gd name="connsiteX47" fmla="*/ 663568 w 5400000"/>
              <a:gd name="connsiteY47" fmla="*/ 276726 h 5400000"/>
              <a:gd name="connsiteX48" fmla="*/ 551976 w 5400000"/>
              <a:gd name="connsiteY48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5400000" h="5400000"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94517"/>
                </a:lnTo>
                <a:lnTo>
                  <a:pt x="5140" y="1100747"/>
                </a:lnTo>
                <a:cubicBezTo>
                  <a:pt x="74087" y="1169694"/>
                  <a:pt x="169337" y="1212339"/>
                  <a:pt x="274547" y="1212339"/>
                </a:cubicBezTo>
                <a:cubicBezTo>
                  <a:pt x="379757" y="1212339"/>
                  <a:pt x="475007" y="1169694"/>
                  <a:pt x="543955" y="1100747"/>
                </a:cubicBezTo>
                <a:lnTo>
                  <a:pt x="550551" y="1092752"/>
                </a:lnTo>
                <a:lnTo>
                  <a:pt x="590917" y="1126057"/>
                </a:lnTo>
                <a:cubicBezTo>
                  <a:pt x="651725" y="1167138"/>
                  <a:pt x="725030" y="1191126"/>
                  <a:pt x="803937" y="1191126"/>
                </a:cubicBezTo>
                <a:cubicBezTo>
                  <a:pt x="909147" y="1191126"/>
                  <a:pt x="1004397" y="1148481"/>
                  <a:pt x="1073345" y="1079534"/>
                </a:cubicBezTo>
                <a:lnTo>
                  <a:pt x="1089035" y="1060517"/>
                </a:lnTo>
                <a:lnTo>
                  <a:pt x="1108035" y="1083545"/>
                </a:lnTo>
                <a:lnTo>
                  <a:pt x="1111315" y="1086251"/>
                </a:lnTo>
                <a:lnTo>
                  <a:pt x="1091993" y="1102193"/>
                </a:lnTo>
                <a:cubicBezTo>
                  <a:pt x="1023045" y="1171140"/>
                  <a:pt x="980400" y="1266390"/>
                  <a:pt x="980400" y="1371600"/>
                </a:cubicBezTo>
                <a:cubicBezTo>
                  <a:pt x="980400" y="1450508"/>
                  <a:pt x="1004388" y="1523813"/>
                  <a:pt x="1045469" y="1584621"/>
                </a:cubicBezTo>
                <a:lnTo>
                  <a:pt x="1089759" y="1638300"/>
                </a:lnTo>
                <a:lnTo>
                  <a:pt x="1045469" y="1691980"/>
                </a:lnTo>
                <a:cubicBezTo>
                  <a:pt x="1004388" y="1752788"/>
                  <a:pt x="980400" y="1826093"/>
                  <a:pt x="980400" y="1905000"/>
                </a:cubicBezTo>
                <a:cubicBezTo>
                  <a:pt x="980400" y="1983908"/>
                  <a:pt x="1004388" y="2057213"/>
                  <a:pt x="1045469" y="2118021"/>
                </a:cubicBezTo>
                <a:lnTo>
                  <a:pt x="1089759" y="2171700"/>
                </a:lnTo>
                <a:lnTo>
                  <a:pt x="1045469" y="2225380"/>
                </a:lnTo>
                <a:cubicBezTo>
                  <a:pt x="1004388" y="2286188"/>
                  <a:pt x="980400" y="2359493"/>
                  <a:pt x="980400" y="2438400"/>
                </a:cubicBezTo>
                <a:cubicBezTo>
                  <a:pt x="980400" y="2648820"/>
                  <a:pt x="1150980" y="2819400"/>
                  <a:pt x="1361400" y="2819400"/>
                </a:cubicBezTo>
                <a:cubicBezTo>
                  <a:pt x="1571820" y="2819400"/>
                  <a:pt x="1742400" y="2648820"/>
                  <a:pt x="1742400" y="2438400"/>
                </a:cubicBezTo>
                <a:cubicBezTo>
                  <a:pt x="1742400" y="2359493"/>
                  <a:pt x="1718413" y="2286188"/>
                  <a:pt x="1677331" y="2225380"/>
                </a:cubicBezTo>
                <a:lnTo>
                  <a:pt x="1633042" y="2171700"/>
                </a:lnTo>
                <a:lnTo>
                  <a:pt x="1677331" y="2118021"/>
                </a:lnTo>
                <a:cubicBezTo>
                  <a:pt x="1718413" y="2057213"/>
                  <a:pt x="1742400" y="1983908"/>
                  <a:pt x="1742400" y="1905000"/>
                </a:cubicBezTo>
                <a:cubicBezTo>
                  <a:pt x="1742400" y="1826093"/>
                  <a:pt x="1718413" y="1752788"/>
                  <a:pt x="1677331" y="1691980"/>
                </a:cubicBezTo>
                <a:lnTo>
                  <a:pt x="1633042" y="1638300"/>
                </a:lnTo>
                <a:lnTo>
                  <a:pt x="1677331" y="1584621"/>
                </a:lnTo>
                <a:cubicBezTo>
                  <a:pt x="1718413" y="1523813"/>
                  <a:pt x="1742400" y="1450508"/>
                  <a:pt x="1742400" y="1371600"/>
                </a:cubicBezTo>
                <a:cubicBezTo>
                  <a:pt x="1742400" y="1266390"/>
                  <a:pt x="1699755" y="1171140"/>
                  <a:pt x="1630808" y="1102193"/>
                </a:cubicBezTo>
                <a:lnTo>
                  <a:pt x="1627528" y="1099487"/>
                </a:lnTo>
                <a:lnTo>
                  <a:pt x="1646850" y="1083545"/>
                </a:lnTo>
                <a:cubicBezTo>
                  <a:pt x="1715797" y="1014597"/>
                  <a:pt x="1758442" y="919347"/>
                  <a:pt x="1758442" y="814137"/>
                </a:cubicBezTo>
                <a:cubicBezTo>
                  <a:pt x="1758442" y="603717"/>
                  <a:pt x="1587862" y="433137"/>
                  <a:pt x="1377442" y="433137"/>
                </a:cubicBezTo>
                <a:cubicBezTo>
                  <a:pt x="1272232" y="433137"/>
                  <a:pt x="1176982" y="475782"/>
                  <a:pt x="1108035" y="544730"/>
                </a:cubicBezTo>
                <a:lnTo>
                  <a:pt x="1092345" y="563746"/>
                </a:lnTo>
                <a:lnTo>
                  <a:pt x="1073345" y="540719"/>
                </a:lnTo>
                <a:cubicBezTo>
                  <a:pt x="1004397" y="471771"/>
                  <a:pt x="909147" y="429126"/>
                  <a:pt x="803937" y="429126"/>
                </a:cubicBezTo>
                <a:cubicBezTo>
                  <a:pt x="751332" y="429126"/>
                  <a:pt x="701217" y="439787"/>
                  <a:pt x="655635" y="459067"/>
                </a:cubicBezTo>
                <a:lnTo>
                  <a:pt x="598001" y="490350"/>
                </a:lnTo>
                <a:lnTo>
                  <a:pt x="598499" y="489747"/>
                </a:lnTo>
                <a:cubicBezTo>
                  <a:pt x="639580" y="428939"/>
                  <a:pt x="663568" y="355634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5,3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3505201" y="171565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671861" y="1482195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38601" y="171565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29000" y="1401617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/>
          <p:cNvSpPr/>
          <p:nvPr/>
        </p:nvSpPr>
        <p:spPr>
          <a:xfrm>
            <a:off x="5971308" y="254230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894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 5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43106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1094517 h 5400000"/>
              <a:gd name="connsiteX5" fmla="*/ 5140 w 5400000"/>
              <a:gd name="connsiteY5" fmla="*/ 1100747 h 5400000"/>
              <a:gd name="connsiteX6" fmla="*/ 274547 w 5400000"/>
              <a:gd name="connsiteY6" fmla="*/ 1212339 h 5400000"/>
              <a:gd name="connsiteX7" fmla="*/ 543955 w 5400000"/>
              <a:gd name="connsiteY7" fmla="*/ 1100747 h 5400000"/>
              <a:gd name="connsiteX8" fmla="*/ 550551 w 5400000"/>
              <a:gd name="connsiteY8" fmla="*/ 1092752 h 5400000"/>
              <a:gd name="connsiteX9" fmla="*/ 590917 w 5400000"/>
              <a:gd name="connsiteY9" fmla="*/ 1126057 h 5400000"/>
              <a:gd name="connsiteX10" fmla="*/ 803937 w 5400000"/>
              <a:gd name="connsiteY10" fmla="*/ 1191126 h 5400000"/>
              <a:gd name="connsiteX11" fmla="*/ 1073345 w 5400000"/>
              <a:gd name="connsiteY11" fmla="*/ 1079534 h 5400000"/>
              <a:gd name="connsiteX12" fmla="*/ 1089035 w 5400000"/>
              <a:gd name="connsiteY12" fmla="*/ 1060517 h 5400000"/>
              <a:gd name="connsiteX13" fmla="*/ 1108035 w 5400000"/>
              <a:gd name="connsiteY13" fmla="*/ 1083545 h 5400000"/>
              <a:gd name="connsiteX14" fmla="*/ 1111315 w 5400000"/>
              <a:gd name="connsiteY14" fmla="*/ 1086251 h 5400000"/>
              <a:gd name="connsiteX15" fmla="*/ 1091993 w 5400000"/>
              <a:gd name="connsiteY15" fmla="*/ 1102193 h 5400000"/>
              <a:gd name="connsiteX16" fmla="*/ 980400 w 5400000"/>
              <a:gd name="connsiteY16" fmla="*/ 1371600 h 5400000"/>
              <a:gd name="connsiteX17" fmla="*/ 1045469 w 5400000"/>
              <a:gd name="connsiteY17" fmla="*/ 1584621 h 5400000"/>
              <a:gd name="connsiteX18" fmla="*/ 1089759 w 5400000"/>
              <a:gd name="connsiteY18" fmla="*/ 1638300 h 5400000"/>
              <a:gd name="connsiteX19" fmla="*/ 1045469 w 5400000"/>
              <a:gd name="connsiteY19" fmla="*/ 1691980 h 5400000"/>
              <a:gd name="connsiteX20" fmla="*/ 980400 w 5400000"/>
              <a:gd name="connsiteY20" fmla="*/ 1905000 h 5400000"/>
              <a:gd name="connsiteX21" fmla="*/ 1045469 w 5400000"/>
              <a:gd name="connsiteY21" fmla="*/ 2118021 h 5400000"/>
              <a:gd name="connsiteX22" fmla="*/ 1089759 w 5400000"/>
              <a:gd name="connsiteY22" fmla="*/ 2171700 h 5400000"/>
              <a:gd name="connsiteX23" fmla="*/ 1045469 w 5400000"/>
              <a:gd name="connsiteY23" fmla="*/ 2225380 h 5400000"/>
              <a:gd name="connsiteX24" fmla="*/ 980400 w 5400000"/>
              <a:gd name="connsiteY24" fmla="*/ 2438400 h 5400000"/>
              <a:gd name="connsiteX25" fmla="*/ 1361400 w 5400000"/>
              <a:gd name="connsiteY25" fmla="*/ 2819400 h 5400000"/>
              <a:gd name="connsiteX26" fmla="*/ 1574421 w 5400000"/>
              <a:gd name="connsiteY26" fmla="*/ 2754331 h 5400000"/>
              <a:gd name="connsiteX27" fmla="*/ 1628100 w 5400000"/>
              <a:gd name="connsiteY27" fmla="*/ 2710042 h 5400000"/>
              <a:gd name="connsiteX28" fmla="*/ 1681780 w 5400000"/>
              <a:gd name="connsiteY28" fmla="*/ 2754331 h 5400000"/>
              <a:gd name="connsiteX29" fmla="*/ 1894800 w 5400000"/>
              <a:gd name="connsiteY29" fmla="*/ 2819400 h 5400000"/>
              <a:gd name="connsiteX30" fmla="*/ 2275800 w 5400000"/>
              <a:gd name="connsiteY30" fmla="*/ 2438400 h 5400000"/>
              <a:gd name="connsiteX31" fmla="*/ 1894800 w 5400000"/>
              <a:gd name="connsiteY31" fmla="*/ 2057400 h 5400000"/>
              <a:gd name="connsiteX32" fmla="*/ 1681780 w 5400000"/>
              <a:gd name="connsiteY32" fmla="*/ 2122469 h 5400000"/>
              <a:gd name="connsiteX33" fmla="*/ 1656351 w 5400000"/>
              <a:gd name="connsiteY33" fmla="*/ 2143450 h 5400000"/>
              <a:gd name="connsiteX34" fmla="*/ 1677331 w 5400000"/>
              <a:gd name="connsiteY34" fmla="*/ 2118021 h 5400000"/>
              <a:gd name="connsiteX35" fmla="*/ 1742400 w 5400000"/>
              <a:gd name="connsiteY35" fmla="*/ 1905000 h 5400000"/>
              <a:gd name="connsiteX36" fmla="*/ 1677331 w 5400000"/>
              <a:gd name="connsiteY36" fmla="*/ 1691980 h 5400000"/>
              <a:gd name="connsiteX37" fmla="*/ 1633042 w 5400000"/>
              <a:gd name="connsiteY37" fmla="*/ 1638300 h 5400000"/>
              <a:gd name="connsiteX38" fmla="*/ 1677331 w 5400000"/>
              <a:gd name="connsiteY38" fmla="*/ 1584621 h 5400000"/>
              <a:gd name="connsiteX39" fmla="*/ 1742400 w 5400000"/>
              <a:gd name="connsiteY39" fmla="*/ 1371600 h 5400000"/>
              <a:gd name="connsiteX40" fmla="*/ 1630808 w 5400000"/>
              <a:gd name="connsiteY40" fmla="*/ 1102193 h 5400000"/>
              <a:gd name="connsiteX41" fmla="*/ 1627528 w 5400000"/>
              <a:gd name="connsiteY41" fmla="*/ 1099487 h 5400000"/>
              <a:gd name="connsiteX42" fmla="*/ 1646850 w 5400000"/>
              <a:gd name="connsiteY42" fmla="*/ 1083545 h 5400000"/>
              <a:gd name="connsiteX43" fmla="*/ 1758442 w 5400000"/>
              <a:gd name="connsiteY43" fmla="*/ 814137 h 5400000"/>
              <a:gd name="connsiteX44" fmla="*/ 1377442 w 5400000"/>
              <a:gd name="connsiteY44" fmla="*/ 433137 h 5400000"/>
              <a:gd name="connsiteX45" fmla="*/ 1108035 w 5400000"/>
              <a:gd name="connsiteY45" fmla="*/ 544730 h 5400000"/>
              <a:gd name="connsiteX46" fmla="*/ 1092345 w 5400000"/>
              <a:gd name="connsiteY46" fmla="*/ 563746 h 5400000"/>
              <a:gd name="connsiteX47" fmla="*/ 1073345 w 5400000"/>
              <a:gd name="connsiteY47" fmla="*/ 540719 h 5400000"/>
              <a:gd name="connsiteX48" fmla="*/ 803937 w 5400000"/>
              <a:gd name="connsiteY48" fmla="*/ 429126 h 5400000"/>
              <a:gd name="connsiteX49" fmla="*/ 655635 w 5400000"/>
              <a:gd name="connsiteY49" fmla="*/ 459067 h 5400000"/>
              <a:gd name="connsiteX50" fmla="*/ 598001 w 5400000"/>
              <a:gd name="connsiteY50" fmla="*/ 490350 h 5400000"/>
              <a:gd name="connsiteX51" fmla="*/ 598499 w 5400000"/>
              <a:gd name="connsiteY51" fmla="*/ 489747 h 5400000"/>
              <a:gd name="connsiteX52" fmla="*/ 663568 w 5400000"/>
              <a:gd name="connsiteY52" fmla="*/ 276726 h 5400000"/>
              <a:gd name="connsiteX53" fmla="*/ 551976 w 5400000"/>
              <a:gd name="connsiteY53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400000" h="5400000"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94517"/>
                </a:lnTo>
                <a:lnTo>
                  <a:pt x="5140" y="1100747"/>
                </a:lnTo>
                <a:cubicBezTo>
                  <a:pt x="74087" y="1169694"/>
                  <a:pt x="169337" y="1212339"/>
                  <a:pt x="274547" y="1212339"/>
                </a:cubicBezTo>
                <a:cubicBezTo>
                  <a:pt x="379757" y="1212339"/>
                  <a:pt x="475007" y="1169694"/>
                  <a:pt x="543955" y="1100747"/>
                </a:cubicBezTo>
                <a:lnTo>
                  <a:pt x="550551" y="1092752"/>
                </a:lnTo>
                <a:lnTo>
                  <a:pt x="590917" y="1126057"/>
                </a:lnTo>
                <a:cubicBezTo>
                  <a:pt x="651725" y="1167138"/>
                  <a:pt x="725030" y="1191126"/>
                  <a:pt x="803937" y="1191126"/>
                </a:cubicBezTo>
                <a:cubicBezTo>
                  <a:pt x="909147" y="1191126"/>
                  <a:pt x="1004397" y="1148481"/>
                  <a:pt x="1073345" y="1079534"/>
                </a:cubicBezTo>
                <a:lnTo>
                  <a:pt x="1089035" y="1060517"/>
                </a:lnTo>
                <a:lnTo>
                  <a:pt x="1108035" y="1083545"/>
                </a:lnTo>
                <a:lnTo>
                  <a:pt x="1111315" y="1086251"/>
                </a:lnTo>
                <a:lnTo>
                  <a:pt x="1091993" y="1102193"/>
                </a:lnTo>
                <a:cubicBezTo>
                  <a:pt x="1023045" y="1171140"/>
                  <a:pt x="980400" y="1266390"/>
                  <a:pt x="980400" y="1371600"/>
                </a:cubicBezTo>
                <a:cubicBezTo>
                  <a:pt x="980400" y="1450508"/>
                  <a:pt x="1004388" y="1523813"/>
                  <a:pt x="1045469" y="1584621"/>
                </a:cubicBezTo>
                <a:lnTo>
                  <a:pt x="1089759" y="1638300"/>
                </a:lnTo>
                <a:lnTo>
                  <a:pt x="1045469" y="1691980"/>
                </a:lnTo>
                <a:cubicBezTo>
                  <a:pt x="1004388" y="1752788"/>
                  <a:pt x="980400" y="1826093"/>
                  <a:pt x="980400" y="1905000"/>
                </a:cubicBezTo>
                <a:cubicBezTo>
                  <a:pt x="980400" y="1983908"/>
                  <a:pt x="1004388" y="2057213"/>
                  <a:pt x="1045469" y="2118021"/>
                </a:cubicBezTo>
                <a:lnTo>
                  <a:pt x="1089759" y="2171700"/>
                </a:lnTo>
                <a:lnTo>
                  <a:pt x="1045469" y="2225380"/>
                </a:lnTo>
                <a:cubicBezTo>
                  <a:pt x="1004388" y="2286188"/>
                  <a:pt x="980400" y="2359493"/>
                  <a:pt x="980400" y="2438400"/>
                </a:cubicBezTo>
                <a:cubicBezTo>
                  <a:pt x="980400" y="2648820"/>
                  <a:pt x="1150980" y="2819400"/>
                  <a:pt x="1361400" y="2819400"/>
                </a:cubicBezTo>
                <a:cubicBezTo>
                  <a:pt x="1440308" y="2819400"/>
                  <a:pt x="1513613" y="2795412"/>
                  <a:pt x="1574421" y="2754331"/>
                </a:cubicBezTo>
                <a:lnTo>
                  <a:pt x="1628100" y="2710042"/>
                </a:lnTo>
                <a:lnTo>
                  <a:pt x="1681780" y="2754331"/>
                </a:lnTo>
                <a:cubicBezTo>
                  <a:pt x="1742588" y="2795412"/>
                  <a:pt x="1815893" y="2819400"/>
                  <a:pt x="1894800" y="2819400"/>
                </a:cubicBezTo>
                <a:cubicBezTo>
                  <a:pt x="2105220" y="2819400"/>
                  <a:pt x="2275800" y="2648820"/>
                  <a:pt x="2275800" y="2438400"/>
                </a:cubicBezTo>
                <a:cubicBezTo>
                  <a:pt x="2275800" y="2227980"/>
                  <a:pt x="2105220" y="2057400"/>
                  <a:pt x="1894800" y="2057400"/>
                </a:cubicBezTo>
                <a:cubicBezTo>
                  <a:pt x="1815893" y="2057400"/>
                  <a:pt x="1742588" y="2081388"/>
                  <a:pt x="1681780" y="2122469"/>
                </a:cubicBezTo>
                <a:lnTo>
                  <a:pt x="1656351" y="2143450"/>
                </a:lnTo>
                <a:lnTo>
                  <a:pt x="1677331" y="2118021"/>
                </a:lnTo>
                <a:cubicBezTo>
                  <a:pt x="1718413" y="2057213"/>
                  <a:pt x="1742400" y="1983908"/>
                  <a:pt x="1742400" y="1905000"/>
                </a:cubicBezTo>
                <a:cubicBezTo>
                  <a:pt x="1742400" y="1826093"/>
                  <a:pt x="1718413" y="1752788"/>
                  <a:pt x="1677331" y="1691980"/>
                </a:cubicBezTo>
                <a:lnTo>
                  <a:pt x="1633042" y="1638300"/>
                </a:lnTo>
                <a:lnTo>
                  <a:pt x="1677331" y="1584621"/>
                </a:lnTo>
                <a:cubicBezTo>
                  <a:pt x="1718413" y="1523813"/>
                  <a:pt x="1742400" y="1450508"/>
                  <a:pt x="1742400" y="1371600"/>
                </a:cubicBezTo>
                <a:cubicBezTo>
                  <a:pt x="1742400" y="1266390"/>
                  <a:pt x="1699755" y="1171140"/>
                  <a:pt x="1630808" y="1102193"/>
                </a:cubicBezTo>
                <a:lnTo>
                  <a:pt x="1627528" y="1099487"/>
                </a:lnTo>
                <a:lnTo>
                  <a:pt x="1646850" y="1083545"/>
                </a:lnTo>
                <a:cubicBezTo>
                  <a:pt x="1715797" y="1014597"/>
                  <a:pt x="1758442" y="919347"/>
                  <a:pt x="1758442" y="814137"/>
                </a:cubicBezTo>
                <a:cubicBezTo>
                  <a:pt x="1758442" y="603717"/>
                  <a:pt x="1587862" y="433137"/>
                  <a:pt x="1377442" y="433137"/>
                </a:cubicBezTo>
                <a:cubicBezTo>
                  <a:pt x="1272232" y="433137"/>
                  <a:pt x="1176982" y="475782"/>
                  <a:pt x="1108035" y="544730"/>
                </a:cubicBezTo>
                <a:lnTo>
                  <a:pt x="1092345" y="563746"/>
                </a:lnTo>
                <a:lnTo>
                  <a:pt x="1073345" y="540719"/>
                </a:lnTo>
                <a:cubicBezTo>
                  <a:pt x="1004397" y="471771"/>
                  <a:pt x="909147" y="429126"/>
                  <a:pt x="803937" y="429126"/>
                </a:cubicBezTo>
                <a:cubicBezTo>
                  <a:pt x="751332" y="429126"/>
                  <a:pt x="701217" y="439787"/>
                  <a:pt x="655635" y="459067"/>
                </a:cubicBezTo>
                <a:lnTo>
                  <a:pt x="598001" y="490350"/>
                </a:lnTo>
                <a:lnTo>
                  <a:pt x="598499" y="489747"/>
                </a:lnTo>
                <a:cubicBezTo>
                  <a:pt x="639580" y="428939"/>
                  <a:pt x="663568" y="355634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5,4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3505201" y="171565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38601" y="171565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10528" y="1401617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/>
          <p:cNvSpPr/>
          <p:nvPr/>
        </p:nvSpPr>
        <p:spPr>
          <a:xfrm>
            <a:off x="6504708" y="254230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074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Freeform 6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43106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1094517 h 5400000"/>
              <a:gd name="connsiteX5" fmla="*/ 5140 w 5400000"/>
              <a:gd name="connsiteY5" fmla="*/ 1100747 h 5400000"/>
              <a:gd name="connsiteX6" fmla="*/ 274547 w 5400000"/>
              <a:gd name="connsiteY6" fmla="*/ 1212339 h 5400000"/>
              <a:gd name="connsiteX7" fmla="*/ 543955 w 5400000"/>
              <a:gd name="connsiteY7" fmla="*/ 1100747 h 5400000"/>
              <a:gd name="connsiteX8" fmla="*/ 550551 w 5400000"/>
              <a:gd name="connsiteY8" fmla="*/ 1092752 h 5400000"/>
              <a:gd name="connsiteX9" fmla="*/ 590917 w 5400000"/>
              <a:gd name="connsiteY9" fmla="*/ 1126057 h 5400000"/>
              <a:gd name="connsiteX10" fmla="*/ 803937 w 5400000"/>
              <a:gd name="connsiteY10" fmla="*/ 1191126 h 5400000"/>
              <a:gd name="connsiteX11" fmla="*/ 1073345 w 5400000"/>
              <a:gd name="connsiteY11" fmla="*/ 1079534 h 5400000"/>
              <a:gd name="connsiteX12" fmla="*/ 1089035 w 5400000"/>
              <a:gd name="connsiteY12" fmla="*/ 1060517 h 5400000"/>
              <a:gd name="connsiteX13" fmla="*/ 1108035 w 5400000"/>
              <a:gd name="connsiteY13" fmla="*/ 1083545 h 5400000"/>
              <a:gd name="connsiteX14" fmla="*/ 1111315 w 5400000"/>
              <a:gd name="connsiteY14" fmla="*/ 1086251 h 5400000"/>
              <a:gd name="connsiteX15" fmla="*/ 1091993 w 5400000"/>
              <a:gd name="connsiteY15" fmla="*/ 1102193 h 5400000"/>
              <a:gd name="connsiteX16" fmla="*/ 980400 w 5400000"/>
              <a:gd name="connsiteY16" fmla="*/ 1371600 h 5400000"/>
              <a:gd name="connsiteX17" fmla="*/ 1045469 w 5400000"/>
              <a:gd name="connsiteY17" fmla="*/ 1584621 h 5400000"/>
              <a:gd name="connsiteX18" fmla="*/ 1089759 w 5400000"/>
              <a:gd name="connsiteY18" fmla="*/ 1638300 h 5400000"/>
              <a:gd name="connsiteX19" fmla="*/ 1045469 w 5400000"/>
              <a:gd name="connsiteY19" fmla="*/ 1691980 h 5400000"/>
              <a:gd name="connsiteX20" fmla="*/ 980400 w 5400000"/>
              <a:gd name="connsiteY20" fmla="*/ 1905000 h 5400000"/>
              <a:gd name="connsiteX21" fmla="*/ 1045469 w 5400000"/>
              <a:gd name="connsiteY21" fmla="*/ 2118021 h 5400000"/>
              <a:gd name="connsiteX22" fmla="*/ 1089759 w 5400000"/>
              <a:gd name="connsiteY22" fmla="*/ 2171700 h 5400000"/>
              <a:gd name="connsiteX23" fmla="*/ 1045469 w 5400000"/>
              <a:gd name="connsiteY23" fmla="*/ 2225380 h 5400000"/>
              <a:gd name="connsiteX24" fmla="*/ 980400 w 5400000"/>
              <a:gd name="connsiteY24" fmla="*/ 2438400 h 5400000"/>
              <a:gd name="connsiteX25" fmla="*/ 1361400 w 5400000"/>
              <a:gd name="connsiteY25" fmla="*/ 2819400 h 5400000"/>
              <a:gd name="connsiteX26" fmla="*/ 1574421 w 5400000"/>
              <a:gd name="connsiteY26" fmla="*/ 2754331 h 5400000"/>
              <a:gd name="connsiteX27" fmla="*/ 1628100 w 5400000"/>
              <a:gd name="connsiteY27" fmla="*/ 2710042 h 5400000"/>
              <a:gd name="connsiteX28" fmla="*/ 1681780 w 5400000"/>
              <a:gd name="connsiteY28" fmla="*/ 2754331 h 5400000"/>
              <a:gd name="connsiteX29" fmla="*/ 1894800 w 5400000"/>
              <a:gd name="connsiteY29" fmla="*/ 2819400 h 5400000"/>
              <a:gd name="connsiteX30" fmla="*/ 2107821 w 5400000"/>
              <a:gd name="connsiteY30" fmla="*/ 2754331 h 5400000"/>
              <a:gd name="connsiteX31" fmla="*/ 2161500 w 5400000"/>
              <a:gd name="connsiteY31" fmla="*/ 2710042 h 5400000"/>
              <a:gd name="connsiteX32" fmla="*/ 2215180 w 5400000"/>
              <a:gd name="connsiteY32" fmla="*/ 2754331 h 5400000"/>
              <a:gd name="connsiteX33" fmla="*/ 2428200 w 5400000"/>
              <a:gd name="connsiteY33" fmla="*/ 2819400 h 5400000"/>
              <a:gd name="connsiteX34" fmla="*/ 2809200 w 5400000"/>
              <a:gd name="connsiteY34" fmla="*/ 2438400 h 5400000"/>
              <a:gd name="connsiteX35" fmla="*/ 2428200 w 5400000"/>
              <a:gd name="connsiteY35" fmla="*/ 2057400 h 5400000"/>
              <a:gd name="connsiteX36" fmla="*/ 2215180 w 5400000"/>
              <a:gd name="connsiteY36" fmla="*/ 2122469 h 5400000"/>
              <a:gd name="connsiteX37" fmla="*/ 2161500 w 5400000"/>
              <a:gd name="connsiteY37" fmla="*/ 2166759 h 5400000"/>
              <a:gd name="connsiteX38" fmla="*/ 2107821 w 5400000"/>
              <a:gd name="connsiteY38" fmla="*/ 2122469 h 5400000"/>
              <a:gd name="connsiteX39" fmla="*/ 1894800 w 5400000"/>
              <a:gd name="connsiteY39" fmla="*/ 2057400 h 5400000"/>
              <a:gd name="connsiteX40" fmla="*/ 1681780 w 5400000"/>
              <a:gd name="connsiteY40" fmla="*/ 2122469 h 5400000"/>
              <a:gd name="connsiteX41" fmla="*/ 1656351 w 5400000"/>
              <a:gd name="connsiteY41" fmla="*/ 2143450 h 5400000"/>
              <a:gd name="connsiteX42" fmla="*/ 1677331 w 5400000"/>
              <a:gd name="connsiteY42" fmla="*/ 2118021 h 5400000"/>
              <a:gd name="connsiteX43" fmla="*/ 1742400 w 5400000"/>
              <a:gd name="connsiteY43" fmla="*/ 1905000 h 5400000"/>
              <a:gd name="connsiteX44" fmla="*/ 1677331 w 5400000"/>
              <a:gd name="connsiteY44" fmla="*/ 1691980 h 5400000"/>
              <a:gd name="connsiteX45" fmla="*/ 1633042 w 5400000"/>
              <a:gd name="connsiteY45" fmla="*/ 1638300 h 5400000"/>
              <a:gd name="connsiteX46" fmla="*/ 1677331 w 5400000"/>
              <a:gd name="connsiteY46" fmla="*/ 1584621 h 5400000"/>
              <a:gd name="connsiteX47" fmla="*/ 1742400 w 5400000"/>
              <a:gd name="connsiteY47" fmla="*/ 1371600 h 5400000"/>
              <a:gd name="connsiteX48" fmla="*/ 1630808 w 5400000"/>
              <a:gd name="connsiteY48" fmla="*/ 1102193 h 5400000"/>
              <a:gd name="connsiteX49" fmla="*/ 1627528 w 5400000"/>
              <a:gd name="connsiteY49" fmla="*/ 1099487 h 5400000"/>
              <a:gd name="connsiteX50" fmla="*/ 1646850 w 5400000"/>
              <a:gd name="connsiteY50" fmla="*/ 1083545 h 5400000"/>
              <a:gd name="connsiteX51" fmla="*/ 1758442 w 5400000"/>
              <a:gd name="connsiteY51" fmla="*/ 814137 h 5400000"/>
              <a:gd name="connsiteX52" fmla="*/ 1377442 w 5400000"/>
              <a:gd name="connsiteY52" fmla="*/ 433137 h 5400000"/>
              <a:gd name="connsiteX53" fmla="*/ 1108035 w 5400000"/>
              <a:gd name="connsiteY53" fmla="*/ 544730 h 5400000"/>
              <a:gd name="connsiteX54" fmla="*/ 1092345 w 5400000"/>
              <a:gd name="connsiteY54" fmla="*/ 563746 h 5400000"/>
              <a:gd name="connsiteX55" fmla="*/ 1073345 w 5400000"/>
              <a:gd name="connsiteY55" fmla="*/ 540719 h 5400000"/>
              <a:gd name="connsiteX56" fmla="*/ 803937 w 5400000"/>
              <a:gd name="connsiteY56" fmla="*/ 429126 h 5400000"/>
              <a:gd name="connsiteX57" fmla="*/ 655635 w 5400000"/>
              <a:gd name="connsiteY57" fmla="*/ 459067 h 5400000"/>
              <a:gd name="connsiteX58" fmla="*/ 598001 w 5400000"/>
              <a:gd name="connsiteY58" fmla="*/ 490350 h 5400000"/>
              <a:gd name="connsiteX59" fmla="*/ 598499 w 5400000"/>
              <a:gd name="connsiteY59" fmla="*/ 489747 h 5400000"/>
              <a:gd name="connsiteX60" fmla="*/ 663568 w 5400000"/>
              <a:gd name="connsiteY60" fmla="*/ 276726 h 5400000"/>
              <a:gd name="connsiteX61" fmla="*/ 551976 w 5400000"/>
              <a:gd name="connsiteY61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400000" h="5400000"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94517"/>
                </a:lnTo>
                <a:lnTo>
                  <a:pt x="5140" y="1100747"/>
                </a:lnTo>
                <a:cubicBezTo>
                  <a:pt x="74087" y="1169694"/>
                  <a:pt x="169337" y="1212339"/>
                  <a:pt x="274547" y="1212339"/>
                </a:cubicBezTo>
                <a:cubicBezTo>
                  <a:pt x="379757" y="1212339"/>
                  <a:pt x="475007" y="1169694"/>
                  <a:pt x="543955" y="1100747"/>
                </a:cubicBezTo>
                <a:lnTo>
                  <a:pt x="550551" y="1092752"/>
                </a:lnTo>
                <a:lnTo>
                  <a:pt x="590917" y="1126057"/>
                </a:lnTo>
                <a:cubicBezTo>
                  <a:pt x="651725" y="1167138"/>
                  <a:pt x="725030" y="1191126"/>
                  <a:pt x="803937" y="1191126"/>
                </a:cubicBezTo>
                <a:cubicBezTo>
                  <a:pt x="909147" y="1191126"/>
                  <a:pt x="1004397" y="1148481"/>
                  <a:pt x="1073345" y="1079534"/>
                </a:cubicBezTo>
                <a:lnTo>
                  <a:pt x="1089035" y="1060517"/>
                </a:lnTo>
                <a:lnTo>
                  <a:pt x="1108035" y="1083545"/>
                </a:lnTo>
                <a:lnTo>
                  <a:pt x="1111315" y="1086251"/>
                </a:lnTo>
                <a:lnTo>
                  <a:pt x="1091993" y="1102193"/>
                </a:lnTo>
                <a:cubicBezTo>
                  <a:pt x="1023045" y="1171140"/>
                  <a:pt x="980400" y="1266390"/>
                  <a:pt x="980400" y="1371600"/>
                </a:cubicBezTo>
                <a:cubicBezTo>
                  <a:pt x="980400" y="1450508"/>
                  <a:pt x="1004388" y="1523813"/>
                  <a:pt x="1045469" y="1584621"/>
                </a:cubicBezTo>
                <a:lnTo>
                  <a:pt x="1089759" y="1638300"/>
                </a:lnTo>
                <a:lnTo>
                  <a:pt x="1045469" y="1691980"/>
                </a:lnTo>
                <a:cubicBezTo>
                  <a:pt x="1004388" y="1752788"/>
                  <a:pt x="980400" y="1826093"/>
                  <a:pt x="980400" y="1905000"/>
                </a:cubicBezTo>
                <a:cubicBezTo>
                  <a:pt x="980400" y="1983908"/>
                  <a:pt x="1004388" y="2057213"/>
                  <a:pt x="1045469" y="2118021"/>
                </a:cubicBezTo>
                <a:lnTo>
                  <a:pt x="1089759" y="2171700"/>
                </a:lnTo>
                <a:lnTo>
                  <a:pt x="1045469" y="2225380"/>
                </a:lnTo>
                <a:cubicBezTo>
                  <a:pt x="1004388" y="2286188"/>
                  <a:pt x="980400" y="2359493"/>
                  <a:pt x="980400" y="2438400"/>
                </a:cubicBezTo>
                <a:cubicBezTo>
                  <a:pt x="980400" y="2648820"/>
                  <a:pt x="1150980" y="2819400"/>
                  <a:pt x="1361400" y="2819400"/>
                </a:cubicBezTo>
                <a:cubicBezTo>
                  <a:pt x="1440308" y="2819400"/>
                  <a:pt x="1513613" y="2795412"/>
                  <a:pt x="1574421" y="2754331"/>
                </a:cubicBezTo>
                <a:lnTo>
                  <a:pt x="1628100" y="2710042"/>
                </a:lnTo>
                <a:lnTo>
                  <a:pt x="1681780" y="2754331"/>
                </a:lnTo>
                <a:cubicBezTo>
                  <a:pt x="1742588" y="2795412"/>
                  <a:pt x="1815893" y="2819400"/>
                  <a:pt x="1894800" y="2819400"/>
                </a:cubicBezTo>
                <a:cubicBezTo>
                  <a:pt x="1973708" y="2819400"/>
                  <a:pt x="2047013" y="2795412"/>
                  <a:pt x="2107821" y="2754331"/>
                </a:cubicBezTo>
                <a:lnTo>
                  <a:pt x="2161500" y="2710042"/>
                </a:lnTo>
                <a:lnTo>
                  <a:pt x="2215180" y="2754331"/>
                </a:lnTo>
                <a:cubicBezTo>
                  <a:pt x="2275988" y="2795412"/>
                  <a:pt x="2349293" y="2819400"/>
                  <a:pt x="2428200" y="2819400"/>
                </a:cubicBezTo>
                <a:cubicBezTo>
                  <a:pt x="2638620" y="2819400"/>
                  <a:pt x="2809200" y="2648820"/>
                  <a:pt x="2809200" y="2438400"/>
                </a:cubicBezTo>
                <a:cubicBezTo>
                  <a:pt x="2809200" y="2227980"/>
                  <a:pt x="2638620" y="2057400"/>
                  <a:pt x="2428200" y="2057400"/>
                </a:cubicBezTo>
                <a:cubicBezTo>
                  <a:pt x="2349293" y="2057400"/>
                  <a:pt x="2275988" y="2081388"/>
                  <a:pt x="2215180" y="2122469"/>
                </a:cubicBezTo>
                <a:lnTo>
                  <a:pt x="2161500" y="2166759"/>
                </a:lnTo>
                <a:lnTo>
                  <a:pt x="2107821" y="2122469"/>
                </a:lnTo>
                <a:cubicBezTo>
                  <a:pt x="2047013" y="2081388"/>
                  <a:pt x="1973708" y="2057400"/>
                  <a:pt x="1894800" y="2057400"/>
                </a:cubicBezTo>
                <a:cubicBezTo>
                  <a:pt x="1815893" y="2057400"/>
                  <a:pt x="1742588" y="2081388"/>
                  <a:pt x="1681780" y="2122469"/>
                </a:cubicBezTo>
                <a:lnTo>
                  <a:pt x="1656351" y="2143450"/>
                </a:lnTo>
                <a:lnTo>
                  <a:pt x="1677331" y="2118021"/>
                </a:lnTo>
                <a:cubicBezTo>
                  <a:pt x="1718413" y="2057213"/>
                  <a:pt x="1742400" y="1983908"/>
                  <a:pt x="1742400" y="1905000"/>
                </a:cubicBezTo>
                <a:cubicBezTo>
                  <a:pt x="1742400" y="1826093"/>
                  <a:pt x="1718413" y="1752788"/>
                  <a:pt x="1677331" y="1691980"/>
                </a:cubicBezTo>
                <a:lnTo>
                  <a:pt x="1633042" y="1638300"/>
                </a:lnTo>
                <a:lnTo>
                  <a:pt x="1677331" y="1584621"/>
                </a:lnTo>
                <a:cubicBezTo>
                  <a:pt x="1718413" y="1523813"/>
                  <a:pt x="1742400" y="1450508"/>
                  <a:pt x="1742400" y="1371600"/>
                </a:cubicBezTo>
                <a:cubicBezTo>
                  <a:pt x="1742400" y="1266390"/>
                  <a:pt x="1699755" y="1171140"/>
                  <a:pt x="1630808" y="1102193"/>
                </a:cubicBezTo>
                <a:lnTo>
                  <a:pt x="1627528" y="1099487"/>
                </a:lnTo>
                <a:lnTo>
                  <a:pt x="1646850" y="1083545"/>
                </a:lnTo>
                <a:cubicBezTo>
                  <a:pt x="1715797" y="1014597"/>
                  <a:pt x="1758442" y="919347"/>
                  <a:pt x="1758442" y="814137"/>
                </a:cubicBezTo>
                <a:cubicBezTo>
                  <a:pt x="1758442" y="603717"/>
                  <a:pt x="1587862" y="433137"/>
                  <a:pt x="1377442" y="433137"/>
                </a:cubicBezTo>
                <a:cubicBezTo>
                  <a:pt x="1272232" y="433137"/>
                  <a:pt x="1176982" y="475782"/>
                  <a:pt x="1108035" y="544730"/>
                </a:cubicBezTo>
                <a:lnTo>
                  <a:pt x="1092345" y="563746"/>
                </a:lnTo>
                <a:lnTo>
                  <a:pt x="1073345" y="540719"/>
                </a:lnTo>
                <a:cubicBezTo>
                  <a:pt x="1004397" y="471771"/>
                  <a:pt x="909147" y="429126"/>
                  <a:pt x="803937" y="429126"/>
                </a:cubicBezTo>
                <a:cubicBezTo>
                  <a:pt x="751332" y="429126"/>
                  <a:pt x="701217" y="439787"/>
                  <a:pt x="655635" y="459067"/>
                </a:cubicBezTo>
                <a:lnTo>
                  <a:pt x="598001" y="490350"/>
                </a:lnTo>
                <a:lnTo>
                  <a:pt x="598499" y="489747"/>
                </a:lnTo>
                <a:cubicBezTo>
                  <a:pt x="639580" y="428939"/>
                  <a:pt x="663568" y="355634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3205261" y="1482194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505201" y="171565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38601" y="171565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10528" y="1401617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/>
          <p:cNvSpPr/>
          <p:nvPr/>
        </p:nvSpPr>
        <p:spPr>
          <a:xfrm>
            <a:off x="7047344" y="254230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044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 5"/>
          <p:cNvSpPr/>
          <p:nvPr/>
        </p:nvSpPr>
        <p:spPr>
          <a:xfrm>
            <a:off x="4810800" y="304800"/>
            <a:ext cx="5400000" cy="5400000"/>
          </a:xfrm>
          <a:custGeom>
            <a:avLst/>
            <a:gdLst>
              <a:gd name="connsiteX0" fmla="*/ 543106 w 5400000"/>
              <a:gd name="connsiteY0" fmla="*/ 0 h 5400000"/>
              <a:gd name="connsiteX1" fmla="*/ 5400000 w 5400000"/>
              <a:gd name="connsiteY1" fmla="*/ 0 h 5400000"/>
              <a:gd name="connsiteX2" fmla="*/ 5400000 w 5400000"/>
              <a:gd name="connsiteY2" fmla="*/ 5400000 h 5400000"/>
              <a:gd name="connsiteX3" fmla="*/ 0 w 5400000"/>
              <a:gd name="connsiteY3" fmla="*/ 5400000 h 5400000"/>
              <a:gd name="connsiteX4" fmla="*/ 0 w 5400000"/>
              <a:gd name="connsiteY4" fmla="*/ 1094517 h 5400000"/>
              <a:gd name="connsiteX5" fmla="*/ 5140 w 5400000"/>
              <a:gd name="connsiteY5" fmla="*/ 1100747 h 5400000"/>
              <a:gd name="connsiteX6" fmla="*/ 274547 w 5400000"/>
              <a:gd name="connsiteY6" fmla="*/ 1212339 h 5400000"/>
              <a:gd name="connsiteX7" fmla="*/ 543955 w 5400000"/>
              <a:gd name="connsiteY7" fmla="*/ 1100747 h 5400000"/>
              <a:gd name="connsiteX8" fmla="*/ 550551 w 5400000"/>
              <a:gd name="connsiteY8" fmla="*/ 1092752 h 5400000"/>
              <a:gd name="connsiteX9" fmla="*/ 590917 w 5400000"/>
              <a:gd name="connsiteY9" fmla="*/ 1126057 h 5400000"/>
              <a:gd name="connsiteX10" fmla="*/ 803937 w 5400000"/>
              <a:gd name="connsiteY10" fmla="*/ 1191126 h 5400000"/>
              <a:gd name="connsiteX11" fmla="*/ 1073345 w 5400000"/>
              <a:gd name="connsiteY11" fmla="*/ 1079534 h 5400000"/>
              <a:gd name="connsiteX12" fmla="*/ 1089035 w 5400000"/>
              <a:gd name="connsiteY12" fmla="*/ 1060517 h 5400000"/>
              <a:gd name="connsiteX13" fmla="*/ 1108035 w 5400000"/>
              <a:gd name="connsiteY13" fmla="*/ 1083545 h 5400000"/>
              <a:gd name="connsiteX14" fmla="*/ 1111315 w 5400000"/>
              <a:gd name="connsiteY14" fmla="*/ 1086251 h 5400000"/>
              <a:gd name="connsiteX15" fmla="*/ 1091993 w 5400000"/>
              <a:gd name="connsiteY15" fmla="*/ 1102193 h 5400000"/>
              <a:gd name="connsiteX16" fmla="*/ 980400 w 5400000"/>
              <a:gd name="connsiteY16" fmla="*/ 1371600 h 5400000"/>
              <a:gd name="connsiteX17" fmla="*/ 1045469 w 5400000"/>
              <a:gd name="connsiteY17" fmla="*/ 1584621 h 5400000"/>
              <a:gd name="connsiteX18" fmla="*/ 1089759 w 5400000"/>
              <a:gd name="connsiteY18" fmla="*/ 1638300 h 5400000"/>
              <a:gd name="connsiteX19" fmla="*/ 1045469 w 5400000"/>
              <a:gd name="connsiteY19" fmla="*/ 1691980 h 5400000"/>
              <a:gd name="connsiteX20" fmla="*/ 980400 w 5400000"/>
              <a:gd name="connsiteY20" fmla="*/ 1905000 h 5400000"/>
              <a:gd name="connsiteX21" fmla="*/ 1045469 w 5400000"/>
              <a:gd name="connsiteY21" fmla="*/ 2118021 h 5400000"/>
              <a:gd name="connsiteX22" fmla="*/ 1089759 w 5400000"/>
              <a:gd name="connsiteY22" fmla="*/ 2171700 h 5400000"/>
              <a:gd name="connsiteX23" fmla="*/ 1045469 w 5400000"/>
              <a:gd name="connsiteY23" fmla="*/ 2225380 h 5400000"/>
              <a:gd name="connsiteX24" fmla="*/ 980400 w 5400000"/>
              <a:gd name="connsiteY24" fmla="*/ 2438400 h 5400000"/>
              <a:gd name="connsiteX25" fmla="*/ 1361400 w 5400000"/>
              <a:gd name="connsiteY25" fmla="*/ 2819400 h 5400000"/>
              <a:gd name="connsiteX26" fmla="*/ 1574421 w 5400000"/>
              <a:gd name="connsiteY26" fmla="*/ 2754331 h 5400000"/>
              <a:gd name="connsiteX27" fmla="*/ 1628100 w 5400000"/>
              <a:gd name="connsiteY27" fmla="*/ 2710042 h 5400000"/>
              <a:gd name="connsiteX28" fmla="*/ 1681780 w 5400000"/>
              <a:gd name="connsiteY28" fmla="*/ 2754331 h 5400000"/>
              <a:gd name="connsiteX29" fmla="*/ 1894800 w 5400000"/>
              <a:gd name="connsiteY29" fmla="*/ 2819400 h 5400000"/>
              <a:gd name="connsiteX30" fmla="*/ 2107821 w 5400000"/>
              <a:gd name="connsiteY30" fmla="*/ 2754331 h 5400000"/>
              <a:gd name="connsiteX31" fmla="*/ 2161500 w 5400000"/>
              <a:gd name="connsiteY31" fmla="*/ 2710042 h 5400000"/>
              <a:gd name="connsiteX32" fmla="*/ 2215180 w 5400000"/>
              <a:gd name="connsiteY32" fmla="*/ 2754331 h 5400000"/>
              <a:gd name="connsiteX33" fmla="*/ 2428200 w 5400000"/>
              <a:gd name="connsiteY33" fmla="*/ 2819400 h 5400000"/>
              <a:gd name="connsiteX34" fmla="*/ 2641221 w 5400000"/>
              <a:gd name="connsiteY34" fmla="*/ 2754331 h 5400000"/>
              <a:gd name="connsiteX35" fmla="*/ 2694900 w 5400000"/>
              <a:gd name="connsiteY35" fmla="*/ 2710042 h 5400000"/>
              <a:gd name="connsiteX36" fmla="*/ 2748580 w 5400000"/>
              <a:gd name="connsiteY36" fmla="*/ 2754331 h 5400000"/>
              <a:gd name="connsiteX37" fmla="*/ 2961600 w 5400000"/>
              <a:gd name="connsiteY37" fmla="*/ 2819400 h 5400000"/>
              <a:gd name="connsiteX38" fmla="*/ 3342600 w 5400000"/>
              <a:gd name="connsiteY38" fmla="*/ 2438400 h 5400000"/>
              <a:gd name="connsiteX39" fmla="*/ 2961600 w 5400000"/>
              <a:gd name="connsiteY39" fmla="*/ 2057400 h 5400000"/>
              <a:gd name="connsiteX40" fmla="*/ 2748580 w 5400000"/>
              <a:gd name="connsiteY40" fmla="*/ 2122469 h 5400000"/>
              <a:gd name="connsiteX41" fmla="*/ 2694900 w 5400000"/>
              <a:gd name="connsiteY41" fmla="*/ 2166759 h 5400000"/>
              <a:gd name="connsiteX42" fmla="*/ 2641221 w 5400000"/>
              <a:gd name="connsiteY42" fmla="*/ 2122469 h 5400000"/>
              <a:gd name="connsiteX43" fmla="*/ 2428200 w 5400000"/>
              <a:gd name="connsiteY43" fmla="*/ 2057400 h 5400000"/>
              <a:gd name="connsiteX44" fmla="*/ 2215180 w 5400000"/>
              <a:gd name="connsiteY44" fmla="*/ 2122469 h 5400000"/>
              <a:gd name="connsiteX45" fmla="*/ 2161500 w 5400000"/>
              <a:gd name="connsiteY45" fmla="*/ 2166759 h 5400000"/>
              <a:gd name="connsiteX46" fmla="*/ 2107821 w 5400000"/>
              <a:gd name="connsiteY46" fmla="*/ 2122469 h 5400000"/>
              <a:gd name="connsiteX47" fmla="*/ 1894800 w 5400000"/>
              <a:gd name="connsiteY47" fmla="*/ 2057400 h 5400000"/>
              <a:gd name="connsiteX48" fmla="*/ 1681780 w 5400000"/>
              <a:gd name="connsiteY48" fmla="*/ 2122469 h 5400000"/>
              <a:gd name="connsiteX49" fmla="*/ 1656351 w 5400000"/>
              <a:gd name="connsiteY49" fmla="*/ 2143450 h 5400000"/>
              <a:gd name="connsiteX50" fmla="*/ 1677331 w 5400000"/>
              <a:gd name="connsiteY50" fmla="*/ 2118021 h 5400000"/>
              <a:gd name="connsiteX51" fmla="*/ 1742400 w 5400000"/>
              <a:gd name="connsiteY51" fmla="*/ 1905000 h 5400000"/>
              <a:gd name="connsiteX52" fmla="*/ 1677331 w 5400000"/>
              <a:gd name="connsiteY52" fmla="*/ 1691980 h 5400000"/>
              <a:gd name="connsiteX53" fmla="*/ 1633042 w 5400000"/>
              <a:gd name="connsiteY53" fmla="*/ 1638300 h 5400000"/>
              <a:gd name="connsiteX54" fmla="*/ 1677331 w 5400000"/>
              <a:gd name="connsiteY54" fmla="*/ 1584621 h 5400000"/>
              <a:gd name="connsiteX55" fmla="*/ 1742400 w 5400000"/>
              <a:gd name="connsiteY55" fmla="*/ 1371600 h 5400000"/>
              <a:gd name="connsiteX56" fmla="*/ 1630808 w 5400000"/>
              <a:gd name="connsiteY56" fmla="*/ 1102193 h 5400000"/>
              <a:gd name="connsiteX57" fmla="*/ 1627528 w 5400000"/>
              <a:gd name="connsiteY57" fmla="*/ 1099487 h 5400000"/>
              <a:gd name="connsiteX58" fmla="*/ 1646850 w 5400000"/>
              <a:gd name="connsiteY58" fmla="*/ 1083545 h 5400000"/>
              <a:gd name="connsiteX59" fmla="*/ 1758442 w 5400000"/>
              <a:gd name="connsiteY59" fmla="*/ 814137 h 5400000"/>
              <a:gd name="connsiteX60" fmla="*/ 1377442 w 5400000"/>
              <a:gd name="connsiteY60" fmla="*/ 433137 h 5400000"/>
              <a:gd name="connsiteX61" fmla="*/ 1108035 w 5400000"/>
              <a:gd name="connsiteY61" fmla="*/ 544730 h 5400000"/>
              <a:gd name="connsiteX62" fmla="*/ 1092345 w 5400000"/>
              <a:gd name="connsiteY62" fmla="*/ 563746 h 5400000"/>
              <a:gd name="connsiteX63" fmla="*/ 1073345 w 5400000"/>
              <a:gd name="connsiteY63" fmla="*/ 540719 h 5400000"/>
              <a:gd name="connsiteX64" fmla="*/ 803937 w 5400000"/>
              <a:gd name="connsiteY64" fmla="*/ 429126 h 5400000"/>
              <a:gd name="connsiteX65" fmla="*/ 655635 w 5400000"/>
              <a:gd name="connsiteY65" fmla="*/ 459067 h 5400000"/>
              <a:gd name="connsiteX66" fmla="*/ 598001 w 5400000"/>
              <a:gd name="connsiteY66" fmla="*/ 490350 h 5400000"/>
              <a:gd name="connsiteX67" fmla="*/ 598499 w 5400000"/>
              <a:gd name="connsiteY67" fmla="*/ 489747 h 5400000"/>
              <a:gd name="connsiteX68" fmla="*/ 663568 w 5400000"/>
              <a:gd name="connsiteY68" fmla="*/ 276726 h 5400000"/>
              <a:gd name="connsiteX69" fmla="*/ 551976 w 5400000"/>
              <a:gd name="connsiteY69" fmla="*/ 7319 h 54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5400000" h="5400000">
                <a:moveTo>
                  <a:pt x="543106" y="0"/>
                </a:moveTo>
                <a:lnTo>
                  <a:pt x="5400000" y="0"/>
                </a:lnTo>
                <a:lnTo>
                  <a:pt x="5400000" y="5400000"/>
                </a:lnTo>
                <a:lnTo>
                  <a:pt x="0" y="5400000"/>
                </a:lnTo>
                <a:lnTo>
                  <a:pt x="0" y="1094517"/>
                </a:lnTo>
                <a:lnTo>
                  <a:pt x="5140" y="1100747"/>
                </a:lnTo>
                <a:cubicBezTo>
                  <a:pt x="74087" y="1169694"/>
                  <a:pt x="169337" y="1212339"/>
                  <a:pt x="274547" y="1212339"/>
                </a:cubicBezTo>
                <a:cubicBezTo>
                  <a:pt x="379757" y="1212339"/>
                  <a:pt x="475007" y="1169694"/>
                  <a:pt x="543955" y="1100747"/>
                </a:cubicBezTo>
                <a:lnTo>
                  <a:pt x="550551" y="1092752"/>
                </a:lnTo>
                <a:lnTo>
                  <a:pt x="590917" y="1126057"/>
                </a:lnTo>
                <a:cubicBezTo>
                  <a:pt x="651725" y="1167138"/>
                  <a:pt x="725030" y="1191126"/>
                  <a:pt x="803937" y="1191126"/>
                </a:cubicBezTo>
                <a:cubicBezTo>
                  <a:pt x="909147" y="1191126"/>
                  <a:pt x="1004397" y="1148481"/>
                  <a:pt x="1073345" y="1079534"/>
                </a:cubicBezTo>
                <a:lnTo>
                  <a:pt x="1089035" y="1060517"/>
                </a:lnTo>
                <a:lnTo>
                  <a:pt x="1108035" y="1083545"/>
                </a:lnTo>
                <a:lnTo>
                  <a:pt x="1111315" y="1086251"/>
                </a:lnTo>
                <a:lnTo>
                  <a:pt x="1091993" y="1102193"/>
                </a:lnTo>
                <a:cubicBezTo>
                  <a:pt x="1023045" y="1171140"/>
                  <a:pt x="980400" y="1266390"/>
                  <a:pt x="980400" y="1371600"/>
                </a:cubicBezTo>
                <a:cubicBezTo>
                  <a:pt x="980400" y="1450508"/>
                  <a:pt x="1004388" y="1523813"/>
                  <a:pt x="1045469" y="1584621"/>
                </a:cubicBezTo>
                <a:lnTo>
                  <a:pt x="1089759" y="1638300"/>
                </a:lnTo>
                <a:lnTo>
                  <a:pt x="1045469" y="1691980"/>
                </a:lnTo>
                <a:cubicBezTo>
                  <a:pt x="1004388" y="1752788"/>
                  <a:pt x="980400" y="1826093"/>
                  <a:pt x="980400" y="1905000"/>
                </a:cubicBezTo>
                <a:cubicBezTo>
                  <a:pt x="980400" y="1983908"/>
                  <a:pt x="1004388" y="2057213"/>
                  <a:pt x="1045469" y="2118021"/>
                </a:cubicBezTo>
                <a:lnTo>
                  <a:pt x="1089759" y="2171700"/>
                </a:lnTo>
                <a:lnTo>
                  <a:pt x="1045469" y="2225380"/>
                </a:lnTo>
                <a:cubicBezTo>
                  <a:pt x="1004388" y="2286188"/>
                  <a:pt x="980400" y="2359493"/>
                  <a:pt x="980400" y="2438400"/>
                </a:cubicBezTo>
                <a:cubicBezTo>
                  <a:pt x="980400" y="2648820"/>
                  <a:pt x="1150980" y="2819400"/>
                  <a:pt x="1361400" y="2819400"/>
                </a:cubicBezTo>
                <a:cubicBezTo>
                  <a:pt x="1440308" y="2819400"/>
                  <a:pt x="1513613" y="2795412"/>
                  <a:pt x="1574421" y="2754331"/>
                </a:cubicBezTo>
                <a:lnTo>
                  <a:pt x="1628100" y="2710042"/>
                </a:lnTo>
                <a:lnTo>
                  <a:pt x="1681780" y="2754331"/>
                </a:lnTo>
                <a:cubicBezTo>
                  <a:pt x="1742588" y="2795412"/>
                  <a:pt x="1815893" y="2819400"/>
                  <a:pt x="1894800" y="2819400"/>
                </a:cubicBezTo>
                <a:cubicBezTo>
                  <a:pt x="1973708" y="2819400"/>
                  <a:pt x="2047013" y="2795412"/>
                  <a:pt x="2107821" y="2754331"/>
                </a:cubicBezTo>
                <a:lnTo>
                  <a:pt x="2161500" y="2710042"/>
                </a:lnTo>
                <a:lnTo>
                  <a:pt x="2215180" y="2754331"/>
                </a:lnTo>
                <a:cubicBezTo>
                  <a:pt x="2275988" y="2795412"/>
                  <a:pt x="2349293" y="2819400"/>
                  <a:pt x="2428200" y="2819400"/>
                </a:cubicBezTo>
                <a:cubicBezTo>
                  <a:pt x="2507108" y="2819400"/>
                  <a:pt x="2580413" y="2795412"/>
                  <a:pt x="2641221" y="2754331"/>
                </a:cubicBezTo>
                <a:lnTo>
                  <a:pt x="2694900" y="2710042"/>
                </a:lnTo>
                <a:lnTo>
                  <a:pt x="2748580" y="2754331"/>
                </a:lnTo>
                <a:cubicBezTo>
                  <a:pt x="2809388" y="2795412"/>
                  <a:pt x="2882693" y="2819400"/>
                  <a:pt x="2961600" y="2819400"/>
                </a:cubicBezTo>
                <a:cubicBezTo>
                  <a:pt x="3172020" y="2819400"/>
                  <a:pt x="3342600" y="2648820"/>
                  <a:pt x="3342600" y="2438400"/>
                </a:cubicBezTo>
                <a:cubicBezTo>
                  <a:pt x="3342600" y="2227980"/>
                  <a:pt x="3172020" y="2057400"/>
                  <a:pt x="2961600" y="2057400"/>
                </a:cubicBezTo>
                <a:cubicBezTo>
                  <a:pt x="2882693" y="2057400"/>
                  <a:pt x="2809388" y="2081388"/>
                  <a:pt x="2748580" y="2122469"/>
                </a:cubicBezTo>
                <a:lnTo>
                  <a:pt x="2694900" y="2166759"/>
                </a:lnTo>
                <a:lnTo>
                  <a:pt x="2641221" y="2122469"/>
                </a:lnTo>
                <a:cubicBezTo>
                  <a:pt x="2580413" y="2081388"/>
                  <a:pt x="2507108" y="2057400"/>
                  <a:pt x="2428200" y="2057400"/>
                </a:cubicBezTo>
                <a:cubicBezTo>
                  <a:pt x="2349293" y="2057400"/>
                  <a:pt x="2275988" y="2081388"/>
                  <a:pt x="2215180" y="2122469"/>
                </a:cubicBezTo>
                <a:lnTo>
                  <a:pt x="2161500" y="2166759"/>
                </a:lnTo>
                <a:lnTo>
                  <a:pt x="2107821" y="2122469"/>
                </a:lnTo>
                <a:cubicBezTo>
                  <a:pt x="2047013" y="2081388"/>
                  <a:pt x="1973708" y="2057400"/>
                  <a:pt x="1894800" y="2057400"/>
                </a:cubicBezTo>
                <a:cubicBezTo>
                  <a:pt x="1815893" y="2057400"/>
                  <a:pt x="1742588" y="2081388"/>
                  <a:pt x="1681780" y="2122469"/>
                </a:cubicBezTo>
                <a:lnTo>
                  <a:pt x="1656351" y="2143450"/>
                </a:lnTo>
                <a:lnTo>
                  <a:pt x="1677331" y="2118021"/>
                </a:lnTo>
                <a:cubicBezTo>
                  <a:pt x="1718413" y="2057213"/>
                  <a:pt x="1742400" y="1983908"/>
                  <a:pt x="1742400" y="1905000"/>
                </a:cubicBezTo>
                <a:cubicBezTo>
                  <a:pt x="1742400" y="1826093"/>
                  <a:pt x="1718413" y="1752788"/>
                  <a:pt x="1677331" y="1691980"/>
                </a:cubicBezTo>
                <a:lnTo>
                  <a:pt x="1633042" y="1638300"/>
                </a:lnTo>
                <a:lnTo>
                  <a:pt x="1677331" y="1584621"/>
                </a:lnTo>
                <a:cubicBezTo>
                  <a:pt x="1718413" y="1523813"/>
                  <a:pt x="1742400" y="1450508"/>
                  <a:pt x="1742400" y="1371600"/>
                </a:cubicBezTo>
                <a:cubicBezTo>
                  <a:pt x="1742400" y="1266390"/>
                  <a:pt x="1699755" y="1171140"/>
                  <a:pt x="1630808" y="1102193"/>
                </a:cubicBezTo>
                <a:lnTo>
                  <a:pt x="1627528" y="1099487"/>
                </a:lnTo>
                <a:lnTo>
                  <a:pt x="1646850" y="1083545"/>
                </a:lnTo>
                <a:cubicBezTo>
                  <a:pt x="1715797" y="1014597"/>
                  <a:pt x="1758442" y="919347"/>
                  <a:pt x="1758442" y="814137"/>
                </a:cubicBezTo>
                <a:cubicBezTo>
                  <a:pt x="1758442" y="603717"/>
                  <a:pt x="1587862" y="433137"/>
                  <a:pt x="1377442" y="433137"/>
                </a:cubicBezTo>
                <a:cubicBezTo>
                  <a:pt x="1272232" y="433137"/>
                  <a:pt x="1176982" y="475782"/>
                  <a:pt x="1108035" y="544730"/>
                </a:cubicBezTo>
                <a:lnTo>
                  <a:pt x="1092345" y="563746"/>
                </a:lnTo>
                <a:lnTo>
                  <a:pt x="1073345" y="540719"/>
                </a:lnTo>
                <a:cubicBezTo>
                  <a:pt x="1004397" y="471771"/>
                  <a:pt x="909147" y="429126"/>
                  <a:pt x="803937" y="429126"/>
                </a:cubicBezTo>
                <a:cubicBezTo>
                  <a:pt x="751332" y="429126"/>
                  <a:pt x="701217" y="439787"/>
                  <a:pt x="655635" y="459067"/>
                </a:cubicBezTo>
                <a:lnTo>
                  <a:pt x="598001" y="490350"/>
                </a:lnTo>
                <a:lnTo>
                  <a:pt x="598499" y="489747"/>
                </a:lnTo>
                <a:cubicBezTo>
                  <a:pt x="639580" y="428939"/>
                  <a:pt x="663568" y="355634"/>
                  <a:pt x="663568" y="276726"/>
                </a:cubicBezTo>
                <a:cubicBezTo>
                  <a:pt x="663568" y="171516"/>
                  <a:pt x="620923" y="76266"/>
                  <a:pt x="551976" y="7319"/>
                </a:cubicBezTo>
                <a:close/>
              </a:path>
            </a:pathLst>
          </a:custGeom>
          <a:solidFill>
            <a:srgbClr val="595959">
              <a:alpha val="80000"/>
            </a:srgbClr>
          </a:solidFill>
          <a:ln>
            <a:noFill/>
          </a:ln>
          <a:effectLst>
            <a:glow rad="228600">
              <a:schemeClr val="bg2">
                <a:lumMod val="50000"/>
                <a:alpha val="54000"/>
              </a:schemeClr>
            </a:glo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State: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5,6</m:t>
                        </m:r>
                      </m:e>
                    </m:d>
                  </m:oMath>
                </a14:m>
                <a:r>
                  <a:rPr lang="en-US" dirty="0"/>
                  <a:t> position</a:t>
                </a:r>
              </a:p>
              <a:p>
                <a:endParaRPr lang="en-US" dirty="0"/>
              </a:p>
              <a:p>
                <a:r>
                  <a:rPr lang="en-US" dirty="0"/>
                  <a:t>Actions: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6832"/>
                <a:ext cx="3048000" cy="1754326"/>
              </a:xfrm>
              <a:prstGeom prst="rect">
                <a:avLst/>
              </a:prstGeom>
              <a:blipFill>
                <a:blip r:embed="rId4"/>
                <a:stretch>
                  <a:fillRect l="-81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V="1">
            <a:off x="2671861" y="1482195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38601" y="171565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62200" y="1401617"/>
            <a:ext cx="628072" cy="628072"/>
          </a:xfrm>
          <a:prstGeom prst="ellipse">
            <a:avLst/>
          </a:prstGeom>
          <a:noFill/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/>
          <p:cNvSpPr/>
          <p:nvPr/>
        </p:nvSpPr>
        <p:spPr>
          <a:xfrm>
            <a:off x="7562272" y="254230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312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5075380" y="343572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841920" y="114300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075380" y="1408057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400965" y="1154545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6446981" y="1154545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153728" y="891068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153728" y="1417293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158105" y="1949115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941293" y="274320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467280" y="274320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400965" y="2747817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239000" y="2509740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234139" y="3048001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229278" y="3586262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7224417" y="4124523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8610601" y="381000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8077201" y="381000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7543801" y="381000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400965" y="489758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941293" y="489758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467280" y="489758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010401" y="489758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7534080" y="489758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8077201" y="4897583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619837" y="4906819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9162473" y="4916055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9936020" y="3586262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9936020" y="4124523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9936020" y="4662784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601856" y="4124523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5386868" y="382847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5920268" y="3821546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6453668" y="381462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7234139" y="5181601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8848436" y="5181601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7534080" y="274320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7772400" y="1426529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7790630" y="1949115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7550729" y="57958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8077201" y="579580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9372600" y="2475104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9372600" y="1949115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9148376" y="166254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8614976" y="166254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8081576" y="1662542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9693324" y="574958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9157612" y="574958"/>
            <a:ext cx="466921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8848436" y="343572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8848436" y="881832"/>
            <a:ext cx="0" cy="46692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366572" y="530893"/>
            <a:ext cx="2133600" cy="147732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Optimal policy: </a:t>
            </a:r>
          </a:p>
          <a:p>
            <a:r>
              <a:rPr lang="en-US" dirty="0"/>
              <a:t>spend as little time in the maze as possible, get to the goal.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0760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8046765-69B5-6046-8430-EA2F7090C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10800" y="304800"/>
              <a:ext cx="5400000" cy="54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71252769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3308279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29383267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769646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8143984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2507266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6281363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7416358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7873231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6258223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326" r="-895349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49" t="-2326" r="-400000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9524" t="-2326" r="-309524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3023" t="-2326" r="-202326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11905" t="-2326" r="-107143" b="-8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2326" r="-4651" b="-8930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93673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104762" r="-895349" b="-8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2381" t="-104762" r="-816667" b="-8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7674" t="-104762" r="-697674" b="-8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4762" t="-104762" r="-614286" b="-8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3023" t="-104762" r="-202326" b="-8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55796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00000" r="-895349" b="-69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7674" t="-200000" r="-697674" b="-69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49" t="-200000" r="-400000" b="-69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9524" t="-200000" r="-309524" b="-69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3023" t="-200000" r="-202326" b="-69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11905" t="-200000" r="-107143" b="-69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59425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7674" t="-307143" r="-697674" b="-61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49" t="-307143" r="-400000" b="-61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11905" t="-307143" r="-107143" b="-61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2542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2381" t="-397674" r="-816667" b="-4976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7674" t="-397674" r="-697674" b="-4976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4762" t="-397674" r="-614286" b="-4976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5349" t="-397674" r="-500000" b="-4976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49" t="-397674" r="-400000" b="-4976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11905" t="-397674" r="-107143" b="-4976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4872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5349" t="-497674" r="-500000" b="-3976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68461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2381" t="-611905" r="-816667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7674" t="-611905" r="-697674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4762" t="-611905" r="-614286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5349" t="-611905" r="-500000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49" t="-611905" r="-400000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9524" t="-611905" r="-309524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3023" t="-611905" r="-202326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611905" r="-4651" b="-3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0878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2381" t="-695349" r="-81666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5349" t="-695349" r="-5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695349" r="-465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0134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2381" t="-814286" r="-816667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7674" t="-814286" r="-697674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4762" t="-814286" r="-614286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5349" t="-814286" r="-500000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49" t="-814286" r="-400000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09524" t="-814286" r="-309524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3023" t="-814286" r="-202326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11905" t="-814286" r="-107143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14286" r="-4651" b="-1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96439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5349" t="-893023" r="-500000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3023" t="-893023" r="-202326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0698" t="-893023" r="-465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8279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73562" y="530894"/>
                <a:ext cx="2426611" cy="203132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Value Function:</a:t>
                </a:r>
              </a:p>
              <a:p>
                <a:r>
                  <a:rPr lang="en-US" dirty="0"/>
                  <a:t>Discounted reward if starting from this state. </a:t>
                </a:r>
              </a:p>
              <a:p>
                <a:endParaRPr lang="en-US" dirty="0"/>
              </a:p>
              <a:p>
                <a:r>
                  <a:rPr lang="en-US" dirty="0"/>
                  <a:t>Numbers shown for discount factor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562" y="530894"/>
                <a:ext cx="2426611" cy="2031325"/>
              </a:xfrm>
              <a:prstGeom prst="rect">
                <a:avLst/>
              </a:prstGeom>
              <a:blipFill>
                <a:blip r:embed="rId4"/>
                <a:stretch>
                  <a:fillRect l="-1026" t="-610" b="-2439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07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3C48BE-4FAD-4440-B704-828871732442}"/>
                  </a:ext>
                </a:extLst>
              </p:cNvPr>
              <p:cNvSpPr txBox="1"/>
              <p:nvPr/>
            </p:nvSpPr>
            <p:spPr>
              <a:xfrm>
                <a:off x="5029201" y="1066801"/>
                <a:ext cx="4753767" cy="2585323"/>
              </a:xfrm>
              <a:prstGeom prst="rect">
                <a:avLst/>
              </a:prstGeom>
              <a:solidFill>
                <a:schemeClr val="bg1"/>
              </a:solidFill>
              <a:ln w="762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Reward: </a:t>
                </a:r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−1,0,+1</m:t>
                    </m:r>
                  </m:oMath>
                </a14:m>
                <a:r>
                  <a:rPr lang="en-US" b="0" dirty="0"/>
                  <a:t> lose/tie/win (seen only on final move)</a:t>
                </a:r>
              </a:p>
              <a:p>
                <a:r>
                  <a:rPr lang="en-US" dirty="0"/>
                  <a:t>State:</a:t>
                </a:r>
              </a:p>
              <a:p>
                <a:r>
                  <a:rPr lang="en-US" b="0" dirty="0"/>
                  <a:t>Current positions of X’s and O’s on board</a:t>
                </a:r>
              </a:p>
              <a:p>
                <a:r>
                  <a:rPr lang="en-US" dirty="0"/>
                  <a:t>Policy:</a:t>
                </a:r>
                <a:r>
                  <a:rPr lang="en-US" b="0" dirty="0"/>
                  <a:t> </a:t>
                </a:r>
              </a:p>
              <a:p>
                <a:r>
                  <a:rPr lang="en-US" b="0" dirty="0"/>
                  <a:t>What moves to make in given position?</a:t>
                </a:r>
              </a:p>
              <a:p>
                <a:r>
                  <a:rPr lang="en-US" dirty="0"/>
                  <a:t>Value function: </a:t>
                </a:r>
              </a:p>
              <a:p>
                <a:r>
                  <a:rPr lang="en-US" b="0" dirty="0"/>
                  <a:t>predict future reward given state.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3C48BE-4FAD-4440-B704-828871732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1" y="1066801"/>
                <a:ext cx="4753767" cy="2585323"/>
              </a:xfrm>
              <a:prstGeom prst="rect">
                <a:avLst/>
              </a:prstGeom>
              <a:blipFill>
                <a:blip r:embed="rId3"/>
                <a:stretch>
                  <a:fillRect l="-262" b="-952"/>
                </a:stretch>
              </a:blipFill>
              <a:ln w="7620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B0881F-2535-B349-A729-B01CD5438727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2203200"/>
          <a:ext cx="216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95945722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59054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7747123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X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942151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X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34726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9497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77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2C3A36-6EC5-054C-9B58-9F36454659EE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2203200"/>
          <a:ext cx="216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95945722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5905420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7747123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X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42151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X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4726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97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E34A13-6D44-5245-B42C-C1C6EFCDCA0A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304800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594572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90542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774712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9421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3472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949761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A8E3030-564B-2648-B6FC-5F4FEBF4A8E6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524000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594572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90542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774712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9421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3472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949761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A17EBC0-F17C-A043-8727-731639C137C9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2743200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594572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90542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774712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9421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3472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949761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C00903A-4F85-254B-84A1-83F59E77DFA5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3962400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594572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90542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774712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9421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3472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949761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F65B88-2E48-AA4E-A2BE-430E27BE153A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5181600"/>
          <a:ext cx="10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594572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90542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774712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9421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3472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9497611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2C121F-583A-894E-8C63-ED6EBF39741B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3836400" y="844800"/>
            <a:ext cx="1116600" cy="24384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92EA33-1909-C640-86BD-54602F5208EC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3836400" y="2064000"/>
            <a:ext cx="1116600" cy="1219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36A341-2FEC-B144-A879-98504CC43B7E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>
            <a:off x="3836400" y="3283200"/>
            <a:ext cx="1116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C219D5-3985-E946-ABCD-A0BD96C128D2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>
            <a:off x="3836400" y="3283200"/>
            <a:ext cx="1116600" cy="1219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DA555B-D4B7-1C4F-8A99-8041AFC2E39E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3836400" y="3283200"/>
            <a:ext cx="1116600" cy="24384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BB1BA3C-083B-8847-9DF6-477D63CC7F24}"/>
                  </a:ext>
                </a:extLst>
              </p:cNvPr>
              <p:cNvSpPr txBox="1"/>
              <p:nvPr/>
            </p:nvSpPr>
            <p:spPr>
              <a:xfrm>
                <a:off x="2213203" y="4363201"/>
                <a:ext cx="1143000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BB1BA3C-083B-8847-9DF6-477D63CC7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203" y="4363201"/>
                <a:ext cx="1143000" cy="584775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6D248D-C37B-1D4F-B87E-3574CE104F56}"/>
                  </a:ext>
                </a:extLst>
              </p:cNvPr>
              <p:cNvSpPr txBox="1"/>
              <p:nvPr/>
            </p:nvSpPr>
            <p:spPr>
              <a:xfrm>
                <a:off x="4921500" y="6261601"/>
                <a:ext cx="1143000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6D248D-C37B-1D4F-B87E-3574CE104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500" y="6261601"/>
                <a:ext cx="1143000" cy="584775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CC4875AD-99A0-A54E-AF91-59ABAE5C678A}"/>
              </a:ext>
            </a:extLst>
          </p:cNvPr>
          <p:cNvSpPr txBox="1"/>
          <p:nvPr/>
        </p:nvSpPr>
        <p:spPr>
          <a:xfrm>
            <a:off x="6716623" y="-21771"/>
            <a:ext cx="168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Win Prob.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>
                <a:extLst>
                  <a:ext uri="{FF2B5EF4-FFF2-40B4-BE49-F238E27FC236}">
                    <a16:creationId xmlns:a16="http://schemas.microsoft.com/office/drawing/2014/main" id="{C84F0232-5C6D-F149-82CD-7C865C185BA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82800" y="304800"/>
              <a:ext cx="927600" cy="5956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27600">
                      <a:extLst>
                        <a:ext uri="{9D8B030D-6E8A-4147-A177-3AD203B41FA5}">
                          <a16:colId xmlns:a16="http://schemas.microsoft.com/office/drawing/2014/main" val="4004613256"/>
                        </a:ext>
                      </a:extLst>
                    </a:gridCol>
                  </a:tblGrid>
                  <a:tr h="11913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8688670"/>
                      </a:ext>
                    </a:extLst>
                  </a:tr>
                  <a:tr h="11913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126640"/>
                      </a:ext>
                    </a:extLst>
                  </a:tr>
                  <a:tr h="11913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4137847"/>
                      </a:ext>
                    </a:extLst>
                  </a:tr>
                  <a:tr h="11913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5344188"/>
                      </a:ext>
                    </a:extLst>
                  </a:tr>
                  <a:tr h="11913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187790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>
                <a:extLst>
                  <a:ext uri="{FF2B5EF4-FFF2-40B4-BE49-F238E27FC236}">
                    <a16:creationId xmlns:a16="http://schemas.microsoft.com/office/drawing/2014/main" id="{C84F0232-5C6D-F149-82CD-7C865C185BA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82800" y="304800"/>
              <a:ext cx="927600" cy="5956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27600">
                      <a:extLst>
                        <a:ext uri="{9D8B030D-6E8A-4147-A177-3AD203B41FA5}">
                          <a16:colId xmlns:a16="http://schemas.microsoft.com/office/drawing/2014/main" val="4004613256"/>
                        </a:ext>
                      </a:extLst>
                    </a:gridCol>
                  </a:tblGrid>
                  <a:tr h="119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8688670"/>
                      </a:ext>
                    </a:extLst>
                  </a:tr>
                  <a:tr h="119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100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126640"/>
                      </a:ext>
                    </a:extLst>
                  </a:tr>
                  <a:tr h="119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20000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137847"/>
                      </a:ext>
                    </a:extLst>
                  </a:tr>
                  <a:tr h="119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300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344188"/>
                      </a:ext>
                    </a:extLst>
                  </a:tr>
                  <a:tr h="119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87790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7039F97-85D5-6741-BBE0-2A8E6E82C94F}"/>
              </a:ext>
            </a:extLst>
          </p:cNvPr>
          <p:cNvSpPr txBox="1"/>
          <p:nvPr/>
        </p:nvSpPr>
        <p:spPr>
          <a:xfrm>
            <a:off x="7108646" y="762001"/>
            <a:ext cx="3429000" cy="2554545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values are 0/0.5/1 initially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At each turn choose move with highest win prob.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Update table entries based on the game outcome.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Value function will eventually represent true win probabilities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BE4022-3C94-774E-9DF0-43C8A63AB397}"/>
              </a:ext>
            </a:extLst>
          </p:cNvPr>
          <p:cNvSpPr txBox="1"/>
          <p:nvPr/>
        </p:nvSpPr>
        <p:spPr>
          <a:xfrm>
            <a:off x="7060200" y="4131094"/>
            <a:ext cx="32545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Alternatively: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pick with probability proportional to win </a:t>
            </a:r>
            <a:r>
              <a:rPr lang="en-US" sz="1600" dirty="0" err="1"/>
              <a:t>prob</a:t>
            </a: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make a random choice.</a:t>
            </a:r>
          </a:p>
          <a:p>
            <a:r>
              <a:rPr lang="en-US" sz="1600" dirty="0"/>
              <a:t>Update strategy is critical: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Necessary for convergence to optimal strategy.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Some will work better than others.</a:t>
            </a:r>
          </a:p>
        </p:txBody>
      </p:sp>
    </p:spTree>
    <p:extLst>
      <p:ext uri="{BB962C8B-B14F-4D97-AF65-F5344CB8AC3E}">
        <p14:creationId xmlns:p14="http://schemas.microsoft.com/office/powerpoint/2010/main" val="189758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/>
          <a:lstStyle/>
          <a:p>
            <a:r>
              <a:rPr lang="en-US" dirty="0"/>
              <a:t>Markov Decision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30083" y="1447800"/>
                <a:ext cx="7704667" cy="2743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Completely specified by a distribution: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sepChr m:val="∣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“What is the next state and reward given current state and action?”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30083" y="1447800"/>
                <a:ext cx="7704667" cy="2743200"/>
              </a:xfrm>
              <a:blipFill>
                <a:blip r:embed="rId2"/>
                <a:stretch>
                  <a:fillRect l="-1812" t="-2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8D4CE0-D1A6-2142-B567-BFBDB6BBEB6D}"/>
              </a:ext>
            </a:extLst>
          </p:cNvPr>
          <p:cNvSpPr/>
          <p:nvPr/>
        </p:nvSpPr>
        <p:spPr>
          <a:xfrm>
            <a:off x="2772567" y="4267200"/>
            <a:ext cx="7010400" cy="190500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Planning:</a:t>
            </a:r>
            <a:r>
              <a:rPr lang="en-US" b="0" dirty="0">
                <a:solidFill>
                  <a:schemeClr val="tx1"/>
                </a:solidFill>
              </a:rPr>
              <a:t> given an MDP, compute optimal policy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Learning: </a:t>
            </a:r>
            <a:r>
              <a:rPr lang="en-US" b="0" dirty="0">
                <a:solidFill>
                  <a:schemeClr val="tx1"/>
                </a:solidFill>
              </a:rPr>
              <a:t>don’t know the MDP, learn a strategy.</a:t>
            </a:r>
          </a:p>
        </p:txBody>
      </p:sp>
    </p:spTree>
    <p:extLst>
      <p:ext uri="{BB962C8B-B14F-4D97-AF65-F5344CB8AC3E}">
        <p14:creationId xmlns:p14="http://schemas.microsoft.com/office/powerpoint/2010/main" val="300728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/>
          <a:lstStyle/>
          <a:p>
            <a:r>
              <a:rPr lang="en-US" dirty="0"/>
              <a:t>Markov Decision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90800" y="1143000"/>
                <a:ext cx="7704667" cy="35052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0" dirty="0"/>
                  <a:t>Given complete knowledge of MDP: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sepChr m:val="∣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The optimal policy is deterministic - select optimal action in each state.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But… agent doesn’t know the underlying MDP.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Needs to perform trial-and-error, interact with environment.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… and not lose too much reward along the way.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0800" y="1143000"/>
                <a:ext cx="7704667" cy="3505200"/>
              </a:xfrm>
              <a:blipFill>
                <a:blip r:embed="rId2"/>
                <a:stretch>
                  <a:fillRect l="-988" t="-28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7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/>
          <a:lstStyle/>
          <a:p>
            <a:r>
              <a:rPr lang="en-US" dirty="0"/>
              <a:t>Learning Optimal Policies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90800" y="1143000"/>
                <a:ext cx="7704667" cy="4800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dirty="0"/>
                  <a:t>We want to maximize (discounted) revenue.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Optimal policy: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is an action 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0800" y="1143000"/>
                <a:ext cx="7704667" cy="4800600"/>
              </a:xfrm>
              <a:blipFill>
                <a:blip r:embed="rId2"/>
                <a:stretch>
                  <a:fillRect l="-1977" t="-1583" r="-1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Line Callout 1 4">
            <a:extLst>
              <a:ext uri="{FF2B5EF4-FFF2-40B4-BE49-F238E27FC236}">
                <a16:creationId xmlns:a16="http://schemas.microsoft.com/office/drawing/2014/main" id="{E42D3F4C-576B-7940-8AB4-A1A7B8E48331}"/>
              </a:ext>
            </a:extLst>
          </p:cNvPr>
          <p:cNvSpPr/>
          <p:nvPr/>
        </p:nvSpPr>
        <p:spPr>
          <a:xfrm>
            <a:off x="3733800" y="3581400"/>
            <a:ext cx="1295400" cy="762000"/>
          </a:xfrm>
          <a:prstGeom prst="borderCallout1">
            <a:avLst>
              <a:gd name="adj1" fmla="val -679"/>
              <a:gd name="adj2" fmla="val 50827"/>
              <a:gd name="adj3" fmla="val -77214"/>
              <a:gd name="adj4" fmla="val 94776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Value now</a:t>
            </a:r>
          </a:p>
        </p:txBody>
      </p:sp>
      <p:sp>
        <p:nvSpPr>
          <p:cNvPr id="6" name="Line Callout 1 5">
            <a:extLst>
              <a:ext uri="{FF2B5EF4-FFF2-40B4-BE49-F238E27FC236}">
                <a16:creationId xmlns:a16="http://schemas.microsoft.com/office/drawing/2014/main" id="{03E5D278-01C8-6C49-A471-A6A2FB690C1C}"/>
              </a:ext>
            </a:extLst>
          </p:cNvPr>
          <p:cNvSpPr/>
          <p:nvPr/>
        </p:nvSpPr>
        <p:spPr>
          <a:xfrm>
            <a:off x="5257800" y="3581400"/>
            <a:ext cx="1295400" cy="762000"/>
          </a:xfrm>
          <a:prstGeom prst="borderCallout1">
            <a:avLst>
              <a:gd name="adj1" fmla="val -679"/>
              <a:gd name="adj2" fmla="val 50827"/>
              <a:gd name="adj3" fmla="val -78357"/>
              <a:gd name="adj4" fmla="val 6586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Reward now</a:t>
            </a:r>
          </a:p>
        </p:txBody>
      </p:sp>
      <p:sp>
        <p:nvSpPr>
          <p:cNvPr id="7" name="Line Callout 1 6">
            <a:extLst>
              <a:ext uri="{FF2B5EF4-FFF2-40B4-BE49-F238E27FC236}">
                <a16:creationId xmlns:a16="http://schemas.microsoft.com/office/drawing/2014/main" id="{BFCCAC53-2B76-0243-B632-3FCD89AFC3D1}"/>
              </a:ext>
            </a:extLst>
          </p:cNvPr>
          <p:cNvSpPr/>
          <p:nvPr/>
        </p:nvSpPr>
        <p:spPr>
          <a:xfrm>
            <a:off x="6781800" y="3581400"/>
            <a:ext cx="1295400" cy="762000"/>
          </a:xfrm>
          <a:prstGeom prst="borderCallout1">
            <a:avLst>
              <a:gd name="adj1" fmla="val -679"/>
              <a:gd name="adj2" fmla="val 50827"/>
              <a:gd name="adj3" fmla="val -78357"/>
              <a:gd name="adj4" fmla="val 6586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Value later</a:t>
            </a:r>
          </a:p>
        </p:txBody>
      </p:sp>
      <p:sp>
        <p:nvSpPr>
          <p:cNvPr id="8" name="Line Callout 1 7">
            <a:extLst>
              <a:ext uri="{FF2B5EF4-FFF2-40B4-BE49-F238E27FC236}">
                <a16:creationId xmlns:a16="http://schemas.microsoft.com/office/drawing/2014/main" id="{9D0E251B-A266-1242-A6D3-51A5CBF8A346}"/>
              </a:ext>
            </a:extLst>
          </p:cNvPr>
          <p:cNvSpPr/>
          <p:nvPr/>
        </p:nvSpPr>
        <p:spPr>
          <a:xfrm>
            <a:off x="5171681" y="6048101"/>
            <a:ext cx="1295400" cy="762000"/>
          </a:xfrm>
          <a:prstGeom prst="borderCallout1">
            <a:avLst>
              <a:gd name="adj1" fmla="val -679"/>
              <a:gd name="adj2" fmla="val 50827"/>
              <a:gd name="adj3" fmla="val -78357"/>
              <a:gd name="adj4" fmla="val 6586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Reward now</a:t>
            </a:r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AAC3D6FC-BFCF-2749-89EA-7ED9098C9493}"/>
              </a:ext>
            </a:extLst>
          </p:cNvPr>
          <p:cNvSpPr/>
          <p:nvPr/>
        </p:nvSpPr>
        <p:spPr>
          <a:xfrm>
            <a:off x="6755674" y="6051566"/>
            <a:ext cx="1295400" cy="762000"/>
          </a:xfrm>
          <a:prstGeom prst="borderCallout1">
            <a:avLst>
              <a:gd name="adj1" fmla="val -679"/>
              <a:gd name="adj2" fmla="val 50827"/>
              <a:gd name="adj3" fmla="val -78357"/>
              <a:gd name="adj4" fmla="val 6586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Value later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Line Callout 1 9">
                <a:extLst>
                  <a:ext uri="{FF2B5EF4-FFF2-40B4-BE49-F238E27FC236}">
                    <a16:creationId xmlns:a16="http://schemas.microsoft.com/office/drawing/2014/main" id="{CC2BE3F3-09B0-3944-9A3B-C1E0C0867933}"/>
                  </a:ext>
                </a:extLst>
              </p:cNvPr>
              <p:cNvSpPr/>
              <p:nvPr/>
            </p:nvSpPr>
            <p:spPr>
              <a:xfrm>
                <a:off x="8561904" y="4191000"/>
                <a:ext cx="1962163" cy="1600200"/>
              </a:xfrm>
              <a:prstGeom prst="borderCallout1">
                <a:avLst>
                  <a:gd name="adj1" fmla="val 27893"/>
                  <a:gd name="adj2" fmla="val -938"/>
                  <a:gd name="adj3" fmla="val 53616"/>
                  <a:gd name="adj4" fmla="val -39150"/>
                </a:avLst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: next state given current state and action</a:t>
                </a:r>
              </a:p>
            </p:txBody>
          </p:sp>
        </mc:Choice>
        <mc:Fallback xmlns="">
          <p:sp>
            <p:nvSpPr>
              <p:cNvPr id="10" name="Line Callout 1 9">
                <a:extLst>
                  <a:ext uri="{FF2B5EF4-FFF2-40B4-BE49-F238E27FC236}">
                    <a16:creationId xmlns:a16="http://schemas.microsoft.com/office/drawing/2014/main" id="{CC2BE3F3-09B0-3944-9A3B-C1E0C0867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904" y="4191000"/>
                <a:ext cx="1962163" cy="1600200"/>
              </a:xfrm>
              <a:prstGeom prst="borderCallout1">
                <a:avLst>
                  <a:gd name="adj1" fmla="val 27893"/>
                  <a:gd name="adj2" fmla="val -938"/>
                  <a:gd name="adj3" fmla="val 53616"/>
                  <a:gd name="adj4" fmla="val -39150"/>
                </a:avLst>
              </a:prstGeom>
              <a:blipFill>
                <a:blip r:embed="rId3"/>
                <a:stretch>
                  <a:fillRect r="-3670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56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/>
          <a:lstStyle/>
          <a:p>
            <a:r>
              <a:rPr lang="en-US" dirty="0"/>
              <a:t>Learning Optimal Policies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90800" y="1143000"/>
                <a:ext cx="7704667" cy="4800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Optimal policy: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is an action 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Its value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could identify 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if we knew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We don’t</a:t>
                </a:r>
                <a:r>
                  <a:rPr lang="en-US" dirty="0"/>
                  <a:t>. Cannot choose optimal actions.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0800" y="1143000"/>
                <a:ext cx="7704667" cy="4800600"/>
              </a:xfrm>
              <a:blipFill>
                <a:blip r:embed="rId2"/>
                <a:stretch>
                  <a:fillRect l="-1977" t="-1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2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/>
          <a:lstStyle/>
          <a:p>
            <a:r>
              <a:rPr lang="en-US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90800" y="1143000"/>
                <a:ext cx="7704667" cy="48006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Define: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is the utility we obtain if we take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and then follow the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from then on.</a:t>
                </a:r>
              </a:p>
              <a:p>
                <a:pPr marL="0" indent="0">
                  <a:buNone/>
                </a:pPr>
                <a:r>
                  <a:rPr lang="en-US" b="1" dirty="0"/>
                  <a:t>Optimal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b="1" dirty="0"/>
                  <a:t> function: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is the utility we obtain if we take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and then follow the optimal policy from then 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0800" y="1143000"/>
                <a:ext cx="7704667" cy="4800600"/>
              </a:xfrm>
              <a:blipFill>
                <a:blip r:embed="rId2"/>
                <a:stretch>
                  <a:fillRect l="-1812" t="-2111" r="-1153" b="-29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6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/>
          <a:lstStyle/>
          <a:p>
            <a:r>
              <a:rPr lang="en-US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90800" y="1143000"/>
                <a:ext cx="7704667" cy="4800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are very similar: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</m:e>
                      </m:eqAr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0800" y="1143000"/>
                <a:ext cx="7704667" cy="4800600"/>
              </a:xfrm>
              <a:blipFill>
                <a:blip r:embed="rId2"/>
                <a:stretch>
                  <a:fillRect l="-1977" t="-1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1 6"/>
              <p:cNvSpPr/>
              <p:nvPr/>
            </p:nvSpPr>
            <p:spPr>
              <a:xfrm>
                <a:off x="8077200" y="3276600"/>
                <a:ext cx="1066800" cy="381000"/>
              </a:xfrm>
              <a:prstGeom prst="borderCallout1">
                <a:avLst>
                  <a:gd name="adj1" fmla="val 100855"/>
                  <a:gd name="adj2" fmla="val 28321"/>
                  <a:gd name="adj3" fmla="val 154606"/>
                  <a:gd name="adj4" fmla="val -14085"/>
                </a:avLst>
              </a:prstGeom>
              <a:solidFill>
                <a:schemeClr val="bg1"/>
              </a:solidFill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Line Callout 1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3276600"/>
                <a:ext cx="1066800" cy="381000"/>
              </a:xfrm>
              <a:prstGeom prst="borderCallout1">
                <a:avLst>
                  <a:gd name="adj1" fmla="val 100855"/>
                  <a:gd name="adj2" fmla="val 28321"/>
                  <a:gd name="adj3" fmla="val 154606"/>
                  <a:gd name="adj4" fmla="val -14085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81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Q-Learning – Value Iteration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43200" y="3657601"/>
                <a:ext cx="7696200" cy="2257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Key observation: 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sz="20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/>
                  <a:t> always.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In other words – we always underestimate the optimal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values.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They always increase at every iteration, thus we converge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… and in particular to an optimal policy!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657601"/>
                <a:ext cx="7696200" cy="2257093"/>
              </a:xfrm>
              <a:prstGeom prst="rect">
                <a:avLst/>
              </a:prstGeom>
              <a:blipFill>
                <a:blip r:embed="rId2"/>
                <a:stretch>
                  <a:fillRect l="-824" t="-1124" r="-165" b="-39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Start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=0,…,∞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Select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Receive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blipFill>
                <a:blip r:embed="rId3"/>
                <a:stretch>
                  <a:fillRect l="-15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37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Q-Learning – Value Iteration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97769" y="3657600"/>
                <a:ext cx="8273716" cy="2257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Problem: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We ignore current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value in computation. </a:t>
                </a:r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/>
                  <a:t> can be stochastic, as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One bad experience can result in bad underestimate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769" y="3657600"/>
                <a:ext cx="8273716" cy="2257093"/>
              </a:xfrm>
              <a:prstGeom prst="rect">
                <a:avLst/>
              </a:prstGeom>
              <a:blipFill>
                <a:blip r:embed="rId2"/>
                <a:stretch>
                  <a:fillRect l="-767" t="-1685" b="-39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Start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=0,…,∞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Select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Receive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>
                    <a:solidFill>
                      <a:srgbClr val="FF0000"/>
                    </a:solidFill>
                  </a:rPr>
                  <a:t>Set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blipFill>
                <a:blip r:embed="rId3"/>
                <a:stretch>
                  <a:fillRect l="-15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59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Q-Learning – Value Iteration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13812" y="3652393"/>
                <a:ext cx="8273716" cy="2776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Solution: </a:t>
                </a:r>
              </a:p>
              <a:p>
                <a:endParaRPr lang="en-US" dirty="0"/>
              </a:p>
              <a:p>
                <a:r>
                  <a:rPr lang="en-US" dirty="0"/>
                  <a:t>Maintain value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en-US" dirty="0"/>
                  <a:t> stable as we observe it more. </a:t>
                </a:r>
              </a:p>
              <a:p>
                <a:endParaRPr lang="en-US" dirty="0"/>
              </a:p>
              <a:p>
                <a:r>
                  <a:rPr lang="en-US" dirty="0"/>
                  <a:t>Change update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←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̂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12" y="3652393"/>
                <a:ext cx="8273716" cy="2776209"/>
              </a:xfrm>
              <a:prstGeom prst="rect">
                <a:avLst/>
              </a:prstGeom>
              <a:blipFill>
                <a:blip r:embed="rId2"/>
                <a:stretch>
                  <a:fillRect l="-613" t="-909" b="-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Left Arrow Callout 5">
                <a:extLst>
                  <a:ext uri="{FF2B5EF4-FFF2-40B4-BE49-F238E27FC236}">
                    <a16:creationId xmlns:a16="http://schemas.microsoft.com/office/drawing/2014/main" id="{CE433CC2-2F5F-284E-B3AE-1E04041AE15A}"/>
                  </a:ext>
                </a:extLst>
              </p:cNvPr>
              <p:cNvSpPr/>
              <p:nvPr/>
            </p:nvSpPr>
            <p:spPr>
              <a:xfrm>
                <a:off x="7239001" y="5943600"/>
                <a:ext cx="2467767" cy="609600"/>
              </a:xfrm>
              <a:prstGeom prst="leftArrowCallout">
                <a:avLst>
                  <a:gd name="adj1" fmla="val 25000"/>
                  <a:gd name="adj2" fmla="val 25000"/>
                  <a:gd name="adj3" fmla="val 25000"/>
                  <a:gd name="adj4" fmla="val 84386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# of times action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taken at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Left Arrow Callout 5">
                <a:extLst>
                  <a:ext uri="{FF2B5EF4-FFF2-40B4-BE49-F238E27FC236}">
                    <a16:creationId xmlns:a16="http://schemas.microsoft.com/office/drawing/2014/main" id="{CE433CC2-2F5F-284E-B3AE-1E04041AE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1" y="5943600"/>
                <a:ext cx="2467767" cy="609600"/>
              </a:xfrm>
              <a:prstGeom prst="leftArrowCallout">
                <a:avLst>
                  <a:gd name="adj1" fmla="val 25000"/>
                  <a:gd name="adj2" fmla="val 25000"/>
                  <a:gd name="adj3" fmla="val 25000"/>
                  <a:gd name="adj4" fmla="val 84386"/>
                </a:avLst>
              </a:prstGeom>
              <a:blipFill>
                <a:blip r:embed="rId3"/>
                <a:stretch>
                  <a:fillRect t="-3846" b="-13462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Start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=0,…,∞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Select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Receive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>
                    <a:solidFill>
                      <a:srgbClr val="FF0000"/>
                    </a:solidFill>
                  </a:rPr>
                  <a:t>Set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blipFill>
                <a:blip r:embed="rId4"/>
                <a:stretch>
                  <a:fillRect l="-15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26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Q-Learning – Value Iteration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7769" y="3581401"/>
                <a:ext cx="8273716" cy="2564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Problem: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How do we select an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?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Greedily, deterministically, pick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maximizing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dirty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Deterministic algorithms can be ‘fooled’ by stochastic (or adversarial</a:t>
                </a:r>
                <a:r>
                  <a:rPr lang="en-US" sz="2000"/>
                  <a:t>) </a:t>
                </a:r>
                <a:r>
                  <a:rPr lang="en-US" sz="2000" smtClean="0"/>
                  <a:t>inputs.</a:t>
                </a:r>
                <a:endParaRPr lang="en-US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769" y="3581401"/>
                <a:ext cx="8273716" cy="2564869"/>
              </a:xfrm>
              <a:prstGeom prst="rect">
                <a:avLst/>
              </a:prstGeom>
              <a:blipFill>
                <a:blip r:embed="rId2"/>
                <a:stretch>
                  <a:fillRect l="-811" t="-1190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Start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=0,…,∞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>
                    <a:solidFill>
                      <a:srgbClr val="FF0000"/>
                    </a:solidFill>
                  </a:rPr>
                  <a:t>Select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Receive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blipFill>
                <a:blip r:embed="rId3"/>
                <a:stretch>
                  <a:fillRect l="-15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01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8233-4E38-E24E-83BF-E427AE6C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1" y="76201"/>
            <a:ext cx="7704667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Q-Learning – Value Iteration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CC-2A90-B445-B33F-5E4185D0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15776" y="3601038"/>
                <a:ext cx="8273716" cy="2275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Selecting the next action: pick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randomly.  </a:t>
                </a:r>
              </a:p>
              <a:p>
                <a:endParaRPr lang="en-US" sz="2000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Totally randomly? 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Randomly amongst current best actions?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Set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choosing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action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776" y="3601038"/>
                <a:ext cx="8273716" cy="2275495"/>
              </a:xfrm>
              <a:prstGeom prst="rect">
                <a:avLst/>
              </a:prstGeom>
              <a:blipFill>
                <a:blip r:embed="rId2"/>
                <a:stretch>
                  <a:fillRect l="-767" t="-1667" b="-9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Left Arrow Callout 5">
                <a:extLst>
                  <a:ext uri="{FF2B5EF4-FFF2-40B4-BE49-F238E27FC236}">
                    <a16:creationId xmlns:a16="http://schemas.microsoft.com/office/drawing/2014/main" id="{CE433CC2-2F5F-284E-B3AE-1E04041AE15A}"/>
                  </a:ext>
                </a:extLst>
              </p:cNvPr>
              <p:cNvSpPr/>
              <p:nvPr/>
            </p:nvSpPr>
            <p:spPr>
              <a:xfrm>
                <a:off x="7391400" y="4876800"/>
                <a:ext cx="3150492" cy="609600"/>
              </a:xfrm>
              <a:prstGeom prst="leftArrowCallout">
                <a:avLst>
                  <a:gd name="adj1" fmla="val 25000"/>
                  <a:gd name="adj2" fmla="val 25000"/>
                  <a:gd name="adj3" fmla="val 25000"/>
                  <a:gd name="adj4" fmla="val 90519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sepChr m:val="∣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sup>
                      </m:sSup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Left Arrow Callout 5">
                <a:extLst>
                  <a:ext uri="{FF2B5EF4-FFF2-40B4-BE49-F238E27FC236}">
                    <a16:creationId xmlns:a16="http://schemas.microsoft.com/office/drawing/2014/main" id="{CE433CC2-2F5F-284E-B3AE-1E04041AE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4876800"/>
                <a:ext cx="3150492" cy="609600"/>
              </a:xfrm>
              <a:prstGeom prst="leftArrowCallout">
                <a:avLst>
                  <a:gd name="adj1" fmla="val 25000"/>
                  <a:gd name="adj2" fmla="val 25000"/>
                  <a:gd name="adj3" fmla="val 25000"/>
                  <a:gd name="adj4" fmla="val 90519"/>
                </a:avLst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txBody>
              <a:bodyPr vert="horz" lIns="91440" tIns="45720" rIns="91440" bIns="45720" rtlCol="0" anchor="ctr">
                <a:normAutofit fontScale="70000" lnSpcReduction="2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←0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Start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indent="-457200" fontAlgn="auto">
                  <a:buClrTx/>
                  <a:buSzPct val="100000"/>
                  <a:buFont typeface="Arial"/>
                  <a:buAutoNum type="arabi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=0,…,∞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>
                    <a:solidFill>
                      <a:srgbClr val="FF0000"/>
                    </a:solidFill>
                  </a:rPr>
                  <a:t>Select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Receive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 fontAlgn="auto">
                  <a:buClrTx/>
                  <a:buSzPct val="100000"/>
                  <a:buFont typeface="+mj-lt"/>
                  <a:buAutoNum type="alphaLcPeriod"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5428E39C-5FF2-554D-B6CA-0ED2E7A44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1143000"/>
                <a:ext cx="8085666" cy="2438400"/>
              </a:xfrm>
              <a:prstGeom prst="rect">
                <a:avLst/>
              </a:prstGeom>
              <a:blipFill>
                <a:blip r:embed="rId4"/>
                <a:stretch>
                  <a:fillRect l="-156"/>
                </a:stretch>
              </a:blipFill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37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CS2106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2106" id="{BD053D78-7E81-2946-8F60-5F5E7270001E}" vid="{FFFE8269-1513-0D47-BC36-75E38BB2E4D5}"/>
    </a:ext>
  </a:extLst>
</a:theme>
</file>

<file path=ppt/theme/theme2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</Template>
  <TotalTime>18137</TotalTime>
  <Words>3245</Words>
  <Application>Microsoft Office PowerPoint</Application>
  <PresentationFormat>Widescreen</PresentationFormat>
  <Paragraphs>508</Paragraphs>
  <Slides>37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Arial</vt:lpstr>
      <vt:lpstr>Arial Black</vt:lpstr>
      <vt:lpstr>Calibri</vt:lpstr>
      <vt:lpstr>Calibri Light</vt:lpstr>
      <vt:lpstr>Cambria Math</vt:lpstr>
      <vt:lpstr>Corbel</vt:lpstr>
      <vt:lpstr>Garamond</vt:lpstr>
      <vt:lpstr>Times</vt:lpstr>
      <vt:lpstr>Wingdings</vt:lpstr>
      <vt:lpstr>Wingdings 2</vt:lpstr>
      <vt:lpstr>CS2106</vt:lpstr>
      <vt:lpstr>L1 - Basic of C++</vt:lpstr>
      <vt:lpstr>HDOfficeLightV0</vt:lpstr>
      <vt:lpstr>IT5005 Artificial Intelligence</vt:lpstr>
      <vt:lpstr>Outline</vt:lpstr>
      <vt:lpstr>Supervised Learning</vt:lpstr>
      <vt:lpstr>Unsupervised Learning</vt:lpstr>
      <vt:lpstr>Reinforcement Learning</vt:lpstr>
      <vt:lpstr>Reinforcement Learning</vt:lpstr>
      <vt:lpstr>Reinforcement Learning</vt:lpstr>
      <vt:lpstr>Policy</vt:lpstr>
      <vt:lpstr>Value Function</vt:lpstr>
      <vt:lpstr>Value Function</vt:lpstr>
      <vt:lpstr>Value Function – The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Markov Decision Problem</vt:lpstr>
      <vt:lpstr>Markov Decision Problem</vt:lpstr>
      <vt:lpstr>Learning Optimal Policies</vt:lpstr>
      <vt:lpstr>Learning Optimal Policies</vt:lpstr>
      <vt:lpstr>Q-Learning</vt:lpstr>
      <vt:lpstr>Q-Learning</vt:lpstr>
      <vt:lpstr>Q-Learning – Value Iteration Algorithm</vt:lpstr>
      <vt:lpstr>Q-Learning – Value Iteration Algorithm</vt:lpstr>
      <vt:lpstr>Q-Learning – Value Iteration Algorithm</vt:lpstr>
      <vt:lpstr>Q-Learning – Value Iteration Algorithm</vt:lpstr>
      <vt:lpstr>Q-Learning – Value Iteration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Adipranoto</dc:creator>
  <cp:lastModifiedBy>Tan Keng Yan, Colin</cp:lastModifiedBy>
  <cp:revision>507</cp:revision>
  <dcterms:created xsi:type="dcterms:W3CDTF">2022-01-23T09:22:42Z</dcterms:created>
  <dcterms:modified xsi:type="dcterms:W3CDTF">2024-04-16T04:03:45Z</dcterms:modified>
</cp:coreProperties>
</file>