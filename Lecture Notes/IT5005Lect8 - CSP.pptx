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diagrams/data8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0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3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ata5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ata7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ata9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85" r:id="rId3"/>
  </p:sldMasterIdLst>
  <p:notesMasterIdLst>
    <p:notesMasterId r:id="rId58"/>
  </p:notesMasterIdLst>
  <p:sldIdLst>
    <p:sldId id="256" r:id="rId4"/>
    <p:sldId id="467" r:id="rId5"/>
    <p:sldId id="476" r:id="rId6"/>
    <p:sldId id="453" r:id="rId7"/>
    <p:sldId id="397" r:id="rId8"/>
    <p:sldId id="458" r:id="rId9"/>
    <p:sldId id="398" r:id="rId10"/>
    <p:sldId id="399" r:id="rId11"/>
    <p:sldId id="459" r:id="rId12"/>
    <p:sldId id="401" r:id="rId13"/>
    <p:sldId id="456" r:id="rId14"/>
    <p:sldId id="402" r:id="rId15"/>
    <p:sldId id="403" r:id="rId16"/>
    <p:sldId id="409" r:id="rId17"/>
    <p:sldId id="455" r:id="rId18"/>
    <p:sldId id="411" r:id="rId19"/>
    <p:sldId id="413" r:id="rId20"/>
    <p:sldId id="414" r:id="rId21"/>
    <p:sldId id="415" r:id="rId22"/>
    <p:sldId id="416" r:id="rId23"/>
    <p:sldId id="422" r:id="rId24"/>
    <p:sldId id="423" r:id="rId25"/>
    <p:sldId id="424" r:id="rId26"/>
    <p:sldId id="425" r:id="rId27"/>
    <p:sldId id="475" r:id="rId28"/>
    <p:sldId id="426" r:id="rId29"/>
    <p:sldId id="460" r:id="rId30"/>
    <p:sldId id="461" r:id="rId31"/>
    <p:sldId id="462" r:id="rId32"/>
    <p:sldId id="430" r:id="rId33"/>
    <p:sldId id="454" r:id="rId34"/>
    <p:sldId id="431" r:id="rId35"/>
    <p:sldId id="432" r:id="rId36"/>
    <p:sldId id="463" r:id="rId37"/>
    <p:sldId id="464" r:id="rId38"/>
    <p:sldId id="435" r:id="rId39"/>
    <p:sldId id="457" r:id="rId40"/>
    <p:sldId id="465" r:id="rId41"/>
    <p:sldId id="437" r:id="rId42"/>
    <p:sldId id="477" r:id="rId43"/>
    <p:sldId id="438" r:id="rId44"/>
    <p:sldId id="439" r:id="rId45"/>
    <p:sldId id="440" r:id="rId46"/>
    <p:sldId id="441" r:id="rId47"/>
    <p:sldId id="443" r:id="rId48"/>
    <p:sldId id="450" r:id="rId49"/>
    <p:sldId id="444" r:id="rId50"/>
    <p:sldId id="468" r:id="rId51"/>
    <p:sldId id="469" r:id="rId52"/>
    <p:sldId id="470" r:id="rId53"/>
    <p:sldId id="471" r:id="rId54"/>
    <p:sldId id="472" r:id="rId55"/>
    <p:sldId id="473" r:id="rId56"/>
    <p:sldId id="474" r:id="rId5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62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10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pn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image" Target="../media/image210.pn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390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00.png"/><Relationship Id="rId1" Type="http://schemas.openxmlformats.org/officeDocument/2006/relationships/image" Target="../media/image49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26D092-FD72-4A02-8334-4CC89CE339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C3D8A3-5229-4086-BAF6-903C364B4996}">
      <dgm:prSet/>
      <dgm:spPr/>
      <dgm:t>
        <a:bodyPr/>
        <a:lstStyle/>
        <a:p>
          <a:pPr rtl="0"/>
          <a:r>
            <a:rPr lang="en-US"/>
            <a:t>Linear programming</a:t>
          </a:r>
        </a:p>
      </dgm:t>
    </dgm:pt>
    <dgm:pt modelId="{D78D4AFE-0386-4BCD-A091-B22C469D9C72}" type="parTrans" cxnId="{7F65C214-B340-41AA-B805-1C657D5B96C7}">
      <dgm:prSet/>
      <dgm:spPr/>
      <dgm:t>
        <a:bodyPr/>
        <a:lstStyle/>
        <a:p>
          <a:endParaRPr lang="en-US"/>
        </a:p>
      </dgm:t>
    </dgm:pt>
    <dgm:pt modelId="{D0DBBD09-1BD7-44E7-9D85-5D0D421B5FAC}" type="sibTrans" cxnId="{7F65C214-B340-41AA-B805-1C657D5B96C7}">
      <dgm:prSet/>
      <dgm:spPr/>
      <dgm:t>
        <a:bodyPr/>
        <a:lstStyle/>
        <a:p>
          <a:endParaRPr lang="en-US"/>
        </a:p>
      </dgm:t>
    </dgm:pt>
    <dgm:pt modelId="{2EF26E00-1E9E-4593-8D23-44E65DFD1F7E}">
      <dgm:prSet/>
      <dgm:spPr/>
      <dgm:t>
        <a:bodyPr/>
        <a:lstStyle/>
        <a:p>
          <a:pPr rtl="0"/>
          <a:r>
            <a:rPr lang="en-US"/>
            <a:t>Variables are all rational values</a:t>
          </a:r>
        </a:p>
      </dgm:t>
    </dgm:pt>
    <dgm:pt modelId="{647BF667-428D-46BE-B19D-AF92004CE077}" type="parTrans" cxnId="{1884065A-4F2B-46A7-B5C9-C63494634F52}">
      <dgm:prSet/>
      <dgm:spPr/>
      <dgm:t>
        <a:bodyPr/>
        <a:lstStyle/>
        <a:p>
          <a:endParaRPr lang="en-US"/>
        </a:p>
      </dgm:t>
    </dgm:pt>
    <dgm:pt modelId="{22E2123D-9A3C-48EB-99C2-898FE7805CA1}" type="sibTrans" cxnId="{1884065A-4F2B-46A7-B5C9-C63494634F52}">
      <dgm:prSet/>
      <dgm:spPr/>
      <dgm:t>
        <a:bodyPr/>
        <a:lstStyle/>
        <a:p>
          <a:endParaRPr lang="en-US"/>
        </a:p>
      </dgm:t>
    </dgm:pt>
    <dgm:pt modelId="{1273A298-6572-4706-AE44-DE0C994748E7}">
      <dgm:prSet/>
      <dgm:spPr/>
      <dgm:t>
        <a:bodyPr/>
        <a:lstStyle/>
        <a:p>
          <a:pPr rtl="0"/>
          <a:r>
            <a:rPr lang="en-US"/>
            <a:t>Linear constraints</a:t>
          </a:r>
        </a:p>
      </dgm:t>
    </dgm:pt>
    <dgm:pt modelId="{762567AD-E7DD-4267-9AE0-614BFCE4A535}" type="parTrans" cxnId="{C306503D-3796-42BA-B2EC-07912057E7C1}">
      <dgm:prSet/>
      <dgm:spPr/>
      <dgm:t>
        <a:bodyPr/>
        <a:lstStyle/>
        <a:p>
          <a:endParaRPr lang="en-US"/>
        </a:p>
      </dgm:t>
    </dgm:pt>
    <dgm:pt modelId="{280070A3-E03F-4BC0-894D-93BD82C0A816}" type="sibTrans" cxnId="{C306503D-3796-42BA-B2EC-07912057E7C1}">
      <dgm:prSet/>
      <dgm:spPr/>
      <dgm:t>
        <a:bodyPr/>
        <a:lstStyle/>
        <a:p>
          <a:endParaRPr lang="en-US"/>
        </a:p>
      </dgm:t>
    </dgm:pt>
    <dgm:pt modelId="{8275160A-2828-4E3D-89EE-F8081F083255}">
      <dgm:prSet/>
      <dgm:spPr/>
      <dgm:t>
        <a:bodyPr/>
        <a:lstStyle/>
        <a:p>
          <a:pPr rtl="0"/>
          <a:r>
            <a:rPr lang="en-US"/>
            <a:t>Combinatorial optimization</a:t>
          </a:r>
        </a:p>
      </dgm:t>
    </dgm:pt>
    <dgm:pt modelId="{CCDDD8FB-4FA8-4CE3-9E47-BA1682763C36}" type="parTrans" cxnId="{1562674D-56B6-463C-81F6-A5CEE6C26DD5}">
      <dgm:prSet/>
      <dgm:spPr/>
      <dgm:t>
        <a:bodyPr/>
        <a:lstStyle/>
        <a:p>
          <a:endParaRPr lang="en-US"/>
        </a:p>
      </dgm:t>
    </dgm:pt>
    <dgm:pt modelId="{F9E33C71-7E69-42E8-980A-838DCC3144AF}" type="sibTrans" cxnId="{1562674D-56B6-463C-81F6-A5CEE6C26DD5}">
      <dgm:prSet/>
      <dgm:spPr/>
      <dgm:t>
        <a:bodyPr/>
        <a:lstStyle/>
        <a:p>
          <a:endParaRPr lang="en-US"/>
        </a:p>
      </dgm:t>
    </dgm:pt>
    <dgm:pt modelId="{4FC10C01-3033-49F8-B30E-FE7EC4DBEC52}">
      <dgm:prSet/>
      <dgm:spPr/>
      <dgm:t>
        <a:bodyPr/>
        <a:lstStyle/>
        <a:p>
          <a:pPr rtl="0"/>
          <a:r>
            <a:rPr lang="en-US"/>
            <a:t>Graph problems: vertex cover, bipartite matching, minimum spanning tree…</a:t>
          </a:r>
        </a:p>
      </dgm:t>
    </dgm:pt>
    <dgm:pt modelId="{BDBBA770-5533-4C8A-8BB0-02EE20CE30E2}" type="parTrans" cxnId="{2C01163B-D1E4-487D-A101-B1574C229683}">
      <dgm:prSet/>
      <dgm:spPr/>
      <dgm:t>
        <a:bodyPr/>
        <a:lstStyle/>
        <a:p>
          <a:endParaRPr lang="en-US"/>
        </a:p>
      </dgm:t>
    </dgm:pt>
    <dgm:pt modelId="{75438E63-9A6D-4602-BDDC-8737D85F7D0B}" type="sibTrans" cxnId="{2C01163B-D1E4-487D-A101-B1574C229683}">
      <dgm:prSet/>
      <dgm:spPr/>
      <dgm:t>
        <a:bodyPr/>
        <a:lstStyle/>
        <a:p>
          <a:endParaRPr lang="en-US"/>
        </a:p>
      </dgm:t>
    </dgm:pt>
    <dgm:pt modelId="{EFFB04AF-27F9-4DA7-B529-3A2C20C58337}">
      <dgm:prSet/>
      <dgm:spPr/>
      <dgm:t>
        <a:bodyPr/>
        <a:lstStyle/>
        <a:p>
          <a:pPr rtl="0"/>
          <a:r>
            <a:rPr lang="en-US" dirty="0"/>
            <a:t>Operations Research: scheduling, bin packing, planning, task allocation</a:t>
          </a:r>
        </a:p>
      </dgm:t>
    </dgm:pt>
    <dgm:pt modelId="{DA3ACE8E-1DD7-4985-AB69-7F2AB1C1FF42}" type="parTrans" cxnId="{EFE3DA98-FF6C-46C1-A6A4-545BB1A89378}">
      <dgm:prSet/>
      <dgm:spPr/>
      <dgm:t>
        <a:bodyPr/>
        <a:lstStyle/>
        <a:p>
          <a:endParaRPr lang="en-US"/>
        </a:p>
      </dgm:t>
    </dgm:pt>
    <dgm:pt modelId="{228BCCC5-FAC9-4199-88F0-F76961AD8BB8}" type="sibTrans" cxnId="{EFE3DA98-FF6C-46C1-A6A4-545BB1A89378}">
      <dgm:prSet/>
      <dgm:spPr/>
      <dgm:t>
        <a:bodyPr/>
        <a:lstStyle/>
        <a:p>
          <a:endParaRPr lang="en-US"/>
        </a:p>
      </dgm:t>
    </dgm:pt>
    <dgm:pt modelId="{3C3AD8E9-5817-4053-BDEC-64F1D39AE711}">
      <dgm:prSet/>
      <dgm:spPr/>
      <dgm:t>
        <a:bodyPr/>
        <a:lstStyle/>
        <a:p>
          <a:pPr rtl="0"/>
          <a:r>
            <a:rPr lang="en-US"/>
            <a:t>Game theory and economics: social choice, market pricing, goods allocation… </a:t>
          </a:r>
        </a:p>
      </dgm:t>
    </dgm:pt>
    <dgm:pt modelId="{7DDDD8A2-5957-444A-BAD7-3ECDACC4D90B}" type="parTrans" cxnId="{B944BC03-43FA-44D7-8EB5-81EB5036CCEA}">
      <dgm:prSet/>
      <dgm:spPr/>
      <dgm:t>
        <a:bodyPr/>
        <a:lstStyle/>
        <a:p>
          <a:endParaRPr lang="en-US"/>
        </a:p>
      </dgm:t>
    </dgm:pt>
    <dgm:pt modelId="{4B43DD4F-E703-4D5D-98B7-D0C8B10A8D1C}" type="sibTrans" cxnId="{B944BC03-43FA-44D7-8EB5-81EB5036CCEA}">
      <dgm:prSet/>
      <dgm:spPr/>
      <dgm:t>
        <a:bodyPr/>
        <a:lstStyle/>
        <a:p>
          <a:endParaRPr lang="en-US"/>
        </a:p>
      </dgm:t>
    </dgm:pt>
    <dgm:pt modelId="{BD1E70DB-D3C1-4E3D-B99A-F05499B067BF}">
      <dgm:prSet/>
      <dgm:spPr/>
      <dgm:t>
        <a:bodyPr/>
        <a:lstStyle/>
        <a:p>
          <a:pPr rtl="0"/>
          <a:r>
            <a:rPr lang="en-US" dirty="0"/>
            <a:t>Effective CSP Solvers</a:t>
          </a:r>
        </a:p>
      </dgm:t>
    </dgm:pt>
    <dgm:pt modelId="{66A03FAB-D929-4AA7-8ED9-7D46D639F761}" type="parTrans" cxnId="{5F800535-8D37-4E88-8AFB-5081B2C749C1}">
      <dgm:prSet/>
      <dgm:spPr/>
      <dgm:t>
        <a:bodyPr/>
        <a:lstStyle/>
        <a:p>
          <a:endParaRPr lang="en-US"/>
        </a:p>
      </dgm:t>
    </dgm:pt>
    <dgm:pt modelId="{E55255D2-0CB8-415F-A4F1-82986EECBC87}" type="sibTrans" cxnId="{5F800535-8D37-4E88-8AFB-5081B2C749C1}">
      <dgm:prSet/>
      <dgm:spPr/>
      <dgm:t>
        <a:bodyPr/>
        <a:lstStyle/>
        <a:p>
          <a:endParaRPr lang="en-US"/>
        </a:p>
      </dgm:t>
    </dgm:pt>
    <dgm:pt modelId="{F8C0467C-85C6-4C9F-BF4C-0D1953289D5E}">
      <dgm:prSet/>
      <dgm:spPr/>
      <dgm:t>
        <a:bodyPr/>
        <a:lstStyle/>
        <a:p>
          <a:pPr rtl="0"/>
          <a:r>
            <a:rPr lang="en-US" dirty="0"/>
            <a:t>Variable dependencies reduce search space significantly</a:t>
          </a:r>
        </a:p>
      </dgm:t>
    </dgm:pt>
    <dgm:pt modelId="{71A3B221-EA37-4CF0-8E64-58A7D14287DC}" type="parTrans" cxnId="{F4287DE1-30F6-42C4-8FED-979876310377}">
      <dgm:prSet/>
      <dgm:spPr/>
      <dgm:t>
        <a:bodyPr/>
        <a:lstStyle/>
        <a:p>
          <a:endParaRPr lang="en-US"/>
        </a:p>
      </dgm:t>
    </dgm:pt>
    <dgm:pt modelId="{FECCE38A-E046-4F54-B389-CD0A4082856D}" type="sibTrans" cxnId="{F4287DE1-30F6-42C4-8FED-979876310377}">
      <dgm:prSet/>
      <dgm:spPr/>
      <dgm:t>
        <a:bodyPr/>
        <a:lstStyle/>
        <a:p>
          <a:endParaRPr lang="en-US"/>
        </a:p>
      </dgm:t>
    </dgm:pt>
    <dgm:pt modelId="{50477A87-5B29-4752-B722-0995E8E4F45A}">
      <dgm:prSet/>
      <dgm:spPr/>
      <dgm:t>
        <a:bodyPr/>
        <a:lstStyle/>
        <a:p>
          <a:pPr rtl="0"/>
          <a:r>
            <a:rPr lang="en-US" dirty="0"/>
            <a:t>Solve very large problem instances very quickly</a:t>
          </a:r>
        </a:p>
      </dgm:t>
    </dgm:pt>
    <dgm:pt modelId="{C9444081-9ED6-4406-937C-A07E9141BA45}" type="parTrans" cxnId="{0459C238-DFB0-42B4-B581-251F1BB5196D}">
      <dgm:prSet/>
      <dgm:spPr/>
      <dgm:t>
        <a:bodyPr/>
        <a:lstStyle/>
        <a:p>
          <a:endParaRPr lang="en-US"/>
        </a:p>
      </dgm:t>
    </dgm:pt>
    <dgm:pt modelId="{436028FB-F5F0-44F7-B8E7-245C2DB61261}" type="sibTrans" cxnId="{0459C238-DFB0-42B4-B581-251F1BB5196D}">
      <dgm:prSet/>
      <dgm:spPr/>
      <dgm:t>
        <a:bodyPr/>
        <a:lstStyle/>
        <a:p>
          <a:endParaRPr lang="en-US"/>
        </a:p>
      </dgm:t>
    </dgm:pt>
    <dgm:pt modelId="{0A3099F3-1935-44CC-95F9-538B31C2A401}" type="pres">
      <dgm:prSet presAssocID="{E626D092-FD72-4A02-8334-4CC89CE339DB}" presName="linear" presStyleCnt="0">
        <dgm:presLayoutVars>
          <dgm:animLvl val="lvl"/>
          <dgm:resizeHandles val="exact"/>
        </dgm:presLayoutVars>
      </dgm:prSet>
      <dgm:spPr/>
    </dgm:pt>
    <dgm:pt modelId="{ECF7E3C6-82D0-496C-9A6D-DB315CE4AE78}" type="pres">
      <dgm:prSet presAssocID="{C9C3D8A3-5229-4086-BAF6-903C364B499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856197B-8AAD-4D99-873E-5EAAC23F4343}" type="pres">
      <dgm:prSet presAssocID="{C9C3D8A3-5229-4086-BAF6-903C364B4996}" presName="childText" presStyleLbl="revTx" presStyleIdx="0" presStyleCnt="3">
        <dgm:presLayoutVars>
          <dgm:bulletEnabled val="1"/>
        </dgm:presLayoutVars>
      </dgm:prSet>
      <dgm:spPr/>
    </dgm:pt>
    <dgm:pt modelId="{FAF2F183-BFB5-4BC5-8BFB-41FACC6AD6DA}" type="pres">
      <dgm:prSet presAssocID="{8275160A-2828-4E3D-89EE-F8081F08325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6B88F00-F0A2-4A6A-820A-5E823F84715F}" type="pres">
      <dgm:prSet presAssocID="{8275160A-2828-4E3D-89EE-F8081F083255}" presName="childText" presStyleLbl="revTx" presStyleIdx="1" presStyleCnt="3">
        <dgm:presLayoutVars>
          <dgm:bulletEnabled val="1"/>
        </dgm:presLayoutVars>
      </dgm:prSet>
      <dgm:spPr/>
    </dgm:pt>
    <dgm:pt modelId="{270D252B-A33F-4B0F-AA89-1AEA468CE5AE}" type="pres">
      <dgm:prSet presAssocID="{BD1E70DB-D3C1-4E3D-B99A-F05499B067B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574D8F5-17CA-4325-817C-8A1C5C5F9D24}" type="pres">
      <dgm:prSet presAssocID="{BD1E70DB-D3C1-4E3D-B99A-F05499B067B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944BC03-43FA-44D7-8EB5-81EB5036CCEA}" srcId="{8275160A-2828-4E3D-89EE-F8081F083255}" destId="{3C3AD8E9-5817-4053-BDEC-64F1D39AE711}" srcOrd="2" destOrd="0" parTransId="{7DDDD8A2-5957-444A-BAD7-3ECDACC4D90B}" sibTransId="{4B43DD4F-E703-4D5D-98B7-D0C8B10A8D1C}"/>
    <dgm:cxn modelId="{46D9970F-F1FA-4D13-A1B1-563F93A3F79F}" type="presOf" srcId="{1273A298-6572-4706-AE44-DE0C994748E7}" destId="{6856197B-8AAD-4D99-873E-5EAAC23F4343}" srcOrd="0" destOrd="1" presId="urn:microsoft.com/office/officeart/2005/8/layout/vList2"/>
    <dgm:cxn modelId="{7F65C214-B340-41AA-B805-1C657D5B96C7}" srcId="{E626D092-FD72-4A02-8334-4CC89CE339DB}" destId="{C9C3D8A3-5229-4086-BAF6-903C364B4996}" srcOrd="0" destOrd="0" parTransId="{D78D4AFE-0386-4BCD-A091-B22C469D9C72}" sibTransId="{D0DBBD09-1BD7-44E7-9D85-5D0D421B5FAC}"/>
    <dgm:cxn modelId="{9C2D561C-B91B-4644-9A05-FF9A6285C8D1}" type="presOf" srcId="{3C3AD8E9-5817-4053-BDEC-64F1D39AE711}" destId="{56B88F00-F0A2-4A6A-820A-5E823F84715F}" srcOrd="0" destOrd="2" presId="urn:microsoft.com/office/officeart/2005/8/layout/vList2"/>
    <dgm:cxn modelId="{D895861C-7F5B-4F15-8E7C-2AAAC37DDCC5}" type="presOf" srcId="{EFFB04AF-27F9-4DA7-B529-3A2C20C58337}" destId="{56B88F00-F0A2-4A6A-820A-5E823F84715F}" srcOrd="0" destOrd="1" presId="urn:microsoft.com/office/officeart/2005/8/layout/vList2"/>
    <dgm:cxn modelId="{5F800535-8D37-4E88-8AFB-5081B2C749C1}" srcId="{E626D092-FD72-4A02-8334-4CC89CE339DB}" destId="{BD1E70DB-D3C1-4E3D-B99A-F05499B067BF}" srcOrd="2" destOrd="0" parTransId="{66A03FAB-D929-4AA7-8ED9-7D46D639F761}" sibTransId="{E55255D2-0CB8-415F-A4F1-82986EECBC87}"/>
    <dgm:cxn modelId="{0459C238-DFB0-42B4-B581-251F1BB5196D}" srcId="{BD1E70DB-D3C1-4E3D-B99A-F05499B067BF}" destId="{50477A87-5B29-4752-B722-0995E8E4F45A}" srcOrd="1" destOrd="0" parTransId="{C9444081-9ED6-4406-937C-A07E9141BA45}" sibTransId="{436028FB-F5F0-44F7-B8E7-245C2DB61261}"/>
    <dgm:cxn modelId="{2C01163B-D1E4-487D-A101-B1574C229683}" srcId="{8275160A-2828-4E3D-89EE-F8081F083255}" destId="{4FC10C01-3033-49F8-B30E-FE7EC4DBEC52}" srcOrd="0" destOrd="0" parTransId="{BDBBA770-5533-4C8A-8BB0-02EE20CE30E2}" sibTransId="{75438E63-9A6D-4602-BDDC-8737D85F7D0B}"/>
    <dgm:cxn modelId="{C306503D-3796-42BA-B2EC-07912057E7C1}" srcId="{C9C3D8A3-5229-4086-BAF6-903C364B4996}" destId="{1273A298-6572-4706-AE44-DE0C994748E7}" srcOrd="1" destOrd="0" parTransId="{762567AD-E7DD-4267-9AE0-614BFCE4A535}" sibTransId="{280070A3-E03F-4BC0-894D-93BD82C0A816}"/>
    <dgm:cxn modelId="{1562674D-56B6-463C-81F6-A5CEE6C26DD5}" srcId="{E626D092-FD72-4A02-8334-4CC89CE339DB}" destId="{8275160A-2828-4E3D-89EE-F8081F083255}" srcOrd="1" destOrd="0" parTransId="{CCDDD8FB-4FA8-4CE3-9E47-BA1682763C36}" sibTransId="{F9E33C71-7E69-42E8-980A-838DCC3144AF}"/>
    <dgm:cxn modelId="{E0562A51-7181-4F12-BE0E-27A8E3883C3D}" type="presOf" srcId="{E626D092-FD72-4A02-8334-4CC89CE339DB}" destId="{0A3099F3-1935-44CC-95F9-538B31C2A401}" srcOrd="0" destOrd="0" presId="urn:microsoft.com/office/officeart/2005/8/layout/vList2"/>
    <dgm:cxn modelId="{828AAB57-FDF1-4311-A620-0D79707A3541}" type="presOf" srcId="{BD1E70DB-D3C1-4E3D-B99A-F05499B067BF}" destId="{270D252B-A33F-4B0F-AA89-1AEA468CE5AE}" srcOrd="0" destOrd="0" presId="urn:microsoft.com/office/officeart/2005/8/layout/vList2"/>
    <dgm:cxn modelId="{AEA55E58-DBDD-41EA-8C4A-8CB95EFF34A1}" type="presOf" srcId="{F8C0467C-85C6-4C9F-BF4C-0D1953289D5E}" destId="{A574D8F5-17CA-4325-817C-8A1C5C5F9D24}" srcOrd="0" destOrd="0" presId="urn:microsoft.com/office/officeart/2005/8/layout/vList2"/>
    <dgm:cxn modelId="{1884065A-4F2B-46A7-B5C9-C63494634F52}" srcId="{C9C3D8A3-5229-4086-BAF6-903C364B4996}" destId="{2EF26E00-1E9E-4593-8D23-44E65DFD1F7E}" srcOrd="0" destOrd="0" parTransId="{647BF667-428D-46BE-B19D-AF92004CE077}" sibTransId="{22E2123D-9A3C-48EB-99C2-898FE7805CA1}"/>
    <dgm:cxn modelId="{FB1AE95C-AF5A-439F-8BB9-8A16A883837B}" type="presOf" srcId="{8275160A-2828-4E3D-89EE-F8081F083255}" destId="{FAF2F183-BFB5-4BC5-8BFB-41FACC6AD6DA}" srcOrd="0" destOrd="0" presId="urn:microsoft.com/office/officeart/2005/8/layout/vList2"/>
    <dgm:cxn modelId="{D7B0EC8F-3016-42C2-94E8-257D9272F88E}" type="presOf" srcId="{4FC10C01-3033-49F8-B30E-FE7EC4DBEC52}" destId="{56B88F00-F0A2-4A6A-820A-5E823F84715F}" srcOrd="0" destOrd="0" presId="urn:microsoft.com/office/officeart/2005/8/layout/vList2"/>
    <dgm:cxn modelId="{40898198-D9AA-4DDE-9842-8EE74ADE86CC}" type="presOf" srcId="{C9C3D8A3-5229-4086-BAF6-903C364B4996}" destId="{ECF7E3C6-82D0-496C-9A6D-DB315CE4AE78}" srcOrd="0" destOrd="0" presId="urn:microsoft.com/office/officeart/2005/8/layout/vList2"/>
    <dgm:cxn modelId="{EFE3DA98-FF6C-46C1-A6A4-545BB1A89378}" srcId="{8275160A-2828-4E3D-89EE-F8081F083255}" destId="{EFFB04AF-27F9-4DA7-B529-3A2C20C58337}" srcOrd="1" destOrd="0" parTransId="{DA3ACE8E-1DD7-4985-AB69-7F2AB1C1FF42}" sibTransId="{228BCCC5-FAC9-4199-88F0-F76961AD8BB8}"/>
    <dgm:cxn modelId="{A2B857D7-2E07-4662-84ED-2A8A94A736B2}" type="presOf" srcId="{50477A87-5B29-4752-B722-0995E8E4F45A}" destId="{A574D8F5-17CA-4325-817C-8A1C5C5F9D24}" srcOrd="0" destOrd="1" presId="urn:microsoft.com/office/officeart/2005/8/layout/vList2"/>
    <dgm:cxn modelId="{F4287DE1-30F6-42C4-8FED-979876310377}" srcId="{BD1E70DB-D3C1-4E3D-B99A-F05499B067BF}" destId="{F8C0467C-85C6-4C9F-BF4C-0D1953289D5E}" srcOrd="0" destOrd="0" parTransId="{71A3B221-EA37-4CF0-8E64-58A7D14287DC}" sibTransId="{FECCE38A-E046-4F54-B389-CD0A4082856D}"/>
    <dgm:cxn modelId="{6A3194E8-9243-4E93-A1B2-767A5BEA047B}" type="presOf" srcId="{2EF26E00-1E9E-4593-8D23-44E65DFD1F7E}" destId="{6856197B-8AAD-4D99-873E-5EAAC23F4343}" srcOrd="0" destOrd="0" presId="urn:microsoft.com/office/officeart/2005/8/layout/vList2"/>
    <dgm:cxn modelId="{48437485-38E7-49D7-A53B-2AB269EE4F4F}" type="presParOf" srcId="{0A3099F3-1935-44CC-95F9-538B31C2A401}" destId="{ECF7E3C6-82D0-496C-9A6D-DB315CE4AE78}" srcOrd="0" destOrd="0" presId="urn:microsoft.com/office/officeart/2005/8/layout/vList2"/>
    <dgm:cxn modelId="{E48AE29D-DF54-443C-A6C8-CB3C459569AD}" type="presParOf" srcId="{0A3099F3-1935-44CC-95F9-538B31C2A401}" destId="{6856197B-8AAD-4D99-873E-5EAAC23F4343}" srcOrd="1" destOrd="0" presId="urn:microsoft.com/office/officeart/2005/8/layout/vList2"/>
    <dgm:cxn modelId="{42B6AE7E-2B00-4B5C-A0BC-66174F0AD255}" type="presParOf" srcId="{0A3099F3-1935-44CC-95F9-538B31C2A401}" destId="{FAF2F183-BFB5-4BC5-8BFB-41FACC6AD6DA}" srcOrd="2" destOrd="0" presId="urn:microsoft.com/office/officeart/2005/8/layout/vList2"/>
    <dgm:cxn modelId="{3CDB8200-1949-459C-8D50-E162B33E2CB7}" type="presParOf" srcId="{0A3099F3-1935-44CC-95F9-538B31C2A401}" destId="{56B88F00-F0A2-4A6A-820A-5E823F84715F}" srcOrd="3" destOrd="0" presId="urn:microsoft.com/office/officeart/2005/8/layout/vList2"/>
    <dgm:cxn modelId="{3DD452C9-59EF-4D63-87E1-DB517B03AD7B}" type="presParOf" srcId="{0A3099F3-1935-44CC-95F9-538B31C2A401}" destId="{270D252B-A33F-4B0F-AA89-1AEA468CE5AE}" srcOrd="4" destOrd="0" presId="urn:microsoft.com/office/officeart/2005/8/layout/vList2"/>
    <dgm:cxn modelId="{5EE81706-C73B-4AE6-AA33-6BBAAA9AA6C8}" type="presParOf" srcId="{0A3099F3-1935-44CC-95F9-538B31C2A401}" destId="{A574D8F5-17CA-4325-817C-8A1C5C5F9D2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781255-43C5-4AA5-8AD6-7F83EF08B8B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7F3530-C022-45FF-AC38-A15EF256E9C3}">
      <dgm:prSet/>
      <dgm:spPr/>
      <dgm:t>
        <a:bodyPr/>
        <a:lstStyle/>
        <a:p>
          <a:pPr rtl="0"/>
          <a:r>
            <a:rPr lang="en-US"/>
            <a:t>Discrete variables</a:t>
          </a:r>
        </a:p>
      </dgm:t>
    </dgm:pt>
    <dgm:pt modelId="{2F175C29-23EC-416B-9EB4-19AB4DF06BC6}" type="parTrans" cxnId="{7B0E5FD7-10CD-4BD1-862F-AF9E540E4C3A}">
      <dgm:prSet/>
      <dgm:spPr/>
      <dgm:t>
        <a:bodyPr/>
        <a:lstStyle/>
        <a:p>
          <a:endParaRPr lang="en-US"/>
        </a:p>
      </dgm:t>
    </dgm:pt>
    <dgm:pt modelId="{F96AF21F-B45C-4CBE-AC5E-9CC6E41283F9}" type="sibTrans" cxnId="{7B0E5FD7-10CD-4BD1-862F-AF9E540E4C3A}">
      <dgm:prSet/>
      <dgm:spPr/>
      <dgm:t>
        <a:bodyPr/>
        <a:lstStyle/>
        <a:p>
          <a:endParaRPr lang="en-US"/>
        </a:p>
      </dgm:t>
    </dgm:pt>
    <dgm:pt modelId="{A3CC4527-FA7B-442A-BA5A-413234849556}">
      <dgm:prSet/>
      <dgm:spPr/>
      <dgm:t>
        <a:bodyPr/>
        <a:lstStyle/>
        <a:p>
          <a:pPr rtl="0"/>
          <a:r>
            <a:rPr lang="en-US"/>
            <a:t>Finite domains:</a:t>
          </a:r>
        </a:p>
      </dgm:t>
    </dgm:pt>
    <dgm:pt modelId="{77BAD47E-8D28-4E21-A8D6-B4526411B750}" type="parTrans" cxnId="{1A817D68-A0E4-4588-9520-7C873C22E561}">
      <dgm:prSet/>
      <dgm:spPr/>
      <dgm:t>
        <a:bodyPr/>
        <a:lstStyle/>
        <a:p>
          <a:endParaRPr lang="en-US"/>
        </a:p>
      </dgm:t>
    </dgm:pt>
    <dgm:pt modelId="{8BEFC525-C70B-4477-8FDC-CFD322CAB4B3}" type="sibTrans" cxnId="{1A817D68-A0E4-4588-9520-7C873C22E56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4908DCBA-5BA5-4FF9-B889-61E702B190EC}">
          <dgm:prSet/>
          <dgm:spPr/>
          <dgm:t>
            <a:bodyPr/>
            <a:lstStyle/>
            <a:p>
              <a:pPr rtl="0"/>
              <a14:m>
                <m:oMath xmlns:m="http://schemas.openxmlformats.org/officeDocument/2006/math">
                  <m:r>
                    <a:rPr lang="en-US" i="1" smtClean="0">
                      <a:latin typeface="Cambria Math" charset="0"/>
                    </a:rPr>
                    <m:t>𝑛</m:t>
                  </m:r>
                </m:oMath>
              </a14:m>
              <a:r>
                <a:rPr lang="en-US"/>
                <a:t> variables, domain size </a:t>
              </a:r>
              <a14:m>
                <m:oMath xmlns:m="http://schemas.openxmlformats.org/officeDocument/2006/math">
                  <m:r>
                    <a:rPr lang="en-US" i="1">
                      <a:latin typeface="Cambria Math" charset="0"/>
                    </a:rPr>
                    <m:t>𝑑</m:t>
                  </m:r>
                </m:oMath>
              </a14:m>
              <a:r>
                <a:rPr lang="en-US" i="1"/>
                <a:t> </a:t>
              </a:r>
              <a:r>
                <a:rPr lang="en-US">
                  <a:sym typeface="Wingdings" panose="05000000000000000000" pitchFamily="2" charset="2"/>
                </a:rPr>
                <a:t></a:t>
              </a:r>
              <a:r>
                <a:rPr lang="en-US"/>
                <a:t> </a:t>
              </a:r>
              <a14:m>
                <m:oMath xmlns:m="http://schemas.openxmlformats.org/officeDocument/2006/math">
                  <m:r>
                    <a:rPr lang="en-US" b="0" i="1">
                      <a:latin typeface="Cambria Math" charset="0"/>
                    </a:rPr>
                    <m:t>𝒪</m:t>
                  </m:r>
                  <m:d>
                    <m:dPr>
                      <m:ctrlPr>
                        <a:rPr lang="en-US" i="1"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>
                              <a:latin typeface="Cambria Math" charset="0"/>
                            </a:rPr>
                            <m:t>𝑛</m:t>
                          </m:r>
                        </m:sup>
                      </m:sSup>
                    </m:e>
                  </m:d>
                </m:oMath>
              </a14:m>
              <a:r>
                <a:rPr lang="en-US" i="1"/>
                <a:t> </a:t>
              </a:r>
              <a:r>
                <a:rPr lang="en-US"/>
                <a:t>complete assignments</a:t>
              </a:r>
            </a:p>
          </dgm:t>
        </dgm:pt>
      </mc:Choice>
      <mc:Fallback xmlns="">
        <dgm:pt modelId="{4908DCBA-5BA5-4FF9-B889-61E702B190EC}">
          <dgm:prSet/>
          <dgm:spPr/>
          <dgm:t>
            <a:bodyPr/>
            <a:lstStyle/>
            <a:p>
              <a:pPr rtl="0"/>
              <a:r>
                <a:rPr lang="en-US" i="0" smtClean="0"/>
                <a:t>𝑛</a:t>
              </a:r>
              <a:r>
                <a:rPr lang="en-US"/>
                <a:t> variables, domain size </a:t>
              </a:r>
              <a:r>
                <a:rPr lang="en-US" i="0"/>
                <a:t>𝑑</a:t>
              </a:r>
              <a:r>
                <a:rPr lang="en-US" i="1"/>
                <a:t> </a:t>
              </a:r>
              <a:r>
                <a:rPr lang="en-US">
                  <a:sym typeface="Wingdings" panose="05000000000000000000" pitchFamily="2" charset="2"/>
                </a:rPr>
                <a:t></a:t>
              </a:r>
              <a:r>
                <a:rPr lang="en-US"/>
                <a:t> </a:t>
              </a:r>
              <a:r>
                <a:rPr lang="en-US" b="0" i="0"/>
                <a:t>𝒪</a:t>
              </a:r>
              <a:r>
                <a:rPr lang="en-US" i="0"/>
                <a:t>(𝑑</a:t>
              </a:r>
              <a:r>
                <a:rPr lang="en-US" b="0" i="0"/>
                <a:t>^𝑛 )</a:t>
              </a:r>
              <a:r>
                <a:rPr lang="en-US" i="1"/>
                <a:t> </a:t>
              </a:r>
              <a:r>
                <a:rPr lang="en-US"/>
                <a:t>complete assignments</a:t>
              </a:r>
            </a:p>
          </dgm:t>
        </dgm:pt>
      </mc:Fallback>
    </mc:AlternateContent>
    <dgm:pt modelId="{61558894-8B99-4B0F-82D3-F64EAAD4BC9C}" type="parTrans" cxnId="{52F0D199-6B9A-416F-BA05-11E412289A4D}">
      <dgm:prSet/>
      <dgm:spPr/>
      <dgm:t>
        <a:bodyPr/>
        <a:lstStyle/>
        <a:p>
          <a:endParaRPr lang="en-US"/>
        </a:p>
      </dgm:t>
    </dgm:pt>
    <dgm:pt modelId="{799A5CA1-91B4-445B-8FE3-1805315E3DEF}" type="sibTrans" cxnId="{52F0D199-6B9A-416F-BA05-11E412289A4D}">
      <dgm:prSet/>
      <dgm:spPr/>
      <dgm:t>
        <a:bodyPr/>
        <a:lstStyle/>
        <a:p>
          <a:endParaRPr lang="en-US"/>
        </a:p>
      </dgm:t>
    </dgm:pt>
    <dgm:pt modelId="{D6DD0DB6-55B3-46DF-91A2-8F25F8A920D4}">
      <dgm:prSet/>
      <dgm:spPr/>
      <dgm:t>
        <a:bodyPr/>
        <a:lstStyle/>
        <a:p>
          <a:pPr rtl="0"/>
          <a:r>
            <a:rPr lang="en-US"/>
            <a:t>e.g., 8-queens</a:t>
          </a:r>
        </a:p>
      </dgm:t>
    </dgm:pt>
    <dgm:pt modelId="{CE1E63EB-0E31-453F-91E7-580E0F4E57F6}" type="parTrans" cxnId="{ECD4E651-FCA1-46A3-88B1-712B93D83FEA}">
      <dgm:prSet/>
      <dgm:spPr/>
      <dgm:t>
        <a:bodyPr/>
        <a:lstStyle/>
        <a:p>
          <a:endParaRPr lang="en-US"/>
        </a:p>
      </dgm:t>
    </dgm:pt>
    <dgm:pt modelId="{F8F674FC-75F3-4FF6-B18A-90D34E32D10C}" type="sibTrans" cxnId="{ECD4E651-FCA1-46A3-88B1-712B93D83FEA}">
      <dgm:prSet/>
      <dgm:spPr/>
      <dgm:t>
        <a:bodyPr/>
        <a:lstStyle/>
        <a:p>
          <a:endParaRPr lang="en-US"/>
        </a:p>
      </dgm:t>
    </dgm:pt>
    <dgm:pt modelId="{6864405C-8A5C-4733-80D3-F72FD8C45AAF}">
      <dgm:prSet/>
      <dgm:spPr/>
      <dgm:t>
        <a:bodyPr/>
        <a:lstStyle/>
        <a:p>
          <a:pPr rtl="0"/>
          <a:r>
            <a:rPr lang="en-US"/>
            <a:t>Infinite domains:</a:t>
          </a:r>
        </a:p>
      </dgm:t>
    </dgm:pt>
    <dgm:pt modelId="{FFA8E838-821B-4E9E-89F1-4F6726674DD7}" type="parTrans" cxnId="{998ECB7D-00C3-42AE-958D-977835314857}">
      <dgm:prSet/>
      <dgm:spPr/>
      <dgm:t>
        <a:bodyPr/>
        <a:lstStyle/>
        <a:p>
          <a:endParaRPr lang="en-US"/>
        </a:p>
      </dgm:t>
    </dgm:pt>
    <dgm:pt modelId="{019071E0-5689-460D-90BC-626A8BAC7ADD}" type="sibTrans" cxnId="{998ECB7D-00C3-42AE-958D-977835314857}">
      <dgm:prSet/>
      <dgm:spPr/>
      <dgm:t>
        <a:bodyPr/>
        <a:lstStyle/>
        <a:p>
          <a:endParaRPr lang="en-US"/>
        </a:p>
      </dgm:t>
    </dgm:pt>
    <dgm:pt modelId="{4651BA52-1833-4862-B60C-85D4A7E023DA}">
      <dgm:prSet/>
      <dgm:spPr/>
      <dgm:t>
        <a:bodyPr/>
        <a:lstStyle/>
        <a:p>
          <a:pPr rtl="0"/>
          <a:r>
            <a:rPr lang="en-US"/>
            <a:t>integers, strings, etc.</a:t>
          </a:r>
        </a:p>
      </dgm:t>
    </dgm:pt>
    <dgm:pt modelId="{97FD3C61-5C27-49A8-A233-26CB788A5C4E}" type="parTrans" cxnId="{54CC0D8B-9AE4-4F16-9885-11B691DE845A}">
      <dgm:prSet/>
      <dgm:spPr/>
      <dgm:t>
        <a:bodyPr/>
        <a:lstStyle/>
        <a:p>
          <a:endParaRPr lang="en-US"/>
        </a:p>
      </dgm:t>
    </dgm:pt>
    <dgm:pt modelId="{A5117634-B32C-4D27-9C1D-4CFCE8C890CF}" type="sibTrans" cxnId="{54CC0D8B-9AE4-4F16-9885-11B691DE845A}">
      <dgm:prSet/>
      <dgm:spPr/>
      <dgm:t>
        <a:bodyPr/>
        <a:lstStyle/>
        <a:p>
          <a:endParaRPr lang="en-US"/>
        </a:p>
      </dgm:t>
    </dgm:pt>
    <dgm:pt modelId="{EB45A6E1-09AA-4715-9CBE-E42AC4D073BA}">
      <dgm:prSet/>
      <dgm:spPr/>
      <dgm:t>
        <a:bodyPr/>
        <a:lstStyle/>
        <a:p>
          <a:pPr rtl="0"/>
          <a:r>
            <a:rPr lang="en-US"/>
            <a:t>e.g., job-shop scheduling: variables are start/end days for each job</a:t>
          </a:r>
        </a:p>
      </dgm:t>
    </dgm:pt>
    <dgm:pt modelId="{BFFE40C1-252D-4B5F-B642-3385A44346A0}" type="parTrans" cxnId="{48D65E1E-9DCE-44C7-9B04-ACAD19D1D2EF}">
      <dgm:prSet/>
      <dgm:spPr/>
      <dgm:t>
        <a:bodyPr/>
        <a:lstStyle/>
        <a:p>
          <a:endParaRPr lang="en-US"/>
        </a:p>
      </dgm:t>
    </dgm:pt>
    <dgm:pt modelId="{69A11CC0-00BE-4DA9-B339-B4A9ABA7E30C}" type="sibTrans" cxnId="{48D65E1E-9DCE-44C7-9B04-ACAD19D1D2EF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B956270-42F5-45C4-81B1-C3A8ACBF63BB}">
          <dgm:prSet/>
          <dgm:spPr/>
          <dgm:t>
            <a:bodyPr/>
            <a:lstStyle/>
            <a:p>
              <a:pPr rtl="0"/>
              <a:r>
                <a:rPr lang="en-US"/>
                <a:t>need a constraint language, e.g., </a:t>
              </a:r>
              <a14:m>
                <m:oMath xmlns:m="http://schemas.openxmlformats.org/officeDocument/2006/math">
                  <m:r>
                    <a:rPr lang="en-US" b="0" i="1">
                      <a:latin typeface="Cambria Math" charset="0"/>
                    </a:rPr>
                    <m:t>𝑆𝑡𝑎𝑟𝑡𝐽𝑜</m:t>
                  </m:r>
                  <m:sSub>
                    <m:sSubPr>
                      <m:ctrlPr>
                        <a:rPr lang="en-US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>
                          <a:latin typeface="Cambria Math" charset="0"/>
                        </a:rPr>
                        <m:t>𝑏</m:t>
                      </m:r>
                    </m:e>
                    <m:sub>
                      <m:r>
                        <a:rPr lang="en-US" b="0" i="1">
                          <a:latin typeface="Cambria Math" charset="0"/>
                        </a:rPr>
                        <m:t>3</m:t>
                      </m:r>
                    </m:sub>
                  </m:sSub>
                  <m:r>
                    <a:rPr lang="en-US" b="0" i="1">
                      <a:latin typeface="Cambria Math" charset="0"/>
                    </a:rPr>
                    <m:t>+5≤</m:t>
                  </m:r>
                  <m:r>
                    <a:rPr lang="en-US" b="0" i="1">
                      <a:latin typeface="Cambria Math" charset="0"/>
                    </a:rPr>
                    <m:t>𝑆𝑡𝑎𝑟𝑡𝐽𝑜</m:t>
                  </m:r>
                  <m:sSub>
                    <m:sSubPr>
                      <m:ctrlPr>
                        <a:rPr lang="en-US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>
                          <a:latin typeface="Cambria Math" charset="0"/>
                        </a:rPr>
                        <m:t>𝑏</m:t>
                      </m:r>
                    </m:e>
                    <m:sub>
                      <m:r>
                        <a:rPr lang="en-US" b="0" i="1">
                          <a:latin typeface="Cambria Math" charset="0"/>
                        </a:rPr>
                        <m:t>4</m:t>
                      </m:r>
                    </m:sub>
                  </m:sSub>
                </m:oMath>
              </a14:m>
              <a:endParaRPr lang="en-US"/>
            </a:p>
          </dgm:t>
        </dgm:pt>
      </mc:Choice>
      <mc:Fallback xmlns="">
        <dgm:pt modelId="{EB956270-42F5-45C4-81B1-C3A8ACBF63BB}">
          <dgm:prSet/>
          <dgm:spPr/>
          <dgm:t>
            <a:bodyPr/>
            <a:lstStyle/>
            <a:p>
              <a:pPr rtl="0"/>
              <a:r>
                <a:rPr lang="en-US" smtClean="0"/>
                <a:t>need a constraint language, e.g., </a:t>
              </a:r>
              <a:r>
                <a:rPr lang="en-US" b="0" i="0"/>
                <a:t>𝑆𝑡𝑎𝑟𝑡𝐽𝑜𝑏_3+5≤𝑆𝑡𝑎𝑟𝑡𝐽𝑜𝑏_4</a:t>
              </a:r>
              <a:endParaRPr lang="en-US"/>
            </a:p>
          </dgm:t>
        </dgm:pt>
      </mc:Fallback>
    </mc:AlternateContent>
    <dgm:pt modelId="{5F8F369B-09A1-4389-A663-6FDB937A9F0F}" type="parTrans" cxnId="{E6D399A5-1284-4EB4-B266-55F5A038B985}">
      <dgm:prSet/>
      <dgm:spPr/>
      <dgm:t>
        <a:bodyPr/>
        <a:lstStyle/>
        <a:p>
          <a:endParaRPr lang="en-US"/>
        </a:p>
      </dgm:t>
    </dgm:pt>
    <dgm:pt modelId="{1FDC919F-2135-4225-A46B-BCD33C74BF05}" type="sibTrans" cxnId="{E6D399A5-1284-4EB4-B266-55F5A038B985}">
      <dgm:prSet/>
      <dgm:spPr/>
      <dgm:t>
        <a:bodyPr/>
        <a:lstStyle/>
        <a:p>
          <a:endParaRPr lang="en-US"/>
        </a:p>
      </dgm:t>
    </dgm:pt>
    <dgm:pt modelId="{FD6F03F2-9A3E-4F97-88CD-22211A14DA58}">
      <dgm:prSet/>
      <dgm:spPr/>
      <dgm:t>
        <a:bodyPr/>
        <a:lstStyle/>
        <a:p>
          <a:pPr rtl="0"/>
          <a:r>
            <a:rPr lang="en-US"/>
            <a:t>Continuous variables</a:t>
          </a:r>
        </a:p>
      </dgm:t>
    </dgm:pt>
    <dgm:pt modelId="{FFF5E790-C919-46CE-B9F1-9DF3D3469456}" type="parTrans" cxnId="{5F46FB79-A680-48D9-927A-90295948E215}">
      <dgm:prSet/>
      <dgm:spPr/>
      <dgm:t>
        <a:bodyPr/>
        <a:lstStyle/>
        <a:p>
          <a:endParaRPr lang="en-US"/>
        </a:p>
      </dgm:t>
    </dgm:pt>
    <dgm:pt modelId="{2C6738EA-148F-4E7C-8919-E1A3E6026278}" type="sibTrans" cxnId="{5F46FB79-A680-48D9-927A-90295948E215}">
      <dgm:prSet/>
      <dgm:spPr/>
      <dgm:t>
        <a:bodyPr/>
        <a:lstStyle/>
        <a:p>
          <a:endParaRPr lang="en-US"/>
        </a:p>
      </dgm:t>
    </dgm:pt>
    <dgm:pt modelId="{8454E0A3-832F-49D7-AF61-114E78387672}">
      <dgm:prSet/>
      <dgm:spPr/>
      <dgm:t>
        <a:bodyPr/>
        <a:lstStyle/>
        <a:p>
          <a:pPr rtl="0"/>
          <a:r>
            <a:rPr lang="en-US"/>
            <a:t>e.g., start/end times for Hubble Space Telescope observations</a:t>
          </a:r>
        </a:p>
      </dgm:t>
    </dgm:pt>
    <dgm:pt modelId="{AB7CB9B4-8A29-4008-83D1-FA4DF561AFBD}" type="parTrans" cxnId="{423BE487-C7FF-43CA-98AB-A40C83EE8A43}">
      <dgm:prSet/>
      <dgm:spPr/>
      <dgm:t>
        <a:bodyPr/>
        <a:lstStyle/>
        <a:p>
          <a:endParaRPr lang="en-US"/>
        </a:p>
      </dgm:t>
    </dgm:pt>
    <dgm:pt modelId="{0B35C1C2-4966-41D4-B6ED-5EDB65FB351A}" type="sibTrans" cxnId="{423BE487-C7FF-43CA-98AB-A40C83EE8A43}">
      <dgm:prSet/>
      <dgm:spPr/>
      <dgm:t>
        <a:bodyPr/>
        <a:lstStyle/>
        <a:p>
          <a:endParaRPr lang="en-US"/>
        </a:p>
      </dgm:t>
    </dgm:pt>
    <dgm:pt modelId="{F27CA5CE-ED9F-4752-B61F-34B99A2C0613}">
      <dgm:prSet/>
      <dgm:spPr/>
      <dgm:t>
        <a:bodyPr/>
        <a:lstStyle/>
        <a:p>
          <a:pPr rtl="0"/>
          <a:r>
            <a:rPr lang="en-US"/>
            <a:t>Linear programming problems (i.e., with linear constraints) can be solved in polynomial time</a:t>
          </a:r>
        </a:p>
      </dgm:t>
    </dgm:pt>
    <dgm:pt modelId="{4130C794-9622-4BCF-AC5A-FF0BF6723A5A}" type="parTrans" cxnId="{35BEA77A-E1EB-40DA-929C-7DA63D404C63}">
      <dgm:prSet/>
      <dgm:spPr/>
      <dgm:t>
        <a:bodyPr/>
        <a:lstStyle/>
        <a:p>
          <a:endParaRPr lang="en-US"/>
        </a:p>
      </dgm:t>
    </dgm:pt>
    <dgm:pt modelId="{5F61EABB-E353-41E8-AEE4-55CD800EC8B9}" type="sibTrans" cxnId="{35BEA77A-E1EB-40DA-929C-7DA63D404C63}">
      <dgm:prSet/>
      <dgm:spPr/>
      <dgm:t>
        <a:bodyPr/>
        <a:lstStyle/>
        <a:p>
          <a:endParaRPr lang="en-US"/>
        </a:p>
      </dgm:t>
    </dgm:pt>
    <dgm:pt modelId="{A0A6EDC3-593D-49C0-96A2-7600B0418E52}" type="pres">
      <dgm:prSet presAssocID="{D8781255-43C5-4AA5-8AD6-7F83EF08B8B7}" presName="linear" presStyleCnt="0">
        <dgm:presLayoutVars>
          <dgm:animLvl val="lvl"/>
          <dgm:resizeHandles val="exact"/>
        </dgm:presLayoutVars>
      </dgm:prSet>
      <dgm:spPr/>
    </dgm:pt>
    <dgm:pt modelId="{ED366B8F-F31D-4BE7-958D-94A658F8136D}" type="pres">
      <dgm:prSet presAssocID="{597F3530-C022-45FF-AC38-A15EF256E9C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C2E0705-3B0B-43D2-A37F-6F6FC6369608}" type="pres">
      <dgm:prSet presAssocID="{597F3530-C022-45FF-AC38-A15EF256E9C3}" presName="childText" presStyleLbl="revTx" presStyleIdx="0" presStyleCnt="2">
        <dgm:presLayoutVars>
          <dgm:bulletEnabled val="1"/>
        </dgm:presLayoutVars>
      </dgm:prSet>
      <dgm:spPr/>
    </dgm:pt>
    <dgm:pt modelId="{0E969B4D-AD0A-44EC-B95D-5C606969A99D}" type="pres">
      <dgm:prSet presAssocID="{FD6F03F2-9A3E-4F97-88CD-22211A14DA5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ACB4311-FC5E-4401-B5AD-6481E9276FC0}" type="pres">
      <dgm:prSet presAssocID="{FD6F03F2-9A3E-4F97-88CD-22211A14DA5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F79C504-B9A0-4F5A-BF93-33AEC031BA2F}" type="presOf" srcId="{6864405C-8A5C-4733-80D3-F72FD8C45AAF}" destId="{8C2E0705-3B0B-43D2-A37F-6F6FC6369608}" srcOrd="0" destOrd="3" presId="urn:microsoft.com/office/officeart/2005/8/layout/vList2"/>
    <dgm:cxn modelId="{FE8A3F1E-0C5E-4233-96F5-5C311120A104}" type="presOf" srcId="{D8781255-43C5-4AA5-8AD6-7F83EF08B8B7}" destId="{A0A6EDC3-593D-49C0-96A2-7600B0418E52}" srcOrd="0" destOrd="0" presId="urn:microsoft.com/office/officeart/2005/8/layout/vList2"/>
    <dgm:cxn modelId="{48D65E1E-9DCE-44C7-9B04-ACAD19D1D2EF}" srcId="{6864405C-8A5C-4733-80D3-F72FD8C45AAF}" destId="{EB45A6E1-09AA-4715-9CBE-E42AC4D073BA}" srcOrd="1" destOrd="0" parTransId="{BFFE40C1-252D-4B5F-B642-3385A44346A0}" sibTransId="{69A11CC0-00BE-4DA9-B339-B4A9ABA7E30C}"/>
    <dgm:cxn modelId="{15897426-1698-4890-BAA8-345F5B83F64E}" type="presOf" srcId="{EB956270-42F5-45C4-81B1-C3A8ACBF63BB}" destId="{8C2E0705-3B0B-43D2-A37F-6F6FC6369608}" srcOrd="0" destOrd="6" presId="urn:microsoft.com/office/officeart/2005/8/layout/vList2"/>
    <dgm:cxn modelId="{95BFCA2D-7A36-454C-A91B-4FB45DC69EE2}" type="presOf" srcId="{FD6F03F2-9A3E-4F97-88CD-22211A14DA58}" destId="{0E969B4D-AD0A-44EC-B95D-5C606969A99D}" srcOrd="0" destOrd="0" presId="urn:microsoft.com/office/officeart/2005/8/layout/vList2"/>
    <dgm:cxn modelId="{ECD4E651-FCA1-46A3-88B1-712B93D83FEA}" srcId="{A3CC4527-FA7B-442A-BA5A-413234849556}" destId="{D6DD0DB6-55B3-46DF-91A2-8F25F8A920D4}" srcOrd="1" destOrd="0" parTransId="{CE1E63EB-0E31-453F-91E7-580E0F4E57F6}" sibTransId="{F8F674FC-75F3-4FF6-B18A-90D34E32D10C}"/>
    <dgm:cxn modelId="{D01A9759-2E6D-406F-9CE9-D66A55A122DB}" type="presOf" srcId="{D6DD0DB6-55B3-46DF-91A2-8F25F8A920D4}" destId="{8C2E0705-3B0B-43D2-A37F-6F6FC6369608}" srcOrd="0" destOrd="2" presId="urn:microsoft.com/office/officeart/2005/8/layout/vList2"/>
    <dgm:cxn modelId="{261F3E65-A180-4A90-87E9-DA938E0F8053}" type="presOf" srcId="{A3CC4527-FA7B-442A-BA5A-413234849556}" destId="{8C2E0705-3B0B-43D2-A37F-6F6FC6369608}" srcOrd="0" destOrd="0" presId="urn:microsoft.com/office/officeart/2005/8/layout/vList2"/>
    <dgm:cxn modelId="{1A817D68-A0E4-4588-9520-7C873C22E561}" srcId="{597F3530-C022-45FF-AC38-A15EF256E9C3}" destId="{A3CC4527-FA7B-442A-BA5A-413234849556}" srcOrd="0" destOrd="0" parTransId="{77BAD47E-8D28-4E21-A8D6-B4526411B750}" sibTransId="{8BEFC525-C70B-4477-8FDC-CFD322CAB4B3}"/>
    <dgm:cxn modelId="{7365C76D-356C-4F77-B1A5-118178C90C0C}" type="presOf" srcId="{597F3530-C022-45FF-AC38-A15EF256E9C3}" destId="{ED366B8F-F31D-4BE7-958D-94A658F8136D}" srcOrd="0" destOrd="0" presId="urn:microsoft.com/office/officeart/2005/8/layout/vList2"/>
    <dgm:cxn modelId="{5F46FB79-A680-48D9-927A-90295948E215}" srcId="{D8781255-43C5-4AA5-8AD6-7F83EF08B8B7}" destId="{FD6F03F2-9A3E-4F97-88CD-22211A14DA58}" srcOrd="1" destOrd="0" parTransId="{FFF5E790-C919-46CE-B9F1-9DF3D3469456}" sibTransId="{2C6738EA-148F-4E7C-8919-E1A3E6026278}"/>
    <dgm:cxn modelId="{35BEA77A-E1EB-40DA-929C-7DA63D404C63}" srcId="{FD6F03F2-9A3E-4F97-88CD-22211A14DA58}" destId="{F27CA5CE-ED9F-4752-B61F-34B99A2C0613}" srcOrd="1" destOrd="0" parTransId="{4130C794-9622-4BCF-AC5A-FF0BF6723A5A}" sibTransId="{5F61EABB-E353-41E8-AEE4-55CD800EC8B9}"/>
    <dgm:cxn modelId="{998ECB7D-00C3-42AE-958D-977835314857}" srcId="{597F3530-C022-45FF-AC38-A15EF256E9C3}" destId="{6864405C-8A5C-4733-80D3-F72FD8C45AAF}" srcOrd="1" destOrd="0" parTransId="{FFA8E838-821B-4E9E-89F1-4F6726674DD7}" sibTransId="{019071E0-5689-460D-90BC-626A8BAC7ADD}"/>
    <dgm:cxn modelId="{423BE487-C7FF-43CA-98AB-A40C83EE8A43}" srcId="{FD6F03F2-9A3E-4F97-88CD-22211A14DA58}" destId="{8454E0A3-832F-49D7-AF61-114E78387672}" srcOrd="0" destOrd="0" parTransId="{AB7CB9B4-8A29-4008-83D1-FA4DF561AFBD}" sibTransId="{0B35C1C2-4966-41D4-B6ED-5EDB65FB351A}"/>
    <dgm:cxn modelId="{54CC0D8B-9AE4-4F16-9885-11B691DE845A}" srcId="{6864405C-8A5C-4733-80D3-F72FD8C45AAF}" destId="{4651BA52-1833-4862-B60C-85D4A7E023DA}" srcOrd="0" destOrd="0" parTransId="{97FD3C61-5C27-49A8-A233-26CB788A5C4E}" sibTransId="{A5117634-B32C-4D27-9C1D-4CFCE8C890CF}"/>
    <dgm:cxn modelId="{F8778B8C-2E98-40F3-BA3B-24A58CE2A118}" type="presOf" srcId="{4651BA52-1833-4862-B60C-85D4A7E023DA}" destId="{8C2E0705-3B0B-43D2-A37F-6F6FC6369608}" srcOrd="0" destOrd="4" presId="urn:microsoft.com/office/officeart/2005/8/layout/vList2"/>
    <dgm:cxn modelId="{52F0D199-6B9A-416F-BA05-11E412289A4D}" srcId="{A3CC4527-FA7B-442A-BA5A-413234849556}" destId="{4908DCBA-5BA5-4FF9-B889-61E702B190EC}" srcOrd="0" destOrd="0" parTransId="{61558894-8B99-4B0F-82D3-F64EAAD4BC9C}" sibTransId="{799A5CA1-91B4-445B-8FE3-1805315E3DEF}"/>
    <dgm:cxn modelId="{E6D399A5-1284-4EB4-B266-55F5A038B985}" srcId="{6864405C-8A5C-4733-80D3-F72FD8C45AAF}" destId="{EB956270-42F5-45C4-81B1-C3A8ACBF63BB}" srcOrd="2" destOrd="0" parTransId="{5F8F369B-09A1-4389-A663-6FDB937A9F0F}" sibTransId="{1FDC919F-2135-4225-A46B-BCD33C74BF05}"/>
    <dgm:cxn modelId="{C7AF7DC3-2154-416C-A431-A567EC7512A3}" type="presOf" srcId="{F27CA5CE-ED9F-4752-B61F-34B99A2C0613}" destId="{2ACB4311-FC5E-4401-B5AD-6481E9276FC0}" srcOrd="0" destOrd="1" presId="urn:microsoft.com/office/officeart/2005/8/layout/vList2"/>
    <dgm:cxn modelId="{45C884C7-3898-45E5-AE31-5283838AC404}" type="presOf" srcId="{4908DCBA-5BA5-4FF9-B889-61E702B190EC}" destId="{8C2E0705-3B0B-43D2-A37F-6F6FC6369608}" srcOrd="0" destOrd="1" presId="urn:microsoft.com/office/officeart/2005/8/layout/vList2"/>
    <dgm:cxn modelId="{7B0E5FD7-10CD-4BD1-862F-AF9E540E4C3A}" srcId="{D8781255-43C5-4AA5-8AD6-7F83EF08B8B7}" destId="{597F3530-C022-45FF-AC38-A15EF256E9C3}" srcOrd="0" destOrd="0" parTransId="{2F175C29-23EC-416B-9EB4-19AB4DF06BC6}" sibTransId="{F96AF21F-B45C-4CBE-AC5E-9CC6E41283F9}"/>
    <dgm:cxn modelId="{5715FDF2-E667-4196-A216-ABCD20251F7D}" type="presOf" srcId="{8454E0A3-832F-49D7-AF61-114E78387672}" destId="{2ACB4311-FC5E-4401-B5AD-6481E9276FC0}" srcOrd="0" destOrd="0" presId="urn:microsoft.com/office/officeart/2005/8/layout/vList2"/>
    <dgm:cxn modelId="{DB67DCFE-CDAE-4F24-9BE5-C8BB035F9B0C}" type="presOf" srcId="{EB45A6E1-09AA-4715-9CBE-E42AC4D073BA}" destId="{8C2E0705-3B0B-43D2-A37F-6F6FC6369608}" srcOrd="0" destOrd="5" presId="urn:microsoft.com/office/officeart/2005/8/layout/vList2"/>
    <dgm:cxn modelId="{CB06AEE9-8610-4755-AAE3-E4E940EAA548}" type="presParOf" srcId="{A0A6EDC3-593D-49C0-96A2-7600B0418E52}" destId="{ED366B8F-F31D-4BE7-958D-94A658F8136D}" srcOrd="0" destOrd="0" presId="urn:microsoft.com/office/officeart/2005/8/layout/vList2"/>
    <dgm:cxn modelId="{58B88860-1AC4-4CA5-A0FA-BECA9D1112A0}" type="presParOf" srcId="{A0A6EDC3-593D-49C0-96A2-7600B0418E52}" destId="{8C2E0705-3B0B-43D2-A37F-6F6FC6369608}" srcOrd="1" destOrd="0" presId="urn:microsoft.com/office/officeart/2005/8/layout/vList2"/>
    <dgm:cxn modelId="{353D91C3-8A9A-463C-90D1-60C61FAD679E}" type="presParOf" srcId="{A0A6EDC3-593D-49C0-96A2-7600B0418E52}" destId="{0E969B4D-AD0A-44EC-B95D-5C606969A99D}" srcOrd="2" destOrd="0" presId="urn:microsoft.com/office/officeart/2005/8/layout/vList2"/>
    <dgm:cxn modelId="{29D63781-1D54-4C2B-BC03-CDF4B07A3913}" type="presParOf" srcId="{A0A6EDC3-593D-49C0-96A2-7600B0418E52}" destId="{2ACB4311-FC5E-4401-B5AD-6481E9276FC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781255-43C5-4AA5-8AD6-7F83EF08B8B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7F3530-C022-45FF-AC38-A15EF256E9C3}">
      <dgm:prSet/>
      <dgm:spPr/>
      <dgm:t>
        <a:bodyPr/>
        <a:lstStyle/>
        <a:p>
          <a:pPr rtl="0"/>
          <a:r>
            <a:rPr lang="en-US"/>
            <a:t>Discrete variables</a:t>
          </a:r>
        </a:p>
      </dgm:t>
    </dgm:pt>
    <dgm:pt modelId="{2F175C29-23EC-416B-9EB4-19AB4DF06BC6}" type="parTrans" cxnId="{7B0E5FD7-10CD-4BD1-862F-AF9E540E4C3A}">
      <dgm:prSet/>
      <dgm:spPr/>
      <dgm:t>
        <a:bodyPr/>
        <a:lstStyle/>
        <a:p>
          <a:endParaRPr lang="en-US"/>
        </a:p>
      </dgm:t>
    </dgm:pt>
    <dgm:pt modelId="{F96AF21F-B45C-4CBE-AC5E-9CC6E41283F9}" type="sibTrans" cxnId="{7B0E5FD7-10CD-4BD1-862F-AF9E540E4C3A}">
      <dgm:prSet/>
      <dgm:spPr/>
      <dgm:t>
        <a:bodyPr/>
        <a:lstStyle/>
        <a:p>
          <a:endParaRPr lang="en-US"/>
        </a:p>
      </dgm:t>
    </dgm:pt>
    <dgm:pt modelId="{A3CC4527-FA7B-442A-BA5A-413234849556}">
      <dgm:prSet/>
      <dgm:spPr>
        <a:blipFill>
          <a:blip xmlns:r="http://schemas.openxmlformats.org/officeDocument/2006/relationships" r:embed="rId1"/>
          <a:stretch>
            <a:fillRect t="-3431" b="-2451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77BAD47E-8D28-4E21-A8D6-B4526411B750}" type="parTrans" cxnId="{1A817D68-A0E4-4588-9520-7C873C22E561}">
      <dgm:prSet/>
      <dgm:spPr/>
      <dgm:t>
        <a:bodyPr/>
        <a:lstStyle/>
        <a:p>
          <a:endParaRPr lang="en-US"/>
        </a:p>
      </dgm:t>
    </dgm:pt>
    <dgm:pt modelId="{8BEFC525-C70B-4477-8FDC-CFD322CAB4B3}" type="sibTrans" cxnId="{1A817D68-A0E4-4588-9520-7C873C22E561}">
      <dgm:prSet/>
      <dgm:spPr/>
      <dgm:t>
        <a:bodyPr/>
        <a:lstStyle/>
        <a:p>
          <a:endParaRPr lang="en-US"/>
        </a:p>
      </dgm:t>
    </dgm:pt>
    <dgm:pt modelId="{4908DCBA-5BA5-4FF9-B889-61E702B190EC}">
      <dgm:prSet/>
      <dgm:spPr/>
      <dgm:t>
        <a:bodyPr/>
        <a:lstStyle/>
        <a:p>
          <a:r>
            <a:rPr lang="en-GB">
              <a:noFill/>
            </a:rPr>
            <a:t> </a:t>
          </a:r>
        </a:p>
      </dgm:t>
    </dgm:pt>
    <dgm:pt modelId="{61558894-8B99-4B0F-82D3-F64EAAD4BC9C}" type="parTrans" cxnId="{52F0D199-6B9A-416F-BA05-11E412289A4D}">
      <dgm:prSet/>
      <dgm:spPr/>
      <dgm:t>
        <a:bodyPr/>
        <a:lstStyle/>
        <a:p>
          <a:endParaRPr lang="en-US"/>
        </a:p>
      </dgm:t>
    </dgm:pt>
    <dgm:pt modelId="{799A5CA1-91B4-445B-8FE3-1805315E3DEF}" type="sibTrans" cxnId="{52F0D199-6B9A-416F-BA05-11E412289A4D}">
      <dgm:prSet/>
      <dgm:spPr/>
      <dgm:t>
        <a:bodyPr/>
        <a:lstStyle/>
        <a:p>
          <a:endParaRPr lang="en-US"/>
        </a:p>
      </dgm:t>
    </dgm:pt>
    <dgm:pt modelId="{D6DD0DB6-55B3-46DF-91A2-8F25F8A920D4}">
      <dgm:prSet/>
      <dgm:spPr/>
      <dgm:t>
        <a:bodyPr/>
        <a:lstStyle/>
        <a:p>
          <a:r>
            <a:rPr lang="en-GB">
              <a:noFill/>
            </a:rPr>
            <a:t> </a:t>
          </a:r>
        </a:p>
      </dgm:t>
    </dgm:pt>
    <dgm:pt modelId="{CE1E63EB-0E31-453F-91E7-580E0F4E57F6}" type="parTrans" cxnId="{ECD4E651-FCA1-46A3-88B1-712B93D83FEA}">
      <dgm:prSet/>
      <dgm:spPr/>
      <dgm:t>
        <a:bodyPr/>
        <a:lstStyle/>
        <a:p>
          <a:endParaRPr lang="en-US"/>
        </a:p>
      </dgm:t>
    </dgm:pt>
    <dgm:pt modelId="{F8F674FC-75F3-4FF6-B18A-90D34E32D10C}" type="sibTrans" cxnId="{ECD4E651-FCA1-46A3-88B1-712B93D83FEA}">
      <dgm:prSet/>
      <dgm:spPr/>
      <dgm:t>
        <a:bodyPr/>
        <a:lstStyle/>
        <a:p>
          <a:endParaRPr lang="en-US"/>
        </a:p>
      </dgm:t>
    </dgm:pt>
    <dgm:pt modelId="{6864405C-8A5C-4733-80D3-F72FD8C45AAF}">
      <dgm:prSet/>
      <dgm:spPr/>
      <dgm:t>
        <a:bodyPr/>
        <a:lstStyle/>
        <a:p>
          <a:r>
            <a:rPr lang="en-GB">
              <a:noFill/>
            </a:rPr>
            <a:t> </a:t>
          </a:r>
        </a:p>
      </dgm:t>
    </dgm:pt>
    <dgm:pt modelId="{FFA8E838-821B-4E9E-89F1-4F6726674DD7}" type="parTrans" cxnId="{998ECB7D-00C3-42AE-958D-977835314857}">
      <dgm:prSet/>
      <dgm:spPr/>
      <dgm:t>
        <a:bodyPr/>
        <a:lstStyle/>
        <a:p>
          <a:endParaRPr lang="en-US"/>
        </a:p>
      </dgm:t>
    </dgm:pt>
    <dgm:pt modelId="{019071E0-5689-460D-90BC-626A8BAC7ADD}" type="sibTrans" cxnId="{998ECB7D-00C3-42AE-958D-977835314857}">
      <dgm:prSet/>
      <dgm:spPr/>
      <dgm:t>
        <a:bodyPr/>
        <a:lstStyle/>
        <a:p>
          <a:endParaRPr lang="en-US"/>
        </a:p>
      </dgm:t>
    </dgm:pt>
    <dgm:pt modelId="{4651BA52-1833-4862-B60C-85D4A7E023DA}">
      <dgm:prSet/>
      <dgm:spPr/>
      <dgm:t>
        <a:bodyPr/>
        <a:lstStyle/>
        <a:p>
          <a:r>
            <a:rPr lang="en-GB">
              <a:noFill/>
            </a:rPr>
            <a:t> </a:t>
          </a:r>
        </a:p>
      </dgm:t>
    </dgm:pt>
    <dgm:pt modelId="{97FD3C61-5C27-49A8-A233-26CB788A5C4E}" type="parTrans" cxnId="{54CC0D8B-9AE4-4F16-9885-11B691DE845A}">
      <dgm:prSet/>
      <dgm:spPr/>
      <dgm:t>
        <a:bodyPr/>
        <a:lstStyle/>
        <a:p>
          <a:endParaRPr lang="en-US"/>
        </a:p>
      </dgm:t>
    </dgm:pt>
    <dgm:pt modelId="{A5117634-B32C-4D27-9C1D-4CFCE8C890CF}" type="sibTrans" cxnId="{54CC0D8B-9AE4-4F16-9885-11B691DE845A}">
      <dgm:prSet/>
      <dgm:spPr/>
      <dgm:t>
        <a:bodyPr/>
        <a:lstStyle/>
        <a:p>
          <a:endParaRPr lang="en-US"/>
        </a:p>
      </dgm:t>
    </dgm:pt>
    <dgm:pt modelId="{EB45A6E1-09AA-4715-9CBE-E42AC4D073BA}">
      <dgm:prSet/>
      <dgm:spPr/>
      <dgm:t>
        <a:bodyPr/>
        <a:lstStyle/>
        <a:p>
          <a:r>
            <a:rPr lang="en-GB">
              <a:noFill/>
            </a:rPr>
            <a:t> </a:t>
          </a:r>
        </a:p>
      </dgm:t>
    </dgm:pt>
    <dgm:pt modelId="{BFFE40C1-252D-4B5F-B642-3385A44346A0}" type="parTrans" cxnId="{48D65E1E-9DCE-44C7-9B04-ACAD19D1D2EF}">
      <dgm:prSet/>
      <dgm:spPr/>
      <dgm:t>
        <a:bodyPr/>
        <a:lstStyle/>
        <a:p>
          <a:endParaRPr lang="en-US"/>
        </a:p>
      </dgm:t>
    </dgm:pt>
    <dgm:pt modelId="{69A11CC0-00BE-4DA9-B339-B4A9ABA7E30C}" type="sibTrans" cxnId="{48D65E1E-9DCE-44C7-9B04-ACAD19D1D2EF}">
      <dgm:prSet/>
      <dgm:spPr/>
      <dgm:t>
        <a:bodyPr/>
        <a:lstStyle/>
        <a:p>
          <a:endParaRPr lang="en-US"/>
        </a:p>
      </dgm:t>
    </dgm:pt>
    <dgm:pt modelId="{EB956270-42F5-45C4-81B1-C3A8ACBF63BB}">
      <dgm:prSet/>
      <dgm:spPr/>
      <dgm:t>
        <a:bodyPr/>
        <a:lstStyle/>
        <a:p>
          <a:r>
            <a:rPr lang="en-GB">
              <a:noFill/>
            </a:rPr>
            <a:t> </a:t>
          </a:r>
        </a:p>
      </dgm:t>
    </dgm:pt>
    <dgm:pt modelId="{5F8F369B-09A1-4389-A663-6FDB937A9F0F}" type="parTrans" cxnId="{E6D399A5-1284-4EB4-B266-55F5A038B985}">
      <dgm:prSet/>
      <dgm:spPr/>
      <dgm:t>
        <a:bodyPr/>
        <a:lstStyle/>
        <a:p>
          <a:endParaRPr lang="en-US"/>
        </a:p>
      </dgm:t>
    </dgm:pt>
    <dgm:pt modelId="{1FDC919F-2135-4225-A46B-BCD33C74BF05}" type="sibTrans" cxnId="{E6D399A5-1284-4EB4-B266-55F5A038B985}">
      <dgm:prSet/>
      <dgm:spPr/>
      <dgm:t>
        <a:bodyPr/>
        <a:lstStyle/>
        <a:p>
          <a:endParaRPr lang="en-US"/>
        </a:p>
      </dgm:t>
    </dgm:pt>
    <dgm:pt modelId="{FD6F03F2-9A3E-4F97-88CD-22211A14DA58}">
      <dgm:prSet/>
      <dgm:spPr/>
      <dgm:t>
        <a:bodyPr/>
        <a:lstStyle/>
        <a:p>
          <a:pPr rtl="0"/>
          <a:r>
            <a:rPr lang="en-US"/>
            <a:t>Continuous variables</a:t>
          </a:r>
        </a:p>
      </dgm:t>
    </dgm:pt>
    <dgm:pt modelId="{FFF5E790-C919-46CE-B9F1-9DF3D3469456}" type="parTrans" cxnId="{5F46FB79-A680-48D9-927A-90295948E215}">
      <dgm:prSet/>
      <dgm:spPr/>
      <dgm:t>
        <a:bodyPr/>
        <a:lstStyle/>
        <a:p>
          <a:endParaRPr lang="en-US"/>
        </a:p>
      </dgm:t>
    </dgm:pt>
    <dgm:pt modelId="{2C6738EA-148F-4E7C-8919-E1A3E6026278}" type="sibTrans" cxnId="{5F46FB79-A680-48D9-927A-90295948E215}">
      <dgm:prSet/>
      <dgm:spPr/>
      <dgm:t>
        <a:bodyPr/>
        <a:lstStyle/>
        <a:p>
          <a:endParaRPr lang="en-US"/>
        </a:p>
      </dgm:t>
    </dgm:pt>
    <dgm:pt modelId="{8454E0A3-832F-49D7-AF61-114E78387672}">
      <dgm:prSet/>
      <dgm:spPr/>
      <dgm:t>
        <a:bodyPr/>
        <a:lstStyle/>
        <a:p>
          <a:pPr rtl="0"/>
          <a:r>
            <a:rPr lang="en-US"/>
            <a:t>e.g., start/end times for Hubble Space Telescope observations</a:t>
          </a:r>
        </a:p>
      </dgm:t>
    </dgm:pt>
    <dgm:pt modelId="{AB7CB9B4-8A29-4008-83D1-FA4DF561AFBD}" type="parTrans" cxnId="{423BE487-C7FF-43CA-98AB-A40C83EE8A43}">
      <dgm:prSet/>
      <dgm:spPr/>
      <dgm:t>
        <a:bodyPr/>
        <a:lstStyle/>
        <a:p>
          <a:endParaRPr lang="en-US"/>
        </a:p>
      </dgm:t>
    </dgm:pt>
    <dgm:pt modelId="{0B35C1C2-4966-41D4-B6ED-5EDB65FB351A}" type="sibTrans" cxnId="{423BE487-C7FF-43CA-98AB-A40C83EE8A43}">
      <dgm:prSet/>
      <dgm:spPr/>
      <dgm:t>
        <a:bodyPr/>
        <a:lstStyle/>
        <a:p>
          <a:endParaRPr lang="en-US"/>
        </a:p>
      </dgm:t>
    </dgm:pt>
    <dgm:pt modelId="{F27CA5CE-ED9F-4752-B61F-34B99A2C0613}">
      <dgm:prSet/>
      <dgm:spPr/>
      <dgm:t>
        <a:bodyPr/>
        <a:lstStyle/>
        <a:p>
          <a:pPr rtl="0"/>
          <a:r>
            <a:rPr lang="en-US"/>
            <a:t>Linear programming problems (i.e., with linear constraints) can be solved in polynomial time</a:t>
          </a:r>
        </a:p>
      </dgm:t>
    </dgm:pt>
    <dgm:pt modelId="{4130C794-9622-4BCF-AC5A-FF0BF6723A5A}" type="parTrans" cxnId="{35BEA77A-E1EB-40DA-929C-7DA63D404C63}">
      <dgm:prSet/>
      <dgm:spPr/>
      <dgm:t>
        <a:bodyPr/>
        <a:lstStyle/>
        <a:p>
          <a:endParaRPr lang="en-US"/>
        </a:p>
      </dgm:t>
    </dgm:pt>
    <dgm:pt modelId="{5F61EABB-E353-41E8-AEE4-55CD800EC8B9}" type="sibTrans" cxnId="{35BEA77A-E1EB-40DA-929C-7DA63D404C63}">
      <dgm:prSet/>
      <dgm:spPr/>
      <dgm:t>
        <a:bodyPr/>
        <a:lstStyle/>
        <a:p>
          <a:endParaRPr lang="en-US"/>
        </a:p>
      </dgm:t>
    </dgm:pt>
    <dgm:pt modelId="{A0A6EDC3-593D-49C0-96A2-7600B0418E52}" type="pres">
      <dgm:prSet presAssocID="{D8781255-43C5-4AA5-8AD6-7F83EF08B8B7}" presName="linear" presStyleCnt="0">
        <dgm:presLayoutVars>
          <dgm:animLvl val="lvl"/>
          <dgm:resizeHandles val="exact"/>
        </dgm:presLayoutVars>
      </dgm:prSet>
      <dgm:spPr/>
    </dgm:pt>
    <dgm:pt modelId="{ED366B8F-F31D-4BE7-958D-94A658F8136D}" type="pres">
      <dgm:prSet presAssocID="{597F3530-C022-45FF-AC38-A15EF256E9C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C2E0705-3B0B-43D2-A37F-6F6FC6369608}" type="pres">
      <dgm:prSet presAssocID="{597F3530-C022-45FF-AC38-A15EF256E9C3}" presName="childText" presStyleLbl="revTx" presStyleIdx="0" presStyleCnt="2">
        <dgm:presLayoutVars>
          <dgm:bulletEnabled val="1"/>
        </dgm:presLayoutVars>
      </dgm:prSet>
      <dgm:spPr/>
    </dgm:pt>
    <dgm:pt modelId="{0E969B4D-AD0A-44EC-B95D-5C606969A99D}" type="pres">
      <dgm:prSet presAssocID="{FD6F03F2-9A3E-4F97-88CD-22211A14DA5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ACB4311-FC5E-4401-B5AD-6481E9276FC0}" type="pres">
      <dgm:prSet presAssocID="{FD6F03F2-9A3E-4F97-88CD-22211A14DA5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F79C504-B9A0-4F5A-BF93-33AEC031BA2F}" type="presOf" srcId="{6864405C-8A5C-4733-80D3-F72FD8C45AAF}" destId="{8C2E0705-3B0B-43D2-A37F-6F6FC6369608}" srcOrd="0" destOrd="3" presId="urn:microsoft.com/office/officeart/2005/8/layout/vList2"/>
    <dgm:cxn modelId="{FE8A3F1E-0C5E-4233-96F5-5C311120A104}" type="presOf" srcId="{D8781255-43C5-4AA5-8AD6-7F83EF08B8B7}" destId="{A0A6EDC3-593D-49C0-96A2-7600B0418E52}" srcOrd="0" destOrd="0" presId="urn:microsoft.com/office/officeart/2005/8/layout/vList2"/>
    <dgm:cxn modelId="{48D65E1E-9DCE-44C7-9B04-ACAD19D1D2EF}" srcId="{6864405C-8A5C-4733-80D3-F72FD8C45AAF}" destId="{EB45A6E1-09AA-4715-9CBE-E42AC4D073BA}" srcOrd="1" destOrd="0" parTransId="{BFFE40C1-252D-4B5F-B642-3385A44346A0}" sibTransId="{69A11CC0-00BE-4DA9-B339-B4A9ABA7E30C}"/>
    <dgm:cxn modelId="{15897426-1698-4890-BAA8-345F5B83F64E}" type="presOf" srcId="{EB956270-42F5-45C4-81B1-C3A8ACBF63BB}" destId="{8C2E0705-3B0B-43D2-A37F-6F6FC6369608}" srcOrd="0" destOrd="6" presId="urn:microsoft.com/office/officeart/2005/8/layout/vList2"/>
    <dgm:cxn modelId="{95BFCA2D-7A36-454C-A91B-4FB45DC69EE2}" type="presOf" srcId="{FD6F03F2-9A3E-4F97-88CD-22211A14DA58}" destId="{0E969B4D-AD0A-44EC-B95D-5C606969A99D}" srcOrd="0" destOrd="0" presId="urn:microsoft.com/office/officeart/2005/8/layout/vList2"/>
    <dgm:cxn modelId="{ECD4E651-FCA1-46A3-88B1-712B93D83FEA}" srcId="{A3CC4527-FA7B-442A-BA5A-413234849556}" destId="{D6DD0DB6-55B3-46DF-91A2-8F25F8A920D4}" srcOrd="1" destOrd="0" parTransId="{CE1E63EB-0E31-453F-91E7-580E0F4E57F6}" sibTransId="{F8F674FC-75F3-4FF6-B18A-90D34E32D10C}"/>
    <dgm:cxn modelId="{D01A9759-2E6D-406F-9CE9-D66A55A122DB}" type="presOf" srcId="{D6DD0DB6-55B3-46DF-91A2-8F25F8A920D4}" destId="{8C2E0705-3B0B-43D2-A37F-6F6FC6369608}" srcOrd="0" destOrd="2" presId="urn:microsoft.com/office/officeart/2005/8/layout/vList2"/>
    <dgm:cxn modelId="{261F3E65-A180-4A90-87E9-DA938E0F8053}" type="presOf" srcId="{A3CC4527-FA7B-442A-BA5A-413234849556}" destId="{8C2E0705-3B0B-43D2-A37F-6F6FC6369608}" srcOrd="0" destOrd="0" presId="urn:microsoft.com/office/officeart/2005/8/layout/vList2"/>
    <dgm:cxn modelId="{1A817D68-A0E4-4588-9520-7C873C22E561}" srcId="{597F3530-C022-45FF-AC38-A15EF256E9C3}" destId="{A3CC4527-FA7B-442A-BA5A-413234849556}" srcOrd="0" destOrd="0" parTransId="{77BAD47E-8D28-4E21-A8D6-B4526411B750}" sibTransId="{8BEFC525-C70B-4477-8FDC-CFD322CAB4B3}"/>
    <dgm:cxn modelId="{7365C76D-356C-4F77-B1A5-118178C90C0C}" type="presOf" srcId="{597F3530-C022-45FF-AC38-A15EF256E9C3}" destId="{ED366B8F-F31D-4BE7-958D-94A658F8136D}" srcOrd="0" destOrd="0" presId="urn:microsoft.com/office/officeart/2005/8/layout/vList2"/>
    <dgm:cxn modelId="{5F46FB79-A680-48D9-927A-90295948E215}" srcId="{D8781255-43C5-4AA5-8AD6-7F83EF08B8B7}" destId="{FD6F03F2-9A3E-4F97-88CD-22211A14DA58}" srcOrd="1" destOrd="0" parTransId="{FFF5E790-C919-46CE-B9F1-9DF3D3469456}" sibTransId="{2C6738EA-148F-4E7C-8919-E1A3E6026278}"/>
    <dgm:cxn modelId="{35BEA77A-E1EB-40DA-929C-7DA63D404C63}" srcId="{FD6F03F2-9A3E-4F97-88CD-22211A14DA58}" destId="{F27CA5CE-ED9F-4752-B61F-34B99A2C0613}" srcOrd="1" destOrd="0" parTransId="{4130C794-9622-4BCF-AC5A-FF0BF6723A5A}" sibTransId="{5F61EABB-E353-41E8-AEE4-55CD800EC8B9}"/>
    <dgm:cxn modelId="{998ECB7D-00C3-42AE-958D-977835314857}" srcId="{597F3530-C022-45FF-AC38-A15EF256E9C3}" destId="{6864405C-8A5C-4733-80D3-F72FD8C45AAF}" srcOrd="1" destOrd="0" parTransId="{FFA8E838-821B-4E9E-89F1-4F6726674DD7}" sibTransId="{019071E0-5689-460D-90BC-626A8BAC7ADD}"/>
    <dgm:cxn modelId="{423BE487-C7FF-43CA-98AB-A40C83EE8A43}" srcId="{FD6F03F2-9A3E-4F97-88CD-22211A14DA58}" destId="{8454E0A3-832F-49D7-AF61-114E78387672}" srcOrd="0" destOrd="0" parTransId="{AB7CB9B4-8A29-4008-83D1-FA4DF561AFBD}" sibTransId="{0B35C1C2-4966-41D4-B6ED-5EDB65FB351A}"/>
    <dgm:cxn modelId="{54CC0D8B-9AE4-4F16-9885-11B691DE845A}" srcId="{6864405C-8A5C-4733-80D3-F72FD8C45AAF}" destId="{4651BA52-1833-4862-B60C-85D4A7E023DA}" srcOrd="0" destOrd="0" parTransId="{97FD3C61-5C27-49A8-A233-26CB788A5C4E}" sibTransId="{A5117634-B32C-4D27-9C1D-4CFCE8C890CF}"/>
    <dgm:cxn modelId="{F8778B8C-2E98-40F3-BA3B-24A58CE2A118}" type="presOf" srcId="{4651BA52-1833-4862-B60C-85D4A7E023DA}" destId="{8C2E0705-3B0B-43D2-A37F-6F6FC6369608}" srcOrd="0" destOrd="4" presId="urn:microsoft.com/office/officeart/2005/8/layout/vList2"/>
    <dgm:cxn modelId="{52F0D199-6B9A-416F-BA05-11E412289A4D}" srcId="{A3CC4527-FA7B-442A-BA5A-413234849556}" destId="{4908DCBA-5BA5-4FF9-B889-61E702B190EC}" srcOrd="0" destOrd="0" parTransId="{61558894-8B99-4B0F-82D3-F64EAAD4BC9C}" sibTransId="{799A5CA1-91B4-445B-8FE3-1805315E3DEF}"/>
    <dgm:cxn modelId="{E6D399A5-1284-4EB4-B266-55F5A038B985}" srcId="{6864405C-8A5C-4733-80D3-F72FD8C45AAF}" destId="{EB956270-42F5-45C4-81B1-C3A8ACBF63BB}" srcOrd="2" destOrd="0" parTransId="{5F8F369B-09A1-4389-A663-6FDB937A9F0F}" sibTransId="{1FDC919F-2135-4225-A46B-BCD33C74BF05}"/>
    <dgm:cxn modelId="{C7AF7DC3-2154-416C-A431-A567EC7512A3}" type="presOf" srcId="{F27CA5CE-ED9F-4752-B61F-34B99A2C0613}" destId="{2ACB4311-FC5E-4401-B5AD-6481E9276FC0}" srcOrd="0" destOrd="1" presId="urn:microsoft.com/office/officeart/2005/8/layout/vList2"/>
    <dgm:cxn modelId="{45C884C7-3898-45E5-AE31-5283838AC404}" type="presOf" srcId="{4908DCBA-5BA5-4FF9-B889-61E702B190EC}" destId="{8C2E0705-3B0B-43D2-A37F-6F6FC6369608}" srcOrd="0" destOrd="1" presId="urn:microsoft.com/office/officeart/2005/8/layout/vList2"/>
    <dgm:cxn modelId="{7B0E5FD7-10CD-4BD1-862F-AF9E540E4C3A}" srcId="{D8781255-43C5-4AA5-8AD6-7F83EF08B8B7}" destId="{597F3530-C022-45FF-AC38-A15EF256E9C3}" srcOrd="0" destOrd="0" parTransId="{2F175C29-23EC-416B-9EB4-19AB4DF06BC6}" sibTransId="{F96AF21F-B45C-4CBE-AC5E-9CC6E41283F9}"/>
    <dgm:cxn modelId="{5715FDF2-E667-4196-A216-ABCD20251F7D}" type="presOf" srcId="{8454E0A3-832F-49D7-AF61-114E78387672}" destId="{2ACB4311-FC5E-4401-B5AD-6481E9276FC0}" srcOrd="0" destOrd="0" presId="urn:microsoft.com/office/officeart/2005/8/layout/vList2"/>
    <dgm:cxn modelId="{DB67DCFE-CDAE-4F24-9BE5-C8BB035F9B0C}" type="presOf" srcId="{EB45A6E1-09AA-4715-9CBE-E42AC4D073BA}" destId="{8C2E0705-3B0B-43D2-A37F-6F6FC6369608}" srcOrd="0" destOrd="5" presId="urn:microsoft.com/office/officeart/2005/8/layout/vList2"/>
    <dgm:cxn modelId="{CB06AEE9-8610-4755-AAE3-E4E940EAA548}" type="presParOf" srcId="{A0A6EDC3-593D-49C0-96A2-7600B0418E52}" destId="{ED366B8F-F31D-4BE7-958D-94A658F8136D}" srcOrd="0" destOrd="0" presId="urn:microsoft.com/office/officeart/2005/8/layout/vList2"/>
    <dgm:cxn modelId="{58B88860-1AC4-4CA5-A0FA-BECA9D1112A0}" type="presParOf" srcId="{A0A6EDC3-593D-49C0-96A2-7600B0418E52}" destId="{8C2E0705-3B0B-43D2-A37F-6F6FC6369608}" srcOrd="1" destOrd="0" presId="urn:microsoft.com/office/officeart/2005/8/layout/vList2"/>
    <dgm:cxn modelId="{353D91C3-8A9A-463C-90D1-60C61FAD679E}" type="presParOf" srcId="{A0A6EDC3-593D-49C0-96A2-7600B0418E52}" destId="{0E969B4D-AD0A-44EC-B95D-5C606969A99D}" srcOrd="2" destOrd="0" presId="urn:microsoft.com/office/officeart/2005/8/layout/vList2"/>
    <dgm:cxn modelId="{29D63781-1D54-4C2B-BC03-CDF4B07A3913}" type="presParOf" srcId="{A0A6EDC3-593D-49C0-96A2-7600B0418E52}" destId="{2ACB4311-FC5E-4401-B5AD-6481E9276FC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61AFF12-394D-4F03-BD32-F5A55C1207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96394E-432C-4BB3-B0B9-B79F6743F03A}">
      <dgm:prSet/>
      <dgm:spPr/>
      <dgm:t>
        <a:bodyPr/>
        <a:lstStyle/>
        <a:p>
          <a:pPr rtl="0"/>
          <a:r>
            <a:rPr lang="en-US"/>
            <a:t>Unary constraints</a:t>
          </a:r>
        </a:p>
      </dgm:t>
    </dgm:pt>
    <dgm:pt modelId="{EC302575-29BB-4E6D-9E6E-050C9C4662B6}" type="parTrans" cxnId="{D74A459C-0993-437C-8BDD-8C4A2C9102E9}">
      <dgm:prSet/>
      <dgm:spPr/>
      <dgm:t>
        <a:bodyPr/>
        <a:lstStyle/>
        <a:p>
          <a:endParaRPr lang="en-US"/>
        </a:p>
      </dgm:t>
    </dgm:pt>
    <dgm:pt modelId="{981DB9A8-ACDA-4C70-9ABA-82B23B6794AA}" type="sibTrans" cxnId="{D74A459C-0993-437C-8BDD-8C4A2C9102E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0BA2857-8281-46F9-99C1-D1F8C417F055}">
          <dgm:prSet/>
          <dgm:spPr/>
          <dgm:t>
            <a:bodyPr/>
            <a:lstStyle/>
            <a:p>
              <a:pPr rtl="0"/>
              <a:r>
                <a:rPr lang="en-US"/>
                <a:t>Single variable: e.g., </a:t>
              </a:r>
              <a14:m>
                <m:oMath xmlns:m="http://schemas.openxmlformats.org/officeDocument/2006/math">
                  <m:r>
                    <a:rPr lang="en-US" i="1">
                      <a:latin typeface="Cambria Math" charset="0"/>
                    </a:rPr>
                    <m:t>𝑆𝐴</m:t>
                  </m:r>
                  <m:r>
                    <a:rPr lang="en-US" i="1">
                      <a:latin typeface="Cambria Math" charset="0"/>
                    </a:rPr>
                    <m:t>≠</m:t>
                  </m:r>
                  <m:r>
                    <a:rPr lang="en-US" b="0" i="1">
                      <a:latin typeface="Cambria Math" charset="0"/>
                    </a:rPr>
                    <m:t>𝐺</m:t>
                  </m:r>
                </m:oMath>
              </a14:m>
              <a:endParaRPr lang="en-US"/>
            </a:p>
          </dgm:t>
        </dgm:pt>
      </mc:Choice>
      <mc:Fallback xmlns="">
        <dgm:pt modelId="{B0BA2857-8281-46F9-99C1-D1F8C417F055}">
          <dgm:prSet/>
          <dgm:spPr/>
          <dgm:t>
            <a:bodyPr/>
            <a:lstStyle/>
            <a:p>
              <a:pPr rtl="0"/>
              <a:r>
                <a:rPr lang="en-US" smtClean="0"/>
                <a:t>Single variable: e.g., </a:t>
              </a:r>
              <a:r>
                <a:rPr lang="en-US" i="0"/>
                <a:t>𝑆𝐴≠</a:t>
              </a:r>
              <a:r>
                <a:rPr lang="en-US" b="0" i="0"/>
                <a:t>𝐺</a:t>
              </a:r>
              <a:endParaRPr lang="en-US"/>
            </a:p>
          </dgm:t>
        </dgm:pt>
      </mc:Fallback>
    </mc:AlternateContent>
    <dgm:pt modelId="{3D14CBFE-A8F9-4186-B6F1-BBE932F2EFEE}" type="parTrans" cxnId="{04592107-7D4B-4FD0-9BE6-09AB0AA22061}">
      <dgm:prSet/>
      <dgm:spPr/>
      <dgm:t>
        <a:bodyPr/>
        <a:lstStyle/>
        <a:p>
          <a:endParaRPr lang="en-US"/>
        </a:p>
      </dgm:t>
    </dgm:pt>
    <dgm:pt modelId="{7FC444DE-5568-49C9-80B1-FD7FEBF3A418}" type="sibTrans" cxnId="{04592107-7D4B-4FD0-9BE6-09AB0AA22061}">
      <dgm:prSet/>
      <dgm:spPr/>
      <dgm:t>
        <a:bodyPr/>
        <a:lstStyle/>
        <a:p>
          <a:endParaRPr lang="en-US"/>
        </a:p>
      </dgm:t>
    </dgm:pt>
    <dgm:pt modelId="{77BE0F63-DD05-425C-8D5C-E67F66F8A1B4}">
      <dgm:prSet/>
      <dgm:spPr/>
      <dgm:t>
        <a:bodyPr/>
        <a:lstStyle/>
        <a:p>
          <a:pPr rtl="0"/>
          <a:r>
            <a:rPr lang="en-US"/>
            <a:t>Binary constraints</a:t>
          </a:r>
        </a:p>
      </dgm:t>
    </dgm:pt>
    <dgm:pt modelId="{1E99C391-438E-4879-A626-5D42BD02CBBE}" type="parTrans" cxnId="{09149169-1A82-4AE7-9189-BE0FFBF1842D}">
      <dgm:prSet/>
      <dgm:spPr/>
      <dgm:t>
        <a:bodyPr/>
        <a:lstStyle/>
        <a:p>
          <a:endParaRPr lang="en-US"/>
        </a:p>
      </dgm:t>
    </dgm:pt>
    <dgm:pt modelId="{25AB67B5-E369-4F78-BDB2-2E08453F8C7E}" type="sibTrans" cxnId="{09149169-1A82-4AE7-9189-BE0FFBF1842D}">
      <dgm:prSet/>
      <dgm:spPr/>
      <dgm:t>
        <a:bodyPr/>
        <a:lstStyle/>
        <a:p>
          <a:endParaRPr lang="en-US"/>
        </a:p>
      </dgm:t>
    </dgm:pt>
    <dgm:pt modelId="{7D8AD464-0F83-4CE9-A946-1BAB05873396}">
      <dgm:prSet/>
      <dgm:spPr/>
      <dgm:t>
        <a:bodyPr/>
        <a:lstStyle/>
        <a:p>
          <a:pPr rtl="0"/>
          <a:r>
            <a:rPr lang="en-US"/>
            <a:t>e.g., </a:t>
          </a:r>
          <a:r>
            <a:rPr lang="en-US" i="1"/>
            <a:t>SA</a:t>
          </a:r>
          <a:r>
            <a:rPr lang="en-US"/>
            <a:t> ≠ </a:t>
          </a:r>
          <a:r>
            <a:rPr lang="en-US" i="1"/>
            <a:t>WA</a:t>
          </a:r>
          <a:endParaRPr lang="en-US"/>
        </a:p>
      </dgm:t>
    </dgm:pt>
    <dgm:pt modelId="{6E520461-B9B1-4910-9FD7-32026D693DE7}" type="parTrans" cxnId="{339FE5F8-9E8B-4C6A-9E59-69B5445FFE94}">
      <dgm:prSet/>
      <dgm:spPr/>
      <dgm:t>
        <a:bodyPr/>
        <a:lstStyle/>
        <a:p>
          <a:endParaRPr lang="en-US"/>
        </a:p>
      </dgm:t>
    </dgm:pt>
    <dgm:pt modelId="{2C9CE696-0B6D-4880-839D-B4AC78F2DBDA}" type="sibTrans" cxnId="{339FE5F8-9E8B-4C6A-9E59-69B5445FFE94}">
      <dgm:prSet/>
      <dgm:spPr/>
      <dgm:t>
        <a:bodyPr/>
        <a:lstStyle/>
        <a:p>
          <a:endParaRPr lang="en-US"/>
        </a:p>
      </dgm:t>
    </dgm:pt>
    <dgm:pt modelId="{FFAFB437-91B3-4190-8BB9-B02AFF3C241B}">
      <dgm:prSet/>
      <dgm:spPr/>
      <dgm:t>
        <a:bodyPr/>
        <a:lstStyle/>
        <a:p>
          <a:pPr rtl="0"/>
          <a:r>
            <a:rPr lang="en-US"/>
            <a:t>Global (i.e., higher-order) constraints </a:t>
          </a:r>
        </a:p>
      </dgm:t>
    </dgm:pt>
    <dgm:pt modelId="{E5E7E97A-CC1F-47EE-916E-32AAF0CEC35B}" type="parTrans" cxnId="{49F19637-895C-4F51-8BA1-42E69B3C2077}">
      <dgm:prSet/>
      <dgm:spPr/>
      <dgm:t>
        <a:bodyPr/>
        <a:lstStyle/>
        <a:p>
          <a:endParaRPr lang="en-US"/>
        </a:p>
      </dgm:t>
    </dgm:pt>
    <dgm:pt modelId="{52D57526-8E56-427B-88AC-FBACC0BA6484}" type="sibTrans" cxnId="{49F19637-895C-4F51-8BA1-42E69B3C2077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9709B6EE-E2AF-446D-83A2-9098A8721B89}">
          <dgm:prSet/>
          <dgm:spPr/>
          <dgm:t>
            <a:bodyPr/>
            <a:lstStyle/>
            <a:p>
              <a:pPr rtl="0"/>
              <a:r>
                <a:rPr lang="en-US"/>
                <a:t>3 or more variables e.g.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>
                          <a:latin typeface="Cambria Math" charset="0"/>
                        </a:rPr>
                        <m:t>𝑋</m:t>
                      </m:r>
                    </m:e>
                    <m:sub>
                      <m:r>
                        <a:rPr lang="en-US" b="0" i="1">
                          <a:latin typeface="Cambria Math" charset="0"/>
                        </a:rPr>
                        <m:t>1</m:t>
                      </m:r>
                    </m:sub>
                  </m:sSub>
                  <m:r>
                    <a:rPr lang="en-US" b="0" i="1">
                      <a:latin typeface="Cambria Math" charset="0"/>
                    </a:rPr>
                    <m:t>+</m:t>
                  </m:r>
                  <m:sSub>
                    <m:sSubPr>
                      <m:ctrlPr>
                        <a:rPr lang="en-US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>
                          <a:latin typeface="Cambria Math" charset="0"/>
                        </a:rPr>
                        <m:t>𝑋</m:t>
                      </m:r>
                    </m:e>
                    <m:sub>
                      <m:r>
                        <a:rPr lang="en-US" b="0" i="1">
                          <a:latin typeface="Cambria Math" charset="0"/>
                        </a:rPr>
                        <m:t>2</m:t>
                      </m:r>
                    </m:sub>
                  </m:sSub>
                  <m:r>
                    <a:rPr lang="en-US" b="0" i="1">
                      <a:latin typeface="Cambria Math" charset="0"/>
                    </a:rPr>
                    <m:t>−4</m:t>
                  </m:r>
                  <m:sSub>
                    <m:sSubPr>
                      <m:ctrlPr>
                        <a:rPr lang="en-US" b="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>
                          <a:latin typeface="Cambria Math" charset="0"/>
                        </a:rPr>
                        <m:t>𝑋</m:t>
                      </m:r>
                    </m:e>
                    <m:sub>
                      <m:r>
                        <a:rPr lang="en-US" b="0" i="1">
                          <a:latin typeface="Cambria Math" charset="0"/>
                        </a:rPr>
                        <m:t>7</m:t>
                      </m:r>
                    </m:sub>
                  </m:sSub>
                  <m:r>
                    <a:rPr lang="en-US" b="0" i="1">
                      <a:latin typeface="Cambria Math" charset="0"/>
                    </a:rPr>
                    <m:t>≤15</m:t>
                  </m:r>
                </m:oMath>
              </a14:m>
              <a:endParaRPr lang="en-US"/>
            </a:p>
          </dgm:t>
        </dgm:pt>
      </mc:Choice>
      <mc:Fallback xmlns="">
        <dgm:pt modelId="{9709B6EE-E2AF-446D-83A2-9098A8721B89}">
          <dgm:prSet/>
          <dgm:spPr/>
          <dgm:t>
            <a:bodyPr/>
            <a:lstStyle/>
            <a:p>
              <a:pPr rtl="0"/>
              <a:r>
                <a:rPr lang="en-US" smtClean="0"/>
                <a:t>3 or more variables e.g. </a:t>
              </a:r>
              <a:r>
                <a:rPr lang="en-US" b="0" i="0"/>
                <a:t>𝑋_1+𝑋_2−4𝑋_7≤15</a:t>
              </a:r>
              <a:endParaRPr lang="en-US"/>
            </a:p>
          </dgm:t>
        </dgm:pt>
      </mc:Fallback>
    </mc:AlternateContent>
    <dgm:pt modelId="{9E1BBDCF-9AFD-4577-889B-2240D91265D2}" type="parTrans" cxnId="{BD042430-36CA-42A6-9E22-F811DF72E252}">
      <dgm:prSet/>
      <dgm:spPr/>
      <dgm:t>
        <a:bodyPr/>
        <a:lstStyle/>
        <a:p>
          <a:endParaRPr lang="en-US"/>
        </a:p>
      </dgm:t>
    </dgm:pt>
    <dgm:pt modelId="{9F34A9E5-0BAD-402A-964C-6AA028AD0E91}" type="sibTrans" cxnId="{BD042430-36CA-42A6-9E22-F811DF72E252}">
      <dgm:prSet/>
      <dgm:spPr/>
      <dgm:t>
        <a:bodyPr/>
        <a:lstStyle/>
        <a:p>
          <a:endParaRPr lang="en-US"/>
        </a:p>
      </dgm:t>
    </dgm:pt>
    <dgm:pt modelId="{63C91EDC-5084-4507-82B1-DB91AD2B3CCB}" type="pres">
      <dgm:prSet presAssocID="{061AFF12-394D-4F03-BD32-F5A55C1207BF}" presName="linear" presStyleCnt="0">
        <dgm:presLayoutVars>
          <dgm:animLvl val="lvl"/>
          <dgm:resizeHandles val="exact"/>
        </dgm:presLayoutVars>
      </dgm:prSet>
      <dgm:spPr/>
    </dgm:pt>
    <dgm:pt modelId="{49D6483E-C386-4E46-B90B-E4BCD0631D17}" type="pres">
      <dgm:prSet presAssocID="{FC96394E-432C-4BB3-B0B9-B79F6743F03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2CEA06F-A153-476F-A71E-1F8710243B36}" type="pres">
      <dgm:prSet presAssocID="{FC96394E-432C-4BB3-B0B9-B79F6743F03A}" presName="childText" presStyleLbl="revTx" presStyleIdx="0" presStyleCnt="3">
        <dgm:presLayoutVars>
          <dgm:bulletEnabled val="1"/>
        </dgm:presLayoutVars>
      </dgm:prSet>
      <dgm:spPr/>
    </dgm:pt>
    <dgm:pt modelId="{4ED27D09-1214-4D58-BA7D-22CF7787EFC7}" type="pres">
      <dgm:prSet presAssocID="{77BE0F63-DD05-425C-8D5C-E67F66F8A1B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B5EFCC9-201F-498C-870B-C9B58E66B7D9}" type="pres">
      <dgm:prSet presAssocID="{77BE0F63-DD05-425C-8D5C-E67F66F8A1B4}" presName="childText" presStyleLbl="revTx" presStyleIdx="1" presStyleCnt="3">
        <dgm:presLayoutVars>
          <dgm:bulletEnabled val="1"/>
        </dgm:presLayoutVars>
      </dgm:prSet>
      <dgm:spPr/>
    </dgm:pt>
    <dgm:pt modelId="{FA88300E-3EFB-448E-A6E5-6A1DC3AAEFD9}" type="pres">
      <dgm:prSet presAssocID="{FFAFB437-91B3-4190-8BB9-B02AFF3C241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F628FB0-7DF8-47CD-8C73-CE11D6BEA073}" type="pres">
      <dgm:prSet presAssocID="{FFAFB437-91B3-4190-8BB9-B02AFF3C241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04592107-7D4B-4FD0-9BE6-09AB0AA22061}" srcId="{FC96394E-432C-4BB3-B0B9-B79F6743F03A}" destId="{B0BA2857-8281-46F9-99C1-D1F8C417F055}" srcOrd="0" destOrd="0" parTransId="{3D14CBFE-A8F9-4186-B6F1-BBE932F2EFEE}" sibTransId="{7FC444DE-5568-49C9-80B1-FD7FEBF3A418}"/>
    <dgm:cxn modelId="{BD042430-36CA-42A6-9E22-F811DF72E252}" srcId="{FFAFB437-91B3-4190-8BB9-B02AFF3C241B}" destId="{9709B6EE-E2AF-446D-83A2-9098A8721B89}" srcOrd="0" destOrd="0" parTransId="{9E1BBDCF-9AFD-4577-889B-2240D91265D2}" sibTransId="{9F34A9E5-0BAD-402A-964C-6AA028AD0E91}"/>
    <dgm:cxn modelId="{49F19637-895C-4F51-8BA1-42E69B3C2077}" srcId="{061AFF12-394D-4F03-BD32-F5A55C1207BF}" destId="{FFAFB437-91B3-4190-8BB9-B02AFF3C241B}" srcOrd="2" destOrd="0" parTransId="{E5E7E97A-CC1F-47EE-916E-32AAF0CEC35B}" sibTransId="{52D57526-8E56-427B-88AC-FBACC0BA6484}"/>
    <dgm:cxn modelId="{4AEED563-913F-4D37-84BB-8DD209F065F9}" type="presOf" srcId="{061AFF12-394D-4F03-BD32-F5A55C1207BF}" destId="{63C91EDC-5084-4507-82B1-DB91AD2B3CCB}" srcOrd="0" destOrd="0" presId="urn:microsoft.com/office/officeart/2005/8/layout/vList2"/>
    <dgm:cxn modelId="{09149169-1A82-4AE7-9189-BE0FFBF1842D}" srcId="{061AFF12-394D-4F03-BD32-F5A55C1207BF}" destId="{77BE0F63-DD05-425C-8D5C-E67F66F8A1B4}" srcOrd="1" destOrd="0" parTransId="{1E99C391-438E-4879-A626-5D42BD02CBBE}" sibTransId="{25AB67B5-E369-4F78-BDB2-2E08453F8C7E}"/>
    <dgm:cxn modelId="{6BBADE72-78CD-474B-8078-9818F342599B}" type="presOf" srcId="{FC96394E-432C-4BB3-B0B9-B79F6743F03A}" destId="{49D6483E-C386-4E46-B90B-E4BCD0631D17}" srcOrd="0" destOrd="0" presId="urn:microsoft.com/office/officeart/2005/8/layout/vList2"/>
    <dgm:cxn modelId="{D74A459C-0993-437C-8BDD-8C4A2C9102E9}" srcId="{061AFF12-394D-4F03-BD32-F5A55C1207BF}" destId="{FC96394E-432C-4BB3-B0B9-B79F6743F03A}" srcOrd="0" destOrd="0" parTransId="{EC302575-29BB-4E6D-9E6E-050C9C4662B6}" sibTransId="{981DB9A8-ACDA-4C70-9ABA-82B23B6794AA}"/>
    <dgm:cxn modelId="{262C78A0-B988-4138-A279-78D64420DB50}" type="presOf" srcId="{77BE0F63-DD05-425C-8D5C-E67F66F8A1B4}" destId="{4ED27D09-1214-4D58-BA7D-22CF7787EFC7}" srcOrd="0" destOrd="0" presId="urn:microsoft.com/office/officeart/2005/8/layout/vList2"/>
    <dgm:cxn modelId="{7FF3E7C6-50CA-485A-AFF5-7086F38C9D5E}" type="presOf" srcId="{FFAFB437-91B3-4190-8BB9-B02AFF3C241B}" destId="{FA88300E-3EFB-448E-A6E5-6A1DC3AAEFD9}" srcOrd="0" destOrd="0" presId="urn:microsoft.com/office/officeart/2005/8/layout/vList2"/>
    <dgm:cxn modelId="{A72AC7DF-F466-40DB-B491-59ED833209AC}" type="presOf" srcId="{7D8AD464-0F83-4CE9-A946-1BAB05873396}" destId="{5B5EFCC9-201F-498C-870B-C9B58E66B7D9}" srcOrd="0" destOrd="0" presId="urn:microsoft.com/office/officeart/2005/8/layout/vList2"/>
    <dgm:cxn modelId="{284B71E0-3470-46FF-8E72-1A6D59B4F238}" type="presOf" srcId="{9709B6EE-E2AF-446D-83A2-9098A8721B89}" destId="{7F628FB0-7DF8-47CD-8C73-CE11D6BEA073}" srcOrd="0" destOrd="0" presId="urn:microsoft.com/office/officeart/2005/8/layout/vList2"/>
    <dgm:cxn modelId="{5E9512E2-2FB3-4912-B2A1-BFA61FFE38ED}" type="presOf" srcId="{B0BA2857-8281-46F9-99C1-D1F8C417F055}" destId="{82CEA06F-A153-476F-A71E-1F8710243B36}" srcOrd="0" destOrd="0" presId="urn:microsoft.com/office/officeart/2005/8/layout/vList2"/>
    <dgm:cxn modelId="{339FE5F8-9E8B-4C6A-9E59-69B5445FFE94}" srcId="{77BE0F63-DD05-425C-8D5C-E67F66F8A1B4}" destId="{7D8AD464-0F83-4CE9-A946-1BAB05873396}" srcOrd="0" destOrd="0" parTransId="{6E520461-B9B1-4910-9FD7-32026D693DE7}" sibTransId="{2C9CE696-0B6D-4880-839D-B4AC78F2DBDA}"/>
    <dgm:cxn modelId="{7C28659B-B549-4CF5-9CAE-2F380C53E36D}" type="presParOf" srcId="{63C91EDC-5084-4507-82B1-DB91AD2B3CCB}" destId="{49D6483E-C386-4E46-B90B-E4BCD0631D17}" srcOrd="0" destOrd="0" presId="urn:microsoft.com/office/officeart/2005/8/layout/vList2"/>
    <dgm:cxn modelId="{A2F6B77E-170A-4F2C-AA36-07C76CF6D393}" type="presParOf" srcId="{63C91EDC-5084-4507-82B1-DB91AD2B3CCB}" destId="{82CEA06F-A153-476F-A71E-1F8710243B36}" srcOrd="1" destOrd="0" presId="urn:microsoft.com/office/officeart/2005/8/layout/vList2"/>
    <dgm:cxn modelId="{C790DC66-6878-4F66-BCFC-903C00147277}" type="presParOf" srcId="{63C91EDC-5084-4507-82B1-DB91AD2B3CCB}" destId="{4ED27D09-1214-4D58-BA7D-22CF7787EFC7}" srcOrd="2" destOrd="0" presId="urn:microsoft.com/office/officeart/2005/8/layout/vList2"/>
    <dgm:cxn modelId="{8EB44F33-5863-4AEF-9E50-43405457C549}" type="presParOf" srcId="{63C91EDC-5084-4507-82B1-DB91AD2B3CCB}" destId="{5B5EFCC9-201F-498C-870B-C9B58E66B7D9}" srcOrd="3" destOrd="0" presId="urn:microsoft.com/office/officeart/2005/8/layout/vList2"/>
    <dgm:cxn modelId="{3811379A-E0D7-4EF2-9C61-256807883214}" type="presParOf" srcId="{63C91EDC-5084-4507-82B1-DB91AD2B3CCB}" destId="{FA88300E-3EFB-448E-A6E5-6A1DC3AAEFD9}" srcOrd="4" destOrd="0" presId="urn:microsoft.com/office/officeart/2005/8/layout/vList2"/>
    <dgm:cxn modelId="{8098CAAE-6224-4E2D-907E-CF8CFC147EC0}" type="presParOf" srcId="{63C91EDC-5084-4507-82B1-DB91AD2B3CCB}" destId="{7F628FB0-7DF8-47CD-8C73-CE11D6BEA07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61AFF12-394D-4F03-BD32-F5A55C1207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96394E-432C-4BB3-B0B9-B79F6743F03A}">
      <dgm:prSet/>
      <dgm:spPr/>
      <dgm:t>
        <a:bodyPr/>
        <a:lstStyle/>
        <a:p>
          <a:pPr rtl="0"/>
          <a:r>
            <a:rPr lang="en-US"/>
            <a:t>Unary constraints</a:t>
          </a:r>
        </a:p>
      </dgm:t>
    </dgm:pt>
    <dgm:pt modelId="{EC302575-29BB-4E6D-9E6E-050C9C4662B6}" type="parTrans" cxnId="{D74A459C-0993-437C-8BDD-8C4A2C9102E9}">
      <dgm:prSet/>
      <dgm:spPr/>
      <dgm:t>
        <a:bodyPr/>
        <a:lstStyle/>
        <a:p>
          <a:endParaRPr lang="en-US"/>
        </a:p>
      </dgm:t>
    </dgm:pt>
    <dgm:pt modelId="{981DB9A8-ACDA-4C70-9ABA-82B23B6794AA}" type="sibTrans" cxnId="{D74A459C-0993-437C-8BDD-8C4A2C9102E9}">
      <dgm:prSet/>
      <dgm:spPr/>
      <dgm:t>
        <a:bodyPr/>
        <a:lstStyle/>
        <a:p>
          <a:endParaRPr lang="en-US"/>
        </a:p>
      </dgm:t>
    </dgm:pt>
    <dgm:pt modelId="{B0BA2857-8281-46F9-99C1-D1F8C417F055}">
      <dgm:prSet/>
      <dgm:spPr>
        <a:blipFill>
          <a:blip xmlns:r="http://schemas.openxmlformats.org/officeDocument/2006/relationships" r:embed="rId1"/>
          <a:stretch>
            <a:fillRect t="-15217" b="-4348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3D14CBFE-A8F9-4186-B6F1-BBE932F2EFEE}" type="parTrans" cxnId="{04592107-7D4B-4FD0-9BE6-09AB0AA22061}">
      <dgm:prSet/>
      <dgm:spPr/>
      <dgm:t>
        <a:bodyPr/>
        <a:lstStyle/>
        <a:p>
          <a:endParaRPr lang="en-US"/>
        </a:p>
      </dgm:t>
    </dgm:pt>
    <dgm:pt modelId="{7FC444DE-5568-49C9-80B1-FD7FEBF3A418}" type="sibTrans" cxnId="{04592107-7D4B-4FD0-9BE6-09AB0AA22061}">
      <dgm:prSet/>
      <dgm:spPr/>
      <dgm:t>
        <a:bodyPr/>
        <a:lstStyle/>
        <a:p>
          <a:endParaRPr lang="en-US"/>
        </a:p>
      </dgm:t>
    </dgm:pt>
    <dgm:pt modelId="{77BE0F63-DD05-425C-8D5C-E67F66F8A1B4}">
      <dgm:prSet/>
      <dgm:spPr/>
      <dgm:t>
        <a:bodyPr/>
        <a:lstStyle/>
        <a:p>
          <a:pPr rtl="0"/>
          <a:r>
            <a:rPr lang="en-US"/>
            <a:t>Binary constraints</a:t>
          </a:r>
        </a:p>
      </dgm:t>
    </dgm:pt>
    <dgm:pt modelId="{1E99C391-438E-4879-A626-5D42BD02CBBE}" type="parTrans" cxnId="{09149169-1A82-4AE7-9189-BE0FFBF1842D}">
      <dgm:prSet/>
      <dgm:spPr/>
      <dgm:t>
        <a:bodyPr/>
        <a:lstStyle/>
        <a:p>
          <a:endParaRPr lang="en-US"/>
        </a:p>
      </dgm:t>
    </dgm:pt>
    <dgm:pt modelId="{25AB67B5-E369-4F78-BDB2-2E08453F8C7E}" type="sibTrans" cxnId="{09149169-1A82-4AE7-9189-BE0FFBF1842D}">
      <dgm:prSet/>
      <dgm:spPr/>
      <dgm:t>
        <a:bodyPr/>
        <a:lstStyle/>
        <a:p>
          <a:endParaRPr lang="en-US"/>
        </a:p>
      </dgm:t>
    </dgm:pt>
    <dgm:pt modelId="{7D8AD464-0F83-4CE9-A946-1BAB05873396}">
      <dgm:prSet/>
      <dgm:spPr/>
      <dgm:t>
        <a:bodyPr/>
        <a:lstStyle/>
        <a:p>
          <a:pPr rtl="0"/>
          <a:r>
            <a:rPr lang="en-US"/>
            <a:t>e.g., </a:t>
          </a:r>
          <a:r>
            <a:rPr lang="en-US" i="1"/>
            <a:t>SA</a:t>
          </a:r>
          <a:r>
            <a:rPr lang="en-US"/>
            <a:t> ≠ </a:t>
          </a:r>
          <a:r>
            <a:rPr lang="en-US" i="1"/>
            <a:t>WA</a:t>
          </a:r>
          <a:endParaRPr lang="en-US"/>
        </a:p>
      </dgm:t>
    </dgm:pt>
    <dgm:pt modelId="{6E520461-B9B1-4910-9FD7-32026D693DE7}" type="parTrans" cxnId="{339FE5F8-9E8B-4C6A-9E59-69B5445FFE94}">
      <dgm:prSet/>
      <dgm:spPr/>
      <dgm:t>
        <a:bodyPr/>
        <a:lstStyle/>
        <a:p>
          <a:endParaRPr lang="en-US"/>
        </a:p>
      </dgm:t>
    </dgm:pt>
    <dgm:pt modelId="{2C9CE696-0B6D-4880-839D-B4AC78F2DBDA}" type="sibTrans" cxnId="{339FE5F8-9E8B-4C6A-9E59-69B5445FFE94}">
      <dgm:prSet/>
      <dgm:spPr/>
      <dgm:t>
        <a:bodyPr/>
        <a:lstStyle/>
        <a:p>
          <a:endParaRPr lang="en-US"/>
        </a:p>
      </dgm:t>
    </dgm:pt>
    <dgm:pt modelId="{FFAFB437-91B3-4190-8BB9-B02AFF3C241B}">
      <dgm:prSet/>
      <dgm:spPr/>
      <dgm:t>
        <a:bodyPr/>
        <a:lstStyle/>
        <a:p>
          <a:pPr rtl="0"/>
          <a:r>
            <a:rPr lang="en-US"/>
            <a:t>Global (i.e., higher-order) constraints </a:t>
          </a:r>
        </a:p>
      </dgm:t>
    </dgm:pt>
    <dgm:pt modelId="{E5E7E97A-CC1F-47EE-916E-32AAF0CEC35B}" type="parTrans" cxnId="{49F19637-895C-4F51-8BA1-42E69B3C2077}">
      <dgm:prSet/>
      <dgm:spPr/>
      <dgm:t>
        <a:bodyPr/>
        <a:lstStyle/>
        <a:p>
          <a:endParaRPr lang="en-US"/>
        </a:p>
      </dgm:t>
    </dgm:pt>
    <dgm:pt modelId="{52D57526-8E56-427B-88AC-FBACC0BA6484}" type="sibTrans" cxnId="{49F19637-895C-4F51-8BA1-42E69B3C2077}">
      <dgm:prSet/>
      <dgm:spPr/>
      <dgm:t>
        <a:bodyPr/>
        <a:lstStyle/>
        <a:p>
          <a:endParaRPr lang="en-US"/>
        </a:p>
      </dgm:t>
    </dgm:pt>
    <dgm:pt modelId="{9709B6EE-E2AF-446D-83A2-9098A8721B89}">
      <dgm:prSet/>
      <dgm:spPr>
        <a:blipFill>
          <a:blip xmlns:r="http://schemas.openxmlformats.org/officeDocument/2006/relationships" r:embed="rId2"/>
          <a:stretch>
            <a:fillRect t="-17021" b="-2128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9E1BBDCF-9AFD-4577-889B-2240D91265D2}" type="parTrans" cxnId="{BD042430-36CA-42A6-9E22-F811DF72E252}">
      <dgm:prSet/>
      <dgm:spPr/>
      <dgm:t>
        <a:bodyPr/>
        <a:lstStyle/>
        <a:p>
          <a:endParaRPr lang="en-US"/>
        </a:p>
      </dgm:t>
    </dgm:pt>
    <dgm:pt modelId="{9F34A9E5-0BAD-402A-964C-6AA028AD0E91}" type="sibTrans" cxnId="{BD042430-36CA-42A6-9E22-F811DF72E252}">
      <dgm:prSet/>
      <dgm:spPr/>
      <dgm:t>
        <a:bodyPr/>
        <a:lstStyle/>
        <a:p>
          <a:endParaRPr lang="en-US"/>
        </a:p>
      </dgm:t>
    </dgm:pt>
    <dgm:pt modelId="{63C91EDC-5084-4507-82B1-DB91AD2B3CCB}" type="pres">
      <dgm:prSet presAssocID="{061AFF12-394D-4F03-BD32-F5A55C1207BF}" presName="linear" presStyleCnt="0">
        <dgm:presLayoutVars>
          <dgm:animLvl val="lvl"/>
          <dgm:resizeHandles val="exact"/>
        </dgm:presLayoutVars>
      </dgm:prSet>
      <dgm:spPr/>
    </dgm:pt>
    <dgm:pt modelId="{49D6483E-C386-4E46-B90B-E4BCD0631D17}" type="pres">
      <dgm:prSet presAssocID="{FC96394E-432C-4BB3-B0B9-B79F6743F03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2CEA06F-A153-476F-A71E-1F8710243B36}" type="pres">
      <dgm:prSet presAssocID="{FC96394E-432C-4BB3-B0B9-B79F6743F03A}" presName="childText" presStyleLbl="revTx" presStyleIdx="0" presStyleCnt="3">
        <dgm:presLayoutVars>
          <dgm:bulletEnabled val="1"/>
        </dgm:presLayoutVars>
      </dgm:prSet>
      <dgm:spPr/>
    </dgm:pt>
    <dgm:pt modelId="{4ED27D09-1214-4D58-BA7D-22CF7787EFC7}" type="pres">
      <dgm:prSet presAssocID="{77BE0F63-DD05-425C-8D5C-E67F66F8A1B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B5EFCC9-201F-498C-870B-C9B58E66B7D9}" type="pres">
      <dgm:prSet presAssocID="{77BE0F63-DD05-425C-8D5C-E67F66F8A1B4}" presName="childText" presStyleLbl="revTx" presStyleIdx="1" presStyleCnt="3">
        <dgm:presLayoutVars>
          <dgm:bulletEnabled val="1"/>
        </dgm:presLayoutVars>
      </dgm:prSet>
      <dgm:spPr/>
    </dgm:pt>
    <dgm:pt modelId="{FA88300E-3EFB-448E-A6E5-6A1DC3AAEFD9}" type="pres">
      <dgm:prSet presAssocID="{FFAFB437-91B3-4190-8BB9-B02AFF3C241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F628FB0-7DF8-47CD-8C73-CE11D6BEA073}" type="pres">
      <dgm:prSet presAssocID="{FFAFB437-91B3-4190-8BB9-B02AFF3C241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04592107-7D4B-4FD0-9BE6-09AB0AA22061}" srcId="{FC96394E-432C-4BB3-B0B9-B79F6743F03A}" destId="{B0BA2857-8281-46F9-99C1-D1F8C417F055}" srcOrd="0" destOrd="0" parTransId="{3D14CBFE-A8F9-4186-B6F1-BBE932F2EFEE}" sibTransId="{7FC444DE-5568-49C9-80B1-FD7FEBF3A418}"/>
    <dgm:cxn modelId="{BD042430-36CA-42A6-9E22-F811DF72E252}" srcId="{FFAFB437-91B3-4190-8BB9-B02AFF3C241B}" destId="{9709B6EE-E2AF-446D-83A2-9098A8721B89}" srcOrd="0" destOrd="0" parTransId="{9E1BBDCF-9AFD-4577-889B-2240D91265D2}" sibTransId="{9F34A9E5-0BAD-402A-964C-6AA028AD0E91}"/>
    <dgm:cxn modelId="{49F19637-895C-4F51-8BA1-42E69B3C2077}" srcId="{061AFF12-394D-4F03-BD32-F5A55C1207BF}" destId="{FFAFB437-91B3-4190-8BB9-B02AFF3C241B}" srcOrd="2" destOrd="0" parTransId="{E5E7E97A-CC1F-47EE-916E-32AAF0CEC35B}" sibTransId="{52D57526-8E56-427B-88AC-FBACC0BA6484}"/>
    <dgm:cxn modelId="{4AEED563-913F-4D37-84BB-8DD209F065F9}" type="presOf" srcId="{061AFF12-394D-4F03-BD32-F5A55C1207BF}" destId="{63C91EDC-5084-4507-82B1-DB91AD2B3CCB}" srcOrd="0" destOrd="0" presId="urn:microsoft.com/office/officeart/2005/8/layout/vList2"/>
    <dgm:cxn modelId="{09149169-1A82-4AE7-9189-BE0FFBF1842D}" srcId="{061AFF12-394D-4F03-BD32-F5A55C1207BF}" destId="{77BE0F63-DD05-425C-8D5C-E67F66F8A1B4}" srcOrd="1" destOrd="0" parTransId="{1E99C391-438E-4879-A626-5D42BD02CBBE}" sibTransId="{25AB67B5-E369-4F78-BDB2-2E08453F8C7E}"/>
    <dgm:cxn modelId="{6BBADE72-78CD-474B-8078-9818F342599B}" type="presOf" srcId="{FC96394E-432C-4BB3-B0B9-B79F6743F03A}" destId="{49D6483E-C386-4E46-B90B-E4BCD0631D17}" srcOrd="0" destOrd="0" presId="urn:microsoft.com/office/officeart/2005/8/layout/vList2"/>
    <dgm:cxn modelId="{D74A459C-0993-437C-8BDD-8C4A2C9102E9}" srcId="{061AFF12-394D-4F03-BD32-F5A55C1207BF}" destId="{FC96394E-432C-4BB3-B0B9-B79F6743F03A}" srcOrd="0" destOrd="0" parTransId="{EC302575-29BB-4E6D-9E6E-050C9C4662B6}" sibTransId="{981DB9A8-ACDA-4C70-9ABA-82B23B6794AA}"/>
    <dgm:cxn modelId="{262C78A0-B988-4138-A279-78D64420DB50}" type="presOf" srcId="{77BE0F63-DD05-425C-8D5C-E67F66F8A1B4}" destId="{4ED27D09-1214-4D58-BA7D-22CF7787EFC7}" srcOrd="0" destOrd="0" presId="urn:microsoft.com/office/officeart/2005/8/layout/vList2"/>
    <dgm:cxn modelId="{7FF3E7C6-50CA-485A-AFF5-7086F38C9D5E}" type="presOf" srcId="{FFAFB437-91B3-4190-8BB9-B02AFF3C241B}" destId="{FA88300E-3EFB-448E-A6E5-6A1DC3AAEFD9}" srcOrd="0" destOrd="0" presId="urn:microsoft.com/office/officeart/2005/8/layout/vList2"/>
    <dgm:cxn modelId="{A72AC7DF-F466-40DB-B491-59ED833209AC}" type="presOf" srcId="{7D8AD464-0F83-4CE9-A946-1BAB05873396}" destId="{5B5EFCC9-201F-498C-870B-C9B58E66B7D9}" srcOrd="0" destOrd="0" presId="urn:microsoft.com/office/officeart/2005/8/layout/vList2"/>
    <dgm:cxn modelId="{284B71E0-3470-46FF-8E72-1A6D59B4F238}" type="presOf" srcId="{9709B6EE-E2AF-446D-83A2-9098A8721B89}" destId="{7F628FB0-7DF8-47CD-8C73-CE11D6BEA073}" srcOrd="0" destOrd="0" presId="urn:microsoft.com/office/officeart/2005/8/layout/vList2"/>
    <dgm:cxn modelId="{5E9512E2-2FB3-4912-B2A1-BFA61FFE38ED}" type="presOf" srcId="{B0BA2857-8281-46F9-99C1-D1F8C417F055}" destId="{82CEA06F-A153-476F-A71E-1F8710243B36}" srcOrd="0" destOrd="0" presId="urn:microsoft.com/office/officeart/2005/8/layout/vList2"/>
    <dgm:cxn modelId="{339FE5F8-9E8B-4C6A-9E59-69B5445FFE94}" srcId="{77BE0F63-DD05-425C-8D5C-E67F66F8A1B4}" destId="{7D8AD464-0F83-4CE9-A946-1BAB05873396}" srcOrd="0" destOrd="0" parTransId="{6E520461-B9B1-4910-9FD7-32026D693DE7}" sibTransId="{2C9CE696-0B6D-4880-839D-B4AC78F2DBDA}"/>
    <dgm:cxn modelId="{7C28659B-B549-4CF5-9CAE-2F380C53E36D}" type="presParOf" srcId="{63C91EDC-5084-4507-82B1-DB91AD2B3CCB}" destId="{49D6483E-C386-4E46-B90B-E4BCD0631D17}" srcOrd="0" destOrd="0" presId="urn:microsoft.com/office/officeart/2005/8/layout/vList2"/>
    <dgm:cxn modelId="{A2F6B77E-170A-4F2C-AA36-07C76CF6D393}" type="presParOf" srcId="{63C91EDC-5084-4507-82B1-DB91AD2B3CCB}" destId="{82CEA06F-A153-476F-A71E-1F8710243B36}" srcOrd="1" destOrd="0" presId="urn:microsoft.com/office/officeart/2005/8/layout/vList2"/>
    <dgm:cxn modelId="{C790DC66-6878-4F66-BCFC-903C00147277}" type="presParOf" srcId="{63C91EDC-5084-4507-82B1-DB91AD2B3CCB}" destId="{4ED27D09-1214-4D58-BA7D-22CF7787EFC7}" srcOrd="2" destOrd="0" presId="urn:microsoft.com/office/officeart/2005/8/layout/vList2"/>
    <dgm:cxn modelId="{8EB44F33-5863-4AEF-9E50-43405457C549}" type="presParOf" srcId="{63C91EDC-5084-4507-82B1-DB91AD2B3CCB}" destId="{5B5EFCC9-201F-498C-870B-C9B58E66B7D9}" srcOrd="3" destOrd="0" presId="urn:microsoft.com/office/officeart/2005/8/layout/vList2"/>
    <dgm:cxn modelId="{3811379A-E0D7-4EF2-9C61-256807883214}" type="presParOf" srcId="{63C91EDC-5084-4507-82B1-DB91AD2B3CCB}" destId="{FA88300E-3EFB-448E-A6E5-6A1DC3AAEFD9}" srcOrd="4" destOrd="0" presId="urn:microsoft.com/office/officeart/2005/8/layout/vList2"/>
    <dgm:cxn modelId="{8098CAAE-6224-4E2D-907E-CF8CFC147EC0}" type="presParOf" srcId="{63C91EDC-5084-4507-82B1-DB91AD2B3CCB}" destId="{7F628FB0-7DF8-47CD-8C73-CE11D6BEA07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D5B7491-187B-4A13-9573-C70EDF77952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BC493E-5450-4C37-9532-698995CD94A5}">
      <dgm:prSet/>
      <dgm:spPr/>
      <dgm:t>
        <a:bodyPr/>
        <a:lstStyle/>
        <a:p>
          <a:pPr rtl="0"/>
          <a:r>
            <a:rPr lang="en-US" b="0" dirty="0"/>
            <a:t>CSP</a:t>
          </a:r>
          <a:endParaRPr lang="en-US" dirty="0"/>
        </a:p>
      </dgm:t>
    </dgm:pt>
    <dgm:pt modelId="{1DF0AF70-F54F-4629-8D9B-86EE17BD6AC3}" type="parTrans" cxnId="{D7DB6222-6808-460F-B887-5C28C01A0F22}">
      <dgm:prSet/>
      <dgm:spPr/>
      <dgm:t>
        <a:bodyPr/>
        <a:lstStyle/>
        <a:p>
          <a:endParaRPr lang="en-US"/>
        </a:p>
      </dgm:t>
    </dgm:pt>
    <dgm:pt modelId="{3EDA5C2D-E183-4325-9D86-859992CD3C8F}" type="sibTrans" cxnId="{D7DB6222-6808-460F-B887-5C28C01A0F22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B1E64EA-FB27-4203-AC7D-1D6EF3D165E7}">
          <dgm:prSet/>
          <dgm:spPr/>
          <dgm:t>
            <a:bodyPr/>
            <a:lstStyle/>
            <a:p>
              <a:pPr rtl="0"/>
              <a:r>
                <a:rPr lang="en-US" b="0" dirty="0"/>
                <a:t>Domains: </a:t>
              </a:r>
              <a14:m>
                <m:oMath xmlns:m="http://schemas.openxmlformats.org/officeDocument/2006/math">
                  <m:d>
                    <m:dPr>
                      <m:begChr m:val="{"/>
                      <m:endChr m:val="}"/>
                      <m:ctrlPr>
                        <a:rPr lang="en-US" b="0"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n-US" b="0" i="1">
                          <a:latin typeface="Cambria Math" charset="0"/>
                        </a:rPr>
                        <m:t>1,2,3</m:t>
                      </m:r>
                    </m:e>
                  </m:d>
                </m:oMath>
              </a14:m>
              <a:endParaRPr lang="en-US" dirty="0"/>
            </a:p>
          </dgm:t>
        </dgm:pt>
      </mc:Choice>
      <mc:Fallback xmlns="">
        <dgm:pt modelId="{7B1E64EA-FB27-4203-AC7D-1D6EF3D165E7}">
          <dgm:prSet/>
          <dgm:spPr/>
          <dgm:t>
            <a:bodyPr/>
            <a:lstStyle/>
            <a:p>
              <a:pPr rtl="0"/>
              <a:r>
                <a:rPr lang="en-US" b="0" dirty="0" smtClean="0"/>
                <a:t>Domains: </a:t>
              </a:r>
              <a:r>
                <a:rPr lang="en-US" b="0" i="0"/>
                <a:t>{1,2,3}</a:t>
              </a:r>
              <a:endParaRPr lang="en-US" dirty="0"/>
            </a:p>
          </dgm:t>
        </dgm:pt>
      </mc:Fallback>
    </mc:AlternateContent>
    <dgm:pt modelId="{4EB5F922-4BAE-4026-95DF-3A6C5864D641}" type="parTrans" cxnId="{DB168D30-2142-4D28-BE72-9F39E2143AF8}">
      <dgm:prSet/>
      <dgm:spPr/>
      <dgm:t>
        <a:bodyPr/>
        <a:lstStyle/>
        <a:p>
          <a:endParaRPr lang="en-US"/>
        </a:p>
      </dgm:t>
    </dgm:pt>
    <dgm:pt modelId="{89AB2685-BE27-4F77-AB32-A2D8BB4A30C5}" type="sibTrans" cxnId="{DB168D30-2142-4D28-BE72-9F39E2143AF8}">
      <dgm:prSet/>
      <dgm:spPr/>
      <dgm:t>
        <a:bodyPr/>
        <a:lstStyle/>
        <a:p>
          <a:endParaRPr lang="en-US"/>
        </a:p>
      </dgm:t>
    </dgm:pt>
    <dgm:pt modelId="{11D6C767-DB96-4F8A-88DE-F6895A7F08CE}">
      <dgm:prSet/>
      <dgm:spPr/>
      <dgm:t>
        <a:bodyPr/>
        <a:lstStyle/>
        <a:p>
          <a:pPr rtl="0"/>
          <a:r>
            <a:rPr lang="en-US" b="0" dirty="0"/>
            <a:t>Assume no constraints</a:t>
          </a:r>
          <a:endParaRPr lang="en-US" dirty="0"/>
        </a:p>
      </dgm:t>
    </dgm:pt>
    <dgm:pt modelId="{3D962813-98C6-4F2F-99D4-37E003B477B9}" type="parTrans" cxnId="{93F3B349-E924-4B31-A438-18ED17ADE8FF}">
      <dgm:prSet/>
      <dgm:spPr/>
      <dgm:t>
        <a:bodyPr/>
        <a:lstStyle/>
        <a:p>
          <a:endParaRPr lang="en-US"/>
        </a:p>
      </dgm:t>
    </dgm:pt>
    <dgm:pt modelId="{4F8C2805-4284-4631-B6A3-382BFE579140}" type="sibTrans" cxnId="{93F3B349-E924-4B31-A438-18ED17ADE8FF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5A10B86-FE39-45D5-9EE1-AB07F1659892}">
          <dgm:prSet/>
          <dgm:spPr/>
          <dgm:t>
            <a:bodyPr/>
            <a:lstStyle/>
            <a:p>
              <a:pPr rtl="0"/>
              <a:r>
                <a:rPr lang="en-US" b="0" dirty="0"/>
                <a:t>Variables: </a:t>
              </a:r>
              <a14:m>
                <m:oMath xmlns:m="http://schemas.openxmlformats.org/officeDocument/2006/math">
                  <m:r>
                    <a:rPr lang="en-US" b="0" i="1">
                      <a:latin typeface="Cambria Math" charset="0"/>
                    </a:rPr>
                    <m:t>𝐴</m:t>
                  </m:r>
                  <m:r>
                    <a:rPr lang="en-US" b="0" i="1">
                      <a:latin typeface="Cambria Math" charset="0"/>
                    </a:rPr>
                    <m:t>,</m:t>
                  </m:r>
                  <m:r>
                    <a:rPr lang="en-US" b="0" i="1">
                      <a:latin typeface="Cambria Math" charset="0"/>
                    </a:rPr>
                    <m:t>𝐵</m:t>
                  </m:r>
                  <m:r>
                    <a:rPr lang="en-US" b="0" i="1">
                      <a:latin typeface="Cambria Math" charset="0"/>
                    </a:rPr>
                    <m:t>,</m:t>
                  </m:r>
                  <m:r>
                    <a:rPr lang="en-US" b="0" i="1">
                      <a:latin typeface="Cambria Math" charset="0"/>
                    </a:rPr>
                    <m:t>𝐶</m:t>
                  </m:r>
                  <m:r>
                    <a:rPr lang="en-US" b="0" i="1">
                      <a:latin typeface="Cambria Math" charset="0"/>
                    </a:rPr>
                    <m:t>,</m:t>
                  </m:r>
                  <m:r>
                    <a:rPr lang="en-US" b="0" i="1">
                      <a:latin typeface="Cambria Math" charset="0"/>
                    </a:rPr>
                    <m:t>𝐷</m:t>
                  </m:r>
                </m:oMath>
              </a14:m>
              <a:endParaRPr lang="en-US" dirty="0"/>
            </a:p>
          </dgm:t>
        </dgm:pt>
      </mc:Choice>
      <mc:Fallback xmlns="">
        <dgm:pt modelId="{B5A10B86-FE39-45D5-9EE1-AB07F1659892}">
          <dgm:prSet/>
          <dgm:spPr/>
          <dgm:t>
            <a:bodyPr/>
            <a:lstStyle/>
            <a:p>
              <a:pPr rtl="0"/>
              <a:r>
                <a:rPr lang="en-US" b="0" dirty="0" smtClean="0"/>
                <a:t>Variables: </a:t>
              </a:r>
              <a:r>
                <a:rPr lang="en-US" b="0" i="0"/>
                <a:t>𝐴,𝐵,𝐶,𝐷</a:t>
              </a:r>
              <a:endParaRPr lang="en-US" dirty="0"/>
            </a:p>
          </dgm:t>
        </dgm:pt>
      </mc:Fallback>
    </mc:AlternateContent>
    <dgm:pt modelId="{06BE101C-E726-45C2-B126-286456A97806}" type="parTrans" cxnId="{B4E726F9-621C-47CB-9F7D-ED26BBB787ED}">
      <dgm:prSet/>
      <dgm:spPr/>
      <dgm:t>
        <a:bodyPr/>
        <a:lstStyle/>
        <a:p>
          <a:endParaRPr lang="en-US"/>
        </a:p>
      </dgm:t>
    </dgm:pt>
    <dgm:pt modelId="{6C587169-EA5A-45DA-A512-30B75166C127}" type="sibTrans" cxnId="{B4E726F9-621C-47CB-9F7D-ED26BBB787ED}">
      <dgm:prSet/>
      <dgm:spPr/>
      <dgm:t>
        <a:bodyPr/>
        <a:lstStyle/>
        <a:p>
          <a:endParaRPr lang="en-US"/>
        </a:p>
      </dgm:t>
    </dgm:pt>
    <dgm:pt modelId="{31029109-C7BE-4ABB-9BA8-F93B2E36811D}" type="pres">
      <dgm:prSet presAssocID="{1D5B7491-187B-4A13-9573-C70EDF77952A}" presName="linear" presStyleCnt="0">
        <dgm:presLayoutVars>
          <dgm:dir/>
          <dgm:animLvl val="lvl"/>
          <dgm:resizeHandles val="exact"/>
        </dgm:presLayoutVars>
      </dgm:prSet>
      <dgm:spPr/>
    </dgm:pt>
    <dgm:pt modelId="{6C344091-A4B5-442A-B7EF-3A8354AA16AA}" type="pres">
      <dgm:prSet presAssocID="{3CBC493E-5450-4C37-9532-698995CD94A5}" presName="parentLin" presStyleCnt="0"/>
      <dgm:spPr/>
    </dgm:pt>
    <dgm:pt modelId="{C5697338-4969-4C12-8189-45DC0CF9829B}" type="pres">
      <dgm:prSet presAssocID="{3CBC493E-5450-4C37-9532-698995CD94A5}" presName="parentLeftMargin" presStyleLbl="node1" presStyleIdx="0" presStyleCnt="1"/>
      <dgm:spPr/>
    </dgm:pt>
    <dgm:pt modelId="{66658F41-FD50-4AC8-91A2-E18E3F0B976B}" type="pres">
      <dgm:prSet presAssocID="{3CBC493E-5450-4C37-9532-698995CD94A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5305444-C8CC-4083-97B1-934B3D18D28C}" type="pres">
      <dgm:prSet presAssocID="{3CBC493E-5450-4C37-9532-698995CD94A5}" presName="negativeSpace" presStyleCnt="0"/>
      <dgm:spPr/>
    </dgm:pt>
    <dgm:pt modelId="{FDD10889-7BB5-4037-A9F6-39A074CACE4A}" type="pres">
      <dgm:prSet presAssocID="{3CBC493E-5450-4C37-9532-698995CD94A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A45F001-0AA6-44C0-9D95-4EF7F87D7812}" type="presOf" srcId="{3CBC493E-5450-4C37-9532-698995CD94A5}" destId="{C5697338-4969-4C12-8189-45DC0CF9829B}" srcOrd="0" destOrd="0" presId="urn:microsoft.com/office/officeart/2005/8/layout/list1"/>
    <dgm:cxn modelId="{5597CE18-A293-4553-B6E5-728824A7EFFB}" type="presOf" srcId="{3CBC493E-5450-4C37-9532-698995CD94A5}" destId="{66658F41-FD50-4AC8-91A2-E18E3F0B976B}" srcOrd="1" destOrd="0" presId="urn:microsoft.com/office/officeart/2005/8/layout/list1"/>
    <dgm:cxn modelId="{D7DB6222-6808-460F-B887-5C28C01A0F22}" srcId="{1D5B7491-187B-4A13-9573-C70EDF77952A}" destId="{3CBC493E-5450-4C37-9532-698995CD94A5}" srcOrd="0" destOrd="0" parTransId="{1DF0AF70-F54F-4629-8D9B-86EE17BD6AC3}" sibTransId="{3EDA5C2D-E183-4325-9D86-859992CD3C8F}"/>
    <dgm:cxn modelId="{7CE6A52C-250C-4DB4-90D2-D4C49ACAA6EB}" type="presOf" srcId="{1D5B7491-187B-4A13-9573-C70EDF77952A}" destId="{31029109-C7BE-4ABB-9BA8-F93B2E36811D}" srcOrd="0" destOrd="0" presId="urn:microsoft.com/office/officeart/2005/8/layout/list1"/>
    <dgm:cxn modelId="{DB168D30-2142-4D28-BE72-9F39E2143AF8}" srcId="{3CBC493E-5450-4C37-9532-698995CD94A5}" destId="{7B1E64EA-FB27-4203-AC7D-1D6EF3D165E7}" srcOrd="1" destOrd="0" parTransId="{4EB5F922-4BAE-4026-95DF-3A6C5864D641}" sibTransId="{89AB2685-BE27-4F77-AB32-A2D8BB4A30C5}"/>
    <dgm:cxn modelId="{93F3B349-E924-4B31-A438-18ED17ADE8FF}" srcId="{3CBC493E-5450-4C37-9532-698995CD94A5}" destId="{11D6C767-DB96-4F8A-88DE-F6895A7F08CE}" srcOrd="2" destOrd="0" parTransId="{3D962813-98C6-4F2F-99D4-37E003B477B9}" sibTransId="{4F8C2805-4284-4631-B6A3-382BFE579140}"/>
    <dgm:cxn modelId="{D8D9998B-E653-42C2-89D3-F10BB81FB21F}" type="presOf" srcId="{11D6C767-DB96-4F8A-88DE-F6895A7F08CE}" destId="{FDD10889-7BB5-4037-A9F6-39A074CACE4A}" srcOrd="0" destOrd="2" presId="urn:microsoft.com/office/officeart/2005/8/layout/list1"/>
    <dgm:cxn modelId="{913DB69A-C849-4B7A-AE7F-D89B8639AD64}" type="presOf" srcId="{7B1E64EA-FB27-4203-AC7D-1D6EF3D165E7}" destId="{FDD10889-7BB5-4037-A9F6-39A074CACE4A}" srcOrd="0" destOrd="1" presId="urn:microsoft.com/office/officeart/2005/8/layout/list1"/>
    <dgm:cxn modelId="{770D59D5-D245-4210-827E-0F135F4C0027}" type="presOf" srcId="{B5A10B86-FE39-45D5-9EE1-AB07F1659892}" destId="{FDD10889-7BB5-4037-A9F6-39A074CACE4A}" srcOrd="0" destOrd="0" presId="urn:microsoft.com/office/officeart/2005/8/layout/list1"/>
    <dgm:cxn modelId="{B4E726F9-621C-47CB-9F7D-ED26BBB787ED}" srcId="{3CBC493E-5450-4C37-9532-698995CD94A5}" destId="{B5A10B86-FE39-45D5-9EE1-AB07F1659892}" srcOrd="0" destOrd="0" parTransId="{06BE101C-E726-45C2-B126-286456A97806}" sibTransId="{6C587169-EA5A-45DA-A512-30B75166C127}"/>
    <dgm:cxn modelId="{A24B1A44-661A-496B-8485-E8BB6AD240D6}" type="presParOf" srcId="{31029109-C7BE-4ABB-9BA8-F93B2E36811D}" destId="{6C344091-A4B5-442A-B7EF-3A8354AA16AA}" srcOrd="0" destOrd="0" presId="urn:microsoft.com/office/officeart/2005/8/layout/list1"/>
    <dgm:cxn modelId="{F6F9A14A-61E1-44CA-B5BE-9C32C7589AF5}" type="presParOf" srcId="{6C344091-A4B5-442A-B7EF-3A8354AA16AA}" destId="{C5697338-4969-4C12-8189-45DC0CF9829B}" srcOrd="0" destOrd="0" presId="urn:microsoft.com/office/officeart/2005/8/layout/list1"/>
    <dgm:cxn modelId="{C48AD1DC-F9B0-4DF5-ABC0-4B1EDD51F1B5}" type="presParOf" srcId="{6C344091-A4B5-442A-B7EF-3A8354AA16AA}" destId="{66658F41-FD50-4AC8-91A2-E18E3F0B976B}" srcOrd="1" destOrd="0" presId="urn:microsoft.com/office/officeart/2005/8/layout/list1"/>
    <dgm:cxn modelId="{3B78446E-C6DA-4D07-957B-F89F99E46CFD}" type="presParOf" srcId="{31029109-C7BE-4ABB-9BA8-F93B2E36811D}" destId="{65305444-C8CC-4083-97B1-934B3D18D28C}" srcOrd="1" destOrd="0" presId="urn:microsoft.com/office/officeart/2005/8/layout/list1"/>
    <dgm:cxn modelId="{1541F90E-3B62-43BB-BC97-16FB3CDC40BA}" type="presParOf" srcId="{31029109-C7BE-4ABB-9BA8-F93B2E36811D}" destId="{FDD10889-7BB5-4037-A9F6-39A074CACE4A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D5B7491-187B-4A13-9573-C70EDF77952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BC493E-5450-4C37-9532-698995CD94A5}">
      <dgm:prSet/>
      <dgm:spPr/>
      <dgm:t>
        <a:bodyPr/>
        <a:lstStyle/>
        <a:p>
          <a:pPr rtl="0"/>
          <a:r>
            <a:rPr lang="en-US" b="0" dirty="0"/>
            <a:t>CSP</a:t>
          </a:r>
          <a:endParaRPr lang="en-US" dirty="0"/>
        </a:p>
      </dgm:t>
    </dgm:pt>
    <dgm:pt modelId="{1DF0AF70-F54F-4629-8D9B-86EE17BD6AC3}" type="parTrans" cxnId="{D7DB6222-6808-460F-B887-5C28C01A0F22}">
      <dgm:prSet/>
      <dgm:spPr/>
      <dgm:t>
        <a:bodyPr/>
        <a:lstStyle/>
        <a:p>
          <a:endParaRPr lang="en-US"/>
        </a:p>
      </dgm:t>
    </dgm:pt>
    <dgm:pt modelId="{3EDA5C2D-E183-4325-9D86-859992CD3C8F}" type="sibTrans" cxnId="{D7DB6222-6808-460F-B887-5C28C01A0F22}">
      <dgm:prSet/>
      <dgm:spPr/>
      <dgm:t>
        <a:bodyPr/>
        <a:lstStyle/>
        <a:p>
          <a:endParaRPr lang="en-US"/>
        </a:p>
      </dgm:t>
    </dgm:pt>
    <dgm:pt modelId="{7B1E64EA-FB27-4203-AC7D-1D6EF3D165E7}">
      <dgm:prSet/>
      <dgm:spPr/>
      <dgm:t>
        <a:bodyPr/>
        <a:lstStyle/>
        <a:p>
          <a:r>
            <a:rPr lang="en-GB">
              <a:noFill/>
            </a:rPr>
            <a:t> </a:t>
          </a:r>
        </a:p>
      </dgm:t>
    </dgm:pt>
    <dgm:pt modelId="{4EB5F922-4BAE-4026-95DF-3A6C5864D641}" type="parTrans" cxnId="{DB168D30-2142-4D28-BE72-9F39E2143AF8}">
      <dgm:prSet/>
      <dgm:spPr/>
      <dgm:t>
        <a:bodyPr/>
        <a:lstStyle/>
        <a:p>
          <a:endParaRPr lang="en-US"/>
        </a:p>
      </dgm:t>
    </dgm:pt>
    <dgm:pt modelId="{89AB2685-BE27-4F77-AB32-A2D8BB4A30C5}" type="sibTrans" cxnId="{DB168D30-2142-4D28-BE72-9F39E2143AF8}">
      <dgm:prSet/>
      <dgm:spPr/>
      <dgm:t>
        <a:bodyPr/>
        <a:lstStyle/>
        <a:p>
          <a:endParaRPr lang="en-US"/>
        </a:p>
      </dgm:t>
    </dgm:pt>
    <dgm:pt modelId="{11D6C767-DB96-4F8A-88DE-F6895A7F08CE}">
      <dgm:prSet/>
      <dgm:spPr/>
      <dgm:t>
        <a:bodyPr/>
        <a:lstStyle/>
        <a:p>
          <a:r>
            <a:rPr lang="en-GB">
              <a:noFill/>
            </a:rPr>
            <a:t> </a:t>
          </a:r>
        </a:p>
      </dgm:t>
    </dgm:pt>
    <dgm:pt modelId="{3D962813-98C6-4F2F-99D4-37E003B477B9}" type="parTrans" cxnId="{93F3B349-E924-4B31-A438-18ED17ADE8FF}">
      <dgm:prSet/>
      <dgm:spPr/>
      <dgm:t>
        <a:bodyPr/>
        <a:lstStyle/>
        <a:p>
          <a:endParaRPr lang="en-US"/>
        </a:p>
      </dgm:t>
    </dgm:pt>
    <dgm:pt modelId="{4F8C2805-4284-4631-B6A3-382BFE579140}" type="sibTrans" cxnId="{93F3B349-E924-4B31-A438-18ED17ADE8FF}">
      <dgm:prSet/>
      <dgm:spPr/>
      <dgm:t>
        <a:bodyPr/>
        <a:lstStyle/>
        <a:p>
          <a:endParaRPr lang="en-US"/>
        </a:p>
      </dgm:t>
    </dgm:pt>
    <dgm:pt modelId="{B5A10B86-FE39-45D5-9EE1-AB07F1659892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06BE101C-E726-45C2-B126-286456A97806}" type="parTrans" cxnId="{B4E726F9-621C-47CB-9F7D-ED26BBB787ED}">
      <dgm:prSet/>
      <dgm:spPr/>
      <dgm:t>
        <a:bodyPr/>
        <a:lstStyle/>
        <a:p>
          <a:endParaRPr lang="en-US"/>
        </a:p>
      </dgm:t>
    </dgm:pt>
    <dgm:pt modelId="{6C587169-EA5A-45DA-A512-30B75166C127}" type="sibTrans" cxnId="{B4E726F9-621C-47CB-9F7D-ED26BBB787ED}">
      <dgm:prSet/>
      <dgm:spPr/>
      <dgm:t>
        <a:bodyPr/>
        <a:lstStyle/>
        <a:p>
          <a:endParaRPr lang="en-US"/>
        </a:p>
      </dgm:t>
    </dgm:pt>
    <dgm:pt modelId="{31029109-C7BE-4ABB-9BA8-F93B2E36811D}" type="pres">
      <dgm:prSet presAssocID="{1D5B7491-187B-4A13-9573-C70EDF77952A}" presName="linear" presStyleCnt="0">
        <dgm:presLayoutVars>
          <dgm:dir/>
          <dgm:animLvl val="lvl"/>
          <dgm:resizeHandles val="exact"/>
        </dgm:presLayoutVars>
      </dgm:prSet>
      <dgm:spPr/>
    </dgm:pt>
    <dgm:pt modelId="{6C344091-A4B5-442A-B7EF-3A8354AA16AA}" type="pres">
      <dgm:prSet presAssocID="{3CBC493E-5450-4C37-9532-698995CD94A5}" presName="parentLin" presStyleCnt="0"/>
      <dgm:spPr/>
    </dgm:pt>
    <dgm:pt modelId="{C5697338-4969-4C12-8189-45DC0CF9829B}" type="pres">
      <dgm:prSet presAssocID="{3CBC493E-5450-4C37-9532-698995CD94A5}" presName="parentLeftMargin" presStyleLbl="node1" presStyleIdx="0" presStyleCnt="1"/>
      <dgm:spPr/>
    </dgm:pt>
    <dgm:pt modelId="{66658F41-FD50-4AC8-91A2-E18E3F0B976B}" type="pres">
      <dgm:prSet presAssocID="{3CBC493E-5450-4C37-9532-698995CD94A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5305444-C8CC-4083-97B1-934B3D18D28C}" type="pres">
      <dgm:prSet presAssocID="{3CBC493E-5450-4C37-9532-698995CD94A5}" presName="negativeSpace" presStyleCnt="0"/>
      <dgm:spPr/>
    </dgm:pt>
    <dgm:pt modelId="{FDD10889-7BB5-4037-A9F6-39A074CACE4A}" type="pres">
      <dgm:prSet presAssocID="{3CBC493E-5450-4C37-9532-698995CD94A5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A45F001-0AA6-44C0-9D95-4EF7F87D7812}" type="presOf" srcId="{3CBC493E-5450-4C37-9532-698995CD94A5}" destId="{C5697338-4969-4C12-8189-45DC0CF9829B}" srcOrd="0" destOrd="0" presId="urn:microsoft.com/office/officeart/2005/8/layout/list1"/>
    <dgm:cxn modelId="{5597CE18-A293-4553-B6E5-728824A7EFFB}" type="presOf" srcId="{3CBC493E-5450-4C37-9532-698995CD94A5}" destId="{66658F41-FD50-4AC8-91A2-E18E3F0B976B}" srcOrd="1" destOrd="0" presId="urn:microsoft.com/office/officeart/2005/8/layout/list1"/>
    <dgm:cxn modelId="{D7DB6222-6808-460F-B887-5C28C01A0F22}" srcId="{1D5B7491-187B-4A13-9573-C70EDF77952A}" destId="{3CBC493E-5450-4C37-9532-698995CD94A5}" srcOrd="0" destOrd="0" parTransId="{1DF0AF70-F54F-4629-8D9B-86EE17BD6AC3}" sibTransId="{3EDA5C2D-E183-4325-9D86-859992CD3C8F}"/>
    <dgm:cxn modelId="{7CE6A52C-250C-4DB4-90D2-D4C49ACAA6EB}" type="presOf" srcId="{1D5B7491-187B-4A13-9573-C70EDF77952A}" destId="{31029109-C7BE-4ABB-9BA8-F93B2E36811D}" srcOrd="0" destOrd="0" presId="urn:microsoft.com/office/officeart/2005/8/layout/list1"/>
    <dgm:cxn modelId="{DB168D30-2142-4D28-BE72-9F39E2143AF8}" srcId="{3CBC493E-5450-4C37-9532-698995CD94A5}" destId="{7B1E64EA-FB27-4203-AC7D-1D6EF3D165E7}" srcOrd="1" destOrd="0" parTransId="{4EB5F922-4BAE-4026-95DF-3A6C5864D641}" sibTransId="{89AB2685-BE27-4F77-AB32-A2D8BB4A30C5}"/>
    <dgm:cxn modelId="{93F3B349-E924-4B31-A438-18ED17ADE8FF}" srcId="{3CBC493E-5450-4C37-9532-698995CD94A5}" destId="{11D6C767-DB96-4F8A-88DE-F6895A7F08CE}" srcOrd="2" destOrd="0" parTransId="{3D962813-98C6-4F2F-99D4-37E003B477B9}" sibTransId="{4F8C2805-4284-4631-B6A3-382BFE579140}"/>
    <dgm:cxn modelId="{D8D9998B-E653-42C2-89D3-F10BB81FB21F}" type="presOf" srcId="{11D6C767-DB96-4F8A-88DE-F6895A7F08CE}" destId="{FDD10889-7BB5-4037-A9F6-39A074CACE4A}" srcOrd="0" destOrd="2" presId="urn:microsoft.com/office/officeart/2005/8/layout/list1"/>
    <dgm:cxn modelId="{913DB69A-C849-4B7A-AE7F-D89B8639AD64}" type="presOf" srcId="{7B1E64EA-FB27-4203-AC7D-1D6EF3D165E7}" destId="{FDD10889-7BB5-4037-A9F6-39A074CACE4A}" srcOrd="0" destOrd="1" presId="urn:microsoft.com/office/officeart/2005/8/layout/list1"/>
    <dgm:cxn modelId="{770D59D5-D245-4210-827E-0F135F4C0027}" type="presOf" srcId="{B5A10B86-FE39-45D5-9EE1-AB07F1659892}" destId="{FDD10889-7BB5-4037-A9F6-39A074CACE4A}" srcOrd="0" destOrd="0" presId="urn:microsoft.com/office/officeart/2005/8/layout/list1"/>
    <dgm:cxn modelId="{B4E726F9-621C-47CB-9F7D-ED26BBB787ED}" srcId="{3CBC493E-5450-4C37-9532-698995CD94A5}" destId="{B5A10B86-FE39-45D5-9EE1-AB07F1659892}" srcOrd="0" destOrd="0" parTransId="{06BE101C-E726-45C2-B126-286456A97806}" sibTransId="{6C587169-EA5A-45DA-A512-30B75166C127}"/>
    <dgm:cxn modelId="{A24B1A44-661A-496B-8485-E8BB6AD240D6}" type="presParOf" srcId="{31029109-C7BE-4ABB-9BA8-F93B2E36811D}" destId="{6C344091-A4B5-442A-B7EF-3A8354AA16AA}" srcOrd="0" destOrd="0" presId="urn:microsoft.com/office/officeart/2005/8/layout/list1"/>
    <dgm:cxn modelId="{F6F9A14A-61E1-44CA-B5BE-9C32C7589AF5}" type="presParOf" srcId="{6C344091-A4B5-442A-B7EF-3A8354AA16AA}" destId="{C5697338-4969-4C12-8189-45DC0CF9829B}" srcOrd="0" destOrd="0" presId="urn:microsoft.com/office/officeart/2005/8/layout/list1"/>
    <dgm:cxn modelId="{C48AD1DC-F9B0-4DF5-ABC0-4B1EDD51F1B5}" type="presParOf" srcId="{6C344091-A4B5-442A-B7EF-3A8354AA16AA}" destId="{66658F41-FD50-4AC8-91A2-E18E3F0B976B}" srcOrd="1" destOrd="0" presId="urn:microsoft.com/office/officeart/2005/8/layout/list1"/>
    <dgm:cxn modelId="{3B78446E-C6DA-4D07-957B-F89F99E46CFD}" type="presParOf" srcId="{31029109-C7BE-4ABB-9BA8-F93B2E36811D}" destId="{65305444-C8CC-4083-97B1-934B3D18D28C}" srcOrd="1" destOrd="0" presId="urn:microsoft.com/office/officeart/2005/8/layout/list1"/>
    <dgm:cxn modelId="{1541F90E-3B62-43BB-BC97-16FB3CDC40BA}" type="presParOf" srcId="{31029109-C7BE-4ABB-9BA8-F93B2E36811D}" destId="{FDD10889-7BB5-4037-A9F6-39A074CACE4A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B69652-080F-4D47-9D6A-2525D5F754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084386-0CE0-4A20-B22D-B92AF104A4A1}">
      <dgm:prSet/>
      <dgm:spPr/>
      <dgm:t>
        <a:bodyPr/>
        <a:lstStyle/>
        <a:p>
          <a:pPr rtl="0"/>
          <a:r>
            <a:rPr lang="en-US"/>
            <a:t>Order of variable assignment is irrelevant</a:t>
          </a:r>
        </a:p>
      </dgm:t>
    </dgm:pt>
    <dgm:pt modelId="{A0FD17E3-8B08-4A4B-A547-B120E010E330}" type="parTrans" cxnId="{CEA7147B-55DB-4A9B-A5F7-8D35722A9B85}">
      <dgm:prSet/>
      <dgm:spPr/>
      <dgm:t>
        <a:bodyPr/>
        <a:lstStyle/>
        <a:p>
          <a:endParaRPr lang="en-US"/>
        </a:p>
      </dgm:t>
    </dgm:pt>
    <dgm:pt modelId="{69CDA0E0-CC6F-4824-9682-2242EE8B1EAD}" type="sibTrans" cxnId="{CEA7147B-55DB-4A9B-A5F7-8D35722A9B85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87AFD58-E1F3-4098-BBCF-62A4B0DA0EFC}">
          <dgm:prSet/>
          <dgm:spPr/>
          <dgm:t>
            <a:bodyPr/>
            <a:lstStyle/>
            <a:p>
              <a:pPr rtl="0"/>
              <a14:m>
                <m:oMath xmlns:m="http://schemas.openxmlformats.org/officeDocument/2006/math">
                  <m:d>
                    <m:dPr>
                      <m:begChr m:val="["/>
                      <m:endChr m:val="]"/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n-US" i="1">
                          <a:latin typeface="Cambria Math" charset="0"/>
                        </a:rPr>
                        <m:t>𝑊𝐴</m:t>
                      </m:r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b="0" i="1">
                          <a:latin typeface="Cambria Math" charset="0"/>
                        </a:rPr>
                        <m:t>𝑅</m:t>
                      </m:r>
                      <m:r>
                        <a:rPr lang="en-US" i="1"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charset="0"/>
                        </a:rPr>
                        <m:t>then</m:t>
                      </m:r>
                      <m:r>
                        <a:rPr lang="en-US" i="1">
                          <a:latin typeface="Cambria Math" charset="0"/>
                        </a:rPr>
                        <m:t> </m:t>
                      </m:r>
                      <m:r>
                        <a:rPr lang="en-US" i="1">
                          <a:latin typeface="Cambria Math" charset="0"/>
                        </a:rPr>
                        <m:t>𝑁𝑇</m:t>
                      </m:r>
                      <m:r>
                        <a:rPr lang="en-US" i="1">
                          <a:latin typeface="Cambria Math" charset="0"/>
                        </a:rPr>
                        <m:t>=</m:t>
                      </m:r>
                      <m:r>
                        <a:rPr lang="en-US" b="0" i="1">
                          <a:latin typeface="Cambria Math" charset="0"/>
                        </a:rPr>
                        <m:t>𝐺</m:t>
                      </m:r>
                    </m:e>
                  </m:d>
                </m:oMath>
              </a14:m>
              <a:r>
                <a:rPr lang="en-US" dirty="0"/>
                <a:t> equivalent to </a:t>
              </a:r>
              <a14:m>
                <m:oMath xmlns:m="http://schemas.openxmlformats.org/officeDocument/2006/math">
                  <m:d>
                    <m:dPr>
                      <m:begChr m:val="["/>
                      <m:endChr m:val="]"/>
                      <m:ctrlPr>
                        <a:rPr lang="en-US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en-US" i="1">
                          <a:latin typeface="Cambria Math" panose="02040503050406030204" pitchFamily="18" charset="0"/>
                        </a:rPr>
                        <m:t>𝑁𝑇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𝑊𝐴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𝑅</m:t>
                      </m:r>
                    </m:e>
                  </m:d>
                </m:oMath>
              </a14:m>
              <a:endParaRPr lang="en-US" dirty="0"/>
            </a:p>
          </dgm:t>
        </dgm:pt>
      </mc:Choice>
      <mc:Fallback xmlns="">
        <dgm:pt modelId="{887AFD58-E1F3-4098-BBCF-62A4B0DA0EFC}">
          <dgm:prSet/>
          <dgm:spPr/>
          <dgm:t>
            <a:bodyPr/>
            <a:lstStyle/>
            <a:p>
              <a:pPr rtl="0"/>
              <a:r>
                <a:rPr lang="en-US" i="0" smtClean="0"/>
                <a:t>[</a:t>
              </a:r>
              <a:r>
                <a:rPr lang="en-US" i="0"/>
                <a:t>𝑊𝐴=</a:t>
              </a:r>
              <a:r>
                <a:rPr lang="en-US" b="0" i="0"/>
                <a:t>𝑅</a:t>
              </a:r>
              <a:r>
                <a:rPr lang="en-US" i="0"/>
                <a:t> then 𝑁𝑇=</a:t>
              </a:r>
              <a:r>
                <a:rPr lang="en-US" b="0" i="0"/>
                <a:t>𝐺]</a:t>
              </a:r>
              <a:r>
                <a:rPr lang="en-US" dirty="0" smtClean="0"/>
                <a:t> equivalent to </a:t>
              </a:r>
              <a:r>
                <a:rPr lang="en-US" b="0" i="0" smtClean="0">
                  <a:latin typeface="Cambria Math" panose="02040503050406030204" pitchFamily="18" charset="0"/>
                </a:rPr>
                <a:t>[</a:t>
              </a:r>
              <a:r>
                <a:rPr lang="en-US" i="0">
                  <a:latin typeface="Cambria Math" panose="02040503050406030204" pitchFamily="18" charset="0"/>
                </a:rPr>
                <a:t>𝑁𝑇=</a:t>
              </a:r>
              <a:r>
                <a:rPr lang="en-US" b="0" i="0">
                  <a:latin typeface="Cambria Math" panose="02040503050406030204" pitchFamily="18" charset="0"/>
                </a:rPr>
                <a:t>𝐺</a:t>
              </a:r>
              <a:r>
                <a:rPr lang="en-US" i="0">
                  <a:latin typeface="Cambria Math" panose="02040503050406030204" pitchFamily="18" charset="0"/>
                </a:rPr>
                <a:t> then 𝑊𝐴=</a:t>
              </a:r>
              <a:r>
                <a:rPr lang="en-US" b="0" i="0">
                  <a:latin typeface="Cambria Math" panose="02040503050406030204" pitchFamily="18" charset="0"/>
                </a:rPr>
                <a:t>𝑅]</a:t>
              </a:r>
              <a:endParaRPr lang="en-US" dirty="0"/>
            </a:p>
          </dgm:t>
        </dgm:pt>
      </mc:Fallback>
    </mc:AlternateContent>
    <dgm:pt modelId="{8F5E2DED-CA9E-4107-9AC2-5D0E609493B8}" type="parTrans" cxnId="{3EC1AF7E-904A-481E-B3A2-304B9C90D819}">
      <dgm:prSet/>
      <dgm:spPr/>
      <dgm:t>
        <a:bodyPr/>
        <a:lstStyle/>
        <a:p>
          <a:endParaRPr lang="en-US"/>
        </a:p>
      </dgm:t>
    </dgm:pt>
    <dgm:pt modelId="{43FBC455-5766-40BC-9147-D8621AC1B5B5}" type="sibTrans" cxnId="{3EC1AF7E-904A-481E-B3A2-304B9C90D819}">
      <dgm:prSet/>
      <dgm:spPr/>
      <dgm:t>
        <a:bodyPr/>
        <a:lstStyle/>
        <a:p>
          <a:endParaRPr lang="en-US"/>
        </a:p>
      </dgm:t>
    </dgm:pt>
    <dgm:pt modelId="{1931F660-41C0-4C09-AB8F-A8ADD160DFC9}">
      <dgm:prSet/>
      <dgm:spPr/>
      <dgm:t>
        <a:bodyPr/>
        <a:lstStyle/>
        <a:p>
          <a:pPr rtl="0"/>
          <a:r>
            <a:rPr lang="en-US"/>
            <a:t>At every level, consider assignments to a single variable.</a:t>
          </a:r>
        </a:p>
      </dgm:t>
    </dgm:pt>
    <dgm:pt modelId="{85D728B3-0F71-45A9-8F12-189B58CC12E1}" type="parTrans" cxnId="{FAE35117-5FEB-4E66-81B5-F702BA08BC2B}">
      <dgm:prSet/>
      <dgm:spPr/>
      <dgm:t>
        <a:bodyPr/>
        <a:lstStyle/>
        <a:p>
          <a:endParaRPr lang="en-US"/>
        </a:p>
      </dgm:t>
    </dgm:pt>
    <dgm:pt modelId="{807B81A9-AF6E-4571-8978-CA3B9CF3F753}" type="sibTrans" cxnId="{FAE35117-5FEB-4E66-81B5-F702BA08BC2B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45B4BAF0-8310-4B38-AAA3-0B56F8019BD3}">
          <dgm:prSet/>
          <dgm:spPr/>
          <dgm:t>
            <a:bodyPr/>
            <a:lstStyle/>
            <a:p>
              <a:pPr rtl="0"/>
              <a:r>
                <a:rPr lang="en-US" dirty="0"/>
                <a:t>Fix an order of variable assignment </a:t>
              </a:r>
              <a:r>
                <a:rPr lang="en-US" dirty="0">
                  <a:sym typeface="Wingdings" panose="05000000000000000000" pitchFamily="2" charset="2"/>
                </a:rPr>
                <a:t></a:t>
              </a:r>
              <a:r>
                <a:rPr lang="en-US" dirty="0"/>
                <a:t> </a:t>
              </a:r>
              <a14:m>
                <m:oMath xmlns:m="http://schemas.openxmlformats.org/officeDocument/2006/math">
                  <m:r>
                    <a:rPr lang="en-US" i="1">
                      <a:latin typeface="Cambria Math" charset="0"/>
                    </a:rPr>
                    <m:t>𝑏</m:t>
                  </m:r>
                  <m:r>
                    <a:rPr lang="en-US" i="1">
                      <a:latin typeface="Cambria Math" charset="0"/>
                    </a:rPr>
                    <m:t>=</m:t>
                  </m:r>
                  <m:r>
                    <a:rPr lang="en-US" i="1">
                      <a:latin typeface="Cambria Math" charset="0"/>
                    </a:rPr>
                    <m:t>𝑑</m:t>
                  </m:r>
                </m:oMath>
              </a14:m>
              <a:r>
                <a:rPr lang="en-US" dirty="0"/>
                <a:t> and there are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b="0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i="1">
                          <a:latin typeface="Cambria Math" charset="0"/>
                        </a:rPr>
                        <m:t>𝑑</m:t>
                      </m:r>
                    </m:e>
                    <m:sup>
                      <m:r>
                        <a:rPr lang="en-US" b="0" i="1">
                          <a:latin typeface="Cambria Math" charset="0"/>
                        </a:rPr>
                        <m:t>𝑛</m:t>
                      </m:r>
                    </m:sup>
                  </m:sSup>
                </m:oMath>
              </a14:m>
              <a:r>
                <a:rPr lang="en-US" dirty="0"/>
                <a:t> leaves</a:t>
              </a:r>
            </a:p>
          </dgm:t>
        </dgm:pt>
      </mc:Choice>
      <mc:Fallback xmlns="">
        <dgm:pt modelId="{45B4BAF0-8310-4B38-AAA3-0B56F8019BD3}">
          <dgm:prSet/>
          <dgm:spPr/>
          <dgm:t>
            <a:bodyPr/>
            <a:lstStyle/>
            <a:p>
              <a:pPr rtl="0"/>
              <a:r>
                <a:rPr lang="en-US" dirty="0" smtClean="0"/>
                <a:t>Fix an order of variable assignment </a:t>
              </a:r>
              <a:r>
                <a:rPr lang="en-US" dirty="0">
                  <a:sym typeface="Wingdings" panose="05000000000000000000" pitchFamily="2" charset="2"/>
                </a:rPr>
                <a:t></a:t>
              </a:r>
              <a:r>
                <a:rPr lang="en-US" dirty="0"/>
                <a:t> </a:t>
              </a:r>
              <a:r>
                <a:rPr lang="en-US" i="0"/>
                <a:t>𝑏=𝑑</a:t>
              </a:r>
              <a:r>
                <a:rPr lang="en-US" dirty="0"/>
                <a:t> and there are </a:t>
              </a:r>
              <a:r>
                <a:rPr lang="en-US" i="0"/>
                <a:t>𝑑</a:t>
              </a:r>
              <a:r>
                <a:rPr lang="en-US" b="0" i="0"/>
                <a:t>^𝑛</a:t>
              </a:r>
              <a:r>
                <a:rPr lang="en-US" dirty="0"/>
                <a:t> leaves</a:t>
              </a:r>
            </a:p>
          </dgm:t>
        </dgm:pt>
      </mc:Fallback>
    </mc:AlternateContent>
    <dgm:pt modelId="{45AA3B21-997F-4C4F-88CE-3C093957C373}" type="parTrans" cxnId="{3DF64A3B-2EF1-4E65-96B7-4F816418E938}">
      <dgm:prSet/>
      <dgm:spPr/>
      <dgm:t>
        <a:bodyPr/>
        <a:lstStyle/>
        <a:p>
          <a:endParaRPr lang="en-US"/>
        </a:p>
      </dgm:t>
    </dgm:pt>
    <dgm:pt modelId="{9A5B464F-857C-4874-AA3F-4BBDD7AE6B65}" type="sibTrans" cxnId="{3DF64A3B-2EF1-4E65-96B7-4F816418E938}">
      <dgm:prSet/>
      <dgm:spPr/>
      <dgm:t>
        <a:bodyPr/>
        <a:lstStyle/>
        <a:p>
          <a:endParaRPr lang="en-US"/>
        </a:p>
      </dgm:t>
    </dgm:pt>
    <dgm:pt modelId="{28EA9153-01AF-479C-AF02-2BF030AB4842}">
      <dgm:prSet/>
      <dgm:spPr/>
      <dgm:t>
        <a:bodyPr/>
        <a:lstStyle/>
        <a:p>
          <a:pPr rtl="0"/>
          <a:r>
            <a:rPr lang="en-US"/>
            <a:t>DFS for CSPs with single-variable/level assignments is called backtracking search</a:t>
          </a:r>
        </a:p>
      </dgm:t>
    </dgm:pt>
    <dgm:pt modelId="{B4445358-F150-48C4-B388-368198BC5FF9}" type="parTrans" cxnId="{B4489EC5-6C26-4DB9-9C3C-F9B5131DF37D}">
      <dgm:prSet/>
      <dgm:spPr/>
      <dgm:t>
        <a:bodyPr/>
        <a:lstStyle/>
        <a:p>
          <a:endParaRPr lang="en-US"/>
        </a:p>
      </dgm:t>
    </dgm:pt>
    <dgm:pt modelId="{AD52B859-D8F6-426D-B478-BDFFD9D538CE}" type="sibTrans" cxnId="{B4489EC5-6C26-4DB9-9C3C-F9B5131DF37D}">
      <dgm:prSet/>
      <dgm:spPr/>
      <dgm:t>
        <a:bodyPr/>
        <a:lstStyle/>
        <a:p>
          <a:endParaRPr lang="en-US"/>
        </a:p>
      </dgm:t>
    </dgm:pt>
    <dgm:pt modelId="{0EE8F483-3615-4FF8-85E0-D483F9471C9D}">
      <dgm:prSet/>
      <dgm:spPr/>
      <dgm:t>
        <a:bodyPr/>
        <a:lstStyle/>
        <a:p>
          <a:pPr rtl="0"/>
          <a:r>
            <a:rPr lang="en-US"/>
            <a:t>Is the basic uninformed search algorithm for CSPs</a:t>
          </a:r>
        </a:p>
      </dgm:t>
    </dgm:pt>
    <dgm:pt modelId="{19247F36-EBA2-4EC7-8555-3F0367677F93}" type="parTrans" cxnId="{8F27A343-DF10-4B5B-9A43-C45F26CC1B37}">
      <dgm:prSet/>
      <dgm:spPr/>
      <dgm:t>
        <a:bodyPr/>
        <a:lstStyle/>
        <a:p>
          <a:endParaRPr lang="en-US"/>
        </a:p>
      </dgm:t>
    </dgm:pt>
    <dgm:pt modelId="{F65CDA22-26F2-4223-B269-87754A59FAAA}" type="sibTrans" cxnId="{8F27A343-DF10-4B5B-9A43-C45F26CC1B37}">
      <dgm:prSet/>
      <dgm:spPr/>
      <dgm:t>
        <a:bodyPr/>
        <a:lstStyle/>
        <a:p>
          <a:endParaRPr lang="en-US"/>
        </a:p>
      </dgm:t>
    </dgm:pt>
    <dgm:pt modelId="{74F5B788-8119-4B6E-95BD-8198B9572C20}">
      <dgm:prSet/>
      <dgm:spPr/>
      <dgm:t>
        <a:bodyPr/>
        <a:lstStyle/>
        <a:p>
          <a:pPr rtl="0"/>
          <a:r>
            <a:rPr lang="en-US"/>
            <a:t>Backtracks when no legal assignments</a:t>
          </a:r>
        </a:p>
      </dgm:t>
    </dgm:pt>
    <dgm:pt modelId="{83C69DCE-66BD-4318-95D1-E0BB245242EF}" type="parTrans" cxnId="{FA9A3573-17A6-4D73-BF21-68A6F482336A}">
      <dgm:prSet/>
      <dgm:spPr/>
      <dgm:t>
        <a:bodyPr/>
        <a:lstStyle/>
        <a:p>
          <a:endParaRPr lang="en-US"/>
        </a:p>
      </dgm:t>
    </dgm:pt>
    <dgm:pt modelId="{E351FC05-BB9B-47D8-BB6C-4F6519A13C99}" type="sibTrans" cxnId="{FA9A3573-17A6-4D73-BF21-68A6F482336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6691AD7-7006-4861-B847-1C9FA86E76A9}">
          <dgm:prSet/>
          <dgm:spPr/>
          <dgm:t>
            <a:bodyPr/>
            <a:lstStyle/>
            <a:p>
              <a:pPr rtl="0"/>
              <a:r>
                <a:rPr lang="en-US"/>
                <a:t>Can solve </a:t>
              </a:r>
              <a14:m>
                <m:oMath xmlns:m="http://schemas.openxmlformats.org/officeDocument/2006/math">
                  <m:r>
                    <a:rPr lang="en-US" i="1">
                      <a:latin typeface="Cambria Math" charset="0"/>
                    </a:rPr>
                    <m:t>𝑛</m:t>
                  </m:r>
                </m:oMath>
              </a14:m>
              <a:r>
                <a:rPr lang="en-US"/>
                <a:t>-queens for </a:t>
              </a:r>
              <a14:m>
                <m:oMath xmlns:m="http://schemas.openxmlformats.org/officeDocument/2006/math">
                  <m:r>
                    <a:rPr lang="en-US" i="1">
                      <a:latin typeface="Cambria Math" charset="0"/>
                    </a:rPr>
                    <m:t>𝑛</m:t>
                  </m:r>
                  <m:r>
                    <a:rPr lang="en-US" i="1">
                      <a:latin typeface="Cambria Math" charset="0"/>
                    </a:rPr>
                    <m:t>≈25</m:t>
                  </m:r>
                </m:oMath>
              </a14:m>
              <a:endParaRPr lang="en-US"/>
            </a:p>
          </dgm:t>
        </dgm:pt>
      </mc:Choice>
      <mc:Fallback xmlns="">
        <dgm:pt modelId="{C6691AD7-7006-4861-B847-1C9FA86E76A9}">
          <dgm:prSet/>
          <dgm:spPr/>
          <dgm:t>
            <a:bodyPr/>
            <a:lstStyle/>
            <a:p>
              <a:pPr rtl="0"/>
              <a:r>
                <a:rPr lang="en-US" smtClean="0"/>
                <a:t>Can solve </a:t>
              </a:r>
              <a:r>
                <a:rPr lang="en-US" i="0"/>
                <a:t>𝑛</a:t>
              </a:r>
              <a:r>
                <a:rPr lang="en-US"/>
                <a:t>-queens for </a:t>
              </a:r>
              <a:r>
                <a:rPr lang="en-US" i="0"/>
                <a:t>𝑛≈25</a:t>
              </a:r>
              <a:endParaRPr lang="en-US"/>
            </a:p>
          </dgm:t>
        </dgm:pt>
      </mc:Fallback>
    </mc:AlternateContent>
    <dgm:pt modelId="{F3D8BBC3-7592-4781-8EA9-7A62145FCF22}" type="parTrans" cxnId="{D7D3CAE3-4B5F-42BB-A6A8-FF6FBDC95E1D}">
      <dgm:prSet/>
      <dgm:spPr/>
      <dgm:t>
        <a:bodyPr/>
        <a:lstStyle/>
        <a:p>
          <a:endParaRPr lang="en-US"/>
        </a:p>
      </dgm:t>
    </dgm:pt>
    <dgm:pt modelId="{B216AC4C-3241-47C0-9DA0-EE37DAFA130D}" type="sibTrans" cxnId="{D7D3CAE3-4B5F-42BB-A6A8-FF6FBDC95E1D}">
      <dgm:prSet/>
      <dgm:spPr/>
      <dgm:t>
        <a:bodyPr/>
        <a:lstStyle/>
        <a:p>
          <a:endParaRPr lang="en-US"/>
        </a:p>
      </dgm:t>
    </dgm:pt>
    <dgm:pt modelId="{DFADF0A4-9F94-447B-B7FB-E37125DB0A2C}" type="pres">
      <dgm:prSet presAssocID="{B9B69652-080F-4D47-9D6A-2525D5F75421}" presName="linear" presStyleCnt="0">
        <dgm:presLayoutVars>
          <dgm:animLvl val="lvl"/>
          <dgm:resizeHandles val="exact"/>
        </dgm:presLayoutVars>
      </dgm:prSet>
      <dgm:spPr/>
    </dgm:pt>
    <dgm:pt modelId="{0D0885FC-8736-4471-927D-ED4342B3CAE6}" type="pres">
      <dgm:prSet presAssocID="{07084386-0CE0-4A20-B22D-B92AF104A4A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5D7454-11B4-43AF-BB0A-F629BC1293CE}" type="pres">
      <dgm:prSet presAssocID="{07084386-0CE0-4A20-B22D-B92AF104A4A1}" presName="childText" presStyleLbl="revTx" presStyleIdx="0" presStyleCnt="3">
        <dgm:presLayoutVars>
          <dgm:bulletEnabled val="1"/>
        </dgm:presLayoutVars>
      </dgm:prSet>
      <dgm:spPr/>
    </dgm:pt>
    <dgm:pt modelId="{D8D1CD28-F709-4B45-A5D8-CC7E1A5E39A5}" type="pres">
      <dgm:prSet presAssocID="{1931F660-41C0-4C09-AB8F-A8ADD160DF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FB6B9E-91F4-4F45-94FE-63CA35CD73A8}" type="pres">
      <dgm:prSet presAssocID="{1931F660-41C0-4C09-AB8F-A8ADD160DFC9}" presName="childText" presStyleLbl="revTx" presStyleIdx="1" presStyleCnt="3">
        <dgm:presLayoutVars>
          <dgm:bulletEnabled val="1"/>
        </dgm:presLayoutVars>
      </dgm:prSet>
      <dgm:spPr/>
    </dgm:pt>
    <dgm:pt modelId="{0006EE16-307F-48B9-B681-D106DACFD3E1}" type="pres">
      <dgm:prSet presAssocID="{28EA9153-01AF-479C-AF02-2BF030AB484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B7B6607-6066-4064-B4F4-B724E587BA1E}" type="pres">
      <dgm:prSet presAssocID="{28EA9153-01AF-479C-AF02-2BF030AB4842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A08660F-97DC-4423-BE68-DD48AC209A6A}" type="presOf" srcId="{C6691AD7-7006-4861-B847-1C9FA86E76A9}" destId="{5B7B6607-6066-4064-B4F4-B724E587BA1E}" srcOrd="0" destOrd="2" presId="urn:microsoft.com/office/officeart/2005/8/layout/vList2"/>
    <dgm:cxn modelId="{F5B96714-833A-4A49-BD21-97A5407C61A3}" type="presOf" srcId="{07084386-0CE0-4A20-B22D-B92AF104A4A1}" destId="{0D0885FC-8736-4471-927D-ED4342B3CAE6}" srcOrd="0" destOrd="0" presId="urn:microsoft.com/office/officeart/2005/8/layout/vList2"/>
    <dgm:cxn modelId="{FAE35117-5FEB-4E66-81B5-F702BA08BC2B}" srcId="{B9B69652-080F-4D47-9D6A-2525D5F75421}" destId="{1931F660-41C0-4C09-AB8F-A8ADD160DFC9}" srcOrd="1" destOrd="0" parTransId="{85D728B3-0F71-45A9-8F12-189B58CC12E1}" sibTransId="{807B81A9-AF6E-4571-8978-CA3B9CF3F753}"/>
    <dgm:cxn modelId="{9E937A2F-4D15-4221-B711-36F3B385469D}" type="presOf" srcId="{1931F660-41C0-4C09-AB8F-A8ADD160DFC9}" destId="{D8D1CD28-F709-4B45-A5D8-CC7E1A5E39A5}" srcOrd="0" destOrd="0" presId="urn:microsoft.com/office/officeart/2005/8/layout/vList2"/>
    <dgm:cxn modelId="{3DF64A3B-2EF1-4E65-96B7-4F816418E938}" srcId="{1931F660-41C0-4C09-AB8F-A8ADD160DFC9}" destId="{45B4BAF0-8310-4B38-AAA3-0B56F8019BD3}" srcOrd="0" destOrd="0" parTransId="{45AA3B21-997F-4C4F-88CE-3C093957C373}" sibTransId="{9A5B464F-857C-4874-AA3F-4BBDD7AE6B65}"/>
    <dgm:cxn modelId="{8F27A343-DF10-4B5B-9A43-C45F26CC1B37}" srcId="{28EA9153-01AF-479C-AF02-2BF030AB4842}" destId="{0EE8F483-3615-4FF8-85E0-D483F9471C9D}" srcOrd="0" destOrd="0" parTransId="{19247F36-EBA2-4EC7-8555-3F0367677F93}" sibTransId="{F65CDA22-26F2-4223-B269-87754A59FAAA}"/>
    <dgm:cxn modelId="{EC9CA049-EC66-45C5-A805-DC3BEBE1C370}" type="presOf" srcId="{0EE8F483-3615-4FF8-85E0-D483F9471C9D}" destId="{5B7B6607-6066-4064-B4F4-B724E587BA1E}" srcOrd="0" destOrd="0" presId="urn:microsoft.com/office/officeart/2005/8/layout/vList2"/>
    <dgm:cxn modelId="{D74A7C4D-2A06-405E-BCF8-F065B7D4994E}" type="presOf" srcId="{28EA9153-01AF-479C-AF02-2BF030AB4842}" destId="{0006EE16-307F-48B9-B681-D106DACFD3E1}" srcOrd="0" destOrd="0" presId="urn:microsoft.com/office/officeart/2005/8/layout/vList2"/>
    <dgm:cxn modelId="{0B14C35E-896B-48DA-976B-DDC343A737CA}" type="presOf" srcId="{45B4BAF0-8310-4B38-AAA3-0B56F8019BD3}" destId="{88FB6B9E-91F4-4F45-94FE-63CA35CD73A8}" srcOrd="0" destOrd="0" presId="urn:microsoft.com/office/officeart/2005/8/layout/vList2"/>
    <dgm:cxn modelId="{FA9A3573-17A6-4D73-BF21-68A6F482336A}" srcId="{28EA9153-01AF-479C-AF02-2BF030AB4842}" destId="{74F5B788-8119-4B6E-95BD-8198B9572C20}" srcOrd="1" destOrd="0" parTransId="{83C69DCE-66BD-4318-95D1-E0BB245242EF}" sibTransId="{E351FC05-BB9B-47D8-BB6C-4F6519A13C99}"/>
    <dgm:cxn modelId="{CEA7147B-55DB-4A9B-A5F7-8D35722A9B85}" srcId="{B9B69652-080F-4D47-9D6A-2525D5F75421}" destId="{07084386-0CE0-4A20-B22D-B92AF104A4A1}" srcOrd="0" destOrd="0" parTransId="{A0FD17E3-8B08-4A4B-A547-B120E010E330}" sibTransId="{69CDA0E0-CC6F-4824-9682-2242EE8B1EAD}"/>
    <dgm:cxn modelId="{3EC1AF7E-904A-481E-B3A2-304B9C90D819}" srcId="{07084386-0CE0-4A20-B22D-B92AF104A4A1}" destId="{887AFD58-E1F3-4098-BBCF-62A4B0DA0EFC}" srcOrd="0" destOrd="0" parTransId="{8F5E2DED-CA9E-4107-9AC2-5D0E609493B8}" sibTransId="{43FBC455-5766-40BC-9147-D8621AC1B5B5}"/>
    <dgm:cxn modelId="{95FD86B0-A4FB-437A-837E-E82133A2C87B}" type="presOf" srcId="{74F5B788-8119-4B6E-95BD-8198B9572C20}" destId="{5B7B6607-6066-4064-B4F4-B724E587BA1E}" srcOrd="0" destOrd="1" presId="urn:microsoft.com/office/officeart/2005/8/layout/vList2"/>
    <dgm:cxn modelId="{B4489EC5-6C26-4DB9-9C3C-F9B5131DF37D}" srcId="{B9B69652-080F-4D47-9D6A-2525D5F75421}" destId="{28EA9153-01AF-479C-AF02-2BF030AB4842}" srcOrd="2" destOrd="0" parTransId="{B4445358-F150-48C4-B388-368198BC5FF9}" sibTransId="{AD52B859-D8F6-426D-B478-BDFFD9D538CE}"/>
    <dgm:cxn modelId="{70EB3DD4-7E04-42CF-AF26-E236D1DD8ABC}" type="presOf" srcId="{887AFD58-E1F3-4098-BBCF-62A4B0DA0EFC}" destId="{A35D7454-11B4-43AF-BB0A-F629BC1293CE}" srcOrd="0" destOrd="0" presId="urn:microsoft.com/office/officeart/2005/8/layout/vList2"/>
    <dgm:cxn modelId="{D7D3CAE3-4B5F-42BB-A6A8-FF6FBDC95E1D}" srcId="{28EA9153-01AF-479C-AF02-2BF030AB4842}" destId="{C6691AD7-7006-4861-B847-1C9FA86E76A9}" srcOrd="2" destOrd="0" parTransId="{F3D8BBC3-7592-4781-8EA9-7A62145FCF22}" sibTransId="{B216AC4C-3241-47C0-9DA0-EE37DAFA130D}"/>
    <dgm:cxn modelId="{BCC248FB-F7D6-4AE4-B2D5-120CF5F93E25}" type="presOf" srcId="{B9B69652-080F-4D47-9D6A-2525D5F75421}" destId="{DFADF0A4-9F94-447B-B7FB-E37125DB0A2C}" srcOrd="0" destOrd="0" presId="urn:microsoft.com/office/officeart/2005/8/layout/vList2"/>
    <dgm:cxn modelId="{AA62E6AC-1596-4F1F-8F77-022590FE7A39}" type="presParOf" srcId="{DFADF0A4-9F94-447B-B7FB-E37125DB0A2C}" destId="{0D0885FC-8736-4471-927D-ED4342B3CAE6}" srcOrd="0" destOrd="0" presId="urn:microsoft.com/office/officeart/2005/8/layout/vList2"/>
    <dgm:cxn modelId="{13BED810-0AD8-42BF-9806-D2828FFAC791}" type="presParOf" srcId="{DFADF0A4-9F94-447B-B7FB-E37125DB0A2C}" destId="{A35D7454-11B4-43AF-BB0A-F629BC1293CE}" srcOrd="1" destOrd="0" presId="urn:microsoft.com/office/officeart/2005/8/layout/vList2"/>
    <dgm:cxn modelId="{719DBC46-D4FD-4F49-9011-0772E6982AF4}" type="presParOf" srcId="{DFADF0A4-9F94-447B-B7FB-E37125DB0A2C}" destId="{D8D1CD28-F709-4B45-A5D8-CC7E1A5E39A5}" srcOrd="2" destOrd="0" presId="urn:microsoft.com/office/officeart/2005/8/layout/vList2"/>
    <dgm:cxn modelId="{93B22DB9-775B-4ACC-953F-D7C9B47F8867}" type="presParOf" srcId="{DFADF0A4-9F94-447B-B7FB-E37125DB0A2C}" destId="{88FB6B9E-91F4-4F45-94FE-63CA35CD73A8}" srcOrd="3" destOrd="0" presId="urn:microsoft.com/office/officeart/2005/8/layout/vList2"/>
    <dgm:cxn modelId="{94121384-9EAE-4F37-BFA3-4928C79F1EF7}" type="presParOf" srcId="{DFADF0A4-9F94-447B-B7FB-E37125DB0A2C}" destId="{0006EE16-307F-48B9-B681-D106DACFD3E1}" srcOrd="4" destOrd="0" presId="urn:microsoft.com/office/officeart/2005/8/layout/vList2"/>
    <dgm:cxn modelId="{C3AC1E0F-66AA-43C3-B02A-C46831747722}" type="presParOf" srcId="{DFADF0A4-9F94-447B-B7FB-E37125DB0A2C}" destId="{5B7B6607-6066-4064-B4F4-B724E587BA1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9B69652-080F-4D47-9D6A-2525D5F754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084386-0CE0-4A20-B22D-B92AF104A4A1}">
      <dgm:prSet/>
      <dgm:spPr/>
      <dgm:t>
        <a:bodyPr/>
        <a:lstStyle/>
        <a:p>
          <a:pPr rtl="0"/>
          <a:r>
            <a:rPr lang="en-US"/>
            <a:t>Order of variable assignment is irrelevant</a:t>
          </a:r>
        </a:p>
      </dgm:t>
    </dgm:pt>
    <dgm:pt modelId="{A0FD17E3-8B08-4A4B-A547-B120E010E330}" type="parTrans" cxnId="{CEA7147B-55DB-4A9B-A5F7-8D35722A9B85}">
      <dgm:prSet/>
      <dgm:spPr/>
      <dgm:t>
        <a:bodyPr/>
        <a:lstStyle/>
        <a:p>
          <a:endParaRPr lang="en-US"/>
        </a:p>
      </dgm:t>
    </dgm:pt>
    <dgm:pt modelId="{69CDA0E0-CC6F-4824-9682-2242EE8B1EAD}" type="sibTrans" cxnId="{CEA7147B-55DB-4A9B-A5F7-8D35722A9B85}">
      <dgm:prSet/>
      <dgm:spPr/>
      <dgm:t>
        <a:bodyPr/>
        <a:lstStyle/>
        <a:p>
          <a:endParaRPr lang="en-US"/>
        </a:p>
      </dgm:t>
    </dgm:pt>
    <dgm:pt modelId="{887AFD58-E1F3-4098-BBCF-62A4B0DA0EFC}">
      <dgm:prSet/>
      <dgm:spPr>
        <a:blipFill>
          <a:blip xmlns:r="http://schemas.openxmlformats.org/officeDocument/2006/relationships" r:embed="rId1"/>
          <a:stretch>
            <a:fillRect t="-88679" b="-124528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8F5E2DED-CA9E-4107-9AC2-5D0E609493B8}" type="parTrans" cxnId="{3EC1AF7E-904A-481E-B3A2-304B9C90D819}">
      <dgm:prSet/>
      <dgm:spPr/>
      <dgm:t>
        <a:bodyPr/>
        <a:lstStyle/>
        <a:p>
          <a:endParaRPr lang="en-US"/>
        </a:p>
      </dgm:t>
    </dgm:pt>
    <dgm:pt modelId="{43FBC455-5766-40BC-9147-D8621AC1B5B5}" type="sibTrans" cxnId="{3EC1AF7E-904A-481E-B3A2-304B9C90D819}">
      <dgm:prSet/>
      <dgm:spPr/>
      <dgm:t>
        <a:bodyPr/>
        <a:lstStyle/>
        <a:p>
          <a:endParaRPr lang="en-US"/>
        </a:p>
      </dgm:t>
    </dgm:pt>
    <dgm:pt modelId="{1931F660-41C0-4C09-AB8F-A8ADD160DFC9}">
      <dgm:prSet/>
      <dgm:spPr/>
      <dgm:t>
        <a:bodyPr/>
        <a:lstStyle/>
        <a:p>
          <a:pPr rtl="0"/>
          <a:r>
            <a:rPr lang="en-US"/>
            <a:t>At every level, consider assignments to a single variable.</a:t>
          </a:r>
        </a:p>
      </dgm:t>
    </dgm:pt>
    <dgm:pt modelId="{85D728B3-0F71-45A9-8F12-189B58CC12E1}" type="parTrans" cxnId="{FAE35117-5FEB-4E66-81B5-F702BA08BC2B}">
      <dgm:prSet/>
      <dgm:spPr/>
      <dgm:t>
        <a:bodyPr/>
        <a:lstStyle/>
        <a:p>
          <a:endParaRPr lang="en-US"/>
        </a:p>
      </dgm:t>
    </dgm:pt>
    <dgm:pt modelId="{807B81A9-AF6E-4571-8978-CA3B9CF3F753}" type="sibTrans" cxnId="{FAE35117-5FEB-4E66-81B5-F702BA08BC2B}">
      <dgm:prSet/>
      <dgm:spPr/>
      <dgm:t>
        <a:bodyPr/>
        <a:lstStyle/>
        <a:p>
          <a:endParaRPr lang="en-US"/>
        </a:p>
      </dgm:t>
    </dgm:pt>
    <dgm:pt modelId="{45B4BAF0-8310-4B38-AAA3-0B56F8019BD3}">
      <dgm:prSet/>
      <dgm:spPr>
        <a:blipFill>
          <a:blip xmlns:r="http://schemas.openxmlformats.org/officeDocument/2006/relationships" r:embed="rId2"/>
          <a:stretch>
            <a:fillRect t="-13208" b="-18868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45AA3B21-997F-4C4F-88CE-3C093957C373}" type="parTrans" cxnId="{3DF64A3B-2EF1-4E65-96B7-4F816418E938}">
      <dgm:prSet/>
      <dgm:spPr/>
      <dgm:t>
        <a:bodyPr/>
        <a:lstStyle/>
        <a:p>
          <a:endParaRPr lang="en-US"/>
        </a:p>
      </dgm:t>
    </dgm:pt>
    <dgm:pt modelId="{9A5B464F-857C-4874-AA3F-4BBDD7AE6B65}" type="sibTrans" cxnId="{3DF64A3B-2EF1-4E65-96B7-4F816418E938}">
      <dgm:prSet/>
      <dgm:spPr/>
      <dgm:t>
        <a:bodyPr/>
        <a:lstStyle/>
        <a:p>
          <a:endParaRPr lang="en-US"/>
        </a:p>
      </dgm:t>
    </dgm:pt>
    <dgm:pt modelId="{28EA9153-01AF-479C-AF02-2BF030AB4842}">
      <dgm:prSet/>
      <dgm:spPr/>
      <dgm:t>
        <a:bodyPr/>
        <a:lstStyle/>
        <a:p>
          <a:pPr rtl="0"/>
          <a:r>
            <a:rPr lang="en-US"/>
            <a:t>DFS for CSPs with single-variable/level assignments is called backtracking search</a:t>
          </a:r>
        </a:p>
      </dgm:t>
    </dgm:pt>
    <dgm:pt modelId="{B4445358-F150-48C4-B388-368198BC5FF9}" type="parTrans" cxnId="{B4489EC5-6C26-4DB9-9C3C-F9B5131DF37D}">
      <dgm:prSet/>
      <dgm:spPr/>
      <dgm:t>
        <a:bodyPr/>
        <a:lstStyle/>
        <a:p>
          <a:endParaRPr lang="en-US"/>
        </a:p>
      </dgm:t>
    </dgm:pt>
    <dgm:pt modelId="{AD52B859-D8F6-426D-B478-BDFFD9D538CE}" type="sibTrans" cxnId="{B4489EC5-6C26-4DB9-9C3C-F9B5131DF37D}">
      <dgm:prSet/>
      <dgm:spPr/>
      <dgm:t>
        <a:bodyPr/>
        <a:lstStyle/>
        <a:p>
          <a:endParaRPr lang="en-US"/>
        </a:p>
      </dgm:t>
    </dgm:pt>
    <dgm:pt modelId="{0EE8F483-3615-4FF8-85E0-D483F9471C9D}">
      <dgm:prSet/>
      <dgm:spPr>
        <a:blipFill>
          <a:blip xmlns:r="http://schemas.openxmlformats.org/officeDocument/2006/relationships" r:embed="rId3"/>
          <a:stretch>
            <a:fillRect t="-7955" b="-9091"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19247F36-EBA2-4EC7-8555-3F0367677F93}" type="parTrans" cxnId="{8F27A343-DF10-4B5B-9A43-C45F26CC1B37}">
      <dgm:prSet/>
      <dgm:spPr/>
      <dgm:t>
        <a:bodyPr/>
        <a:lstStyle/>
        <a:p>
          <a:endParaRPr lang="en-US"/>
        </a:p>
      </dgm:t>
    </dgm:pt>
    <dgm:pt modelId="{F65CDA22-26F2-4223-B269-87754A59FAAA}" type="sibTrans" cxnId="{8F27A343-DF10-4B5B-9A43-C45F26CC1B37}">
      <dgm:prSet/>
      <dgm:spPr/>
      <dgm:t>
        <a:bodyPr/>
        <a:lstStyle/>
        <a:p>
          <a:endParaRPr lang="en-US"/>
        </a:p>
      </dgm:t>
    </dgm:pt>
    <dgm:pt modelId="{74F5B788-8119-4B6E-95BD-8198B9572C20}">
      <dgm:prSet/>
      <dgm:spPr/>
      <dgm:t>
        <a:bodyPr/>
        <a:lstStyle/>
        <a:p>
          <a:r>
            <a:rPr lang="en-GB">
              <a:noFill/>
            </a:rPr>
            <a:t> </a:t>
          </a:r>
        </a:p>
      </dgm:t>
    </dgm:pt>
    <dgm:pt modelId="{83C69DCE-66BD-4318-95D1-E0BB245242EF}" type="parTrans" cxnId="{FA9A3573-17A6-4D73-BF21-68A6F482336A}">
      <dgm:prSet/>
      <dgm:spPr/>
      <dgm:t>
        <a:bodyPr/>
        <a:lstStyle/>
        <a:p>
          <a:endParaRPr lang="en-US"/>
        </a:p>
      </dgm:t>
    </dgm:pt>
    <dgm:pt modelId="{E351FC05-BB9B-47D8-BB6C-4F6519A13C99}" type="sibTrans" cxnId="{FA9A3573-17A6-4D73-BF21-68A6F482336A}">
      <dgm:prSet/>
      <dgm:spPr/>
      <dgm:t>
        <a:bodyPr/>
        <a:lstStyle/>
        <a:p>
          <a:endParaRPr lang="en-US"/>
        </a:p>
      </dgm:t>
    </dgm:pt>
    <dgm:pt modelId="{C6691AD7-7006-4861-B847-1C9FA86E76A9}">
      <dgm:prSet/>
      <dgm:spPr/>
      <dgm:t>
        <a:bodyPr/>
        <a:lstStyle/>
        <a:p>
          <a:r>
            <a:rPr lang="en-GB">
              <a:noFill/>
            </a:rPr>
            <a:t> </a:t>
          </a:r>
        </a:p>
      </dgm:t>
    </dgm:pt>
    <dgm:pt modelId="{F3D8BBC3-7592-4781-8EA9-7A62145FCF22}" type="parTrans" cxnId="{D7D3CAE3-4B5F-42BB-A6A8-FF6FBDC95E1D}">
      <dgm:prSet/>
      <dgm:spPr/>
      <dgm:t>
        <a:bodyPr/>
        <a:lstStyle/>
        <a:p>
          <a:endParaRPr lang="en-US"/>
        </a:p>
      </dgm:t>
    </dgm:pt>
    <dgm:pt modelId="{B216AC4C-3241-47C0-9DA0-EE37DAFA130D}" type="sibTrans" cxnId="{D7D3CAE3-4B5F-42BB-A6A8-FF6FBDC95E1D}">
      <dgm:prSet/>
      <dgm:spPr/>
      <dgm:t>
        <a:bodyPr/>
        <a:lstStyle/>
        <a:p>
          <a:endParaRPr lang="en-US"/>
        </a:p>
      </dgm:t>
    </dgm:pt>
    <dgm:pt modelId="{DFADF0A4-9F94-447B-B7FB-E37125DB0A2C}" type="pres">
      <dgm:prSet presAssocID="{B9B69652-080F-4D47-9D6A-2525D5F75421}" presName="linear" presStyleCnt="0">
        <dgm:presLayoutVars>
          <dgm:animLvl val="lvl"/>
          <dgm:resizeHandles val="exact"/>
        </dgm:presLayoutVars>
      </dgm:prSet>
      <dgm:spPr/>
    </dgm:pt>
    <dgm:pt modelId="{0D0885FC-8736-4471-927D-ED4342B3CAE6}" type="pres">
      <dgm:prSet presAssocID="{07084386-0CE0-4A20-B22D-B92AF104A4A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5D7454-11B4-43AF-BB0A-F629BC1293CE}" type="pres">
      <dgm:prSet presAssocID="{07084386-0CE0-4A20-B22D-B92AF104A4A1}" presName="childText" presStyleLbl="revTx" presStyleIdx="0" presStyleCnt="3">
        <dgm:presLayoutVars>
          <dgm:bulletEnabled val="1"/>
        </dgm:presLayoutVars>
      </dgm:prSet>
      <dgm:spPr/>
    </dgm:pt>
    <dgm:pt modelId="{D8D1CD28-F709-4B45-A5D8-CC7E1A5E39A5}" type="pres">
      <dgm:prSet presAssocID="{1931F660-41C0-4C09-AB8F-A8ADD160DF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FB6B9E-91F4-4F45-94FE-63CA35CD73A8}" type="pres">
      <dgm:prSet presAssocID="{1931F660-41C0-4C09-AB8F-A8ADD160DFC9}" presName="childText" presStyleLbl="revTx" presStyleIdx="1" presStyleCnt="3">
        <dgm:presLayoutVars>
          <dgm:bulletEnabled val="1"/>
        </dgm:presLayoutVars>
      </dgm:prSet>
      <dgm:spPr/>
    </dgm:pt>
    <dgm:pt modelId="{0006EE16-307F-48B9-B681-D106DACFD3E1}" type="pres">
      <dgm:prSet presAssocID="{28EA9153-01AF-479C-AF02-2BF030AB484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B7B6607-6066-4064-B4F4-B724E587BA1E}" type="pres">
      <dgm:prSet presAssocID="{28EA9153-01AF-479C-AF02-2BF030AB4842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A08660F-97DC-4423-BE68-DD48AC209A6A}" type="presOf" srcId="{C6691AD7-7006-4861-B847-1C9FA86E76A9}" destId="{5B7B6607-6066-4064-B4F4-B724E587BA1E}" srcOrd="0" destOrd="2" presId="urn:microsoft.com/office/officeart/2005/8/layout/vList2"/>
    <dgm:cxn modelId="{F5B96714-833A-4A49-BD21-97A5407C61A3}" type="presOf" srcId="{07084386-0CE0-4A20-B22D-B92AF104A4A1}" destId="{0D0885FC-8736-4471-927D-ED4342B3CAE6}" srcOrd="0" destOrd="0" presId="urn:microsoft.com/office/officeart/2005/8/layout/vList2"/>
    <dgm:cxn modelId="{FAE35117-5FEB-4E66-81B5-F702BA08BC2B}" srcId="{B9B69652-080F-4D47-9D6A-2525D5F75421}" destId="{1931F660-41C0-4C09-AB8F-A8ADD160DFC9}" srcOrd="1" destOrd="0" parTransId="{85D728B3-0F71-45A9-8F12-189B58CC12E1}" sibTransId="{807B81A9-AF6E-4571-8978-CA3B9CF3F753}"/>
    <dgm:cxn modelId="{9E937A2F-4D15-4221-B711-36F3B385469D}" type="presOf" srcId="{1931F660-41C0-4C09-AB8F-A8ADD160DFC9}" destId="{D8D1CD28-F709-4B45-A5D8-CC7E1A5E39A5}" srcOrd="0" destOrd="0" presId="urn:microsoft.com/office/officeart/2005/8/layout/vList2"/>
    <dgm:cxn modelId="{3DF64A3B-2EF1-4E65-96B7-4F816418E938}" srcId="{1931F660-41C0-4C09-AB8F-A8ADD160DFC9}" destId="{45B4BAF0-8310-4B38-AAA3-0B56F8019BD3}" srcOrd="0" destOrd="0" parTransId="{45AA3B21-997F-4C4F-88CE-3C093957C373}" sibTransId="{9A5B464F-857C-4874-AA3F-4BBDD7AE6B65}"/>
    <dgm:cxn modelId="{8F27A343-DF10-4B5B-9A43-C45F26CC1B37}" srcId="{28EA9153-01AF-479C-AF02-2BF030AB4842}" destId="{0EE8F483-3615-4FF8-85E0-D483F9471C9D}" srcOrd="0" destOrd="0" parTransId="{19247F36-EBA2-4EC7-8555-3F0367677F93}" sibTransId="{F65CDA22-26F2-4223-B269-87754A59FAAA}"/>
    <dgm:cxn modelId="{EC9CA049-EC66-45C5-A805-DC3BEBE1C370}" type="presOf" srcId="{0EE8F483-3615-4FF8-85E0-D483F9471C9D}" destId="{5B7B6607-6066-4064-B4F4-B724E587BA1E}" srcOrd="0" destOrd="0" presId="urn:microsoft.com/office/officeart/2005/8/layout/vList2"/>
    <dgm:cxn modelId="{D74A7C4D-2A06-405E-BCF8-F065B7D4994E}" type="presOf" srcId="{28EA9153-01AF-479C-AF02-2BF030AB4842}" destId="{0006EE16-307F-48B9-B681-D106DACFD3E1}" srcOrd="0" destOrd="0" presId="urn:microsoft.com/office/officeart/2005/8/layout/vList2"/>
    <dgm:cxn modelId="{0B14C35E-896B-48DA-976B-DDC343A737CA}" type="presOf" srcId="{45B4BAF0-8310-4B38-AAA3-0B56F8019BD3}" destId="{88FB6B9E-91F4-4F45-94FE-63CA35CD73A8}" srcOrd="0" destOrd="0" presId="urn:microsoft.com/office/officeart/2005/8/layout/vList2"/>
    <dgm:cxn modelId="{FA9A3573-17A6-4D73-BF21-68A6F482336A}" srcId="{28EA9153-01AF-479C-AF02-2BF030AB4842}" destId="{74F5B788-8119-4B6E-95BD-8198B9572C20}" srcOrd="1" destOrd="0" parTransId="{83C69DCE-66BD-4318-95D1-E0BB245242EF}" sibTransId="{E351FC05-BB9B-47D8-BB6C-4F6519A13C99}"/>
    <dgm:cxn modelId="{CEA7147B-55DB-4A9B-A5F7-8D35722A9B85}" srcId="{B9B69652-080F-4D47-9D6A-2525D5F75421}" destId="{07084386-0CE0-4A20-B22D-B92AF104A4A1}" srcOrd="0" destOrd="0" parTransId="{A0FD17E3-8B08-4A4B-A547-B120E010E330}" sibTransId="{69CDA0E0-CC6F-4824-9682-2242EE8B1EAD}"/>
    <dgm:cxn modelId="{3EC1AF7E-904A-481E-B3A2-304B9C90D819}" srcId="{07084386-0CE0-4A20-B22D-B92AF104A4A1}" destId="{887AFD58-E1F3-4098-BBCF-62A4B0DA0EFC}" srcOrd="0" destOrd="0" parTransId="{8F5E2DED-CA9E-4107-9AC2-5D0E609493B8}" sibTransId="{43FBC455-5766-40BC-9147-D8621AC1B5B5}"/>
    <dgm:cxn modelId="{95FD86B0-A4FB-437A-837E-E82133A2C87B}" type="presOf" srcId="{74F5B788-8119-4B6E-95BD-8198B9572C20}" destId="{5B7B6607-6066-4064-B4F4-B724E587BA1E}" srcOrd="0" destOrd="1" presId="urn:microsoft.com/office/officeart/2005/8/layout/vList2"/>
    <dgm:cxn modelId="{B4489EC5-6C26-4DB9-9C3C-F9B5131DF37D}" srcId="{B9B69652-080F-4D47-9D6A-2525D5F75421}" destId="{28EA9153-01AF-479C-AF02-2BF030AB4842}" srcOrd="2" destOrd="0" parTransId="{B4445358-F150-48C4-B388-368198BC5FF9}" sibTransId="{AD52B859-D8F6-426D-B478-BDFFD9D538CE}"/>
    <dgm:cxn modelId="{70EB3DD4-7E04-42CF-AF26-E236D1DD8ABC}" type="presOf" srcId="{887AFD58-E1F3-4098-BBCF-62A4B0DA0EFC}" destId="{A35D7454-11B4-43AF-BB0A-F629BC1293CE}" srcOrd="0" destOrd="0" presId="urn:microsoft.com/office/officeart/2005/8/layout/vList2"/>
    <dgm:cxn modelId="{D7D3CAE3-4B5F-42BB-A6A8-FF6FBDC95E1D}" srcId="{28EA9153-01AF-479C-AF02-2BF030AB4842}" destId="{C6691AD7-7006-4861-B847-1C9FA86E76A9}" srcOrd="2" destOrd="0" parTransId="{F3D8BBC3-7592-4781-8EA9-7A62145FCF22}" sibTransId="{B216AC4C-3241-47C0-9DA0-EE37DAFA130D}"/>
    <dgm:cxn modelId="{BCC248FB-F7D6-4AE4-B2D5-120CF5F93E25}" type="presOf" srcId="{B9B69652-080F-4D47-9D6A-2525D5F75421}" destId="{DFADF0A4-9F94-447B-B7FB-E37125DB0A2C}" srcOrd="0" destOrd="0" presId="urn:microsoft.com/office/officeart/2005/8/layout/vList2"/>
    <dgm:cxn modelId="{AA62E6AC-1596-4F1F-8F77-022590FE7A39}" type="presParOf" srcId="{DFADF0A4-9F94-447B-B7FB-E37125DB0A2C}" destId="{0D0885FC-8736-4471-927D-ED4342B3CAE6}" srcOrd="0" destOrd="0" presId="urn:microsoft.com/office/officeart/2005/8/layout/vList2"/>
    <dgm:cxn modelId="{13BED810-0AD8-42BF-9806-D2828FFAC791}" type="presParOf" srcId="{DFADF0A4-9F94-447B-B7FB-E37125DB0A2C}" destId="{A35D7454-11B4-43AF-BB0A-F629BC1293CE}" srcOrd="1" destOrd="0" presId="urn:microsoft.com/office/officeart/2005/8/layout/vList2"/>
    <dgm:cxn modelId="{719DBC46-D4FD-4F49-9011-0772E6982AF4}" type="presParOf" srcId="{DFADF0A4-9F94-447B-B7FB-E37125DB0A2C}" destId="{D8D1CD28-F709-4B45-A5D8-CC7E1A5E39A5}" srcOrd="2" destOrd="0" presId="urn:microsoft.com/office/officeart/2005/8/layout/vList2"/>
    <dgm:cxn modelId="{93B22DB9-775B-4ACC-953F-D7C9B47F8867}" type="presParOf" srcId="{DFADF0A4-9F94-447B-B7FB-E37125DB0A2C}" destId="{88FB6B9E-91F4-4F45-94FE-63CA35CD73A8}" srcOrd="3" destOrd="0" presId="urn:microsoft.com/office/officeart/2005/8/layout/vList2"/>
    <dgm:cxn modelId="{94121384-9EAE-4F37-BFA3-4928C79F1EF7}" type="presParOf" srcId="{DFADF0A4-9F94-447B-B7FB-E37125DB0A2C}" destId="{0006EE16-307F-48B9-B681-D106DACFD3E1}" srcOrd="4" destOrd="0" presId="urn:microsoft.com/office/officeart/2005/8/layout/vList2"/>
    <dgm:cxn modelId="{C3AC1E0F-66AA-43C3-B02A-C46831747722}" type="presParOf" srcId="{DFADF0A4-9F94-447B-B7FB-E37125DB0A2C}" destId="{5B7B6607-6066-4064-B4F4-B724E587BA1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1E6BAE4-C291-4587-B6FE-9892B6B0B1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317A46-BE89-4258-8409-76DCAB8A6D35}">
      <dgm:prSet/>
      <dgm:spPr/>
      <dgm:t>
        <a:bodyPr/>
        <a:lstStyle/>
        <a:p>
          <a:pPr rtl="0"/>
          <a:r>
            <a:rPr lang="en-US" dirty="0"/>
            <a:t>Try to infer illegal values for variables by performing constraint propagation</a:t>
          </a:r>
        </a:p>
      </dgm:t>
    </dgm:pt>
    <dgm:pt modelId="{0754F729-23F7-4CDE-AA05-9F964AC42633}" type="parTrans" cxnId="{F9BB3D5B-E844-400E-9FB5-1041B9CCCF01}">
      <dgm:prSet/>
      <dgm:spPr/>
      <dgm:t>
        <a:bodyPr/>
        <a:lstStyle/>
        <a:p>
          <a:endParaRPr lang="en-US"/>
        </a:p>
      </dgm:t>
    </dgm:pt>
    <dgm:pt modelId="{7AD0E469-E488-4984-88AC-9119C4499B64}" type="sibTrans" cxnId="{F9BB3D5B-E844-400E-9FB5-1041B9CCCF01}">
      <dgm:prSet/>
      <dgm:spPr/>
      <dgm:t>
        <a:bodyPr/>
        <a:lstStyle/>
        <a:p>
          <a:endParaRPr lang="en-US"/>
        </a:p>
      </dgm:t>
    </dgm:pt>
    <dgm:pt modelId="{B5EDB287-00F6-476F-B9EB-49C1A2070BB4}">
      <dgm:prSet/>
      <dgm:spPr/>
      <dgm:t>
        <a:bodyPr/>
        <a:lstStyle/>
        <a:p>
          <a:pPr rtl="0"/>
          <a:r>
            <a:rPr lang="en-US" dirty="0"/>
            <a:t>Node consistency for unary constraints</a:t>
          </a:r>
        </a:p>
      </dgm:t>
    </dgm:pt>
    <dgm:pt modelId="{B9BA734B-7D64-404D-9BBF-A48CDF2E5BCE}" type="parTrans" cxnId="{F8EB0323-5527-4E9F-AABA-1AEF7422FEE9}">
      <dgm:prSet/>
      <dgm:spPr/>
      <dgm:t>
        <a:bodyPr/>
        <a:lstStyle/>
        <a:p>
          <a:endParaRPr lang="en-US"/>
        </a:p>
      </dgm:t>
    </dgm:pt>
    <dgm:pt modelId="{9C63FE05-F905-4DC7-BC51-CAA8DC44D240}" type="sibTrans" cxnId="{F8EB0323-5527-4E9F-AABA-1AEF7422FEE9}">
      <dgm:prSet/>
      <dgm:spPr/>
      <dgm:t>
        <a:bodyPr/>
        <a:lstStyle/>
        <a:p>
          <a:endParaRPr lang="en-US"/>
        </a:p>
      </dgm:t>
    </dgm:pt>
    <dgm:pt modelId="{69E2BD00-C3C5-430E-ABB0-152D26D1B997}">
      <dgm:prSet/>
      <dgm:spPr/>
      <dgm:t>
        <a:bodyPr/>
        <a:lstStyle/>
        <a:p>
          <a:pPr rtl="0"/>
          <a:r>
            <a:rPr lang="en-US"/>
            <a:t>Arc consistency for binary constraints</a:t>
          </a:r>
        </a:p>
      </dgm:t>
    </dgm:pt>
    <dgm:pt modelId="{4F8455EF-7BB1-4C5A-971D-A87A78754026}" type="parTrans" cxnId="{55E71F0D-79ED-42ED-989B-0533E20D7063}">
      <dgm:prSet/>
      <dgm:spPr/>
      <dgm:t>
        <a:bodyPr/>
        <a:lstStyle/>
        <a:p>
          <a:endParaRPr lang="en-US"/>
        </a:p>
      </dgm:t>
    </dgm:pt>
    <dgm:pt modelId="{B04AD99A-51CC-4BD8-BBF2-1DF607256E62}" type="sibTrans" cxnId="{55E71F0D-79ED-42ED-989B-0533E20D7063}">
      <dgm:prSet/>
      <dgm:spPr/>
      <dgm:t>
        <a:bodyPr/>
        <a:lstStyle/>
        <a:p>
          <a:endParaRPr lang="en-US"/>
        </a:p>
      </dgm:t>
    </dgm:pt>
    <dgm:pt modelId="{11D368C9-F171-473A-BC72-1382DC6D062C}">
      <dgm:prSet/>
      <dgm:spPr/>
      <dgm:t>
        <a:bodyPr/>
        <a:lstStyle/>
        <a:p>
          <a:pPr rtl="0"/>
          <a:r>
            <a:rPr lang="en-US"/>
            <a:t>…</a:t>
          </a:r>
        </a:p>
      </dgm:t>
    </dgm:pt>
    <dgm:pt modelId="{F5AD56A9-8FEC-4D95-9768-1B417D39B6B2}" type="parTrans" cxnId="{9578B4B1-BABC-4143-A7A1-DA87A3AA08FD}">
      <dgm:prSet/>
      <dgm:spPr/>
      <dgm:t>
        <a:bodyPr/>
        <a:lstStyle/>
        <a:p>
          <a:endParaRPr lang="en-US"/>
        </a:p>
      </dgm:t>
    </dgm:pt>
    <dgm:pt modelId="{D53BA369-FBDE-46E1-BA57-8A657E77F8BF}" type="sibTrans" cxnId="{9578B4B1-BABC-4143-A7A1-DA87A3AA08FD}">
      <dgm:prSet/>
      <dgm:spPr/>
      <dgm:t>
        <a:bodyPr/>
        <a:lstStyle/>
        <a:p>
          <a:endParaRPr lang="en-US"/>
        </a:p>
      </dgm:t>
    </dgm:pt>
    <dgm:pt modelId="{9E7960A5-8B03-4A21-9153-3C9472AC494B}">
      <dgm:prSet/>
      <dgm:spPr/>
      <dgm:t>
        <a:bodyPr/>
        <a:lstStyle/>
        <a:p>
          <a:pPr rtl="0"/>
          <a:r>
            <a:rPr lang="en-US" dirty="0"/>
            <a:t>Can be interleaved with search, or run as a preprocessing step</a:t>
          </a:r>
        </a:p>
      </dgm:t>
    </dgm:pt>
    <dgm:pt modelId="{EE8205FC-9233-472C-A8E4-8BE2CC0287D2}" type="parTrans" cxnId="{98F29032-113F-487A-A54C-BBB4E6551037}">
      <dgm:prSet/>
      <dgm:spPr/>
      <dgm:t>
        <a:bodyPr/>
        <a:lstStyle/>
        <a:p>
          <a:endParaRPr lang="en-US"/>
        </a:p>
      </dgm:t>
    </dgm:pt>
    <dgm:pt modelId="{4AAA2907-35B0-43BD-BAAD-817E319530B1}" type="sibTrans" cxnId="{98F29032-113F-487A-A54C-BBB4E6551037}">
      <dgm:prSet/>
      <dgm:spPr/>
      <dgm:t>
        <a:bodyPr/>
        <a:lstStyle/>
        <a:p>
          <a:endParaRPr lang="en-US"/>
        </a:p>
      </dgm:t>
    </dgm:pt>
    <dgm:pt modelId="{B0735C75-4144-47FF-B93D-05958C30B9D5}" type="pres">
      <dgm:prSet presAssocID="{81E6BAE4-C291-4587-B6FE-9892B6B0B1E6}" presName="linear" presStyleCnt="0">
        <dgm:presLayoutVars>
          <dgm:animLvl val="lvl"/>
          <dgm:resizeHandles val="exact"/>
        </dgm:presLayoutVars>
      </dgm:prSet>
      <dgm:spPr/>
    </dgm:pt>
    <dgm:pt modelId="{D10DBF8A-D438-49D8-B18B-948589A05013}" type="pres">
      <dgm:prSet presAssocID="{8A317A46-BE89-4258-8409-76DCAB8A6D3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F6EFC51-83A3-4830-BB58-EFE29DB7E2DF}" type="pres">
      <dgm:prSet presAssocID="{8A317A46-BE89-4258-8409-76DCAB8A6D3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0F9C80A-6F62-49E3-935C-A6BBACBEF93B}" type="presOf" srcId="{8A317A46-BE89-4258-8409-76DCAB8A6D35}" destId="{D10DBF8A-D438-49D8-B18B-948589A05013}" srcOrd="0" destOrd="0" presId="urn:microsoft.com/office/officeart/2005/8/layout/vList2"/>
    <dgm:cxn modelId="{55E71F0D-79ED-42ED-989B-0533E20D7063}" srcId="{8A317A46-BE89-4258-8409-76DCAB8A6D35}" destId="{69E2BD00-C3C5-430E-ABB0-152D26D1B997}" srcOrd="1" destOrd="0" parTransId="{4F8455EF-7BB1-4C5A-971D-A87A78754026}" sibTransId="{B04AD99A-51CC-4BD8-BBF2-1DF607256E62}"/>
    <dgm:cxn modelId="{E5CB201E-7793-4FFA-B14D-137198A5D6EF}" type="presOf" srcId="{69E2BD00-C3C5-430E-ABB0-152D26D1B997}" destId="{DF6EFC51-83A3-4830-BB58-EFE29DB7E2DF}" srcOrd="0" destOrd="1" presId="urn:microsoft.com/office/officeart/2005/8/layout/vList2"/>
    <dgm:cxn modelId="{F8EB0323-5527-4E9F-AABA-1AEF7422FEE9}" srcId="{8A317A46-BE89-4258-8409-76DCAB8A6D35}" destId="{B5EDB287-00F6-476F-B9EB-49C1A2070BB4}" srcOrd="0" destOrd="0" parTransId="{B9BA734B-7D64-404D-9BBF-A48CDF2E5BCE}" sibTransId="{9C63FE05-F905-4DC7-BC51-CAA8DC44D240}"/>
    <dgm:cxn modelId="{98F29032-113F-487A-A54C-BBB4E6551037}" srcId="{8A317A46-BE89-4258-8409-76DCAB8A6D35}" destId="{9E7960A5-8B03-4A21-9153-3C9472AC494B}" srcOrd="3" destOrd="0" parTransId="{EE8205FC-9233-472C-A8E4-8BE2CC0287D2}" sibTransId="{4AAA2907-35B0-43BD-BAAD-817E319530B1}"/>
    <dgm:cxn modelId="{0B39D14F-C02D-4184-BD01-EE5C67F5FA1B}" type="presOf" srcId="{81E6BAE4-C291-4587-B6FE-9892B6B0B1E6}" destId="{B0735C75-4144-47FF-B93D-05958C30B9D5}" srcOrd="0" destOrd="0" presId="urn:microsoft.com/office/officeart/2005/8/layout/vList2"/>
    <dgm:cxn modelId="{F9BB3D5B-E844-400E-9FB5-1041B9CCCF01}" srcId="{81E6BAE4-C291-4587-B6FE-9892B6B0B1E6}" destId="{8A317A46-BE89-4258-8409-76DCAB8A6D35}" srcOrd="0" destOrd="0" parTransId="{0754F729-23F7-4CDE-AA05-9F964AC42633}" sibTransId="{7AD0E469-E488-4984-88AC-9119C4499B64}"/>
    <dgm:cxn modelId="{730E5362-FD46-4BA9-9968-2F8FE0356F77}" type="presOf" srcId="{B5EDB287-00F6-476F-B9EB-49C1A2070BB4}" destId="{DF6EFC51-83A3-4830-BB58-EFE29DB7E2DF}" srcOrd="0" destOrd="0" presId="urn:microsoft.com/office/officeart/2005/8/layout/vList2"/>
    <dgm:cxn modelId="{9578B4B1-BABC-4143-A7A1-DA87A3AA08FD}" srcId="{8A317A46-BE89-4258-8409-76DCAB8A6D35}" destId="{11D368C9-F171-473A-BC72-1382DC6D062C}" srcOrd="2" destOrd="0" parTransId="{F5AD56A9-8FEC-4D95-9768-1B417D39B6B2}" sibTransId="{D53BA369-FBDE-46E1-BA57-8A657E77F8BF}"/>
    <dgm:cxn modelId="{3D5724C0-B6F5-4D15-A127-0A5E9B0B0626}" type="presOf" srcId="{9E7960A5-8B03-4A21-9153-3C9472AC494B}" destId="{DF6EFC51-83A3-4830-BB58-EFE29DB7E2DF}" srcOrd="0" destOrd="3" presId="urn:microsoft.com/office/officeart/2005/8/layout/vList2"/>
    <dgm:cxn modelId="{23AA23C2-8DA1-41C9-9BB5-5898B27425D7}" type="presOf" srcId="{11D368C9-F171-473A-BC72-1382DC6D062C}" destId="{DF6EFC51-83A3-4830-BB58-EFE29DB7E2DF}" srcOrd="0" destOrd="2" presId="urn:microsoft.com/office/officeart/2005/8/layout/vList2"/>
    <dgm:cxn modelId="{2FBB091E-865D-4300-AD83-9A41ED777A07}" type="presParOf" srcId="{B0735C75-4144-47FF-B93D-05958C30B9D5}" destId="{D10DBF8A-D438-49D8-B18B-948589A05013}" srcOrd="0" destOrd="0" presId="urn:microsoft.com/office/officeart/2005/8/layout/vList2"/>
    <dgm:cxn modelId="{4560C4AF-B01D-40BB-A7BB-4D431B02EF5C}" type="presParOf" srcId="{B0735C75-4144-47FF-B93D-05958C30B9D5}" destId="{DF6EFC51-83A3-4830-BB58-EFE29DB7E2D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7E3C6-82D0-496C-9A6D-DB315CE4AE78}">
      <dsp:nvSpPr>
        <dsp:cNvPr id="0" name=""/>
        <dsp:cNvSpPr/>
      </dsp:nvSpPr>
      <dsp:spPr>
        <a:xfrm>
          <a:off x="0" y="46417"/>
          <a:ext cx="8153400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Linear programming</a:t>
          </a:r>
        </a:p>
      </dsp:txBody>
      <dsp:txXfrm>
        <a:off x="30842" y="77259"/>
        <a:ext cx="8091716" cy="570116"/>
      </dsp:txXfrm>
    </dsp:sp>
    <dsp:sp modelId="{6856197B-8AAD-4D99-873E-5EAAC23F4343}">
      <dsp:nvSpPr>
        <dsp:cNvPr id="0" name=""/>
        <dsp:cNvSpPr/>
      </dsp:nvSpPr>
      <dsp:spPr>
        <a:xfrm>
          <a:off x="0" y="678217"/>
          <a:ext cx="8153400" cy="684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70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Variables are all rational values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Linear constraints</a:t>
          </a:r>
        </a:p>
      </dsp:txBody>
      <dsp:txXfrm>
        <a:off x="0" y="678217"/>
        <a:ext cx="8153400" cy="684652"/>
      </dsp:txXfrm>
    </dsp:sp>
    <dsp:sp modelId="{FAF2F183-BFB5-4BC5-8BFB-41FACC6AD6DA}">
      <dsp:nvSpPr>
        <dsp:cNvPr id="0" name=""/>
        <dsp:cNvSpPr/>
      </dsp:nvSpPr>
      <dsp:spPr>
        <a:xfrm>
          <a:off x="0" y="1362870"/>
          <a:ext cx="8153400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Combinatorial optimization</a:t>
          </a:r>
        </a:p>
      </dsp:txBody>
      <dsp:txXfrm>
        <a:off x="30842" y="1393712"/>
        <a:ext cx="8091716" cy="570116"/>
      </dsp:txXfrm>
    </dsp:sp>
    <dsp:sp modelId="{56B88F00-F0A2-4A6A-820A-5E823F84715F}">
      <dsp:nvSpPr>
        <dsp:cNvPr id="0" name=""/>
        <dsp:cNvSpPr/>
      </dsp:nvSpPr>
      <dsp:spPr>
        <a:xfrm>
          <a:off x="0" y="1994670"/>
          <a:ext cx="8153400" cy="1900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70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Graph problems: vertex cover, bipartite matching, minimum spanning tree…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Operations Research: scheduling, bin packing, planning, task allocation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Game theory and economics: social choice, market pricing, goods allocation… </a:t>
          </a:r>
        </a:p>
      </dsp:txBody>
      <dsp:txXfrm>
        <a:off x="0" y="1994670"/>
        <a:ext cx="8153400" cy="1900260"/>
      </dsp:txXfrm>
    </dsp:sp>
    <dsp:sp modelId="{270D252B-A33F-4B0F-AA89-1AEA468CE5AE}">
      <dsp:nvSpPr>
        <dsp:cNvPr id="0" name=""/>
        <dsp:cNvSpPr/>
      </dsp:nvSpPr>
      <dsp:spPr>
        <a:xfrm>
          <a:off x="0" y="3894930"/>
          <a:ext cx="8153400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Effective CSP Solvers</a:t>
          </a:r>
        </a:p>
      </dsp:txBody>
      <dsp:txXfrm>
        <a:off x="30842" y="3925772"/>
        <a:ext cx="8091716" cy="570116"/>
      </dsp:txXfrm>
    </dsp:sp>
    <dsp:sp modelId="{A574D8F5-17CA-4325-817C-8A1C5C5F9D24}">
      <dsp:nvSpPr>
        <dsp:cNvPr id="0" name=""/>
        <dsp:cNvSpPr/>
      </dsp:nvSpPr>
      <dsp:spPr>
        <a:xfrm>
          <a:off x="0" y="4526730"/>
          <a:ext cx="8153400" cy="684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70" tIns="34290" rIns="192024" bIns="34290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Variable dependencies reduce search space significantly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Solve very large problem instances very quickly</a:t>
          </a:r>
        </a:p>
      </dsp:txBody>
      <dsp:txXfrm>
        <a:off x="0" y="4526730"/>
        <a:ext cx="8153400" cy="6846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66B8F-F31D-4BE7-958D-94A658F8136D}">
      <dsp:nvSpPr>
        <dsp:cNvPr id="0" name=""/>
        <dsp:cNvSpPr/>
      </dsp:nvSpPr>
      <dsp:spPr>
        <a:xfrm>
          <a:off x="0" y="271349"/>
          <a:ext cx="7924800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Discrete variables</a:t>
          </a:r>
        </a:p>
      </dsp:txBody>
      <dsp:txXfrm>
        <a:off x="29700" y="301049"/>
        <a:ext cx="7865400" cy="549000"/>
      </dsp:txXfrm>
    </dsp:sp>
    <dsp:sp modelId="{8C2E0705-3B0B-43D2-A37F-6F6FC6369608}">
      <dsp:nvSpPr>
        <dsp:cNvPr id="0" name=""/>
        <dsp:cNvSpPr/>
      </dsp:nvSpPr>
      <dsp:spPr>
        <a:xfrm>
          <a:off x="0" y="879749"/>
          <a:ext cx="7924800" cy="258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612" tIns="33020" rIns="184912" bIns="33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Finite domains:</a:t>
          </a:r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US" sz="2000" i="1" kern="1200" smtClean="0">
                  <a:latin typeface="Cambria Math" charset="0"/>
                </a:rPr>
                <m:t>𝑛</m:t>
              </m:r>
            </m:oMath>
          </a14:m>
          <a:r>
            <a:rPr lang="en-US" sz="2000" kern="1200"/>
            <a:t> variables, domain size </a:t>
          </a:r>
          <a14:m xmlns:a14="http://schemas.microsoft.com/office/drawing/2010/main">
            <m:oMath xmlns:m="http://schemas.openxmlformats.org/officeDocument/2006/math">
              <m:r>
                <a:rPr lang="en-US" sz="2000" i="1" kern="1200">
                  <a:latin typeface="Cambria Math" charset="0"/>
                </a:rPr>
                <m:t>𝑑</m:t>
              </m:r>
            </m:oMath>
          </a14:m>
          <a:r>
            <a:rPr lang="en-US" sz="2000" i="1" kern="1200"/>
            <a:t> </a:t>
          </a:r>
          <a:r>
            <a:rPr lang="en-US" sz="2000" kern="1200">
              <a:sym typeface="Wingdings" panose="05000000000000000000" pitchFamily="2" charset="2"/>
            </a:rPr>
            <a:t></a:t>
          </a:r>
          <a:r>
            <a:rPr lang="en-US" sz="2000" kern="1200"/>
            <a:t> </a:t>
          </a:r>
          <a14:m xmlns:a14="http://schemas.microsoft.com/office/drawing/2010/main">
            <m:oMath xmlns:m="http://schemas.openxmlformats.org/officeDocument/2006/math">
              <m:r>
                <a:rPr lang="en-US" sz="2000" b="0" i="1" kern="1200">
                  <a:latin typeface="Cambria Math" charset="0"/>
                </a:rPr>
                <m:t>𝒪</m:t>
              </m:r>
              <m:d>
                <m:dPr>
                  <m:ctrlPr>
                    <a:rPr lang="en-US" sz="2000" i="1" kern="1200">
                      <a:latin typeface="Cambria Math" panose="02040503050406030204" pitchFamily="18" charset="0"/>
                    </a:rPr>
                  </m:ctrlPr>
                </m:dPr>
                <m:e>
                  <m:sSup>
                    <m:sSupPr>
                      <m:ctrlPr>
                        <a:rPr lang="en-US" sz="2000" b="0" i="1" kern="120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2000" i="1" kern="1200">
                          <a:latin typeface="Cambria Math" charset="0"/>
                        </a:rPr>
                        <m:t>𝑑</m:t>
                      </m:r>
                    </m:e>
                    <m:sup>
                      <m:r>
                        <a:rPr lang="en-US" sz="2000" b="0" i="1" kern="1200">
                          <a:latin typeface="Cambria Math" charset="0"/>
                        </a:rPr>
                        <m:t>𝑛</m:t>
                      </m:r>
                    </m:sup>
                  </m:sSup>
                </m:e>
              </m:d>
            </m:oMath>
          </a14:m>
          <a:r>
            <a:rPr lang="en-US" sz="2000" i="1" kern="1200"/>
            <a:t> </a:t>
          </a:r>
          <a:r>
            <a:rPr lang="en-US" sz="2000" kern="1200"/>
            <a:t>complete assignments</a:t>
          </a:r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e.g., 8-queens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Infinite domains:</a:t>
          </a:r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integers, strings, etc.</a:t>
          </a:r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e.g., job-shop scheduling: variables are start/end days for each job</a:t>
          </a:r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need a constraint language, e.g., </a:t>
          </a:r>
          <a14:m xmlns:a14="http://schemas.microsoft.com/office/drawing/2010/main">
            <m:oMath xmlns:m="http://schemas.openxmlformats.org/officeDocument/2006/math">
              <m:r>
                <a:rPr lang="en-US" sz="2000" b="0" i="1" kern="1200">
                  <a:latin typeface="Cambria Math" charset="0"/>
                </a:rPr>
                <m:t>𝑆𝑡𝑎𝑟𝑡𝐽𝑜</m:t>
              </m:r>
              <m:sSub>
                <m:sSubPr>
                  <m:ctrlPr>
                    <a:rPr lang="en-US" sz="2000" b="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2000" b="0" i="1" kern="1200">
                      <a:latin typeface="Cambria Math" charset="0"/>
                    </a:rPr>
                    <m:t>𝑏</m:t>
                  </m:r>
                </m:e>
                <m:sub>
                  <m:r>
                    <a:rPr lang="en-US" sz="2000" b="0" i="1" kern="1200">
                      <a:latin typeface="Cambria Math" charset="0"/>
                    </a:rPr>
                    <m:t>3</m:t>
                  </m:r>
                </m:sub>
              </m:sSub>
              <m:r>
                <a:rPr lang="en-US" sz="2000" b="0" i="1" kern="1200">
                  <a:latin typeface="Cambria Math" charset="0"/>
                </a:rPr>
                <m:t>+5≤</m:t>
              </m:r>
              <m:r>
                <a:rPr lang="en-US" sz="2000" b="0" i="1" kern="1200">
                  <a:latin typeface="Cambria Math" charset="0"/>
                </a:rPr>
                <m:t>𝑆𝑡𝑎𝑟𝑡𝐽𝑜</m:t>
              </m:r>
              <m:sSub>
                <m:sSubPr>
                  <m:ctrlPr>
                    <a:rPr lang="en-US" sz="2000" b="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2000" b="0" i="1" kern="1200">
                      <a:latin typeface="Cambria Math" charset="0"/>
                    </a:rPr>
                    <m:t>𝑏</m:t>
                  </m:r>
                </m:e>
                <m:sub>
                  <m:r>
                    <a:rPr lang="en-US" sz="2000" b="0" i="1" kern="1200">
                      <a:latin typeface="Cambria Math" charset="0"/>
                    </a:rPr>
                    <m:t>4</m:t>
                  </m:r>
                </m:sub>
              </m:sSub>
            </m:oMath>
          </a14:m>
          <a:endParaRPr lang="en-US" sz="2000" kern="1200"/>
        </a:p>
      </dsp:txBody>
      <dsp:txXfrm>
        <a:off x="0" y="879749"/>
        <a:ext cx="7924800" cy="2583360"/>
      </dsp:txXfrm>
    </dsp:sp>
    <dsp:sp modelId="{0E969B4D-AD0A-44EC-B95D-5C606969A99D}">
      <dsp:nvSpPr>
        <dsp:cNvPr id="0" name=""/>
        <dsp:cNvSpPr/>
      </dsp:nvSpPr>
      <dsp:spPr>
        <a:xfrm>
          <a:off x="0" y="3463110"/>
          <a:ext cx="7924800" cy="60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Continuous variables</a:t>
          </a:r>
        </a:p>
      </dsp:txBody>
      <dsp:txXfrm>
        <a:off x="29700" y="3492810"/>
        <a:ext cx="7865400" cy="549000"/>
      </dsp:txXfrm>
    </dsp:sp>
    <dsp:sp modelId="{2ACB4311-FC5E-4401-B5AD-6481E9276FC0}">
      <dsp:nvSpPr>
        <dsp:cNvPr id="0" name=""/>
        <dsp:cNvSpPr/>
      </dsp:nvSpPr>
      <dsp:spPr>
        <a:xfrm>
          <a:off x="0" y="4071510"/>
          <a:ext cx="7924800" cy="914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612" tIns="33020" rIns="184912" bIns="33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e.g., start/end times for Hubble Space Telescope observations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Linear programming problems (i.e., with linear constraints) can be solved in polynomial time</a:t>
          </a:r>
        </a:p>
      </dsp:txBody>
      <dsp:txXfrm>
        <a:off x="0" y="4071510"/>
        <a:ext cx="7924800" cy="9149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6483E-C386-4E46-B90B-E4BCD0631D17}">
      <dsp:nvSpPr>
        <dsp:cNvPr id="0" name=""/>
        <dsp:cNvSpPr/>
      </dsp:nvSpPr>
      <dsp:spPr>
        <a:xfrm>
          <a:off x="0" y="35700"/>
          <a:ext cx="7704667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Unary constraints</a:t>
          </a:r>
        </a:p>
      </dsp:txBody>
      <dsp:txXfrm>
        <a:off x="39980" y="75680"/>
        <a:ext cx="7624707" cy="739039"/>
      </dsp:txXfrm>
    </dsp:sp>
    <dsp:sp modelId="{82CEA06F-A153-476F-A71E-1F8710243B36}">
      <dsp:nvSpPr>
        <dsp:cNvPr id="0" name=""/>
        <dsp:cNvSpPr/>
      </dsp:nvSpPr>
      <dsp:spPr>
        <a:xfrm>
          <a:off x="0" y="854700"/>
          <a:ext cx="7704667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623" tIns="44450" rIns="248920" bIns="44450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Single variable: e.g., </a:t>
          </a:r>
          <a14:m xmlns:a14="http://schemas.microsoft.com/office/drawing/2010/main">
            <m:oMath xmlns:m="http://schemas.openxmlformats.org/officeDocument/2006/math">
              <m:r>
                <a:rPr lang="en-US" sz="2700" i="1" kern="1200">
                  <a:latin typeface="Cambria Math" charset="0"/>
                </a:rPr>
                <m:t>𝑆𝐴</m:t>
              </m:r>
              <m:r>
                <a:rPr lang="en-US" sz="2700" i="1" kern="1200">
                  <a:latin typeface="Cambria Math" charset="0"/>
                </a:rPr>
                <m:t>≠</m:t>
              </m:r>
              <m:r>
                <a:rPr lang="en-US" sz="2700" b="0" i="1" kern="1200">
                  <a:latin typeface="Cambria Math" charset="0"/>
                </a:rPr>
                <m:t>𝐺</m:t>
              </m:r>
            </m:oMath>
          </a14:m>
          <a:endParaRPr lang="en-US" sz="2700" kern="1200"/>
        </a:p>
      </dsp:txBody>
      <dsp:txXfrm>
        <a:off x="0" y="854700"/>
        <a:ext cx="7704667" cy="579600"/>
      </dsp:txXfrm>
    </dsp:sp>
    <dsp:sp modelId="{4ED27D09-1214-4D58-BA7D-22CF7787EFC7}">
      <dsp:nvSpPr>
        <dsp:cNvPr id="0" name=""/>
        <dsp:cNvSpPr/>
      </dsp:nvSpPr>
      <dsp:spPr>
        <a:xfrm>
          <a:off x="0" y="1434300"/>
          <a:ext cx="7704667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Binary constraints</a:t>
          </a:r>
        </a:p>
      </dsp:txBody>
      <dsp:txXfrm>
        <a:off x="39980" y="1474280"/>
        <a:ext cx="7624707" cy="739039"/>
      </dsp:txXfrm>
    </dsp:sp>
    <dsp:sp modelId="{5B5EFCC9-201F-498C-870B-C9B58E66B7D9}">
      <dsp:nvSpPr>
        <dsp:cNvPr id="0" name=""/>
        <dsp:cNvSpPr/>
      </dsp:nvSpPr>
      <dsp:spPr>
        <a:xfrm>
          <a:off x="0" y="2253300"/>
          <a:ext cx="7704667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623" tIns="44450" rIns="248920" bIns="44450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e.g., </a:t>
          </a:r>
          <a:r>
            <a:rPr lang="en-US" sz="2700" i="1" kern="1200"/>
            <a:t>SA</a:t>
          </a:r>
          <a:r>
            <a:rPr lang="en-US" sz="2700" kern="1200"/>
            <a:t> ≠ </a:t>
          </a:r>
          <a:r>
            <a:rPr lang="en-US" sz="2700" i="1" kern="1200"/>
            <a:t>WA</a:t>
          </a:r>
          <a:endParaRPr lang="en-US" sz="2700" kern="1200"/>
        </a:p>
      </dsp:txBody>
      <dsp:txXfrm>
        <a:off x="0" y="2253300"/>
        <a:ext cx="7704667" cy="579600"/>
      </dsp:txXfrm>
    </dsp:sp>
    <dsp:sp modelId="{FA88300E-3EFB-448E-A6E5-6A1DC3AAEFD9}">
      <dsp:nvSpPr>
        <dsp:cNvPr id="0" name=""/>
        <dsp:cNvSpPr/>
      </dsp:nvSpPr>
      <dsp:spPr>
        <a:xfrm>
          <a:off x="0" y="2832900"/>
          <a:ext cx="7704667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Global (i.e., higher-order) constraints </a:t>
          </a:r>
        </a:p>
      </dsp:txBody>
      <dsp:txXfrm>
        <a:off x="39980" y="2872880"/>
        <a:ext cx="7624707" cy="739039"/>
      </dsp:txXfrm>
    </dsp:sp>
    <dsp:sp modelId="{7F628FB0-7DF8-47CD-8C73-CE11D6BEA073}">
      <dsp:nvSpPr>
        <dsp:cNvPr id="0" name=""/>
        <dsp:cNvSpPr/>
      </dsp:nvSpPr>
      <dsp:spPr>
        <a:xfrm>
          <a:off x="0" y="3651900"/>
          <a:ext cx="7704667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623" tIns="44450" rIns="248920" bIns="44450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3 or more variables e.g.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2700" b="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2700" b="0" i="1" kern="1200">
                      <a:latin typeface="Cambria Math" charset="0"/>
                    </a:rPr>
                    <m:t>𝑋</m:t>
                  </m:r>
                </m:e>
                <m:sub>
                  <m:r>
                    <a:rPr lang="en-US" sz="2700" b="0" i="1" kern="1200">
                      <a:latin typeface="Cambria Math" charset="0"/>
                    </a:rPr>
                    <m:t>1</m:t>
                  </m:r>
                </m:sub>
              </m:sSub>
              <m:r>
                <a:rPr lang="en-US" sz="2700" b="0" i="1" kern="1200">
                  <a:latin typeface="Cambria Math" charset="0"/>
                </a:rPr>
                <m:t>+</m:t>
              </m:r>
              <m:sSub>
                <m:sSubPr>
                  <m:ctrlPr>
                    <a:rPr lang="en-US" sz="2700" b="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2700" b="0" i="1" kern="1200">
                      <a:latin typeface="Cambria Math" charset="0"/>
                    </a:rPr>
                    <m:t>𝑋</m:t>
                  </m:r>
                </m:e>
                <m:sub>
                  <m:r>
                    <a:rPr lang="en-US" sz="2700" b="0" i="1" kern="1200">
                      <a:latin typeface="Cambria Math" charset="0"/>
                    </a:rPr>
                    <m:t>2</m:t>
                  </m:r>
                </m:sub>
              </m:sSub>
              <m:r>
                <a:rPr lang="en-US" sz="2700" b="0" i="1" kern="1200">
                  <a:latin typeface="Cambria Math" charset="0"/>
                </a:rPr>
                <m:t>−4</m:t>
              </m:r>
              <m:sSub>
                <m:sSubPr>
                  <m:ctrlPr>
                    <a:rPr lang="en-US" sz="2700" b="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2700" b="0" i="1" kern="1200">
                      <a:latin typeface="Cambria Math" charset="0"/>
                    </a:rPr>
                    <m:t>𝑋</m:t>
                  </m:r>
                </m:e>
                <m:sub>
                  <m:r>
                    <a:rPr lang="en-US" sz="2700" b="0" i="1" kern="1200">
                      <a:latin typeface="Cambria Math" charset="0"/>
                    </a:rPr>
                    <m:t>7</m:t>
                  </m:r>
                </m:sub>
              </m:sSub>
              <m:r>
                <a:rPr lang="en-US" sz="2700" b="0" i="1" kern="1200">
                  <a:latin typeface="Cambria Math" charset="0"/>
                </a:rPr>
                <m:t>≤15</m:t>
              </m:r>
            </m:oMath>
          </a14:m>
          <a:endParaRPr lang="en-US" sz="2700" kern="1200"/>
        </a:p>
      </dsp:txBody>
      <dsp:txXfrm>
        <a:off x="0" y="3651900"/>
        <a:ext cx="7704667" cy="5796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D10889-7BB5-4037-A9F6-39A074CACE4A}">
      <dsp:nvSpPr>
        <dsp:cNvPr id="0" name=""/>
        <dsp:cNvSpPr/>
      </dsp:nvSpPr>
      <dsp:spPr>
        <a:xfrm>
          <a:off x="0" y="328110"/>
          <a:ext cx="3648876" cy="1521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3193" tIns="437388" rIns="283193" bIns="149352" numCol="1" spcCol="1270" anchor="t" anchorCtr="0">
          <a:noAutofit/>
        </a:bodyPr>
        <a:lstStyle/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kern="1200" dirty="0"/>
            <a:t>Variables: </a:t>
          </a:r>
          <a14:m xmlns:a14="http://schemas.microsoft.com/office/drawing/2010/main">
            <m:oMath xmlns:m="http://schemas.openxmlformats.org/officeDocument/2006/math">
              <m:r>
                <a:rPr lang="en-US" sz="2100" b="0" i="1" kern="1200">
                  <a:latin typeface="Cambria Math" charset="0"/>
                </a:rPr>
                <m:t>𝐴</m:t>
              </m:r>
              <m:r>
                <a:rPr lang="en-US" sz="2100" b="0" i="1" kern="1200">
                  <a:latin typeface="Cambria Math" charset="0"/>
                </a:rPr>
                <m:t>,</m:t>
              </m:r>
              <m:r>
                <a:rPr lang="en-US" sz="2100" b="0" i="1" kern="1200">
                  <a:latin typeface="Cambria Math" charset="0"/>
                </a:rPr>
                <m:t>𝐵</m:t>
              </m:r>
              <m:r>
                <a:rPr lang="en-US" sz="2100" b="0" i="1" kern="1200">
                  <a:latin typeface="Cambria Math" charset="0"/>
                </a:rPr>
                <m:t>,</m:t>
              </m:r>
              <m:r>
                <a:rPr lang="en-US" sz="2100" b="0" i="1" kern="1200">
                  <a:latin typeface="Cambria Math" charset="0"/>
                </a:rPr>
                <m:t>𝐶</m:t>
              </m:r>
              <m:r>
                <a:rPr lang="en-US" sz="2100" b="0" i="1" kern="1200">
                  <a:latin typeface="Cambria Math" charset="0"/>
                </a:rPr>
                <m:t>,</m:t>
              </m:r>
              <m:r>
                <a:rPr lang="en-US" sz="2100" b="0" i="1" kern="1200">
                  <a:latin typeface="Cambria Math" charset="0"/>
                </a:rPr>
                <m:t>𝐷</m:t>
              </m:r>
            </m:oMath>
          </a14:m>
          <a:endParaRPr lang="en-US" sz="2100" kern="1200" dirty="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kern="1200" dirty="0"/>
            <a:t>Domains: </a:t>
          </a:r>
          <a14:m xmlns:a14="http://schemas.microsoft.com/office/drawing/2010/main">
            <m:oMath xmlns:m="http://schemas.openxmlformats.org/officeDocument/2006/math">
              <m:d>
                <m:dPr>
                  <m:begChr m:val="{"/>
                  <m:endChr m:val="}"/>
                  <m:ctrlPr>
                    <a:rPr lang="en-US" sz="2100" b="0" i="1" kern="120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n-US" sz="2100" b="0" i="1" kern="1200">
                      <a:latin typeface="Cambria Math" charset="0"/>
                    </a:rPr>
                    <m:t>1,2,3</m:t>
                  </m:r>
                </m:e>
              </m:d>
            </m:oMath>
          </a14:m>
          <a:endParaRPr lang="en-US" sz="2100" kern="1200" dirty="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kern="1200" dirty="0"/>
            <a:t>Assume no constraints</a:t>
          </a:r>
          <a:endParaRPr lang="en-US" sz="2100" kern="1200" dirty="0"/>
        </a:p>
      </dsp:txBody>
      <dsp:txXfrm>
        <a:off x="0" y="328110"/>
        <a:ext cx="3648876" cy="1521449"/>
      </dsp:txXfrm>
    </dsp:sp>
    <dsp:sp modelId="{66658F41-FD50-4AC8-91A2-E18E3F0B976B}">
      <dsp:nvSpPr>
        <dsp:cNvPr id="0" name=""/>
        <dsp:cNvSpPr/>
      </dsp:nvSpPr>
      <dsp:spPr>
        <a:xfrm>
          <a:off x="182443" y="18150"/>
          <a:ext cx="2554213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43" tIns="0" rIns="96543" bIns="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CSP</a:t>
          </a:r>
          <a:endParaRPr lang="en-US" sz="2100" kern="1200" dirty="0"/>
        </a:p>
      </dsp:txBody>
      <dsp:txXfrm>
        <a:off x="212705" y="48412"/>
        <a:ext cx="2493689" cy="5593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885FC-8736-4471-927D-ED4342B3CAE6}">
      <dsp:nvSpPr>
        <dsp:cNvPr id="0" name=""/>
        <dsp:cNvSpPr/>
      </dsp:nvSpPr>
      <dsp:spPr>
        <a:xfrm>
          <a:off x="0" y="22122"/>
          <a:ext cx="7848600" cy="1064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Order of variable assignment is irrelevant</a:t>
          </a:r>
        </a:p>
      </dsp:txBody>
      <dsp:txXfrm>
        <a:off x="51974" y="74096"/>
        <a:ext cx="7744652" cy="960752"/>
      </dsp:txXfrm>
    </dsp:sp>
    <dsp:sp modelId="{A35D7454-11B4-43AF-BB0A-F629BC1293CE}">
      <dsp:nvSpPr>
        <dsp:cNvPr id="0" name=""/>
        <dsp:cNvSpPr/>
      </dsp:nvSpPr>
      <dsp:spPr>
        <a:xfrm>
          <a:off x="0" y="1086822"/>
          <a:ext cx="7848600" cy="666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193" tIns="35560" rIns="199136" bIns="3556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d>
                <m:dPr>
                  <m:begChr m:val="["/>
                  <m:endChr m:val="]"/>
                  <m:ctrlPr>
                    <a:rPr lang="en-US" sz="2200" i="1" kern="120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n-US" sz="2200" i="1" kern="1200">
                      <a:latin typeface="Cambria Math" charset="0"/>
                    </a:rPr>
                    <m:t>𝑊𝐴</m:t>
                  </m:r>
                  <m:r>
                    <a:rPr lang="en-US" sz="2200" i="1" kern="1200">
                      <a:latin typeface="Cambria Math" charset="0"/>
                    </a:rPr>
                    <m:t>=</m:t>
                  </m:r>
                  <m:r>
                    <a:rPr lang="en-US" sz="2200" b="0" i="1" kern="1200">
                      <a:latin typeface="Cambria Math" charset="0"/>
                    </a:rPr>
                    <m:t>𝑅</m:t>
                  </m:r>
                  <m:r>
                    <a:rPr lang="en-US" sz="2200" i="1" kern="1200">
                      <a:latin typeface="Cambria Math" charset="0"/>
                    </a:rPr>
                    <m:t> </m:t>
                  </m:r>
                  <m:r>
                    <m:rPr>
                      <m:sty m:val="p"/>
                    </m:rPr>
                    <a:rPr lang="en-US" sz="2200" i="0" kern="1200">
                      <a:latin typeface="Cambria Math" charset="0"/>
                    </a:rPr>
                    <m:t>then</m:t>
                  </m:r>
                  <m:r>
                    <a:rPr lang="en-US" sz="2200" i="1" kern="1200">
                      <a:latin typeface="Cambria Math" charset="0"/>
                    </a:rPr>
                    <m:t> </m:t>
                  </m:r>
                  <m:r>
                    <a:rPr lang="en-US" sz="2200" i="1" kern="1200">
                      <a:latin typeface="Cambria Math" charset="0"/>
                    </a:rPr>
                    <m:t>𝑁𝑇</m:t>
                  </m:r>
                  <m:r>
                    <a:rPr lang="en-US" sz="2200" i="1" kern="1200">
                      <a:latin typeface="Cambria Math" charset="0"/>
                    </a:rPr>
                    <m:t>=</m:t>
                  </m:r>
                  <m:r>
                    <a:rPr lang="en-US" sz="2200" b="0" i="1" kern="1200">
                      <a:latin typeface="Cambria Math" charset="0"/>
                    </a:rPr>
                    <m:t>𝐺</m:t>
                  </m:r>
                </m:e>
              </m:d>
            </m:oMath>
          </a14:m>
          <a:r>
            <a:rPr lang="en-US" sz="2200" kern="1200" dirty="0"/>
            <a:t> equivalent to </a:t>
          </a:r>
          <a14:m xmlns:a14="http://schemas.microsoft.com/office/drawing/2010/main">
            <m:oMath xmlns:m="http://schemas.openxmlformats.org/officeDocument/2006/math">
              <m:d>
                <m:dPr>
                  <m:begChr m:val="["/>
                  <m:endChr m:val="]"/>
                  <m:ctrlPr>
                    <a:rPr lang="en-US" sz="22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n-US" sz="2200" i="1" kern="1200">
                      <a:latin typeface="Cambria Math" panose="02040503050406030204" pitchFamily="18" charset="0"/>
                    </a:rPr>
                    <m:t>𝑁𝑇</m:t>
                  </m:r>
                  <m:r>
                    <a:rPr lang="en-US" sz="2200" i="1" kern="1200">
                      <a:latin typeface="Cambria Math" panose="02040503050406030204" pitchFamily="18" charset="0"/>
                    </a:rPr>
                    <m:t>=</m:t>
                  </m:r>
                  <m:r>
                    <a:rPr lang="en-US" sz="2200" b="0" i="1" kern="1200">
                      <a:latin typeface="Cambria Math" panose="02040503050406030204" pitchFamily="18" charset="0"/>
                    </a:rPr>
                    <m:t>𝐺</m:t>
                  </m:r>
                  <m:r>
                    <a:rPr lang="en-US" sz="2200" i="1" kern="1200">
                      <a:latin typeface="Cambria Math" panose="02040503050406030204" pitchFamily="18" charset="0"/>
                    </a:rPr>
                    <m:t> </m:t>
                  </m:r>
                  <m:r>
                    <m:rPr>
                      <m:sty m:val="p"/>
                    </m:rPr>
                    <a:rPr lang="en-US" sz="2200" i="0" kern="1200">
                      <a:latin typeface="Cambria Math" panose="02040503050406030204" pitchFamily="18" charset="0"/>
                    </a:rPr>
                    <m:t>then</m:t>
                  </m:r>
                  <m:r>
                    <a:rPr lang="en-US" sz="2200" i="1" kern="1200">
                      <a:latin typeface="Cambria Math" panose="02040503050406030204" pitchFamily="18" charset="0"/>
                    </a:rPr>
                    <m:t> </m:t>
                  </m:r>
                  <m:r>
                    <a:rPr lang="en-US" sz="2200" i="1" kern="1200">
                      <a:latin typeface="Cambria Math" panose="02040503050406030204" pitchFamily="18" charset="0"/>
                    </a:rPr>
                    <m:t>𝑊𝐴</m:t>
                  </m:r>
                  <m:r>
                    <a:rPr lang="en-US" sz="2200" i="1" kern="1200">
                      <a:latin typeface="Cambria Math" panose="02040503050406030204" pitchFamily="18" charset="0"/>
                    </a:rPr>
                    <m:t>=</m:t>
                  </m:r>
                  <m:r>
                    <a:rPr lang="en-US" sz="2200" b="0" i="1" kern="1200">
                      <a:latin typeface="Cambria Math" panose="02040503050406030204" pitchFamily="18" charset="0"/>
                    </a:rPr>
                    <m:t>𝑅</m:t>
                  </m:r>
                </m:e>
              </m:d>
            </m:oMath>
          </a14:m>
          <a:endParaRPr lang="en-US" sz="2200" kern="1200" dirty="0"/>
        </a:p>
      </dsp:txBody>
      <dsp:txXfrm>
        <a:off x="0" y="1086822"/>
        <a:ext cx="7848600" cy="666540"/>
      </dsp:txXfrm>
    </dsp:sp>
    <dsp:sp modelId="{D8D1CD28-F709-4B45-A5D8-CC7E1A5E39A5}">
      <dsp:nvSpPr>
        <dsp:cNvPr id="0" name=""/>
        <dsp:cNvSpPr/>
      </dsp:nvSpPr>
      <dsp:spPr>
        <a:xfrm>
          <a:off x="0" y="1753362"/>
          <a:ext cx="7848600" cy="1064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At every level, consider assignments to a single variable.</a:t>
          </a:r>
        </a:p>
      </dsp:txBody>
      <dsp:txXfrm>
        <a:off x="51974" y="1805336"/>
        <a:ext cx="7744652" cy="960752"/>
      </dsp:txXfrm>
    </dsp:sp>
    <dsp:sp modelId="{88FB6B9E-91F4-4F45-94FE-63CA35CD73A8}">
      <dsp:nvSpPr>
        <dsp:cNvPr id="0" name=""/>
        <dsp:cNvSpPr/>
      </dsp:nvSpPr>
      <dsp:spPr>
        <a:xfrm>
          <a:off x="0" y="2818062"/>
          <a:ext cx="7848600" cy="666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193" tIns="35560" rIns="199136" bIns="3556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Fix an order of variable assignment </a:t>
          </a:r>
          <a:r>
            <a:rPr lang="en-US" sz="2200" kern="1200" dirty="0">
              <a:sym typeface="Wingdings" panose="05000000000000000000" pitchFamily="2" charset="2"/>
            </a:rPr>
            <a:t></a:t>
          </a:r>
          <a:r>
            <a:rPr lang="en-US" sz="2200" kern="1200" dirty="0"/>
            <a:t> </a:t>
          </a:r>
          <a14:m xmlns:a14="http://schemas.microsoft.com/office/drawing/2010/main">
            <m:oMath xmlns:m="http://schemas.openxmlformats.org/officeDocument/2006/math">
              <m:r>
                <a:rPr lang="en-US" sz="2200" i="1" kern="1200">
                  <a:latin typeface="Cambria Math" charset="0"/>
                </a:rPr>
                <m:t>𝑏</m:t>
              </m:r>
              <m:r>
                <a:rPr lang="en-US" sz="2200" i="1" kern="1200">
                  <a:latin typeface="Cambria Math" charset="0"/>
                </a:rPr>
                <m:t>=</m:t>
              </m:r>
              <m:r>
                <a:rPr lang="en-US" sz="2200" i="1" kern="1200">
                  <a:latin typeface="Cambria Math" charset="0"/>
                </a:rPr>
                <m:t>𝑑</m:t>
              </m:r>
            </m:oMath>
          </a14:m>
          <a:r>
            <a:rPr lang="en-US" sz="2200" kern="1200" dirty="0"/>
            <a:t> and there are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sz="2200" b="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2200" i="1" kern="1200">
                      <a:latin typeface="Cambria Math" charset="0"/>
                    </a:rPr>
                    <m:t>𝑑</m:t>
                  </m:r>
                </m:e>
                <m:sup>
                  <m:r>
                    <a:rPr lang="en-US" sz="2200" b="0" i="1" kern="1200">
                      <a:latin typeface="Cambria Math" charset="0"/>
                    </a:rPr>
                    <m:t>𝑛</m:t>
                  </m:r>
                </m:sup>
              </m:sSup>
            </m:oMath>
          </a14:m>
          <a:r>
            <a:rPr lang="en-US" sz="2200" kern="1200" dirty="0"/>
            <a:t> leaves</a:t>
          </a:r>
        </a:p>
      </dsp:txBody>
      <dsp:txXfrm>
        <a:off x="0" y="2818062"/>
        <a:ext cx="7848600" cy="666540"/>
      </dsp:txXfrm>
    </dsp:sp>
    <dsp:sp modelId="{0006EE16-307F-48B9-B681-D106DACFD3E1}">
      <dsp:nvSpPr>
        <dsp:cNvPr id="0" name=""/>
        <dsp:cNvSpPr/>
      </dsp:nvSpPr>
      <dsp:spPr>
        <a:xfrm>
          <a:off x="0" y="3484602"/>
          <a:ext cx="7848600" cy="1064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DFS for CSPs with single-variable/level assignments is called backtracking search</a:t>
          </a:r>
        </a:p>
      </dsp:txBody>
      <dsp:txXfrm>
        <a:off x="51974" y="3536576"/>
        <a:ext cx="7744652" cy="960752"/>
      </dsp:txXfrm>
    </dsp:sp>
    <dsp:sp modelId="{5B7B6607-6066-4064-B4F4-B724E587BA1E}">
      <dsp:nvSpPr>
        <dsp:cNvPr id="0" name=""/>
        <dsp:cNvSpPr/>
      </dsp:nvSpPr>
      <dsp:spPr>
        <a:xfrm>
          <a:off x="0" y="4549302"/>
          <a:ext cx="7848600" cy="1101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193" tIns="35560" rIns="199136" bIns="3556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Is the basic uninformed search algorithm for CSPs</a:t>
          </a: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Backtracks when no legal assignments</a:t>
          </a: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Can solve </a:t>
          </a:r>
          <a14:m xmlns:a14="http://schemas.microsoft.com/office/drawing/2010/main">
            <m:oMath xmlns:m="http://schemas.openxmlformats.org/officeDocument/2006/math">
              <m:r>
                <a:rPr lang="en-US" sz="2200" i="1" kern="1200">
                  <a:latin typeface="Cambria Math" charset="0"/>
                </a:rPr>
                <m:t>𝑛</m:t>
              </m:r>
            </m:oMath>
          </a14:m>
          <a:r>
            <a:rPr lang="en-US" sz="2200" kern="1200"/>
            <a:t>-queens for </a:t>
          </a:r>
          <a14:m xmlns:a14="http://schemas.microsoft.com/office/drawing/2010/main">
            <m:oMath xmlns:m="http://schemas.openxmlformats.org/officeDocument/2006/math">
              <m:r>
                <a:rPr lang="en-US" sz="2200" i="1" kern="1200">
                  <a:latin typeface="Cambria Math" charset="0"/>
                </a:rPr>
                <m:t>𝑛</m:t>
              </m:r>
              <m:r>
                <a:rPr lang="en-US" sz="2200" i="1" kern="1200">
                  <a:latin typeface="Cambria Math" charset="0"/>
                </a:rPr>
                <m:t>≈25</m:t>
              </m:r>
            </m:oMath>
          </a14:m>
          <a:endParaRPr lang="en-US" sz="2200" kern="1200"/>
        </a:p>
      </dsp:txBody>
      <dsp:txXfrm>
        <a:off x="0" y="4549302"/>
        <a:ext cx="7848600" cy="11012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0DBF8A-D438-49D8-B18B-948589A05013}">
      <dsp:nvSpPr>
        <dsp:cNvPr id="0" name=""/>
        <dsp:cNvSpPr/>
      </dsp:nvSpPr>
      <dsp:spPr>
        <a:xfrm>
          <a:off x="0" y="187837"/>
          <a:ext cx="6966874" cy="11969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Try to infer illegal values for variables by performing constraint propagation</a:t>
          </a:r>
        </a:p>
      </dsp:txBody>
      <dsp:txXfrm>
        <a:off x="58428" y="246265"/>
        <a:ext cx="6850018" cy="1080053"/>
      </dsp:txXfrm>
    </dsp:sp>
    <dsp:sp modelId="{DF6EFC51-83A3-4830-BB58-EFE29DB7E2DF}">
      <dsp:nvSpPr>
        <dsp:cNvPr id="0" name=""/>
        <dsp:cNvSpPr/>
      </dsp:nvSpPr>
      <dsp:spPr>
        <a:xfrm>
          <a:off x="0" y="1384747"/>
          <a:ext cx="6966874" cy="1893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1198" tIns="39370" rIns="220472" bIns="39370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Node consistency for unary constraints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Arc consistency for binary constraints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…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Can be interleaved with search, or run as a preprocessing step</a:t>
          </a:r>
        </a:p>
      </dsp:txBody>
      <dsp:txXfrm>
        <a:off x="0" y="1384747"/>
        <a:ext cx="6966874" cy="1893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FB812-A9EC-154A-AEED-8655930439B2}" type="datetimeFigureOut">
              <a:rPr lang="en-US" smtClean="0"/>
              <a:t>3/24/24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2C8E0-764B-DD40-AB5B-8F1D61D4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3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r>
              <a:rPr lang="en-US" dirty="0"/>
              <a:t>1. You</a:t>
            </a:r>
            <a:r>
              <a:rPr lang="en-US" baseline="0" dirty="0"/>
              <a:t>r first multi-agent algorithm: produces </a:t>
            </a:r>
            <a:r>
              <a:rPr lang="en-US" baseline="0" dirty="0" err="1"/>
              <a:t>minimax</a:t>
            </a:r>
            <a:r>
              <a:rPr lang="en-US" baseline="0" dirty="0"/>
              <a:t> decisions</a:t>
            </a:r>
          </a:p>
          <a:p>
            <a:pPr marL="228600" indent="-228600">
              <a:buNone/>
            </a:pPr>
            <a:r>
              <a:rPr lang="en-US" dirty="0"/>
              <a:t>Unknown play: what if</a:t>
            </a:r>
            <a:r>
              <a:rPr lang="en-US" baseline="0" dirty="0"/>
              <a:t> MAX adopts a strategy other than </a:t>
            </a:r>
            <a:r>
              <a:rPr lang="en-US" baseline="0" dirty="0" err="1"/>
              <a:t>minimax</a:t>
            </a:r>
            <a:r>
              <a:rPr lang="en-US" baseline="0" dirty="0"/>
              <a:t>? Can it do worse or better than </a:t>
            </a:r>
            <a:r>
              <a:rPr lang="en-US" baseline="0" dirty="0" err="1"/>
              <a:t>minimax</a:t>
            </a:r>
            <a:r>
              <a:rPr lang="en-US" baseline="0" dirty="0"/>
              <a:t>?</a:t>
            </a:r>
            <a:r>
              <a:rPr lang="en-US" dirty="0"/>
              <a:t> </a:t>
            </a:r>
          </a:p>
          <a:p>
            <a:pPr marL="228600" indent="-228600">
              <a:buNone/>
            </a:pPr>
            <a:r>
              <a:rPr lang="en-US" dirty="0"/>
              <a:t>Worse if MIN plays optimally again.</a:t>
            </a:r>
          </a:p>
          <a:p>
            <a:pPr marL="228600" indent="-228600">
              <a:buNone/>
            </a:pPr>
            <a:r>
              <a:rPr lang="en-US" dirty="0" err="1"/>
              <a:t>O(b^m</a:t>
            </a:r>
            <a:r>
              <a:rPr lang="en-US" dirty="0"/>
              <a:t>)</a:t>
            </a:r>
          </a:p>
          <a:p>
            <a:pPr marL="228600" indent="-228600">
              <a:buNone/>
            </a:pPr>
            <a:r>
              <a:rPr lang="en-US" dirty="0"/>
              <a:t>2. Reduce time complexity: prune </a:t>
            </a:r>
            <a:r>
              <a:rPr lang="en-US" dirty="0" err="1"/>
              <a:t>subtrees</a:t>
            </a:r>
            <a:r>
              <a:rPr lang="en-US" dirty="0"/>
              <a:t> that won’t affect </a:t>
            </a:r>
            <a:r>
              <a:rPr lang="en-US" dirty="0" err="1"/>
              <a:t>minimax</a:t>
            </a:r>
            <a:r>
              <a:rPr lang="en-US" dirty="0"/>
              <a:t> decision. O(b^m/2) perfect ordering</a:t>
            </a:r>
          </a:p>
          <a:p>
            <a:pPr marL="228600" indent="-228600">
              <a:buNone/>
            </a:pPr>
            <a:r>
              <a:rPr lang="en-US" dirty="0"/>
              <a:t>3.</a:t>
            </a:r>
            <a:r>
              <a:rPr lang="en-US" baseline="0" dirty="0"/>
              <a:t> Cut off the search depth</a:t>
            </a:r>
          </a:p>
          <a:p>
            <a:pPr marL="228600" indent="-228600">
              <a:buNone/>
            </a:pPr>
            <a:r>
              <a:rPr lang="en-US" baseline="0" dirty="0"/>
              <a:t>4. Introduce the element of chance/uncertainty</a:t>
            </a:r>
            <a:endParaRPr lang="en-US" dirty="0"/>
          </a:p>
          <a:p>
            <a:pPr marL="228600" indent="-228600">
              <a:buNone/>
            </a:pPr>
            <a:endParaRPr lang="en-US" dirty="0"/>
          </a:p>
          <a:p>
            <a:pPr marL="228600" indent="-22860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9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r>
              <a:rPr lang="en-US" dirty="0"/>
              <a:t>1. You</a:t>
            </a:r>
            <a:r>
              <a:rPr lang="en-US" baseline="0" dirty="0"/>
              <a:t>r first multi-agent algorithm: produces </a:t>
            </a:r>
            <a:r>
              <a:rPr lang="en-US" baseline="0" dirty="0" err="1"/>
              <a:t>minimax</a:t>
            </a:r>
            <a:r>
              <a:rPr lang="en-US" baseline="0" dirty="0"/>
              <a:t> decisions</a:t>
            </a:r>
          </a:p>
          <a:p>
            <a:pPr marL="228600" indent="-228600">
              <a:buNone/>
            </a:pPr>
            <a:r>
              <a:rPr lang="en-US" dirty="0"/>
              <a:t>Unknown play: what if</a:t>
            </a:r>
            <a:r>
              <a:rPr lang="en-US" baseline="0" dirty="0"/>
              <a:t> MAX adopts a strategy other than </a:t>
            </a:r>
            <a:r>
              <a:rPr lang="en-US" baseline="0" dirty="0" err="1"/>
              <a:t>minimax</a:t>
            </a:r>
            <a:r>
              <a:rPr lang="en-US" baseline="0" dirty="0"/>
              <a:t>? Can it do worse or better than </a:t>
            </a:r>
            <a:r>
              <a:rPr lang="en-US" baseline="0" dirty="0" err="1"/>
              <a:t>minimax</a:t>
            </a:r>
            <a:r>
              <a:rPr lang="en-US" baseline="0" dirty="0"/>
              <a:t>?</a:t>
            </a:r>
            <a:r>
              <a:rPr lang="en-US" dirty="0"/>
              <a:t> </a:t>
            </a:r>
          </a:p>
          <a:p>
            <a:pPr marL="228600" indent="-228600">
              <a:buNone/>
            </a:pPr>
            <a:r>
              <a:rPr lang="en-US" dirty="0"/>
              <a:t>Worse if MIN plays optimally again.</a:t>
            </a:r>
          </a:p>
          <a:p>
            <a:pPr marL="228600" indent="-228600">
              <a:buNone/>
            </a:pPr>
            <a:r>
              <a:rPr lang="en-US" dirty="0" err="1"/>
              <a:t>O(b^m</a:t>
            </a:r>
            <a:r>
              <a:rPr lang="en-US" dirty="0"/>
              <a:t>)</a:t>
            </a:r>
          </a:p>
          <a:p>
            <a:pPr marL="228600" indent="-228600">
              <a:buNone/>
            </a:pPr>
            <a:r>
              <a:rPr lang="en-US" dirty="0"/>
              <a:t>2. Reduce time complexity: prune </a:t>
            </a:r>
            <a:r>
              <a:rPr lang="en-US" dirty="0" err="1"/>
              <a:t>subtrees</a:t>
            </a:r>
            <a:r>
              <a:rPr lang="en-US" dirty="0"/>
              <a:t> that won’t affect </a:t>
            </a:r>
            <a:r>
              <a:rPr lang="en-US" dirty="0" err="1"/>
              <a:t>minimax</a:t>
            </a:r>
            <a:r>
              <a:rPr lang="en-US" dirty="0"/>
              <a:t> decision. O(b^m/2) perfect ordering</a:t>
            </a:r>
          </a:p>
          <a:p>
            <a:pPr marL="228600" indent="-228600">
              <a:buNone/>
            </a:pPr>
            <a:r>
              <a:rPr lang="en-US" dirty="0"/>
              <a:t>3.</a:t>
            </a:r>
            <a:r>
              <a:rPr lang="en-US" baseline="0" dirty="0"/>
              <a:t> Cut off the search depth</a:t>
            </a:r>
          </a:p>
          <a:p>
            <a:pPr marL="228600" indent="-228600">
              <a:buNone/>
            </a:pPr>
            <a:r>
              <a:rPr lang="en-US" baseline="0" dirty="0"/>
              <a:t>4. Introduce the element of chance/uncertainty</a:t>
            </a:r>
            <a:endParaRPr lang="en-US" dirty="0"/>
          </a:p>
          <a:p>
            <a:pPr marL="228600" indent="-228600">
              <a:buNone/>
            </a:pPr>
            <a:endParaRPr lang="en-US" dirty="0"/>
          </a:p>
          <a:p>
            <a:pPr marL="228600" indent="-22860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02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r>
              <a:rPr lang="en-US" dirty="0"/>
              <a:t>No tutorials</a:t>
            </a:r>
            <a:r>
              <a:rPr lang="en-US" baseline="0" dirty="0"/>
              <a:t> for this coming Mon &amp; Tues (recess week).</a:t>
            </a:r>
          </a:p>
          <a:p>
            <a:pPr marL="228600" indent="-228600">
              <a:buNone/>
            </a:pPr>
            <a:r>
              <a:rPr lang="en-US" baseline="0" dirty="0"/>
              <a:t>Make-up lecture LT19 for CNY, Friday (28 Feb) 2-4pm (recess week).</a:t>
            </a:r>
          </a:p>
          <a:p>
            <a:pPr marL="228600" indent="-228600">
              <a:buNone/>
            </a:pPr>
            <a:r>
              <a:rPr lang="en-US" baseline="0" dirty="0"/>
              <a:t>Midterm exam in the subsequent week after recess week, Friday (7 Mar) 2-4pm during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AC38A-57BD-3F4C-8C07-081859D9DC9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12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3. Pruning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78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US" dirty="0"/>
              <a:t>Lecture 2: Atomic – cannot be broken</a:t>
            </a:r>
            <a:r>
              <a:rPr lang="en-US" baseline="0" dirty="0"/>
              <a:t> down further, no internal structure</a:t>
            </a:r>
          </a:p>
          <a:p>
            <a:pPr marL="228600" indent="-228600">
              <a:buAutoNum type="arabicPeriod"/>
            </a:pPr>
            <a:endParaRPr lang="en-US" baseline="0" dirty="0"/>
          </a:p>
          <a:p>
            <a:pPr marL="228600" indent="-228600">
              <a:buAutoNum type="arabicPeriod"/>
            </a:pPr>
            <a:r>
              <a:rPr lang="en-US" baseline="0" dirty="0"/>
              <a:t>Solving a CSP means finding values for all the variables such that these values satisfy the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10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US" dirty="0"/>
              <a:t>Lecture 2: Atomic – cannot be broken</a:t>
            </a:r>
            <a:r>
              <a:rPr lang="en-US" baseline="0" dirty="0"/>
              <a:t> down further, no internal structure</a:t>
            </a:r>
          </a:p>
          <a:p>
            <a:pPr marL="228600" indent="-228600">
              <a:buAutoNum type="arabicPeriod"/>
            </a:pPr>
            <a:endParaRPr lang="en-US" baseline="0" dirty="0"/>
          </a:p>
          <a:p>
            <a:pPr marL="228600" indent="-228600">
              <a:buAutoNum type="arabicPeriod"/>
            </a:pPr>
            <a:r>
              <a:rPr lang="en-US" baseline="0" dirty="0"/>
              <a:t>Solving a CSP means finding values for all the variables such that these values satisfy the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11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0(a) Map of Australia showing its states and territories</a:t>
            </a:r>
            <a:endParaRPr lang="en-US" baseline="0" dirty="0"/>
          </a:p>
          <a:p>
            <a:r>
              <a:rPr lang="en-US" baseline="0" dirty="0"/>
              <a:t>0(b) Problem: color each region using R, G, B </a:t>
            </a:r>
            <a:r>
              <a:rPr lang="en-US" baseline="0" dirty="0" err="1"/>
              <a:t>st</a:t>
            </a:r>
            <a:r>
              <a:rPr lang="en-US" baseline="0" dirty="0"/>
              <a:t> no adjacent regions have same color.</a:t>
            </a:r>
          </a:p>
          <a:p>
            <a:endParaRPr lang="en-US" baseline="0" dirty="0"/>
          </a:p>
          <a:p>
            <a:r>
              <a:rPr lang="en-US" baseline="0" dirty="0"/>
              <a:t>2. Two ways to represent constraints: (1) Abstract relation, (2) Explicit list of </a:t>
            </a:r>
            <a:r>
              <a:rPr lang="en-US" baseline="0" dirty="0" err="1"/>
              <a:t>tuples</a:t>
            </a:r>
            <a:r>
              <a:rPr lang="en-US" baseline="0" dirty="0"/>
              <a:t> satisfying constraints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34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0(a) Map of Australia showing its states and territories</a:t>
            </a:r>
            <a:endParaRPr lang="en-US" baseline="0" dirty="0"/>
          </a:p>
          <a:p>
            <a:r>
              <a:rPr lang="en-US" baseline="0" dirty="0"/>
              <a:t>0(b) Problem: color each region using R, G, B </a:t>
            </a:r>
            <a:r>
              <a:rPr lang="en-US" baseline="0" dirty="0" err="1"/>
              <a:t>st</a:t>
            </a:r>
            <a:r>
              <a:rPr lang="en-US" baseline="0" dirty="0"/>
              <a:t> no adjacent regions have same color.</a:t>
            </a:r>
          </a:p>
          <a:p>
            <a:endParaRPr lang="en-US" baseline="0" dirty="0"/>
          </a:p>
          <a:p>
            <a:r>
              <a:rPr lang="en-US" baseline="0" dirty="0"/>
              <a:t>2. Two ways to represent constraints: (1) Abstract relation, (2) Explicit list of </a:t>
            </a:r>
            <a:r>
              <a:rPr lang="en-US" baseline="0" dirty="0" err="1"/>
              <a:t>tuples</a:t>
            </a:r>
            <a:r>
              <a:rPr lang="en-US" baseline="0" dirty="0"/>
              <a:t> satisfying constraints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26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Binary CSP</a:t>
            </a:r>
            <a:r>
              <a:rPr lang="en-US" baseline="0" dirty="0"/>
              <a:t> can be represented using a constraint graph.</a:t>
            </a:r>
          </a:p>
          <a:p>
            <a:r>
              <a:rPr lang="en-US" dirty="0"/>
              <a:t>3. Example: previous map coloring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95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3. Value of variable is the time that it starts</a:t>
            </a:r>
          </a:p>
          <a:p>
            <a:r>
              <a:rPr lang="en-US" dirty="0"/>
              <a:t>4. Precedence: Task </a:t>
            </a:r>
            <a:r>
              <a:rPr lang="en-US" dirty="0" err="1"/>
              <a:t>Axle_F</a:t>
            </a:r>
            <a:r>
              <a:rPr lang="en-US" dirty="0"/>
              <a:t> must occur at least 10 minutes before </a:t>
            </a:r>
            <a:r>
              <a:rPr lang="en-US" dirty="0" err="1"/>
              <a:t>Wheel_RF</a:t>
            </a:r>
            <a:r>
              <a:rPr lang="en-US" dirty="0"/>
              <a:t> </a:t>
            </a:r>
            <a:r>
              <a:rPr lang="en-US" dirty="0" err="1"/>
              <a:t>cos</a:t>
            </a:r>
            <a:r>
              <a:rPr lang="en-US" dirty="0"/>
              <a:t> 10 min to install axle.</a:t>
            </a:r>
          </a:p>
          <a:p>
            <a:r>
              <a:rPr lang="en-US" dirty="0"/>
              <a:t>5. Disjunctive: Only 1 tool to fix axle. </a:t>
            </a:r>
            <a:r>
              <a:rPr lang="en-US" dirty="0" err="1"/>
              <a:t>Axle_F</a:t>
            </a:r>
            <a:r>
              <a:rPr lang="en-US" dirty="0"/>
              <a:t> and </a:t>
            </a:r>
            <a:r>
              <a:rPr lang="en-US" dirty="0" err="1"/>
              <a:t>Axle_B</a:t>
            </a:r>
            <a:r>
              <a:rPr lang="en-US" dirty="0"/>
              <a:t> must not overlap in time. Either</a:t>
            </a:r>
            <a:r>
              <a:rPr lang="en-US" baseline="0" dirty="0"/>
              <a:t> </a:t>
            </a:r>
            <a:r>
              <a:rPr lang="en-US" baseline="0" dirty="0" err="1"/>
              <a:t>Axle_F</a:t>
            </a:r>
            <a:r>
              <a:rPr lang="en-US" baseline="0" dirty="0"/>
              <a:t> or </a:t>
            </a:r>
            <a:r>
              <a:rPr lang="en-US" baseline="0" dirty="0" err="1"/>
              <a:t>Axle_B</a:t>
            </a:r>
            <a:r>
              <a:rPr lang="en-US" baseline="0" dirty="0"/>
              <a:t> comes first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79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1.1.2. 8-queens: Q1 to Q8 = positions of queens in </a:t>
            </a:r>
            <a:r>
              <a:rPr lang="en-US" dirty="0" err="1"/>
              <a:t>col</a:t>
            </a:r>
            <a:r>
              <a:rPr lang="en-US" dirty="0"/>
              <a:t> 1 to 8, each </a:t>
            </a:r>
            <a:r>
              <a:rPr lang="en-US" dirty="0" err="1"/>
              <a:t>var</a:t>
            </a:r>
            <a:r>
              <a:rPr lang="en-US" dirty="0"/>
              <a:t> has domain {1,…,8}</a:t>
            </a:r>
          </a:p>
          <a:p>
            <a:endParaRPr lang="en-US" dirty="0"/>
          </a:p>
          <a:p>
            <a:r>
              <a:rPr lang="en-US" dirty="0"/>
              <a:t>1.2.3. Infinite: cannot describe constraints by enumerating all allowed combinations of values, need</a:t>
            </a:r>
            <a:r>
              <a:rPr lang="en-US" baseline="0" dirty="0"/>
              <a:t> abstract relation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51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Unary constraint can be easily removed by reducing the domain</a:t>
            </a:r>
          </a:p>
          <a:p>
            <a:endParaRPr lang="en-US" dirty="0"/>
          </a:p>
          <a:p>
            <a:r>
              <a:rPr lang="en-US" dirty="0"/>
              <a:t>2. Binary CSP is one with binary constraints</a:t>
            </a:r>
          </a:p>
          <a:p>
            <a:endParaRPr lang="en-US" dirty="0"/>
          </a:p>
          <a:p>
            <a:r>
              <a:rPr lang="en-US" dirty="0"/>
              <a:t>3. Higher-order</a:t>
            </a:r>
            <a:r>
              <a:rPr lang="en-US" baseline="0" dirty="0"/>
              <a:t> constraint can be reduced to a set of binary constraints by introducing enough aux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89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X1, X2, X3 are auxiliary </a:t>
            </a:r>
            <a:r>
              <a:rPr lang="en-US" dirty="0" err="1"/>
              <a:t>var</a:t>
            </a:r>
            <a:r>
              <a:rPr lang="en-US" dirty="0"/>
              <a:t> rep digit carried over into 10s,</a:t>
            </a:r>
            <a:r>
              <a:rPr lang="en-US" baseline="0" dirty="0"/>
              <a:t> 100s, or 1000s column.</a:t>
            </a:r>
          </a:p>
          <a:p>
            <a:endParaRPr lang="en-US" dirty="0"/>
          </a:p>
          <a:p>
            <a:r>
              <a:rPr lang="en-US" dirty="0"/>
              <a:t>3(a) </a:t>
            </a:r>
            <a:r>
              <a:rPr lang="en-US" dirty="0" err="1"/>
              <a:t>Alldiff</a:t>
            </a:r>
            <a:r>
              <a:rPr lang="en-US" dirty="0"/>
              <a:t>: all </a:t>
            </a:r>
            <a:r>
              <a:rPr lang="en-US" dirty="0" err="1"/>
              <a:t>var</a:t>
            </a:r>
            <a:r>
              <a:rPr lang="en-US" dirty="0"/>
              <a:t> must have diff values.</a:t>
            </a:r>
          </a:p>
          <a:p>
            <a:endParaRPr lang="en-US" baseline="0" dirty="0"/>
          </a:p>
          <a:p>
            <a:r>
              <a:rPr lang="en-US" baseline="0" dirty="0"/>
              <a:t>3(e) Unary constraints can be removed by reducing the domains</a:t>
            </a:r>
            <a:endParaRPr lang="en-US" dirty="0"/>
          </a:p>
          <a:p>
            <a:endParaRPr lang="en-US" dirty="0"/>
          </a:p>
          <a:p>
            <a:r>
              <a:rPr lang="en-US" dirty="0"/>
              <a:t>4. Constraint </a:t>
            </a:r>
            <a:r>
              <a:rPr lang="en-US" dirty="0" err="1"/>
              <a:t>hypergraph</a:t>
            </a:r>
            <a:r>
              <a:rPr lang="en-US" dirty="0"/>
              <a:t>: circles: </a:t>
            </a:r>
            <a:r>
              <a:rPr lang="en-US" dirty="0" err="1"/>
              <a:t>var</a:t>
            </a:r>
            <a:r>
              <a:rPr lang="en-US" dirty="0"/>
              <a:t> = nodes,</a:t>
            </a:r>
            <a:r>
              <a:rPr lang="en-US" baseline="0" dirty="0"/>
              <a:t> squares: </a:t>
            </a:r>
            <a:r>
              <a:rPr lang="en-US" baseline="0" dirty="0" err="1"/>
              <a:t>n-ary</a:t>
            </a:r>
            <a:r>
              <a:rPr lang="en-US" baseline="0" dirty="0"/>
              <a:t> constraints = </a:t>
            </a:r>
            <a:r>
              <a:rPr lang="en-US" baseline="0" dirty="0" err="1"/>
              <a:t>hypernodes</a:t>
            </a:r>
            <a:r>
              <a:rPr lang="en-US" baseline="0" dirty="0"/>
              <a:t> (top = </a:t>
            </a:r>
            <a:r>
              <a:rPr lang="en-US" baseline="0" dirty="0" err="1"/>
              <a:t>alldiff</a:t>
            </a:r>
            <a:r>
              <a:rPr lang="en-US" baseline="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32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2. Transition: Check with the constraints</a:t>
            </a:r>
          </a:p>
          <a:p>
            <a:endParaRPr lang="en-US" dirty="0"/>
          </a:p>
          <a:p>
            <a:r>
              <a:rPr lang="en-US" dirty="0"/>
              <a:t>3.2. Finite depth</a:t>
            </a:r>
            <a:r>
              <a:rPr lang="en-US" baseline="0" dirty="0"/>
              <a:t> -&gt; can use DFS</a:t>
            </a:r>
            <a:endParaRPr lang="en-US" dirty="0"/>
          </a:p>
          <a:p>
            <a:r>
              <a:rPr lang="en-US" dirty="0"/>
              <a:t>3.3.</a:t>
            </a:r>
            <a:r>
              <a:rPr lang="en-US" baseline="0" dirty="0"/>
              <a:t> Local search</a:t>
            </a:r>
            <a:r>
              <a:rPr lang="en-US" dirty="0"/>
              <a:t>: complete assignment but may not be consistent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02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</a:t>
            </a:r>
            <a:r>
              <a:rPr lang="en-US" dirty="0"/>
              <a:t> </a:t>
            </a:r>
            <a:r>
              <a:rPr lang="en-US" dirty="0" err="1"/>
              <a:t>vars</a:t>
            </a:r>
            <a:r>
              <a:rPr lang="en-US" dirty="0"/>
              <a:t>, </a:t>
            </a:r>
            <a:r>
              <a:rPr lang="en-US" dirty="0" err="1"/>
              <a:t>d</a:t>
            </a:r>
            <a:r>
              <a:rPr lang="en-US" baseline="0" dirty="0"/>
              <a:t> = domain size</a:t>
            </a:r>
            <a:endParaRPr lang="en-US" dirty="0"/>
          </a:p>
          <a:p>
            <a:endParaRPr lang="en-US" dirty="0"/>
          </a:p>
          <a:p>
            <a:r>
              <a:rPr lang="en-US" dirty="0"/>
              <a:t>Branching factor </a:t>
            </a:r>
            <a:r>
              <a:rPr lang="en-US" dirty="0" err="1"/>
              <a:t>b</a:t>
            </a:r>
            <a:r>
              <a:rPr lang="en-US" dirty="0"/>
              <a:t> at depth 0 = </a:t>
            </a:r>
            <a:r>
              <a:rPr lang="en-US" dirty="0" err="1"/>
              <a:t>nd</a:t>
            </a:r>
            <a:r>
              <a:rPr lang="en-US" dirty="0"/>
              <a:t> states</a:t>
            </a:r>
          </a:p>
          <a:p>
            <a:r>
              <a:rPr lang="en-US" dirty="0"/>
              <a:t>Depth 1 = (n-1)d states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Depth n-1 = 1.d states</a:t>
            </a:r>
          </a:p>
          <a:p>
            <a:endParaRPr lang="en-US" dirty="0"/>
          </a:p>
          <a:p>
            <a:r>
              <a:rPr lang="en-US" dirty="0"/>
              <a:t>But, </a:t>
            </a:r>
            <a:r>
              <a:rPr lang="en-US" dirty="0" err="1"/>
              <a:t>d^n</a:t>
            </a:r>
            <a:r>
              <a:rPr lang="en-US" dirty="0"/>
              <a:t> complete assignments!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Q? Did extra work here: Order of variables matters in each assignment here, which shouldn’t be.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88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Order is not important, we get the same partial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35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ea typeface="Arial" pitchFamily="-107" charset="0"/>
              </a:rPr>
              <a:t>1. BACKTRACK fn is recursion, Aim: Find a solution (consistent, complete assignment)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ea typeface="Arial" pitchFamily="-107" charset="0"/>
              </a:rPr>
              <a:t>2. It repeatedly </a:t>
            </a:r>
            <a:r>
              <a:rPr lang="en-US" sz="1200" kern="1200" baseline="0" dirty="0" err="1">
                <a:solidFill>
                  <a:schemeClr val="tx1"/>
                </a:solidFill>
                <a:ea typeface="Arial" pitchFamily="-107" charset="0"/>
              </a:rPr>
              <a:t>SELECTs</a:t>
            </a:r>
            <a:r>
              <a:rPr lang="en-US" sz="1200" kern="1200" baseline="0" dirty="0">
                <a:solidFill>
                  <a:schemeClr val="tx1"/>
                </a:solidFill>
                <a:ea typeface="Arial" pitchFamily="-107" charset="0"/>
              </a:rPr>
              <a:t> an UNASSIGNED VARIABLE (Uninformed DFS: fix order, GP heuristics to improve time efficiency, as shown later)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ea typeface="Arial" pitchFamily="-107" charset="0"/>
              </a:rPr>
              <a:t>3. FOR LOOP: then tries all values in the domain of the selected variable in turn (same as above) 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ea typeface="Arial" pitchFamily="-107" charset="0"/>
              </a:rPr>
              <a:t>4. Finding a value that does not conflict with current assignment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ea typeface="Arial" pitchFamily="-107" charset="0"/>
              </a:rPr>
              <a:t>5. INFERENCE (opt): impose consistency with unassigned variables (by reducing domain). If domain reduced to singleton, inferences = new assignments. Shown later.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ea typeface="Arial" pitchFamily="-107" charset="0"/>
              </a:rPr>
              <a:t>6. If an inconsistency is detected, then BACKTRACK (no values consistent with current assignment) or INFERENCE (empty domain for unassigned </a:t>
            </a:r>
            <a:r>
              <a:rPr lang="en-US" sz="1200" kern="1200" baseline="0" dirty="0" err="1">
                <a:solidFill>
                  <a:schemeClr val="tx1"/>
                </a:solidFill>
                <a:ea typeface="Arial" pitchFamily="-107" charset="0"/>
              </a:rPr>
              <a:t>var</a:t>
            </a:r>
            <a:r>
              <a:rPr lang="en-US" sz="1200" kern="1200" baseline="0" dirty="0">
                <a:solidFill>
                  <a:schemeClr val="tx1"/>
                </a:solidFill>
                <a:ea typeface="Arial" pitchFamily="-107" charset="0"/>
              </a:rPr>
              <a:t>) returns failure, remove new assignments and try another value.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77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Shows</a:t>
            </a:r>
            <a:r>
              <a:rPr lang="en-US" baseline="0" dirty="0"/>
              <a:t> you part of search tree: </a:t>
            </a:r>
          </a:p>
          <a:p>
            <a:r>
              <a:rPr lang="en-US" baseline="0" dirty="0"/>
              <a:t>2. Start with empty assignment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13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0. Can we do better than uninformed</a:t>
            </a:r>
            <a:r>
              <a:rPr lang="en-US" baseline="0" dirty="0"/>
              <a:t> search (DFS)?</a:t>
            </a:r>
          </a:p>
          <a:p>
            <a:r>
              <a:rPr lang="en-US" baseline="0" dirty="0"/>
              <a:t>1.4. Detect and avoid inconsistencies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28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0" dirty="0"/>
              <a:t>0. </a:t>
            </a:r>
            <a:r>
              <a:rPr lang="en-US" i="0" dirty="0" err="1"/>
              <a:t>Impl</a:t>
            </a:r>
            <a:r>
              <a:rPr lang="en-US" i="0" dirty="0"/>
              <a:t> with SELECT-UNASSIGNED-VAR</a:t>
            </a:r>
          </a:p>
          <a:p>
            <a:r>
              <a:rPr lang="en-US" i="0" dirty="0"/>
              <a:t>1. Aim: Minimize</a:t>
            </a:r>
            <a:r>
              <a:rPr lang="en-US" i="0" baseline="0" dirty="0"/>
              <a:t> number of nodes in search tree by pruning larger parts of tree earlier.</a:t>
            </a:r>
            <a:endParaRPr lang="en-US" i="0" dirty="0"/>
          </a:p>
          <a:p>
            <a:r>
              <a:rPr lang="en-US" sz="1200" i="0" kern="1200" baseline="0" dirty="0">
                <a:solidFill>
                  <a:schemeClr val="tx1"/>
                </a:solidFill>
                <a:ea typeface="Arial" pitchFamily="-107" charset="0"/>
              </a:rPr>
              <a:t>2. E.g. after the assignments for WA=red and NT=green, there is only one possible value for SA, so it makes sense to assign SA=blue next rather than assigning Q (can be RB).</a:t>
            </a:r>
            <a:endParaRPr lang="en-US" i="0" dirty="0"/>
          </a:p>
          <a:p>
            <a:r>
              <a:rPr lang="en-US" i="0" dirty="0"/>
              <a:t>3.</a:t>
            </a:r>
            <a:r>
              <a:rPr lang="en-US" i="0" baseline="0" dirty="0"/>
              <a:t> </a:t>
            </a:r>
            <a:r>
              <a:rPr lang="en-US" i="0" dirty="0"/>
              <a:t>MRV usually performs better than static</a:t>
            </a:r>
            <a:r>
              <a:rPr lang="en-US" i="0" baseline="0" dirty="0"/>
              <a:t> or random ordering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934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0" dirty="0"/>
              <a:t>0. </a:t>
            </a:r>
            <a:r>
              <a:rPr lang="en-US" i="0" dirty="0" err="1"/>
              <a:t>Impl</a:t>
            </a:r>
            <a:r>
              <a:rPr lang="en-US" i="0" dirty="0"/>
              <a:t> with SELECT-UNASSIGNED-VAR</a:t>
            </a:r>
            <a:endParaRPr lang="en-US" sz="1200" i="0" kern="1200" baseline="0" dirty="0">
              <a:solidFill>
                <a:schemeClr val="tx1"/>
              </a:solidFill>
              <a:ea typeface="Arial" pitchFamily="-107" charset="0"/>
            </a:endParaRPr>
          </a:p>
          <a:p>
            <a:r>
              <a:rPr lang="en-US" sz="1200" i="0" kern="1200" baseline="0" dirty="0">
                <a:solidFill>
                  <a:schemeClr val="tx1"/>
                </a:solidFill>
                <a:ea typeface="Arial" pitchFamily="-107" charset="0"/>
              </a:rPr>
              <a:t>1. Aim: </a:t>
            </a:r>
            <a:r>
              <a:rPr lang="en-US" i="0" dirty="0"/>
              <a:t>minimize</a:t>
            </a:r>
            <a:r>
              <a:rPr lang="en-US" i="0" baseline="0" dirty="0"/>
              <a:t> number of nodes in search tree by </a:t>
            </a:r>
            <a:r>
              <a:rPr lang="en-US" sz="1200" i="0" kern="1200" baseline="0" dirty="0">
                <a:solidFill>
                  <a:schemeClr val="tx1"/>
                </a:solidFill>
                <a:ea typeface="Arial" pitchFamily="-107" charset="0"/>
              </a:rPr>
              <a:t>reducing branching factor on future choices</a:t>
            </a:r>
          </a:p>
          <a:p>
            <a:r>
              <a:rPr lang="en-US" sz="1200" i="0" kern="1200" baseline="0" dirty="0">
                <a:solidFill>
                  <a:schemeClr val="tx1"/>
                </a:solidFill>
                <a:ea typeface="Arial" pitchFamily="-107" charset="0"/>
              </a:rPr>
              <a:t>2. e.g., MRV heuristic doesn't help at all in choosing the first region to color in Australia, because initially every region has three legal colors. </a:t>
            </a:r>
          </a:p>
          <a:p>
            <a:r>
              <a:rPr lang="en-US" sz="1200" i="0" kern="1200" baseline="0" dirty="0">
                <a:solidFill>
                  <a:schemeClr val="tx1"/>
                </a:solidFill>
                <a:ea typeface="Arial" pitchFamily="-107" charset="0"/>
              </a:rPr>
              <a:t>3. SA is the variable with highest degree 5; the other variables have degree 2 or 3, except for T, which has degree 0. </a:t>
            </a:r>
          </a:p>
          <a:p>
            <a:r>
              <a:rPr lang="en-US" sz="1200" i="0" kern="1200" baseline="0" dirty="0">
                <a:solidFill>
                  <a:schemeClr val="tx1"/>
                </a:solidFill>
                <a:ea typeface="Arial" pitchFamily="-107" charset="0"/>
              </a:rPr>
              <a:t>4. once SA is chosen, applying the MRV heuristic solves the problem in 1 path down the tree without backtracking. 	</a:t>
            </a:r>
          </a:p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61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0. </a:t>
            </a:r>
            <a:r>
              <a:rPr lang="en-US" dirty="0" err="1"/>
              <a:t>Impl</a:t>
            </a:r>
            <a:r>
              <a:rPr lang="en-US" dirty="0"/>
              <a:t> with ORDER-DOMAIN-VALUES fn</a:t>
            </a:r>
          </a:p>
          <a:p>
            <a:r>
              <a:rPr lang="en-US" dirty="0"/>
              <a:t>1. Aim:</a:t>
            </a:r>
            <a:r>
              <a:rPr lang="en-US" baseline="0" dirty="0"/>
              <a:t> Avoid running into failure (empty domains for unassigned </a:t>
            </a:r>
            <a:r>
              <a:rPr lang="en-US" baseline="0" dirty="0" err="1"/>
              <a:t>var</a:t>
            </a:r>
            <a:r>
              <a:rPr lang="en-US" baseline="0" dirty="0"/>
              <a:t>). </a:t>
            </a:r>
          </a:p>
          <a:p>
            <a:r>
              <a:rPr lang="en-US" dirty="0"/>
              <a:t>2. Leaves largest number of values for neighboring variables (max</a:t>
            </a:r>
            <a:r>
              <a:rPr lang="en-US" baseline="0" dirty="0"/>
              <a:t> flexibility for </a:t>
            </a:r>
            <a:r>
              <a:rPr lang="en-US" baseline="0" dirty="0" err="1"/>
              <a:t>subseq</a:t>
            </a:r>
            <a:r>
              <a:rPr lang="en-US" baseline="0" dirty="0"/>
              <a:t> </a:t>
            </a:r>
            <a:r>
              <a:rPr lang="en-US" baseline="0" dirty="0" err="1"/>
              <a:t>var</a:t>
            </a:r>
            <a:r>
              <a:rPr lang="en-US" baseline="0" dirty="0"/>
              <a:t> assignments).</a:t>
            </a:r>
            <a:endParaRPr lang="en-US" dirty="0"/>
          </a:p>
          <a:p>
            <a:r>
              <a:rPr lang="en-US" dirty="0"/>
              <a:t>3. e.g.</a:t>
            </a:r>
            <a:r>
              <a:rPr lang="en-US" sz="1200" i="0" kern="1200" baseline="0" dirty="0">
                <a:solidFill>
                  <a:schemeClr val="tx1"/>
                </a:solidFill>
                <a:ea typeface="Arial" pitchFamily="-107" charset="0"/>
              </a:rPr>
              <a:t> the partial assignment with WA= red and NT = green and that our next choice is for Q. B would be a bad choice because it eliminates the last legal value left for Q's neighbor, SA. The least-constraining-value heuristic therefore prefers R to B.</a:t>
            </a:r>
          </a:p>
          <a:p>
            <a:r>
              <a:rPr lang="en-US" sz="1200" i="0" kern="1200" baseline="0" dirty="0">
                <a:solidFill>
                  <a:schemeClr val="tx1"/>
                </a:solidFill>
                <a:ea typeface="Arial" pitchFamily="-107" charset="0"/>
              </a:rPr>
              <a:t>4. Ineffective if find all solutions or no solution exists (consider all values).</a:t>
            </a:r>
          </a:p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501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0" dirty="0"/>
              <a:t>0. </a:t>
            </a:r>
            <a:r>
              <a:rPr lang="en-US" i="0" dirty="0" err="1"/>
              <a:t>Impl</a:t>
            </a:r>
            <a:r>
              <a:rPr lang="en-US" i="0" dirty="0"/>
              <a:t> with INFERENCE fn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i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1. Domain reduction:</a:t>
            </a:r>
            <a:r>
              <a:rPr lang="en-US" i="0" baseline="0" dirty="0"/>
              <a:t> </a:t>
            </a:r>
            <a:r>
              <a:rPr lang="en-US" dirty="0"/>
              <a:t>Delete any values from unassigned </a:t>
            </a:r>
            <a:r>
              <a:rPr lang="en-US" dirty="0" err="1"/>
              <a:t>var</a:t>
            </a:r>
            <a:r>
              <a:rPr lang="en-US" dirty="0"/>
              <a:t> that are inconsistent with current</a:t>
            </a:r>
            <a:r>
              <a:rPr lang="en-US" baseline="0" dirty="0"/>
              <a:t> assignment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292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0" dirty="0"/>
              <a:t>0. </a:t>
            </a:r>
            <a:r>
              <a:rPr lang="en-US" i="0" dirty="0" err="1"/>
              <a:t>Impl</a:t>
            </a:r>
            <a:r>
              <a:rPr lang="en-US" i="0" dirty="0"/>
              <a:t> with INFERENCE fn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i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1. Domain reduction:</a:t>
            </a:r>
            <a:r>
              <a:rPr lang="en-US" i="0" baseline="0" dirty="0"/>
              <a:t> </a:t>
            </a:r>
            <a:r>
              <a:rPr lang="en-US" dirty="0"/>
              <a:t>Delete any values from unassigned </a:t>
            </a:r>
            <a:r>
              <a:rPr lang="en-US" dirty="0" err="1"/>
              <a:t>var</a:t>
            </a:r>
            <a:r>
              <a:rPr lang="en-US" dirty="0"/>
              <a:t> that are inconsistent with current</a:t>
            </a:r>
            <a:r>
              <a:rPr lang="en-US" baseline="0" dirty="0"/>
              <a:t> assignment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902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0" dirty="0"/>
              <a:t>0. </a:t>
            </a:r>
            <a:r>
              <a:rPr lang="en-US" i="0" dirty="0" err="1"/>
              <a:t>Impl</a:t>
            </a:r>
            <a:r>
              <a:rPr lang="en-US" i="0" dirty="0"/>
              <a:t> with INFERENCE fn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i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1. Domain reduction:</a:t>
            </a:r>
            <a:r>
              <a:rPr lang="en-US" i="0" baseline="0" dirty="0"/>
              <a:t> </a:t>
            </a:r>
            <a:r>
              <a:rPr lang="en-US" dirty="0"/>
              <a:t>Delete any values from unassigned </a:t>
            </a:r>
            <a:r>
              <a:rPr lang="en-US" dirty="0" err="1"/>
              <a:t>var</a:t>
            </a:r>
            <a:r>
              <a:rPr lang="en-US" dirty="0"/>
              <a:t> that are inconsistent with current</a:t>
            </a:r>
            <a:r>
              <a:rPr lang="en-US" baseline="0" dirty="0"/>
              <a:t> assignment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783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0" dirty="0"/>
              <a:t>0. </a:t>
            </a:r>
            <a:r>
              <a:rPr lang="en-US" i="0" dirty="0" err="1"/>
              <a:t>Impl</a:t>
            </a:r>
            <a:r>
              <a:rPr lang="en-US" i="0" dirty="0"/>
              <a:t> with INFERENCE fn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i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1. Domain reduction:</a:t>
            </a:r>
            <a:r>
              <a:rPr lang="en-US" i="0" baseline="0" dirty="0"/>
              <a:t> </a:t>
            </a:r>
            <a:r>
              <a:rPr lang="en-US" dirty="0"/>
              <a:t>Delete any values from unassigned </a:t>
            </a:r>
            <a:r>
              <a:rPr lang="en-US" dirty="0" err="1"/>
              <a:t>var</a:t>
            </a:r>
            <a:r>
              <a:rPr lang="en-US" dirty="0"/>
              <a:t> that are inconsistent with current</a:t>
            </a:r>
            <a:r>
              <a:rPr lang="en-US" baseline="0" dirty="0"/>
              <a:t> assignment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866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3(a) Goes from</a:t>
            </a:r>
            <a:r>
              <a:rPr lang="en-US" baseline="0" dirty="0"/>
              <a:t> neighboring variables to their neighbors and so on</a:t>
            </a:r>
          </a:p>
          <a:p>
            <a:r>
              <a:rPr lang="en-US" baseline="0" dirty="0"/>
              <a:t>3(b) Forward checking is like greedy version of constraint propagation: only considers neighboring unassigned </a:t>
            </a:r>
            <a:r>
              <a:rPr lang="en-US" baseline="0" dirty="0" err="1"/>
              <a:t>var</a:t>
            </a:r>
            <a:r>
              <a:rPr lang="en-US" baseline="0" dirty="0"/>
              <a:t>, not beyond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206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Repeatedly</a:t>
            </a:r>
            <a:r>
              <a:rPr lang="en-US" baseline="0" dirty="0"/>
              <a:t> enforces the constraints locally: remove illegal values from domains of variables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006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SA=</a:t>
            </a:r>
            <a:r>
              <a:rPr lang="en-US" dirty="0" err="1"/>
              <a:t>b</a:t>
            </a:r>
            <a:r>
              <a:rPr lang="en-US" dirty="0"/>
              <a:t>, there is NSW=</a:t>
            </a:r>
            <a:r>
              <a:rPr lang="en-US" dirty="0" err="1"/>
              <a:t>r</a:t>
            </a:r>
            <a:r>
              <a:rPr lang="en-US" dirty="0"/>
              <a:t>. So, SA is arc-consistent </a:t>
            </a:r>
            <a:r>
              <a:rPr lang="en-US" dirty="0" err="1"/>
              <a:t>wrt</a:t>
            </a:r>
            <a:r>
              <a:rPr lang="en-US" dirty="0"/>
              <a:t> NSW.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502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In an arc X-&gt;Y, removal</a:t>
            </a:r>
            <a:r>
              <a:rPr lang="en-US" baseline="0" dirty="0"/>
              <a:t> of values is from domain of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127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SA=</a:t>
            </a:r>
            <a:r>
              <a:rPr lang="en-US" dirty="0" err="1"/>
              <a:t>b</a:t>
            </a:r>
            <a:r>
              <a:rPr lang="en-US" dirty="0"/>
              <a:t>, there is NSW=</a:t>
            </a:r>
            <a:r>
              <a:rPr lang="en-US" dirty="0" err="1"/>
              <a:t>r</a:t>
            </a:r>
            <a:r>
              <a:rPr lang="en-US" dirty="0"/>
              <a:t>. So, SA is arc-consistent </a:t>
            </a:r>
            <a:r>
              <a:rPr lang="en-US" dirty="0" err="1"/>
              <a:t>wrt</a:t>
            </a:r>
            <a:r>
              <a:rPr lang="en-US" dirty="0"/>
              <a:t> NSW.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807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SA=</a:t>
            </a:r>
            <a:r>
              <a:rPr lang="en-US" dirty="0" err="1"/>
              <a:t>b</a:t>
            </a:r>
            <a:r>
              <a:rPr lang="en-US" dirty="0"/>
              <a:t>, there is NSW=</a:t>
            </a:r>
            <a:r>
              <a:rPr lang="en-US" dirty="0" err="1"/>
              <a:t>r</a:t>
            </a:r>
            <a:r>
              <a:rPr lang="en-US" dirty="0"/>
              <a:t>. So, SA is arc-consistent </a:t>
            </a:r>
            <a:r>
              <a:rPr lang="en-US" dirty="0" err="1"/>
              <a:t>wrt</a:t>
            </a:r>
            <a:r>
              <a:rPr lang="en-US" dirty="0"/>
              <a:t> NSW.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584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2.2. Make Arc X -&gt; Y consistent</a:t>
            </a:r>
          </a:p>
          <a:p>
            <a:r>
              <a:rPr lang="en-US" dirty="0"/>
              <a:t>2.3-4.</a:t>
            </a:r>
            <a:r>
              <a:rPr lang="en-US" baseline="0" dirty="0"/>
              <a:t> Make Arc Z -&gt; X consistent</a:t>
            </a:r>
          </a:p>
          <a:p>
            <a:r>
              <a:rPr lang="en-US" baseline="0" dirty="0"/>
              <a:t>3. Still have to make Arc X -&gt; Z consistent by eliminating 5 from D_X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133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SA=</a:t>
            </a:r>
            <a:r>
              <a:rPr lang="en-US" dirty="0" err="1"/>
              <a:t>b</a:t>
            </a:r>
            <a:r>
              <a:rPr lang="en-US" dirty="0"/>
              <a:t>, there is NSW=</a:t>
            </a:r>
            <a:r>
              <a:rPr lang="en-US" dirty="0" err="1"/>
              <a:t>r</a:t>
            </a:r>
            <a:r>
              <a:rPr lang="en-US" dirty="0"/>
              <a:t>. So, SA is arc-consistent </a:t>
            </a:r>
            <a:r>
              <a:rPr lang="en-US" dirty="0" err="1"/>
              <a:t>wrt</a:t>
            </a:r>
            <a:r>
              <a:rPr lang="en-US" dirty="0"/>
              <a:t> NSW.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364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a typeface="Arial" pitchFamily="-107" charset="0"/>
              </a:rPr>
              <a:t>1. After applying AC-3, either every arc is consistent (TRUE), or some variable has an empty domain (FALSE), indicating that the CSP cannot be solved. </a:t>
            </a:r>
          </a:p>
          <a:p>
            <a:r>
              <a:rPr lang="en-US" dirty="0"/>
              <a:t>2. Not queue, but set, initially, queue contains</a:t>
            </a:r>
            <a:r>
              <a:rPr lang="en-US" baseline="0" dirty="0"/>
              <a:t> all arcs (2xconstraints). (1 hr:36 min)</a:t>
            </a:r>
          </a:p>
          <a:p>
            <a:r>
              <a:rPr lang="en-US" baseline="0" dirty="0"/>
              <a:t>3. Remove an arc Xi -&gt; </a:t>
            </a:r>
            <a:r>
              <a:rPr lang="en-US" baseline="0" dirty="0" err="1"/>
              <a:t>Xj</a:t>
            </a:r>
            <a:r>
              <a:rPr lang="en-US" baseline="0" dirty="0"/>
              <a:t> from queue and make it arc-consistent using REVISE fn</a:t>
            </a:r>
          </a:p>
          <a:p>
            <a:r>
              <a:rPr lang="en-US" baseline="0" dirty="0"/>
              <a:t>4. REVISE fn removes illegal values of Xi (follows def of arc-consistency)</a:t>
            </a:r>
          </a:p>
          <a:p>
            <a:r>
              <a:rPr lang="en-US" baseline="0" dirty="0"/>
              <a:t>5. If domain of Xi is reduced, neighbors of Xi need to be rechecked (FOR loop), so for each neighboring node, add arcs going out from it into </a:t>
            </a:r>
            <a:r>
              <a:rPr lang="en-US" baseline="0" dirty="0" err="1"/>
              <a:t>X_i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-----</a:t>
            </a:r>
          </a:p>
          <a:p>
            <a:r>
              <a:rPr lang="en-US" baseline="0" dirty="0"/>
              <a:t>Neighbors of Xi excluding </a:t>
            </a:r>
            <a:r>
              <a:rPr lang="en-US" baseline="0" dirty="0" err="1"/>
              <a:t>X_j</a:t>
            </a:r>
            <a:r>
              <a:rPr lang="en-US" baseline="0" dirty="0"/>
              <a:t>: If </a:t>
            </a:r>
            <a:r>
              <a:rPr lang="en-US" baseline="0" dirty="0" err="1"/>
              <a:t>Xj</a:t>
            </a:r>
            <a:r>
              <a:rPr lang="en-US" baseline="0" dirty="0"/>
              <a:t>-&gt;Xi is queued after Xi-&gt;</a:t>
            </a:r>
            <a:r>
              <a:rPr lang="en-US" baseline="0" dirty="0" err="1"/>
              <a:t>Xj</a:t>
            </a:r>
            <a:r>
              <a:rPr lang="en-US" baseline="0" dirty="0"/>
              <a:t>, then we’re good. If </a:t>
            </a:r>
            <a:r>
              <a:rPr lang="en-US" baseline="0" dirty="0" err="1"/>
              <a:t>Xj</a:t>
            </a:r>
            <a:r>
              <a:rPr lang="en-US" baseline="0" dirty="0"/>
              <a:t>-&gt;Xi has already been removed, then domain reduction of Xi now does not affect domain of </a:t>
            </a:r>
            <a:r>
              <a:rPr lang="en-US" baseline="0" dirty="0" err="1"/>
              <a:t>Xj</a:t>
            </a:r>
            <a:r>
              <a:rPr lang="en-US" baseline="0" dirty="0"/>
              <a:t> </a:t>
            </a:r>
            <a:r>
              <a:rPr lang="en-US" baseline="0" dirty="0" err="1"/>
              <a:t>cos</a:t>
            </a:r>
            <a:r>
              <a:rPr lang="en-US" baseline="0" dirty="0"/>
              <a:t> whatever value is removed from domain of Xi does not satisfy constraint bet Xi and </a:t>
            </a:r>
            <a:r>
              <a:rPr lang="en-US" baseline="0" dirty="0" err="1"/>
              <a:t>Xj</a:t>
            </a:r>
            <a:r>
              <a:rPr lang="en-US" baseline="0" dirty="0"/>
              <a:t> (so domain of </a:t>
            </a:r>
            <a:r>
              <a:rPr lang="en-US" baseline="0" dirty="0" err="1"/>
              <a:t>Xj</a:t>
            </a:r>
            <a:r>
              <a:rPr lang="en-US" baseline="0" dirty="0"/>
              <a:t> not affected); if it satisfies constraint bet Xi and </a:t>
            </a:r>
            <a:r>
              <a:rPr lang="en-US" baseline="0" dirty="0" err="1"/>
              <a:t>Xj</a:t>
            </a:r>
            <a:r>
              <a:rPr lang="en-US" baseline="0" dirty="0"/>
              <a:t> (so domain of </a:t>
            </a:r>
            <a:r>
              <a:rPr lang="en-US" baseline="0" dirty="0" err="1"/>
              <a:t>Xj</a:t>
            </a:r>
            <a:r>
              <a:rPr lang="en-US" baseline="0" dirty="0"/>
              <a:t> affected), this value cannot be removed from domain of Xi.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868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dirty="0" err="1"/>
              <a:t>n</a:t>
            </a:r>
            <a:r>
              <a:rPr lang="en-US" dirty="0"/>
              <a:t> variables</a:t>
            </a:r>
          </a:p>
          <a:p>
            <a:endParaRPr lang="en-US" dirty="0"/>
          </a:p>
          <a:p>
            <a:r>
              <a:rPr lang="en-US" dirty="0"/>
              <a:t>2(a) REVISE can only return true for</a:t>
            </a:r>
            <a:r>
              <a:rPr lang="en-US" baseline="0" dirty="0"/>
              <a:t> arc Xi -&gt; </a:t>
            </a:r>
            <a:r>
              <a:rPr lang="en-US" baseline="0" dirty="0" err="1"/>
              <a:t>Xj</a:t>
            </a:r>
            <a:r>
              <a:rPr lang="en-US" baseline="0" dirty="0"/>
              <a:t> at most </a:t>
            </a:r>
            <a:r>
              <a:rPr lang="en-US" baseline="0" dirty="0" err="1"/>
              <a:t>d</a:t>
            </a:r>
            <a:r>
              <a:rPr lang="en-US" baseline="0" dirty="0"/>
              <a:t> times </a:t>
            </a:r>
            <a:r>
              <a:rPr lang="en-US" baseline="0" dirty="0" err="1"/>
              <a:t>cos</a:t>
            </a:r>
            <a:r>
              <a:rPr lang="en-US" baseline="0" dirty="0"/>
              <a:t> Xi at most </a:t>
            </a:r>
            <a:r>
              <a:rPr lang="en-US" baseline="0" dirty="0" err="1"/>
              <a:t>d</a:t>
            </a:r>
            <a:r>
              <a:rPr lang="en-US" baseline="0" dirty="0"/>
              <a:t> values to delete.</a:t>
            </a:r>
          </a:p>
          <a:p>
            <a:r>
              <a:rPr lang="en-US" baseline="0" dirty="0"/>
              <a:t>2(b) So, total number of arcs inserted into queue is at most n^2 </a:t>
            </a:r>
            <a:r>
              <a:rPr lang="en-US" baseline="0" dirty="0" err="1"/>
              <a:t>d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3. For loop </a:t>
            </a:r>
            <a:r>
              <a:rPr lang="en-US" baseline="0" dirty="0" err="1"/>
              <a:t>x</a:t>
            </a:r>
            <a:r>
              <a:rPr lang="en-US" baseline="0" dirty="0"/>
              <a:t> </a:t>
            </a:r>
            <a:r>
              <a:rPr lang="en-US" baseline="0" dirty="0" err="1"/>
              <a:t>d</a:t>
            </a:r>
            <a:r>
              <a:rPr lang="en-US" baseline="0" dirty="0"/>
              <a:t>, if condition </a:t>
            </a:r>
            <a:r>
              <a:rPr lang="en-US" baseline="0" dirty="0" err="1"/>
              <a:t>x</a:t>
            </a:r>
            <a:r>
              <a:rPr lang="en-US" baseline="0" dirty="0"/>
              <a:t> </a:t>
            </a:r>
            <a:r>
              <a:rPr lang="en-US" baseline="0" dirty="0" err="1"/>
              <a:t>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705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884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2.3. Arithmetic progression: n-1</a:t>
            </a:r>
            <a:r>
              <a:rPr lang="en-US" baseline="0" dirty="0"/>
              <a:t> + n-2 + … + 1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707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 consistency to handle </a:t>
            </a:r>
            <a:r>
              <a:rPr lang="en-US" dirty="0" err="1"/>
              <a:t>n-ary</a:t>
            </a:r>
            <a:r>
              <a:rPr lang="en-US" dirty="0"/>
              <a:t> constraints (not covering here, just need to know they exist):</a:t>
            </a:r>
          </a:p>
          <a:p>
            <a:endParaRPr lang="en-US" dirty="0"/>
          </a:p>
          <a:p>
            <a:r>
              <a:rPr lang="en-US" dirty="0"/>
              <a:t>A variable Z is GAC </a:t>
            </a:r>
            <a:r>
              <a:rPr lang="en-US" dirty="0" err="1"/>
              <a:t>wrt</a:t>
            </a:r>
            <a:r>
              <a:rPr lang="en-US" dirty="0"/>
              <a:t> an </a:t>
            </a:r>
            <a:r>
              <a:rPr lang="en-US" dirty="0" err="1"/>
              <a:t>n-ary</a:t>
            </a:r>
            <a:r>
              <a:rPr lang="en-US" dirty="0"/>
              <a:t> constraint if</a:t>
            </a:r>
            <a:r>
              <a:rPr lang="en-US" baseline="0" dirty="0"/>
              <a:t> for every value </a:t>
            </a:r>
            <a:r>
              <a:rPr lang="en-US" baseline="0" dirty="0" err="1"/>
              <a:t>z</a:t>
            </a:r>
            <a:r>
              <a:rPr lang="en-US" baseline="0" dirty="0"/>
              <a:t> in D_Z, there exists a </a:t>
            </a:r>
            <a:r>
              <a:rPr lang="en-US" baseline="0" dirty="0" err="1"/>
              <a:t>tuple</a:t>
            </a:r>
            <a:r>
              <a:rPr lang="en-US" baseline="0" dirty="0"/>
              <a:t> of values that is a member of the constraint, has all its values taken from the domains of corresponding </a:t>
            </a:r>
            <a:r>
              <a:rPr lang="en-US" baseline="0" dirty="0" err="1"/>
              <a:t>var</a:t>
            </a:r>
            <a:r>
              <a:rPr lang="en-US" baseline="0" dirty="0"/>
              <a:t>, and has its Z = </a:t>
            </a:r>
            <a:r>
              <a:rPr lang="en-US" baseline="0" dirty="0" err="1"/>
              <a:t>z</a:t>
            </a:r>
            <a:r>
              <a:rPr lang="en-US" baseline="0" dirty="0"/>
              <a:t>.</a:t>
            </a:r>
          </a:p>
          <a:p>
            <a:r>
              <a:rPr lang="en-US" baseline="0" dirty="0"/>
              <a:t>e.g., for Z=2 or 3, no </a:t>
            </a:r>
            <a:r>
              <a:rPr lang="en-US" baseline="0" dirty="0" err="1"/>
              <a:t>tuples</a:t>
            </a:r>
            <a:r>
              <a:rPr lang="en-US" baseline="0" dirty="0"/>
              <a:t> of values exist to satisfy </a:t>
            </a:r>
            <a:r>
              <a:rPr lang="en-US" baseline="0" dirty="0" err="1"/>
              <a:t>Alldiff</a:t>
            </a:r>
            <a:r>
              <a:rPr lang="en-US" baseline="0" dirty="0"/>
              <a:t> constraint.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665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332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Variable selection</a:t>
            </a:r>
          </a:p>
          <a:p>
            <a:r>
              <a:rPr lang="en-US" dirty="0"/>
              <a:t>2. Value</a:t>
            </a:r>
            <a:r>
              <a:rPr lang="en-US" baseline="0" dirty="0"/>
              <a:t> selection by min-conflict heuristics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141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5. Average of 50 steps</a:t>
            </a:r>
          </a:p>
          <a:p>
            <a:endParaRPr lang="en-US" dirty="0"/>
          </a:p>
          <a:p>
            <a:r>
              <a:rPr lang="en-US" dirty="0"/>
              <a:t>-----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Runtime</a:t>
            </a:r>
            <a:r>
              <a:rPr lang="en-US" baseline="0" dirty="0"/>
              <a:t> of min-conflicts roughly </a:t>
            </a:r>
            <a:r>
              <a:rPr lang="en-US" baseline="0" dirty="0" err="1"/>
              <a:t>indep</a:t>
            </a:r>
            <a:r>
              <a:rPr lang="en-US" baseline="0" dirty="0"/>
              <a:t> of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27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r>
              <a:rPr lang="en-US" dirty="0"/>
              <a:t>No tutorials</a:t>
            </a:r>
            <a:r>
              <a:rPr lang="en-US" baseline="0" dirty="0"/>
              <a:t> for this coming Mon &amp; Tues (recess week).</a:t>
            </a:r>
          </a:p>
          <a:p>
            <a:pPr marL="228600" indent="-228600">
              <a:buNone/>
            </a:pPr>
            <a:r>
              <a:rPr lang="en-US" baseline="0" dirty="0"/>
              <a:t>Make-up lecture LT19 for CNY, Friday (28 Feb) 2-4pm (recess week).</a:t>
            </a:r>
          </a:p>
          <a:p>
            <a:pPr marL="228600" indent="-228600">
              <a:buNone/>
            </a:pPr>
            <a:r>
              <a:rPr lang="en-US" baseline="0" dirty="0"/>
              <a:t>Midterm exam in the subsequent week after recess week, Friday (7 Mar) 2-4pm during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AC38A-57BD-3F4C-8C07-081859D9DC9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135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Variable selection</a:t>
            </a:r>
          </a:p>
          <a:p>
            <a:r>
              <a:rPr lang="en-US" dirty="0"/>
              <a:t>2. Value</a:t>
            </a:r>
            <a:r>
              <a:rPr lang="en-US" baseline="0" dirty="0"/>
              <a:t> selection by min-conflict heuristics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41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Variable selection</a:t>
            </a:r>
          </a:p>
          <a:p>
            <a:r>
              <a:rPr lang="en-US" dirty="0"/>
              <a:t>2. Value</a:t>
            </a:r>
            <a:r>
              <a:rPr lang="en-US" baseline="0" dirty="0"/>
              <a:t> selection by min-conflict heuristics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67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Variable selection</a:t>
            </a:r>
          </a:p>
          <a:p>
            <a:r>
              <a:rPr lang="en-US" dirty="0"/>
              <a:t>2. Value</a:t>
            </a:r>
            <a:r>
              <a:rPr lang="en-US" baseline="0" dirty="0"/>
              <a:t> selection by min-conflict heuristics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548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Variable selection</a:t>
            </a:r>
          </a:p>
          <a:p>
            <a:r>
              <a:rPr lang="en-US" dirty="0"/>
              <a:t>2. Value</a:t>
            </a:r>
            <a:r>
              <a:rPr lang="en-US" baseline="0" dirty="0"/>
              <a:t> selection by min-conflict heuristics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632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Variable selection</a:t>
            </a:r>
          </a:p>
          <a:p>
            <a:r>
              <a:rPr lang="en-US" dirty="0"/>
              <a:t>2. Value</a:t>
            </a:r>
            <a:r>
              <a:rPr lang="en-US" baseline="0" dirty="0"/>
              <a:t> selection by min-conflict heuristics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185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Variable selection</a:t>
            </a:r>
          </a:p>
          <a:p>
            <a:r>
              <a:rPr lang="en-US" dirty="0"/>
              <a:t>2. Value</a:t>
            </a:r>
            <a:r>
              <a:rPr lang="en-US" baseline="0" dirty="0"/>
              <a:t> selection by min-conflict heuristics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7FE78-0420-CE4B-B975-75C0F4657B5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2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2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GB" altLang="en-US" noProof="0"/>
              <a:t>Click to edit Master title style</a:t>
            </a:r>
            <a:endParaRPr lang="en-US" altLang="en-US" noProof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GB" altLang="en-US" noProof="0"/>
              <a:t>Click to edit Master subtitle style</a:t>
            </a:r>
            <a:endParaRPr lang="en-US" altLang="en-US" noProof="0"/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 sz="1800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2641602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800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1480800" y="6400800"/>
            <a:ext cx="71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919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3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9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90600"/>
            <a:ext cx="5384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90600"/>
            <a:ext cx="5384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21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1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1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1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1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7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2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6"/>
            <a:ext cx="2743200" cy="619918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6"/>
            <a:ext cx="8026400" cy="619918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6"/>
            <a:ext cx="10972800" cy="71278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990600"/>
            <a:ext cx="10972800" cy="5486400"/>
          </a:xfrm>
        </p:spPr>
        <p:txBody>
          <a:bodyPr/>
          <a:lstStyle/>
          <a:p>
            <a:r>
              <a:rPr lang="en-GB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1480800" y="6400800"/>
            <a:ext cx="711200" cy="457200"/>
          </a:xfrm>
        </p:spPr>
        <p:txBody>
          <a:bodyPr/>
          <a:lstStyle>
            <a:lvl1pPr>
              <a:defRPr/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0" y="6521450"/>
            <a:ext cx="59944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74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2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GB" altLang="en-US" noProof="0"/>
              <a:t>Click to edit Master title style</a:t>
            </a:r>
            <a:endParaRPr lang="en-US" altLang="en-US" noProof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GB" altLang="en-US" noProof="0"/>
              <a:t>Click to edit Master subtitle style</a:t>
            </a:r>
            <a:endParaRPr lang="en-US" altLang="en-US" noProof="0"/>
          </a:p>
        </p:txBody>
      </p:sp>
      <p:sp>
        <p:nvSpPr>
          <p:cNvPr id="36868" name="Freeform 4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2641602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3979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D8D79-08E0-48CA-9203-A37DB9B01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18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0D621-3521-4C00-9508-D1BF9CF0F0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8053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53848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3848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0D4CE2-6DBC-47F2-BC92-D26F595DC3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029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94941A-1381-426D-8678-8110645A46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6674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037F2-F589-6C47-BEEA-57FDCEB8E4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80800" y="6400800"/>
            <a:ext cx="71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448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1B1802-8301-4F2A-8DDB-CE880733FF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148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C0C41C-3BFF-4F00-9103-6A74971BCA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7594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3FA90-484E-4DE3-B424-C392F04A17A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43681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736A7-1CF8-489E-892E-251703C596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5032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63246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63246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DB63F7-3E41-4A34-957B-2A3C4747AE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94881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 algn="ctr">
              <a:buNone/>
              <a:defRPr sz="2100"/>
            </a:lvl2pPr>
            <a:lvl3pPr marL="685783" indent="0" algn="ctr">
              <a:buNone/>
              <a:defRPr sz="1800"/>
            </a:lvl3pPr>
            <a:lvl4pPr marL="1028674" indent="0" algn="ctr">
              <a:buNone/>
              <a:defRPr sz="1500"/>
            </a:lvl4pPr>
            <a:lvl5pPr marL="1371566" indent="0" algn="ctr">
              <a:buNone/>
              <a:defRPr sz="1500"/>
            </a:lvl5pPr>
            <a:lvl6pPr marL="1714457" indent="0" algn="ctr">
              <a:buNone/>
              <a:defRPr sz="1500"/>
            </a:lvl6pPr>
            <a:lvl7pPr marL="2057349" indent="0" algn="ctr">
              <a:buNone/>
              <a:defRPr sz="1500"/>
            </a:lvl7pPr>
            <a:lvl8pPr marL="2400240" indent="0" algn="ctr">
              <a:buNone/>
              <a:defRPr sz="1500"/>
            </a:lvl8pPr>
            <a:lvl9pPr marL="2743131" indent="0" algn="ctr">
              <a:buNone/>
              <a:defRPr sz="15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242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91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880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503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756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157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735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191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199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166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1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6"/>
            <a:ext cx="109728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90600"/>
            <a:ext cx="109728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80800" y="6400800"/>
            <a:ext cx="71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75F0208-B501-1940-A7C0-92DF3AA3486D}" type="slidenum">
              <a:rPr lang="en-US" smtClean="0"/>
              <a:t>‹#›</a:t>
            </a:fld>
            <a:endParaRPr 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 sz="1800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609600" y="66294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 sz="180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12800" y="6521450"/>
            <a:ext cx="29464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99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09" indent="-325431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25" indent="-35083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17" indent="-31590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21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09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498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686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875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109728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0"/>
            <a:ext cx="109728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35844" name="Freeform 4"/>
          <p:cNvSpPr>
            <a:spLocks noChangeArrowheads="1"/>
          </p:cNvSpPr>
          <p:nvPr/>
        </p:nvSpPr>
        <p:spPr bwMode="auto">
          <a:xfrm>
            <a:off x="508000" y="152400"/>
            <a:ext cx="109728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609600" y="66294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629400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50000"/>
              </a:lnSpc>
              <a:defRPr sz="1400"/>
            </a:lvl1pPr>
          </a:lstStyle>
          <a:p>
            <a:fld id="{340BAAAD-52D6-4FB3-AB55-71C64A1E2A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1200" y="6553200"/>
            <a:ext cx="2540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2"/>
                </a:solidFill>
                <a:latin typeface="Arial Black" pitchFamily="34" charset="0"/>
              </a:defRPr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19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09" indent="-325431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25" indent="-35083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17" indent="-31590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21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09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498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686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875" indent="-33971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0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spcBef>
          <a:spcPct val="20000"/>
        </a:spcBef>
        <a:buFont typeface="Wingdings 2" pitchFamily="18" charset="2"/>
        <a:buChar char="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20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20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2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30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30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3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8.png"/><Relationship Id="rId21" Type="http://schemas.openxmlformats.org/officeDocument/2006/relationships/image" Target="../media/image48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40.xml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40.xml"/><Relationship Id="rId5" Type="http://schemas.openxmlformats.org/officeDocument/2006/relationships/diagramLayout" Target="../diagrams/layout4.xml"/><Relationship Id="rId15" Type="http://schemas.openxmlformats.org/officeDocument/2006/relationships/image" Target="../media/image42.png"/><Relationship Id="rId10" Type="http://schemas.openxmlformats.org/officeDocument/2006/relationships/diagramLayout" Target="../diagrams/layout40.xml"/><Relationship Id="rId19" Type="http://schemas.openxmlformats.org/officeDocument/2006/relationships/image" Target="../media/image46.png"/><Relationship Id="rId4" Type="http://schemas.openxmlformats.org/officeDocument/2006/relationships/diagramData" Target="../diagrams/data6.xml"/><Relationship Id="rId9" Type="http://schemas.openxmlformats.org/officeDocument/2006/relationships/diagramData" Target="../diagrams/data7.xml"/><Relationship Id="rId1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50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50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5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99B68-287C-FA4D-B67F-91369F86E5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IT5005</a:t>
            </a:r>
            <a:br>
              <a:rPr lang="en-US" altLang="en-US" b="1" dirty="0">
                <a:solidFill>
                  <a:srgbClr val="C00000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Artificial Intelligence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CED21-3B30-7E45-9162-7839221A64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Lecture 8: </a:t>
            </a:r>
            <a:r>
              <a:rPr lang="en-US" altLang="en-US" dirty="0"/>
              <a:t>Constraint Satisfaction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94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1" y="228601"/>
            <a:ext cx="7704667" cy="758297"/>
          </a:xfrm>
        </p:spPr>
        <p:txBody>
          <a:bodyPr/>
          <a:lstStyle/>
          <a:p>
            <a:r>
              <a:rPr lang="en-US" dirty="0"/>
              <a:t>Previously…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520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746248" y="1051985"/>
                <a:ext cx="7921752" cy="525780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3027" dirty="0" err="1">
                    <a:latin typeface="Corbel" panose="020B0503020204020204" pitchFamily="34" charset="0"/>
                    <a:cs typeface="Times"/>
                  </a:rPr>
                  <a:t>Minimax</a:t>
                </a:r>
                <a:r>
                  <a:rPr lang="en-US" sz="3027" dirty="0">
                    <a:latin typeface="Corbel" panose="020B0503020204020204" pitchFamily="34" charset="0"/>
                    <a:cs typeface="Times"/>
                  </a:rPr>
                  <a:t> algorithm</a:t>
                </a: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2162" dirty="0">
                    <a:latin typeface="Corbel" panose="020B0503020204020204" pitchFamily="34" charset="0"/>
                    <a:cs typeface="Times"/>
                  </a:rPr>
                  <a:t>What if MIN plays sub-optimally and MAX plays MINIMAX strategy?</a:t>
                </a: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2162" dirty="0">
                    <a:latin typeface="Corbel" panose="020B0503020204020204" pitchFamily="34" charset="0"/>
                    <a:cs typeface="Times"/>
                  </a:rPr>
                  <a:t>Generalize to non-zero-sum, multi-player game?</a:t>
                </a:r>
                <a:br>
                  <a:rPr lang="en-US" sz="2162" dirty="0">
                    <a:latin typeface="Corbel" panose="020B0503020204020204" pitchFamily="34" charset="0"/>
                    <a:cs typeface="Times"/>
                  </a:rPr>
                </a:br>
                <a:r>
                  <a:rPr lang="en-US" sz="2162" dirty="0">
                    <a:latin typeface="Corbel" panose="020B0503020204020204" pitchFamily="34" charset="0"/>
                    <a:cs typeface="Times"/>
                  </a:rPr>
                  <a:t>See section 5.2.2 of AIMA 3rd Ed.</a:t>
                </a:r>
              </a:p>
              <a:p>
                <a:pPr>
                  <a:lnSpc>
                    <a:spcPct val="11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3027" i="1" dirty="0">
                        <a:latin typeface="Cambria Math" panose="02040503050406030204" pitchFamily="18" charset="0"/>
                        <a:cs typeface="Times"/>
                      </a:rPr>
                      <m:t>𝛼</m:t>
                    </m:r>
                  </m:oMath>
                </a14:m>
                <a:r>
                  <a:rPr lang="en-US" sz="3027" dirty="0" err="1">
                    <a:latin typeface="Corbel" panose="020B0503020204020204" pitchFamily="34" charset="0"/>
                    <a:cs typeface="Times"/>
                  </a:rPr>
                  <a:t>-</a:t>
                </a:r>
                <a14:m>
                  <m:oMath xmlns:m="http://schemas.openxmlformats.org/officeDocument/2006/math">
                    <m:r>
                      <a:rPr lang="en-US" sz="3027" i="1" dirty="0">
                        <a:latin typeface="Cambria Math" panose="02040503050406030204" pitchFamily="18" charset="0"/>
                        <a:cs typeface="Times"/>
                      </a:rPr>
                      <m:t>𝛽</m:t>
                    </m:r>
                  </m:oMath>
                </a14:m>
                <a:r>
                  <a:rPr lang="en-US" sz="3027" dirty="0">
                    <a:latin typeface="Corbel" panose="020B0503020204020204" pitchFamily="34" charset="0"/>
                    <a:cs typeface="Times"/>
                  </a:rPr>
                  <a:t> pruning algorithm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en-US" sz="2162" dirty="0">
                    <a:latin typeface="Corbel" panose="020B0503020204020204" pitchFamily="34" charset="0"/>
                    <a:cs typeface="Times"/>
                  </a:rPr>
                  <a:t>Prune </a:t>
                </a:r>
                <a:r>
                  <a:rPr lang="en-US" sz="2162" dirty="0" err="1">
                    <a:latin typeface="Corbel" panose="020B0503020204020204" pitchFamily="34" charset="0"/>
                    <a:cs typeface="Times"/>
                  </a:rPr>
                  <a:t>subtrees</a:t>
                </a:r>
                <a:r>
                  <a:rPr lang="en-US" sz="2162" dirty="0">
                    <a:latin typeface="Corbel" panose="020B0503020204020204" pitchFamily="34" charset="0"/>
                    <a:cs typeface="Times"/>
                  </a:rPr>
                  <a:t> that won’t affect </a:t>
                </a:r>
                <a:r>
                  <a:rPr lang="en-US" sz="2162" dirty="0" err="1">
                    <a:latin typeface="Corbel" panose="020B0503020204020204" pitchFamily="34" charset="0"/>
                    <a:cs typeface="Times"/>
                  </a:rPr>
                  <a:t>minimax</a:t>
                </a:r>
                <a:r>
                  <a:rPr lang="en-US" sz="2162" dirty="0">
                    <a:latin typeface="Corbel" panose="020B0503020204020204" pitchFamily="34" charset="0"/>
                    <a:cs typeface="Times"/>
                  </a:rPr>
                  <a:t> decision</a:t>
                </a:r>
              </a:p>
              <a:p>
                <a:pPr>
                  <a:lnSpc>
                    <a:spcPct val="11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3027" i="1" dirty="0">
                        <a:latin typeface="Cambria Math" panose="02040503050406030204" pitchFamily="18" charset="0"/>
                        <a:cs typeface="Times"/>
                      </a:rPr>
                      <m:t>𝐻</m:t>
                    </m:r>
                  </m:oMath>
                </a14:m>
                <a:r>
                  <a:rPr lang="en-US" sz="3027" dirty="0">
                    <a:latin typeface="Corbel" panose="020B0503020204020204" pitchFamily="34" charset="0"/>
                    <a:cs typeface="Times"/>
                  </a:rPr>
                  <a:t>-</a:t>
                </a:r>
                <a:r>
                  <a:rPr lang="en-US" sz="3027" dirty="0" err="1">
                    <a:latin typeface="Corbel" panose="020B0503020204020204" pitchFamily="34" charset="0"/>
                    <a:cs typeface="Times"/>
                  </a:rPr>
                  <a:t>Minimax</a:t>
                </a:r>
                <a:r>
                  <a:rPr lang="en-US" sz="3027" dirty="0">
                    <a:latin typeface="Corbel" panose="020B0503020204020204" pitchFamily="34" charset="0"/>
                    <a:cs typeface="Times"/>
                  </a:rPr>
                  <a:t> algorithm 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en-US" sz="2162" dirty="0">
                    <a:latin typeface="Corbel" panose="020B0503020204020204" pitchFamily="34" charset="0"/>
                    <a:cs typeface="Times"/>
                  </a:rPr>
                  <a:t>Use heuristic functions and impose depth limit</a:t>
                </a:r>
              </a:p>
              <a:p>
                <a:pPr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en-US" sz="3027" dirty="0">
                    <a:latin typeface="Corbel" panose="020B0503020204020204" pitchFamily="34" charset="0"/>
                    <a:cs typeface="Times"/>
                  </a:rPr>
                  <a:t>Expected Minimax algorithm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en-US" sz="2162" dirty="0">
                    <a:latin typeface="Corbel" panose="020B0503020204020204" pitchFamily="34" charset="0"/>
                    <a:cs typeface="Times"/>
                  </a:rPr>
                  <a:t>Solve stochastic games</a:t>
                </a:r>
              </a:p>
            </p:txBody>
          </p:sp>
        </mc:Choice>
        <mc:Fallback xmlns="">
          <p:sp>
            <p:nvSpPr>
              <p:cNvPr id="4352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6248" y="1051985"/>
                <a:ext cx="7921752" cy="5257800"/>
              </a:xfrm>
              <a:blipFill>
                <a:blip r:embed="rId3"/>
                <a:stretch>
                  <a:fillRect l="-480" t="-966" r="-6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3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1" y="228601"/>
            <a:ext cx="7704667" cy="758297"/>
          </a:xfrm>
        </p:spPr>
        <p:txBody>
          <a:bodyPr/>
          <a:lstStyle/>
          <a:p>
            <a:r>
              <a:rPr lang="en-US" dirty="0"/>
              <a:t>Previously…</a:t>
            </a:r>
          </a:p>
        </p:txBody>
      </p:sp>
      <p:sp>
        <p:nvSpPr>
          <p:cNvPr id="435203" name="Rectangle 3"/>
          <p:cNvSpPr>
            <a:spLocks noGrp="1" noChangeArrowheads="1"/>
          </p:cNvSpPr>
          <p:nvPr>
            <p:ph idx="1"/>
          </p:nvPr>
        </p:nvSpPr>
        <p:spPr>
          <a:xfrm>
            <a:off x="2746248" y="1051985"/>
            <a:ext cx="7921752" cy="52578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3027" dirty="0">
                <a:latin typeface="Corbel" panose="020B0503020204020204" pitchFamily="34" charset="0"/>
                <a:cs typeface="Times"/>
              </a:rPr>
              <a:t>Neural Networks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162" dirty="0">
                <a:latin typeface="Corbel" panose="020B0503020204020204" pitchFamily="34" charset="0"/>
                <a:cs typeface="Times"/>
              </a:rPr>
              <a:t>Application of gradient descent to minimize errors in the estimation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52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Constraint Satisfaction Problems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AIMA Chapter 6.1 – 6.4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Constraint satisfaction problems (</a:t>
            </a:r>
            <a:r>
              <a:rPr lang="en-US" sz="3200" dirty="0" err="1">
                <a:latin typeface="Corbel" panose="020B0503020204020204" pitchFamily="34" charset="0"/>
                <a:cs typeface="Times"/>
              </a:rPr>
              <a:t>CSPs</a:t>
            </a:r>
            <a:r>
              <a:rPr lang="en-US" sz="3200" dirty="0">
                <a:latin typeface="Corbel" panose="020B0503020204020204" pitchFamily="34" charset="0"/>
                <a:cs typeface="Times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Backtracking search for </a:t>
            </a:r>
            <a:r>
              <a:rPr lang="en-US" sz="3200" dirty="0" err="1">
                <a:latin typeface="Corbel" panose="020B0503020204020204" pitchFamily="34" charset="0"/>
                <a:cs typeface="Times"/>
              </a:rPr>
              <a:t>CSPs</a:t>
            </a:r>
            <a:endParaRPr lang="en-US" sz="3200" dirty="0">
              <a:latin typeface="Corbel" panose="020B0503020204020204" pitchFamily="34" charset="0"/>
              <a:cs typeface="Times"/>
            </a:endParaRPr>
          </a:p>
          <a:p>
            <a:pPr>
              <a:spcBef>
                <a:spcPts val="1200"/>
              </a:spcBef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Local consistency in constraint propagation</a:t>
            </a:r>
          </a:p>
          <a:p>
            <a:pPr>
              <a:spcBef>
                <a:spcPts val="1200"/>
              </a:spcBef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Local search for CSPs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6648" y="152400"/>
            <a:ext cx="8915400" cy="1063098"/>
          </a:xfrm>
        </p:spPr>
        <p:txBody>
          <a:bodyPr>
            <a:normAutofit/>
          </a:bodyPr>
          <a:lstStyle/>
          <a:p>
            <a:r>
              <a:rPr lang="en-US" sz="3600" dirty="0"/>
              <a:t>CSP: a Broad Modelling Framework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</p:nvPr>
        </p:nvGraphicFramePr>
        <p:xfrm>
          <a:off x="2438400" y="1032936"/>
          <a:ext cx="81534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81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6648" y="152400"/>
            <a:ext cx="8915400" cy="1063098"/>
          </a:xfrm>
        </p:spPr>
        <p:txBody>
          <a:bodyPr>
            <a:normAutofit/>
          </a:bodyPr>
          <a:lstStyle/>
          <a:p>
            <a:r>
              <a:rPr lang="en-US" sz="3600" dirty="0"/>
              <a:t>Constraint Satisfaction Problems (</a:t>
            </a:r>
            <a:r>
              <a:rPr lang="en-US" sz="3600" dirty="0" err="1"/>
              <a:t>CSPs</a:t>
            </a:r>
            <a:r>
              <a:rPr lang="en-US" sz="36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966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438400" y="1032936"/>
                <a:ext cx="8153400" cy="52578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Standard search problem:</a:t>
                </a: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state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is atomic – any data structure that supports transition function, heuristic function, and goal test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CSP</a:t>
                </a: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Variables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,…,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; each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has a domain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>
                  <a:latin typeface="Corbel" panose="020B0503020204020204" pitchFamily="34" charset="0"/>
                  <a:cs typeface="Times"/>
                </a:endParaRP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Constraints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: what variable combinations are allowed? </a:t>
                </a:r>
              </a:p>
              <a:p>
                <a:pPr lvl="2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Constraint scope: which variables are involved </a:t>
                </a:r>
              </a:p>
              <a:p>
                <a:pPr lvl="2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>
                    <a:latin typeface="Corbel" panose="020B0503020204020204" pitchFamily="34" charset="0"/>
                    <a:cs typeface="Times"/>
                  </a:rPr>
                  <a:t>Constraint </a:t>
                </a:r>
                <a:r>
                  <a:rPr lang="en-US" dirty="0">
                    <a:latin typeface="Corbel" panose="020B0503020204020204" pitchFamily="34" charset="0"/>
                    <a:cs typeface="Times"/>
                  </a:rPr>
                  <a:t>relation: what is the relation between them.</a:t>
                </a: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Objective: find a legal assignment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of values to variables</a:t>
                </a:r>
              </a:p>
              <a:p>
                <a:pPr lvl="2">
                  <a:lnSpc>
                    <a:spcPct val="11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Times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orbel" panose="020B0503020204020204" pitchFamily="34" charset="0"/>
                    <a:cs typeface="Times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cs typeface="Times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"/>
                          </a:rPr>
                          <m:t>𝑛</m:t>
                        </m:r>
                      </m:e>
                    </m:d>
                  </m:oMath>
                </a14:m>
                <a:endParaRPr lang="en-US" dirty="0">
                  <a:latin typeface="Corbel" panose="020B0503020204020204" pitchFamily="34" charset="0"/>
                  <a:cs typeface="Times"/>
                </a:endParaRPr>
              </a:p>
              <a:p>
                <a:pPr lvl="2">
                  <a:lnSpc>
                    <a:spcPct val="110000"/>
                  </a:lnSpc>
                  <a:spcBef>
                    <a:spcPts val="6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Constraints are all satisfied.</a:t>
                </a:r>
              </a:p>
            </p:txBody>
          </p:sp>
        </mc:Choice>
        <mc:Fallback xmlns="">
          <p:sp>
            <p:nvSpPr>
              <p:cNvPr id="3696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38400" y="1032936"/>
                <a:ext cx="8153400" cy="5257800"/>
              </a:xfrm>
              <a:blipFill>
                <a:blip r:embed="rId3"/>
                <a:stretch>
                  <a:fillRect l="-467" t="-1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6134" y="92076"/>
            <a:ext cx="7704667" cy="898525"/>
          </a:xfrm>
        </p:spPr>
        <p:txBody>
          <a:bodyPr/>
          <a:lstStyle/>
          <a:p>
            <a:r>
              <a:rPr lang="en-US" dirty="0"/>
              <a:t>Example: Graph Coloring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70691" name="Picture 3" descr="australi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32127" y="1127760"/>
            <a:ext cx="3781425" cy="31242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379111" y="5124927"/>
              <a:ext cx="7748427" cy="12720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958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Variables: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sz="2000" dirty="0" smtClean="0">
                                  <a:latin typeface="Cambria Math" charset="0"/>
                                </a:rPr>
                                <m:t>=</m:t>
                              </m:r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𝑊𝐴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, 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𝑁𝑇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, 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𝑄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, 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𝑁𝑆𝑊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, 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𝑉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, 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𝑆𝐴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, </m:t>
                                  </m:r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b="0" i="1" dirty="0">
                              <a:latin typeface="Corbel" panose="020B0503020204020204" pitchFamily="34" charset="0"/>
                              <a:cs typeface="Times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Domains: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latin typeface="Cambria Math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smtClean="0">
                                  <a:latin typeface="Cambria Math" charset="0"/>
                                </a:rPr>
                                <m:t>={</m:t>
                              </m:r>
                              <m:r>
                                <a:rPr lang="en-US" sz="2000" smtClean="0">
                                  <a:latin typeface="Cambria Math" charset="0"/>
                                </a:rPr>
                                <m:t>𝑅</m:t>
                              </m:r>
                              <m:r>
                                <a:rPr lang="en-US" sz="2000" smtClean="0"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en-US" sz="2000" smtClean="0">
                                  <a:latin typeface="Cambria Math" charset="0"/>
                                </a:rPr>
                                <m:t>𝐺</m:t>
                              </m:r>
                              <m:r>
                                <a:rPr lang="en-US" sz="2000" smtClean="0"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en-US" sz="2000" smtClean="0">
                                  <a:latin typeface="Cambria Math" charset="0"/>
                                </a:rPr>
                                <m:t>𝐵</m:t>
                              </m:r>
                              <m:r>
                                <a:rPr lang="en-US" sz="2000" smtClean="0">
                                  <a:latin typeface="Cambria Math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Constraints: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If</a:t>
                          </a:r>
                          <a:r>
                            <a:rPr lang="en-US" sz="20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aseline="0" smtClean="0">
                                      <a:latin typeface="Cambria Math" charset="0"/>
                                    </a:rPr>
                                    <m:t>(</m:t>
                                  </m:r>
                                  <m:r>
                                    <a:rPr lang="en-US" sz="2000" baseline="0" smtClean="0">
                                      <a:latin typeface="Cambria Math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baseline="0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aseline="0" smtClean="0">
                                  <a:latin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aseline="0" smtClean="0">
                                      <a:latin typeface="Cambria Math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baseline="0" smtClean="0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000" baseline="0" smtClean="0">
                                  <a:latin typeface="Cambria Math" charset="0"/>
                                </a:rPr>
                                <m:t>)∈</m:t>
                              </m:r>
                              <m:r>
                                <a:rPr lang="en-US" sz="2000" baseline="0" smtClean="0">
                                  <a:latin typeface="Cambria Math" charset="0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sz="2000" dirty="0"/>
                            <a:t> then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charset="0"/>
                                </a:rPr>
                                <m:t>𝑐𝑜𝑙𝑜𝑟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smtClean="0">
                                          <a:latin typeface="Cambria Math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000" smtClean="0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smtClean="0">
                                  <a:latin typeface="Cambria Math" charset="0"/>
                                </a:rPr>
                                <m:t> ≠</m:t>
                              </m:r>
                              <m:r>
                                <a:rPr lang="en-US" sz="2000" smtClean="0">
                                  <a:latin typeface="Cambria Math" charset="0"/>
                                </a:rPr>
                                <m:t>𝑐𝑜𝑙𝑜𝑟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smtClean="0">
                                          <a:latin typeface="Cambria Math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000" smtClean="0">
                                          <a:latin typeface="Cambria Math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379111" y="5124927"/>
              <a:ext cx="7748427" cy="12720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958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33261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Variables: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387" t="-20588" r="-211" b="-2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Domains: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387" t="-128125" r="-211" b="-13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2595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Constraints: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9387" t="-208571" r="-211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6013551" y="1770698"/>
                <a:ext cx="1093470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𝑾𝑨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551" y="1770698"/>
                <a:ext cx="1093470" cy="6096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/>
              <p:cNvSpPr/>
              <p:nvPr/>
            </p:nvSpPr>
            <p:spPr>
              <a:xfrm>
                <a:off x="7411821" y="1033463"/>
                <a:ext cx="1066800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𝑵𝑻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821" y="1033463"/>
                <a:ext cx="1066800" cy="6096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/>
              <p:cNvSpPr/>
              <p:nvPr/>
            </p:nvSpPr>
            <p:spPr>
              <a:xfrm>
                <a:off x="9012021" y="1207698"/>
                <a:ext cx="1066800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ounded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021" y="1207698"/>
                <a:ext cx="1066800" cy="6096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8924114" y="2221231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𝑵𝑺𝑾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114" y="2221231"/>
                <a:ext cx="1242617" cy="6096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/>
              <p:cNvSpPr/>
              <p:nvPr/>
            </p:nvSpPr>
            <p:spPr>
              <a:xfrm>
                <a:off x="8752942" y="3220951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ounded 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942" y="3220951"/>
                <a:ext cx="1242617" cy="6096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/>
              <p:cNvSpPr/>
              <p:nvPr/>
            </p:nvSpPr>
            <p:spPr>
              <a:xfrm>
                <a:off x="6573622" y="2760345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𝑺𝑨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ounded 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622" y="2760345"/>
                <a:ext cx="1242617" cy="60960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/>
              <p:cNvSpPr/>
              <p:nvPr/>
            </p:nvSpPr>
            <p:spPr>
              <a:xfrm>
                <a:off x="7129882" y="3661410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ounded 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882" y="3661410"/>
                <a:ext cx="1242617" cy="60960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>
            <a:stCxn id="5" idx="0"/>
            <a:endCxn id="16" idx="1"/>
          </p:cNvCxnSpPr>
          <p:nvPr/>
        </p:nvCxnSpPr>
        <p:spPr>
          <a:xfrm flipV="1">
            <a:off x="6560287" y="1338264"/>
            <a:ext cx="851535" cy="4324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5" idx="2"/>
            <a:endCxn id="20" idx="0"/>
          </p:cNvCxnSpPr>
          <p:nvPr/>
        </p:nvCxnSpPr>
        <p:spPr>
          <a:xfrm>
            <a:off x="6560286" y="2380299"/>
            <a:ext cx="634644" cy="3800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0" idx="0"/>
            <a:endCxn id="16" idx="2"/>
          </p:cNvCxnSpPr>
          <p:nvPr/>
        </p:nvCxnSpPr>
        <p:spPr>
          <a:xfrm flipV="1">
            <a:off x="7194931" y="1643063"/>
            <a:ext cx="750291" cy="11172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6" idx="3"/>
            <a:endCxn id="17" idx="1"/>
          </p:cNvCxnSpPr>
          <p:nvPr/>
        </p:nvCxnSpPr>
        <p:spPr>
          <a:xfrm>
            <a:off x="8478621" y="1338264"/>
            <a:ext cx="533400" cy="1742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0" idx="3"/>
            <a:endCxn id="17" idx="1"/>
          </p:cNvCxnSpPr>
          <p:nvPr/>
        </p:nvCxnSpPr>
        <p:spPr>
          <a:xfrm flipV="1">
            <a:off x="7816239" y="1512499"/>
            <a:ext cx="1195783" cy="15526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0" idx="3"/>
            <a:endCxn id="18" idx="1"/>
          </p:cNvCxnSpPr>
          <p:nvPr/>
        </p:nvCxnSpPr>
        <p:spPr>
          <a:xfrm flipV="1">
            <a:off x="7816239" y="2526031"/>
            <a:ext cx="1107875" cy="5391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8" idx="0"/>
            <a:endCxn id="17" idx="2"/>
          </p:cNvCxnSpPr>
          <p:nvPr/>
        </p:nvCxnSpPr>
        <p:spPr>
          <a:xfrm flipH="1" flipV="1">
            <a:off x="9545422" y="1817299"/>
            <a:ext cx="1" cy="4039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9" idx="0"/>
            <a:endCxn id="18" idx="2"/>
          </p:cNvCxnSpPr>
          <p:nvPr/>
        </p:nvCxnSpPr>
        <p:spPr>
          <a:xfrm flipV="1">
            <a:off x="9374250" y="2830831"/>
            <a:ext cx="171172" cy="39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20" idx="3"/>
            <a:endCxn id="19" idx="1"/>
          </p:cNvCxnSpPr>
          <p:nvPr/>
        </p:nvCxnSpPr>
        <p:spPr>
          <a:xfrm>
            <a:off x="7816239" y="3065145"/>
            <a:ext cx="936703" cy="4606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6134" y="92076"/>
            <a:ext cx="7704667" cy="898525"/>
          </a:xfrm>
        </p:spPr>
        <p:txBody>
          <a:bodyPr/>
          <a:lstStyle/>
          <a:p>
            <a:r>
              <a:rPr lang="en-US" dirty="0"/>
              <a:t>Example: Graph Coloring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70691" name="Picture 3" descr="australia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32127" y="1127760"/>
            <a:ext cx="3781425" cy="31242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6013551" y="1770698"/>
                <a:ext cx="1093470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𝑾𝑨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551" y="1770698"/>
                <a:ext cx="1093470" cy="6096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/>
              <p:cNvSpPr/>
              <p:nvPr/>
            </p:nvSpPr>
            <p:spPr>
              <a:xfrm>
                <a:off x="7411821" y="1033463"/>
                <a:ext cx="1066800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𝑵𝑻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821" y="1033463"/>
                <a:ext cx="1066800" cy="6096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/>
              <p:cNvSpPr/>
              <p:nvPr/>
            </p:nvSpPr>
            <p:spPr>
              <a:xfrm>
                <a:off x="9012021" y="1207698"/>
                <a:ext cx="1066800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ounded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021" y="1207698"/>
                <a:ext cx="1066800" cy="6096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8924114" y="2221231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𝑵𝑺𝑾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4114" y="2221231"/>
                <a:ext cx="1242617" cy="6096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/>
              <p:cNvSpPr/>
              <p:nvPr/>
            </p:nvSpPr>
            <p:spPr>
              <a:xfrm>
                <a:off x="8752942" y="3220951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ounded 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942" y="3220951"/>
                <a:ext cx="1242617" cy="6096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/>
              <p:cNvSpPr/>
              <p:nvPr/>
            </p:nvSpPr>
            <p:spPr>
              <a:xfrm>
                <a:off x="6573622" y="2760345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𝑺𝑨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ounded 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622" y="2760345"/>
                <a:ext cx="1242617" cy="6096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/>
              <p:cNvSpPr/>
              <p:nvPr/>
            </p:nvSpPr>
            <p:spPr>
              <a:xfrm>
                <a:off x="7129882" y="3661410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ounded 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882" y="3661410"/>
                <a:ext cx="1242617" cy="60960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>
            <a:stCxn id="5" idx="0"/>
            <a:endCxn id="16" idx="1"/>
          </p:cNvCxnSpPr>
          <p:nvPr/>
        </p:nvCxnSpPr>
        <p:spPr>
          <a:xfrm flipV="1">
            <a:off x="6560287" y="1338264"/>
            <a:ext cx="851535" cy="4324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5" idx="2"/>
            <a:endCxn id="20" idx="0"/>
          </p:cNvCxnSpPr>
          <p:nvPr/>
        </p:nvCxnSpPr>
        <p:spPr>
          <a:xfrm>
            <a:off x="6560286" y="2380299"/>
            <a:ext cx="634644" cy="3800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0" idx="0"/>
            <a:endCxn id="16" idx="2"/>
          </p:cNvCxnSpPr>
          <p:nvPr/>
        </p:nvCxnSpPr>
        <p:spPr>
          <a:xfrm flipV="1">
            <a:off x="7194931" y="1643063"/>
            <a:ext cx="750291" cy="11172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6" idx="3"/>
            <a:endCxn id="17" idx="1"/>
          </p:cNvCxnSpPr>
          <p:nvPr/>
        </p:nvCxnSpPr>
        <p:spPr>
          <a:xfrm>
            <a:off x="8478621" y="1338264"/>
            <a:ext cx="533400" cy="1742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0" idx="3"/>
            <a:endCxn id="17" idx="1"/>
          </p:cNvCxnSpPr>
          <p:nvPr/>
        </p:nvCxnSpPr>
        <p:spPr>
          <a:xfrm flipV="1">
            <a:off x="7816239" y="1512499"/>
            <a:ext cx="1195783" cy="15526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0" idx="3"/>
            <a:endCxn id="18" idx="1"/>
          </p:cNvCxnSpPr>
          <p:nvPr/>
        </p:nvCxnSpPr>
        <p:spPr>
          <a:xfrm flipV="1">
            <a:off x="7816239" y="2526031"/>
            <a:ext cx="1107875" cy="5391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8" idx="0"/>
            <a:endCxn id="17" idx="2"/>
          </p:cNvCxnSpPr>
          <p:nvPr/>
        </p:nvCxnSpPr>
        <p:spPr>
          <a:xfrm flipH="1" flipV="1">
            <a:off x="9545422" y="1817299"/>
            <a:ext cx="1" cy="4039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9" idx="0"/>
            <a:endCxn id="18" idx="2"/>
          </p:cNvCxnSpPr>
          <p:nvPr/>
        </p:nvCxnSpPr>
        <p:spPr>
          <a:xfrm flipV="1">
            <a:off x="9374250" y="2830831"/>
            <a:ext cx="171172" cy="39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20" idx="3"/>
            <a:endCxn id="19" idx="1"/>
          </p:cNvCxnSpPr>
          <p:nvPr/>
        </p:nvCxnSpPr>
        <p:spPr>
          <a:xfrm>
            <a:off x="7816239" y="3065145"/>
            <a:ext cx="936703" cy="4606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839821" y="4907844"/>
            <a:ext cx="746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latin typeface="Corbel" panose="020B0503020204020204" pitchFamily="34" charset="0"/>
              </a:rPr>
              <a:t>Find a </a:t>
            </a:r>
            <a:r>
              <a:rPr lang="en-US" dirty="0">
                <a:latin typeface="Corbel" panose="020B0503020204020204" pitchFamily="34" charset="0"/>
              </a:rPr>
              <a:t>complete</a:t>
            </a:r>
            <a:r>
              <a:rPr lang="en-US" b="0" dirty="0">
                <a:latin typeface="Corbel" panose="020B0503020204020204" pitchFamily="34" charset="0"/>
              </a:rPr>
              <a:t>, </a:t>
            </a:r>
            <a:r>
              <a:rPr lang="en-US" dirty="0">
                <a:latin typeface="Corbel" panose="020B0503020204020204" pitchFamily="34" charset="0"/>
              </a:rPr>
              <a:t>consistent </a:t>
            </a:r>
            <a:r>
              <a:rPr lang="en-US" b="0" dirty="0">
                <a:latin typeface="Corbel" panose="020B0503020204020204" pitchFamily="34" charset="0"/>
              </a:rPr>
              <a:t>assignment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orbel" panose="020B0503020204020204" pitchFamily="34" charset="0"/>
              </a:rPr>
              <a:t>Complete:</a:t>
            </a:r>
            <a:r>
              <a:rPr lang="en-US" b="0" dirty="0">
                <a:latin typeface="Corbel" panose="020B0503020204020204" pitchFamily="34" charset="0"/>
              </a:rPr>
              <a:t> all variables are set</a:t>
            </a:r>
            <a:endParaRPr lang="en-US" dirty="0">
              <a:latin typeface="Corbel" panose="020B05030202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orbel" panose="020B0503020204020204" pitchFamily="34" charset="0"/>
              </a:rPr>
              <a:t>Consistent:</a:t>
            </a:r>
            <a:r>
              <a:rPr lang="en-US" b="0" dirty="0">
                <a:latin typeface="Corbel" panose="020B0503020204020204" pitchFamily="34" charset="0"/>
              </a:rPr>
              <a:t> no constraint is violated</a:t>
            </a:r>
          </a:p>
        </p:txBody>
      </p:sp>
    </p:spTree>
    <p:extLst>
      <p:ext uri="{BB962C8B-B14F-4D97-AF65-F5344CB8AC3E}">
        <p14:creationId xmlns:p14="http://schemas.microsoft.com/office/powerpoint/2010/main" val="976203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700867" y="205602"/>
            <a:ext cx="7704667" cy="716001"/>
          </a:xfrm>
        </p:spPr>
        <p:txBody>
          <a:bodyPr/>
          <a:lstStyle/>
          <a:p>
            <a:r>
              <a:rPr lang="en-US" dirty="0"/>
              <a:t>Constraint Graph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idx="1"/>
          </p:nvPr>
        </p:nvSpPr>
        <p:spPr>
          <a:xfrm>
            <a:off x="2678005" y="4814354"/>
            <a:ext cx="7704667" cy="102809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200" dirty="0">
                <a:solidFill>
                  <a:srgbClr val="FF0000"/>
                </a:solidFill>
                <a:latin typeface="Corbel" panose="020B0503020204020204" pitchFamily="34" charset="0"/>
                <a:cs typeface="Times"/>
              </a:rPr>
              <a:t>Binary CSP:</a:t>
            </a:r>
            <a:r>
              <a:rPr lang="en-US" sz="2200" dirty="0">
                <a:latin typeface="Corbel" panose="020B0503020204020204" pitchFamily="34" charset="0"/>
                <a:cs typeface="Times"/>
              </a:rPr>
              <a:t> each constraint relates two variables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solidFill>
                  <a:srgbClr val="FF0000"/>
                </a:solidFill>
                <a:latin typeface="Corbel" panose="020B0503020204020204" pitchFamily="34" charset="0"/>
                <a:cs typeface="Times"/>
              </a:rPr>
              <a:t>Constraint graph:</a:t>
            </a:r>
            <a:r>
              <a:rPr lang="en-US" sz="2200" dirty="0">
                <a:latin typeface="Corbel" panose="020B0503020204020204" pitchFamily="34" charset="0"/>
                <a:cs typeface="Times"/>
              </a:rPr>
              <a:t> nodes are variables, links are constraints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4129760" y="1995488"/>
                <a:ext cx="1093470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𝑾𝑨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760" y="1995488"/>
                <a:ext cx="1093470" cy="609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5528030" y="1258253"/>
                <a:ext cx="1066800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𝑵𝑻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030" y="1258253"/>
                <a:ext cx="1066800" cy="6096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7128230" y="1432488"/>
                <a:ext cx="1066800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230" y="1432488"/>
                <a:ext cx="1066800" cy="6096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7040323" y="2446021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𝑵𝑺𝑾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323" y="2446021"/>
                <a:ext cx="1242617" cy="6096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6869151" y="3445741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151" y="3445741"/>
                <a:ext cx="1242617" cy="6096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4689831" y="2985135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𝑺𝑨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831" y="2985135"/>
                <a:ext cx="1242617" cy="6096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5246091" y="3886200"/>
                <a:ext cx="1242617" cy="60960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091" y="3886200"/>
                <a:ext cx="1242617" cy="6096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>
            <a:stCxn id="6" idx="0"/>
            <a:endCxn id="7" idx="1"/>
          </p:cNvCxnSpPr>
          <p:nvPr/>
        </p:nvCxnSpPr>
        <p:spPr>
          <a:xfrm flipV="1">
            <a:off x="4676496" y="1563054"/>
            <a:ext cx="851535" cy="4324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2"/>
            <a:endCxn id="11" idx="0"/>
          </p:cNvCxnSpPr>
          <p:nvPr/>
        </p:nvCxnSpPr>
        <p:spPr>
          <a:xfrm>
            <a:off x="4676495" y="2605089"/>
            <a:ext cx="634644" cy="3800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0"/>
            <a:endCxn id="7" idx="2"/>
          </p:cNvCxnSpPr>
          <p:nvPr/>
        </p:nvCxnSpPr>
        <p:spPr>
          <a:xfrm flipV="1">
            <a:off x="5311140" y="1867853"/>
            <a:ext cx="750291" cy="11172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3"/>
            <a:endCxn id="8" idx="1"/>
          </p:cNvCxnSpPr>
          <p:nvPr/>
        </p:nvCxnSpPr>
        <p:spPr>
          <a:xfrm>
            <a:off x="6594830" y="1563054"/>
            <a:ext cx="533400" cy="1742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1" idx="3"/>
            <a:endCxn id="8" idx="1"/>
          </p:cNvCxnSpPr>
          <p:nvPr/>
        </p:nvCxnSpPr>
        <p:spPr>
          <a:xfrm flipV="1">
            <a:off x="5932448" y="1737289"/>
            <a:ext cx="1195783" cy="15526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3"/>
            <a:endCxn id="9" idx="1"/>
          </p:cNvCxnSpPr>
          <p:nvPr/>
        </p:nvCxnSpPr>
        <p:spPr>
          <a:xfrm flipV="1">
            <a:off x="5932448" y="2750821"/>
            <a:ext cx="1107875" cy="5391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0"/>
            <a:endCxn id="8" idx="2"/>
          </p:cNvCxnSpPr>
          <p:nvPr/>
        </p:nvCxnSpPr>
        <p:spPr>
          <a:xfrm flipH="1" flipV="1">
            <a:off x="7661631" y="2042089"/>
            <a:ext cx="1" cy="4039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0" idx="0"/>
            <a:endCxn id="9" idx="2"/>
          </p:cNvCxnSpPr>
          <p:nvPr/>
        </p:nvCxnSpPr>
        <p:spPr>
          <a:xfrm flipV="1">
            <a:off x="7490459" y="3055621"/>
            <a:ext cx="171172" cy="39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3"/>
            <a:endCxn id="10" idx="1"/>
          </p:cNvCxnSpPr>
          <p:nvPr/>
        </p:nvCxnSpPr>
        <p:spPr>
          <a:xfrm>
            <a:off x="5932448" y="3289935"/>
            <a:ext cx="936703" cy="4606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758297"/>
          </a:xfrm>
        </p:spPr>
        <p:txBody>
          <a:bodyPr/>
          <a:lstStyle/>
          <a:p>
            <a:r>
              <a:rPr lang="en-US" dirty="0">
                <a:ea typeface="ＭＳ Ｐゴシック" pitchFamily="-107" charset="-128"/>
                <a:cs typeface="ＭＳ Ｐゴシック" pitchFamily="-107" charset="-128"/>
              </a:rPr>
              <a:t>Example: Job-Shop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4600" y="1295400"/>
                <a:ext cx="8153400" cy="5257800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ea typeface="ＭＳ Ｐゴシック" pitchFamily="-107" charset="-128"/>
                    <a:cs typeface="Times"/>
                  </a:rPr>
                  <a:t>Car assembly consists of 15 tasks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Variables: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𝐴𝑥𝑙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𝑒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𝐴𝑥𝑙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𝑒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𝑊h𝑒𝑒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𝑙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𝐿𝐹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𝑊h𝑒𝑒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𝑙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𝑅𝐹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𝑊h𝑒𝑒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𝑙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𝐿𝐵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𝑊h𝑒𝑒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𝑙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𝑅𝐵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𝑁𝑢𝑡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𝑠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𝐿𝐹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𝑁𝑢𝑡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𝑠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𝑅𝐹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𝑁𝑢𝑡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𝑠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𝐿𝐵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𝑁𝑢𝑡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𝑠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𝑅𝐵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𝐶𝑎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𝑝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𝐿𝐹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𝐶𝑎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𝑝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𝑅𝐹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𝐶𝑎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𝑝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𝐿𝐵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𝐶𝑎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𝑝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𝑅𝐵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,</a:t>
                </a:r>
                <a:r>
                  <a:rPr lang="en-US" sz="2800" i="1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𝐼𝑛𝑠𝑝𝑒𝑐𝑡</m:t>
                    </m:r>
                  </m:oMath>
                </a14:m>
                <a:endParaRPr lang="en-US" sz="2800" i="1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Domain: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cs typeface="Times"/>
                          </a:rPr>
                          <m:t>1, 2, …, 27</m:t>
                        </m:r>
                      </m:e>
                    </m:d>
                  </m:oMath>
                </a14:m>
                <a:endParaRPr lang="en-US" sz="28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solidFill>
                      <a:schemeClr val="accent2"/>
                    </a:solidFill>
                    <a:latin typeface="Corbel" panose="020B0503020204020204" pitchFamily="34" charset="0"/>
                    <a:ea typeface="ＭＳ Ｐゴシック" pitchFamily="-107" charset="-128"/>
                    <a:cs typeface="Times"/>
                  </a:rPr>
                  <a:t>Precedence </a:t>
                </a:r>
                <a:r>
                  <a:rPr lang="en-US" sz="2800" dirty="0">
                    <a:latin typeface="Corbel" panose="020B0503020204020204" pitchFamily="34" charset="0"/>
                    <a:ea typeface="ＭＳ Ｐゴシック" pitchFamily="-107" charset="-128"/>
                    <a:cs typeface="Times"/>
                  </a:rPr>
                  <a:t>constraints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e.g.,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"/>
                      </a:rPr>
                      <m:t>𝐴𝑥𝑙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"/>
                          </a:rPr>
                          <m:t>𝐹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cs typeface="Times"/>
                      </a:rPr>
                      <m:t>+10≤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"/>
                      </a:rPr>
                      <m:t>𝑊h𝑒𝑒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  <a:cs typeface="Times"/>
                          </a:rPr>
                          <m:t>𝑙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"/>
                          </a:rPr>
                          <m:t>𝑅𝐹</m:t>
                        </m:r>
                      </m:sub>
                    </m:sSub>
                  </m:oMath>
                </a14:m>
                <a:endParaRPr lang="en-US" i="1" baseline="-250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solidFill>
                      <a:srgbClr val="B44CAD"/>
                    </a:solidFill>
                    <a:latin typeface="Corbel" panose="020B0503020204020204" pitchFamily="34" charset="0"/>
                    <a:ea typeface="ＭＳ Ｐゴシック" pitchFamily="-107" charset="-128"/>
                    <a:cs typeface="Times"/>
                  </a:rPr>
                  <a:t>Disjunctive</a:t>
                </a:r>
                <a:r>
                  <a:rPr lang="en-US" sz="2800" dirty="0">
                    <a:latin typeface="Corbel" panose="020B0503020204020204" pitchFamily="34" charset="0"/>
                    <a:ea typeface="ＭＳ Ｐゴシック" pitchFamily="-107" charset="-128"/>
                    <a:cs typeface="Times"/>
                  </a:rPr>
                  <a:t> constraint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e.g.,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"/>
                          </a:rPr>
                          <m:t>𝐴𝑥𝑙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Times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Times"/>
                              </a:rPr>
                              <m:t>𝐹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  <a:cs typeface="Times"/>
                          </a:rPr>
                          <m:t>+10≤ </m:t>
                        </m:r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Times"/>
                          </a:rPr>
                          <m:t>𝐴𝑥𝑙</m:t>
                        </m:r>
                        <m:sSub>
                          <m:sSubPr>
                            <m:ctrlPr>
                              <a:rPr lang="en-US" i="1" dirty="0" err="1" smtClean="0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  <a:cs typeface="Times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  <a:cs typeface="Times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  <a:cs typeface="Times"/>
                      </a:rPr>
                      <m:t> 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  <a:cs typeface="Times"/>
                      </a:rPr>
                      <m:t>or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"/>
                      </a:rPr>
                      <m:t>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"/>
                          </a:rPr>
                          <m:t>𝐴𝑥𝑙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Times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Times"/>
                              </a:rPr>
                              <m:t>𝐵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  <a:cs typeface="Times"/>
                          </a:rPr>
                          <m:t>+10≤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cs typeface="Times"/>
                          </a:rPr>
                          <m:t>𝐴𝑥𝑙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Times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Times"/>
                              </a:rPr>
                              <m:t>𝐹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4600" y="1295400"/>
                <a:ext cx="8153400" cy="5257800"/>
              </a:xfrm>
              <a:blipFill>
                <a:blip r:embed="rId3"/>
                <a:stretch>
                  <a:fillRect l="-622" t="-1449" b="-176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11</a:t>
            </a:fld>
            <a:endParaRPr lang="en-US"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6134" y="457202"/>
            <a:ext cx="7704667" cy="758297"/>
          </a:xfrm>
        </p:spPr>
        <p:txBody>
          <a:bodyPr/>
          <a:lstStyle/>
          <a:p>
            <a:r>
              <a:rPr lang="en-US" dirty="0"/>
              <a:t>CSP Variants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506133" y="1215498"/>
              <a:ext cx="7924800" cy="52578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506133" y="1215498"/>
              <a:ext cx="7924800" cy="52578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6134" y="457202"/>
            <a:ext cx="7704667" cy="838199"/>
          </a:xfrm>
        </p:spPr>
        <p:txBody>
          <a:bodyPr/>
          <a:lstStyle/>
          <a:p>
            <a:r>
              <a:rPr lang="en-US" dirty="0"/>
              <a:t>Constraint Variants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667001" y="1524000"/>
              <a:ext cx="7704667" cy="4267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667001" y="1524000"/>
              <a:ext cx="7704667" cy="4267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506134" y="152402"/>
            <a:ext cx="7704667" cy="838199"/>
          </a:xfrm>
        </p:spPr>
        <p:txBody>
          <a:bodyPr/>
          <a:lstStyle/>
          <a:p>
            <a:r>
              <a:rPr lang="en-US" dirty="0" err="1"/>
              <a:t>Cryptarithmetic</a:t>
            </a:r>
            <a:r>
              <a:rPr lang="en-US" dirty="0"/>
              <a:t> Puzzles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0936" name="Rectangle 8"/>
              <p:cNvSpPr>
                <a:spLocks noChangeArrowheads="1"/>
              </p:cNvSpPr>
              <p:nvPr/>
            </p:nvSpPr>
            <p:spPr bwMode="auto">
              <a:xfrm>
                <a:off x="4242336" y="4774582"/>
                <a:ext cx="4724400" cy="19389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𝐴𝑙𝑙𝐷𝑖𝑓𝑓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𝑇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𝑊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𝑂</m:t>
                        </m:r>
                      </m:e>
                    </m:d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+10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𝑈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+10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𝑂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10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𝐹</m:t>
                    </m:r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≠0</m:t>
                    </m:r>
                  </m:oMath>
                </a14:m>
                <a:r>
                  <a:rPr lang="en-US" sz="2000" i="1" dirty="0">
                    <a:latin typeface="Corbel" panose="020B0503020204020204" pitchFamily="34" charset="0"/>
                    <a:cs typeface="Times"/>
                  </a:rPr>
                  <a:t> </a:t>
                </a:r>
              </a:p>
            </p:txBody>
          </p:sp>
        </mc:Choice>
        <mc:Fallback xmlns="">
          <p:sp>
            <p:nvSpPr>
              <p:cNvPr id="380936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2336" y="4774582"/>
                <a:ext cx="4724400" cy="1938992"/>
              </a:xfrm>
              <a:prstGeom prst="rect">
                <a:avLst/>
              </a:prstGeom>
              <a:blipFill>
                <a:blip r:embed="rId3"/>
                <a:stretch>
                  <a:fillRect l="-5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498513" y="1350824"/>
                <a:ext cx="2133600" cy="825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eqArr>
                    </m:oMath>
                  </m:oMathPara>
                </a14:m>
                <a:endParaRPr lang="en-US" b="0" dirty="0">
                  <a:latin typeface="Corbel" panose="020B050302020402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513" y="1350824"/>
                <a:ext cx="2133600" cy="825034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3023136" y="1921129"/>
            <a:ext cx="1219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5372100" y="1774643"/>
                <a:ext cx="533400" cy="5334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1774643"/>
                <a:ext cx="533400" cy="5334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6286500" y="1774643"/>
                <a:ext cx="533400" cy="5334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0" y="1774643"/>
                <a:ext cx="533400" cy="5334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/>
              <p:cNvSpPr/>
              <p:nvPr/>
            </p:nvSpPr>
            <p:spPr>
              <a:xfrm>
                <a:off x="7200900" y="1774643"/>
                <a:ext cx="533400" cy="5334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900" y="1774643"/>
                <a:ext cx="533400" cy="5334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/>
              <p:cNvSpPr/>
              <p:nvPr/>
            </p:nvSpPr>
            <p:spPr>
              <a:xfrm>
                <a:off x="8115300" y="1774643"/>
                <a:ext cx="533400" cy="5334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300" y="1774643"/>
                <a:ext cx="533400" cy="5334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/>
              <p:cNvSpPr/>
              <p:nvPr/>
            </p:nvSpPr>
            <p:spPr>
              <a:xfrm>
                <a:off x="9029700" y="1774643"/>
                <a:ext cx="533400" cy="5334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700" y="1774643"/>
                <a:ext cx="533400" cy="5334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/>
              <p:cNvSpPr/>
              <p:nvPr/>
            </p:nvSpPr>
            <p:spPr>
              <a:xfrm>
                <a:off x="9944100" y="1774643"/>
                <a:ext cx="533400" cy="5334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100" y="1774643"/>
                <a:ext cx="533400" cy="5334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7712344" y="932456"/>
            <a:ext cx="402957" cy="4048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96000" y="2590800"/>
            <a:ext cx="419100" cy="4048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/>
              <p:cNvSpPr/>
              <p:nvPr/>
            </p:nvSpPr>
            <p:spPr>
              <a:xfrm>
                <a:off x="5753100" y="3352800"/>
                <a:ext cx="533400" cy="5334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3352800"/>
                <a:ext cx="533400" cy="5334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/>
              <p:cNvSpPr/>
              <p:nvPr/>
            </p:nvSpPr>
            <p:spPr>
              <a:xfrm>
                <a:off x="7243713" y="3352800"/>
                <a:ext cx="533400" cy="5334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713" y="3352800"/>
                <a:ext cx="533400" cy="5334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/>
              <p:cNvSpPr/>
              <p:nvPr/>
            </p:nvSpPr>
            <p:spPr>
              <a:xfrm>
                <a:off x="8734326" y="3352800"/>
                <a:ext cx="533400" cy="5334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326" y="3352800"/>
                <a:ext cx="533400" cy="5334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991350" y="2597481"/>
            <a:ext cx="419100" cy="4048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686800" y="2604162"/>
            <a:ext cx="419100" cy="4048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944100" y="2610843"/>
            <a:ext cx="419100" cy="4048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>
            <a:stCxn id="6" idx="2"/>
            <a:endCxn id="5" idx="0"/>
          </p:cNvCxnSpPr>
          <p:nvPr/>
        </p:nvCxnSpPr>
        <p:spPr>
          <a:xfrm flipH="1">
            <a:off x="5638800" y="1337269"/>
            <a:ext cx="2275022" cy="4373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6" idx="2"/>
            <a:endCxn id="13" idx="0"/>
          </p:cNvCxnSpPr>
          <p:nvPr/>
        </p:nvCxnSpPr>
        <p:spPr>
          <a:xfrm flipH="1">
            <a:off x="6553200" y="1337269"/>
            <a:ext cx="1360622" cy="4373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6" idx="2"/>
            <a:endCxn id="14" idx="0"/>
          </p:cNvCxnSpPr>
          <p:nvPr/>
        </p:nvCxnSpPr>
        <p:spPr>
          <a:xfrm flipH="1">
            <a:off x="7467600" y="1337269"/>
            <a:ext cx="446222" cy="4373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6" idx="2"/>
            <a:endCxn id="15" idx="0"/>
          </p:cNvCxnSpPr>
          <p:nvPr/>
        </p:nvCxnSpPr>
        <p:spPr>
          <a:xfrm>
            <a:off x="7913822" y="1337269"/>
            <a:ext cx="468178" cy="4373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6" idx="2"/>
            <a:endCxn id="16" idx="0"/>
          </p:cNvCxnSpPr>
          <p:nvPr/>
        </p:nvCxnSpPr>
        <p:spPr>
          <a:xfrm>
            <a:off x="7913822" y="1337269"/>
            <a:ext cx="1382578" cy="4373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6" idx="2"/>
            <a:endCxn id="17" idx="0"/>
          </p:cNvCxnSpPr>
          <p:nvPr/>
        </p:nvCxnSpPr>
        <p:spPr>
          <a:xfrm>
            <a:off x="7913822" y="1337269"/>
            <a:ext cx="2296978" cy="4373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25" idx="0"/>
            <a:endCxn id="17" idx="4"/>
          </p:cNvCxnSpPr>
          <p:nvPr/>
        </p:nvCxnSpPr>
        <p:spPr>
          <a:xfrm flipV="1">
            <a:off x="10153650" y="2308043"/>
            <a:ext cx="57150" cy="302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25" idx="0"/>
            <a:endCxn id="16" idx="5"/>
          </p:cNvCxnSpPr>
          <p:nvPr/>
        </p:nvCxnSpPr>
        <p:spPr>
          <a:xfrm flipH="1" flipV="1">
            <a:off x="9484986" y="2229929"/>
            <a:ext cx="668665" cy="3809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25" idx="2"/>
            <a:endCxn id="22" idx="6"/>
          </p:cNvCxnSpPr>
          <p:nvPr/>
        </p:nvCxnSpPr>
        <p:spPr>
          <a:xfrm flipH="1">
            <a:off x="9267726" y="3015656"/>
            <a:ext cx="885924" cy="6038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4" idx="0"/>
            <a:endCxn id="15" idx="4"/>
          </p:cNvCxnSpPr>
          <p:nvPr/>
        </p:nvCxnSpPr>
        <p:spPr>
          <a:xfrm flipH="1" flipV="1">
            <a:off x="8382000" y="2308044"/>
            <a:ext cx="514350" cy="2961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2" idx="0"/>
            <a:endCxn id="24" idx="2"/>
          </p:cNvCxnSpPr>
          <p:nvPr/>
        </p:nvCxnSpPr>
        <p:spPr>
          <a:xfrm flipH="1" flipV="1">
            <a:off x="8896350" y="3008974"/>
            <a:ext cx="104676" cy="3438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21" idx="7"/>
            <a:endCxn id="24" idx="2"/>
          </p:cNvCxnSpPr>
          <p:nvPr/>
        </p:nvCxnSpPr>
        <p:spPr>
          <a:xfrm flipV="1">
            <a:off x="7698998" y="3008975"/>
            <a:ext cx="1197352" cy="4219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14" idx="5"/>
            <a:endCxn id="24" idx="1"/>
          </p:cNvCxnSpPr>
          <p:nvPr/>
        </p:nvCxnSpPr>
        <p:spPr>
          <a:xfrm>
            <a:off x="7656186" y="2229928"/>
            <a:ext cx="1030615" cy="5766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23" idx="2"/>
            <a:endCxn id="21" idx="0"/>
          </p:cNvCxnSpPr>
          <p:nvPr/>
        </p:nvCxnSpPr>
        <p:spPr>
          <a:xfrm>
            <a:off x="7200901" y="3002294"/>
            <a:ext cx="309513" cy="3505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20" idx="7"/>
            <a:endCxn id="23" idx="2"/>
          </p:cNvCxnSpPr>
          <p:nvPr/>
        </p:nvCxnSpPr>
        <p:spPr>
          <a:xfrm flipV="1">
            <a:off x="6208386" y="3002293"/>
            <a:ext cx="992515" cy="4286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13" idx="4"/>
            <a:endCxn id="23" idx="0"/>
          </p:cNvCxnSpPr>
          <p:nvPr/>
        </p:nvCxnSpPr>
        <p:spPr>
          <a:xfrm>
            <a:off x="6553200" y="2308043"/>
            <a:ext cx="647700" cy="2894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23" idx="3"/>
            <a:endCxn id="17" idx="3"/>
          </p:cNvCxnSpPr>
          <p:nvPr/>
        </p:nvCxnSpPr>
        <p:spPr>
          <a:xfrm flipV="1">
            <a:off x="7410451" y="2229929"/>
            <a:ext cx="2611765" cy="5699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9" idx="0"/>
            <a:endCxn id="5" idx="4"/>
          </p:cNvCxnSpPr>
          <p:nvPr/>
        </p:nvCxnSpPr>
        <p:spPr>
          <a:xfrm flipH="1" flipV="1">
            <a:off x="5638800" y="2308044"/>
            <a:ext cx="666750" cy="2827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19" idx="2"/>
            <a:endCxn id="20" idx="0"/>
          </p:cNvCxnSpPr>
          <p:nvPr/>
        </p:nvCxnSpPr>
        <p:spPr>
          <a:xfrm flipH="1">
            <a:off x="6019800" y="2995612"/>
            <a:ext cx="285750" cy="3571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Table 82"/>
              <p:cNvGraphicFramePr>
                <a:graphicFrameLocks noGrp="1"/>
              </p:cNvGraphicFramePr>
              <p:nvPr/>
            </p:nvGraphicFramePr>
            <p:xfrm>
              <a:off x="2484253" y="3962400"/>
              <a:ext cx="7748427" cy="2758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958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Variables: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⃗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dirty="0" smtClean="0">
                                      <a:latin typeface="Cambria Math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sz="2000" dirty="0" smtClean="0">
                                  <a:latin typeface="Cambria Math" charset="0"/>
                                </a:rPr>
                                <m:t>=</m:t>
                              </m:r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dirty="0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2000" b="0" i="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dirty="0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2000" b="0" i="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dirty="0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2000" b="0" i="0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2000" b="0" i="1" dirty="0">
                              <a:latin typeface="Corbel" panose="020B0503020204020204" pitchFamily="34" charset="0"/>
                              <a:cs typeface="Times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4939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Domains: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latin typeface="Cambria Math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smtClean="0">
                                  <a:latin typeface="Cambria Math" charset="0"/>
                                </a:rPr>
                                <m:t>={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2000" smtClean="0">
                                  <a:latin typeface="Cambria Math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89678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Constraints: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Table 82"/>
              <p:cNvGraphicFramePr>
                <a:graphicFrameLocks noGrp="1"/>
              </p:cNvGraphicFramePr>
              <p:nvPr/>
            </p:nvGraphicFramePr>
            <p:xfrm>
              <a:off x="2484253" y="3962400"/>
              <a:ext cx="7748427" cy="2758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958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33261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Variables: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29387" t="-20588" r="-211" b="-54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4939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Domains: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4"/>
                          <a:stretch>
                            <a:fillRect l="-29387" t="-128125" r="-211" b="-47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Constraints: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0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0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09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09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809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809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506134" y="30481"/>
            <a:ext cx="7704667" cy="761999"/>
          </a:xfrm>
        </p:spPr>
        <p:txBody>
          <a:bodyPr/>
          <a:lstStyle/>
          <a:p>
            <a:r>
              <a:rPr lang="en-US" dirty="0">
                <a:ea typeface="ＭＳ Ｐゴシック" pitchFamily="-107" charset="-128"/>
                <a:cs typeface="ＭＳ Ｐゴシック" pitchFamily="-107" charset="-128"/>
              </a:rPr>
              <a:t>Sudoku</a:t>
            </a:r>
          </a:p>
        </p:txBody>
      </p:sp>
      <p:sp>
        <p:nvSpPr>
          <p:cNvPr id="2662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15</a:t>
            </a:fld>
            <a:endParaRPr lang="en-US"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pic>
        <p:nvPicPr>
          <p:cNvPr id="96" name="Picture 95" descr="sudoku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815339"/>
            <a:ext cx="6317602" cy="3175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2263697" y="3990340"/>
              <a:ext cx="7748427" cy="272141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958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Variables: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"/>
                                </a:rPr>
                                <m:t>, …, </m:t>
                              </m:r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  <m:t>9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"/>
                                </a:rPr>
                                <m:t>, …, </m:t>
                              </m:r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"/>
                                </a:rPr>
                                <m:t>, …, </m:t>
                              </m:r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"/>
                                    </a:rPr>
                                    <m:t>9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0" dirty="0">
                              <a:latin typeface="Corbel" panose="020B0503020204020204" pitchFamily="34" charset="0"/>
                              <a:cs typeface="Times"/>
                            </a:rPr>
                            <a:t> (81 variables)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4939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Domains: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latin typeface="Cambria Math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smtClean="0">
                                  <a:latin typeface="Cambria Math" charset="0"/>
                                </a:rPr>
                                <m:t>={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…,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2000" smtClean="0">
                                  <a:latin typeface="Cambria Math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89678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Constraints: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𝐴𝑙𝑙𝐷𝑖𝑓𝑓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×27 </m:t>
                              </m:r>
                            </m:oMath>
                          </a14:m>
                          <a:r>
                            <a:rPr lang="en-US" sz="2000" dirty="0"/>
                            <a:t> (9 columns, 9 rows, 9 boxes) </a:t>
                          </a:r>
                        </a:p>
                        <a:p>
                          <a:r>
                            <a:rPr lang="en-US" sz="2000" dirty="0"/>
                            <a:t>e.g.</a:t>
                          </a:r>
                          <a:r>
                            <a:rPr lang="en-US" sz="20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baseline="0" smtClean="0">
                                  <a:latin typeface="Cambria Math" panose="02040503050406030204" pitchFamily="18" charset="0"/>
                                </a:rPr>
                                <m:t>𝐴𝑙𝑙𝐷𝑖𝑓𝑓</m:t>
                              </m:r>
                              <m:d>
                                <m:dPr>
                                  <m:ctrlPr>
                                    <a:rPr lang="en-US" sz="20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b="0" i="1" baseline="0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000" b="0" i="1" baseline="0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lit/>
                                    </m:rPr>
                                    <a:rPr lang="en-US" sz="2000" b="0" i="1" baseline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baseline="0" smtClean="0">
                                      <a:latin typeface="Cambria Math" panose="02040503050406030204" pitchFamily="18" charset="0"/>
                                    </a:rPr>
                                    <m:t>…,</m:t>
                                  </m:r>
                                  <m:sSub>
                                    <m:sSubPr>
                                      <m:ctrlP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000" b="0" i="1" baseline="0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b="0" i="1" baseline="0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sSub>
                                    <m:sSubPr>
                                      <m:ctrlP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000" b="0" i="1" baseline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is</a:t>
                          </a:r>
                          <a:r>
                            <a:rPr lang="en-US" sz="2000" baseline="0" dirty="0"/>
                            <a:t> the constraint for the top-left box.</a:t>
                          </a:r>
                          <a:endParaRPr lang="en-US" sz="2000" dirty="0"/>
                        </a:p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  <a:p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2263697" y="3990340"/>
              <a:ext cx="7748427" cy="272141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958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Variables: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387" t="-9677" r="-211" b="-596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4939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Domains: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387" t="-106250" r="-211" b="-47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Constraints:</a:t>
                          </a:r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9387" t="-43421" r="-211" b="-6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xfrm>
            <a:off x="2620434" y="72500"/>
            <a:ext cx="7704667" cy="1142999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Standard Search Formulation (Incremental)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297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620433" y="931708"/>
                <a:ext cx="8150352" cy="4859493"/>
              </a:xfrm>
            </p:spPr>
            <p:txBody>
              <a:bodyPr>
                <a:normAutofit/>
              </a:bodyPr>
              <a:lstStyle/>
              <a:p>
                <a:pPr marL="381000" indent="-381000">
                  <a:spcBef>
                    <a:spcPts val="6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Each state is a partial variable assignment</a:t>
                </a:r>
                <a:endParaRPr lang="en-US" sz="2400" dirty="0">
                  <a:solidFill>
                    <a:srgbClr val="0000CC"/>
                  </a:solidFill>
                  <a:latin typeface="Corbel" panose="020B0503020204020204" pitchFamily="34" charset="0"/>
                  <a:cs typeface="Times"/>
                </a:endParaRPr>
              </a:p>
              <a:p>
                <a:pPr marL="381000" indent="-381000"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Initial state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: the empty assignment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[]</m:t>
                    </m:r>
                  </m:oMath>
                </a14:m>
                <a:endParaRPr lang="en-US" sz="2400" dirty="0">
                  <a:latin typeface="Corbel" panose="020B0503020204020204" pitchFamily="34" charset="0"/>
                  <a:cs typeface="Times"/>
                </a:endParaRPr>
              </a:p>
              <a:p>
                <a:pPr marL="381000" indent="-381000"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Transition function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: assign a </a:t>
                </a:r>
                <a:r>
                  <a:rPr lang="en-US" sz="2400" b="1" dirty="0">
                    <a:latin typeface="Corbel" panose="020B0503020204020204" pitchFamily="34" charset="0"/>
                    <a:cs typeface="Times"/>
                  </a:rPr>
                  <a:t>valid 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value to an unassigned variable 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  <a:sym typeface="Wingdings" pitchFamily="-107" charset="2"/>
                  </a:rPr>
                  <a:t> 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fail if no </a:t>
                </a:r>
                <a:r>
                  <a:rPr lang="en-US" sz="2400" b="1" dirty="0">
                    <a:latin typeface="Corbel" panose="020B0503020204020204" pitchFamily="34" charset="0"/>
                    <a:cs typeface="Times"/>
                  </a:rPr>
                  <a:t>valid 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assignments</a:t>
                </a:r>
              </a:p>
              <a:p>
                <a:pPr marL="381000" indent="-381000"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Goal test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: all variables have been assigned.</a:t>
                </a:r>
              </a:p>
              <a:p>
                <a:pPr marL="381000" indent="-381000">
                  <a:spcBef>
                    <a:spcPts val="600"/>
                  </a:spcBef>
                  <a:buFontTx/>
                  <a:buAutoNum type="arabicPeriod"/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Uniform model for all CSPs; not domain-specific.</a:t>
                </a:r>
              </a:p>
              <a:p>
                <a:pPr marL="381000" indent="-381000">
                  <a:spcBef>
                    <a:spcPts val="600"/>
                  </a:spcBef>
                  <a:buFontTx/>
                  <a:buAutoNum type="arabicPeriod"/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Every solution appears at depth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𝑛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𝑛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variables assigned)</a:t>
                </a:r>
              </a:p>
              <a:p>
                <a:pPr marL="381000" indent="-381000">
                  <a:spcBef>
                    <a:spcPts val="600"/>
                  </a:spcBef>
                  <a:buFontTx/>
                  <a:buAutoNum type="arabicPeriod"/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Search path is irrelevant, can also use complete-state formulation.</a:t>
                </a:r>
              </a:p>
            </p:txBody>
          </p:sp>
        </mc:Choice>
        <mc:Fallback xmlns="">
          <p:sp>
            <p:nvSpPr>
              <p:cNvPr id="3829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20433" y="931708"/>
                <a:ext cx="8150352" cy="4859493"/>
              </a:xfrm>
              <a:blipFill>
                <a:blip r:embed="rId3"/>
                <a:stretch>
                  <a:fillRect l="-622" t="-15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038600" y="5943600"/>
            <a:ext cx="5407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orbel" panose="020B0503020204020204" pitchFamily="34" charset="0"/>
              </a:rPr>
              <a:t>What’s the best search technique?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717285" y="81690"/>
            <a:ext cx="7704667" cy="685799"/>
          </a:xfrm>
        </p:spPr>
        <p:txBody>
          <a:bodyPr>
            <a:normAutofit fontScale="90000"/>
          </a:bodyPr>
          <a:lstStyle/>
          <a:p>
            <a:r>
              <a:rPr lang="en-US" dirty="0"/>
              <a:t>CSP Search Tree Size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5028" name="Oval 4"/>
              <p:cNvSpPr>
                <a:spLocks noChangeArrowheads="1"/>
              </p:cNvSpPr>
              <p:nvPr/>
            </p:nvSpPr>
            <p:spPr bwMode="auto">
              <a:xfrm>
                <a:off x="8153400" y="875488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cs typeface="Times"/>
                        </a:rPr>
                        <m:t>{}</m:t>
                      </m:r>
                    </m:oMath>
                  </m:oMathPara>
                </a14:m>
                <a:endParaRPr lang="en-US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85028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53400" y="875488"/>
                <a:ext cx="685800" cy="6858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Diagram 1"/>
              <p:cNvGraphicFramePr/>
              <p:nvPr/>
            </p:nvGraphicFramePr>
            <p:xfrm>
              <a:off x="2428074" y="875489"/>
              <a:ext cx="3648876" cy="186771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2" name="Diagram 1"/>
              <p:cNvGraphicFramePr/>
              <p:nvPr/>
            </p:nvGraphicFramePr>
            <p:xfrm>
              <a:off x="2428074" y="875489"/>
              <a:ext cx="3648876" cy="186771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5030" name="Oval 6"/>
              <p:cNvSpPr>
                <a:spLocks noChangeArrowheads="1"/>
              </p:cNvSpPr>
              <p:nvPr/>
            </p:nvSpPr>
            <p:spPr bwMode="auto">
              <a:xfrm>
                <a:off x="6248400" y="2012138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𝐴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=1</m:t>
                      </m:r>
                    </m:oMath>
                  </m:oMathPara>
                </a14:m>
                <a:endParaRPr lang="en-US" sz="14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85030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8400" y="2012138"/>
                <a:ext cx="685800" cy="6858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5031" name="Oval 7"/>
              <p:cNvSpPr>
                <a:spLocks noChangeArrowheads="1"/>
              </p:cNvSpPr>
              <p:nvPr/>
            </p:nvSpPr>
            <p:spPr bwMode="auto">
              <a:xfrm>
                <a:off x="7086600" y="2012138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𝐴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=2</m:t>
                      </m:r>
                    </m:oMath>
                  </m:oMathPara>
                </a14:m>
                <a:endParaRPr lang="en-US" sz="14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85031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6600" y="2012138"/>
                <a:ext cx="685800" cy="6858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5032" name="Oval 8"/>
              <p:cNvSpPr>
                <a:spLocks noChangeArrowheads="1"/>
              </p:cNvSpPr>
              <p:nvPr/>
            </p:nvSpPr>
            <p:spPr bwMode="auto">
              <a:xfrm>
                <a:off x="9906000" y="2012138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𝐷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=3</m:t>
                      </m:r>
                    </m:oMath>
                  </m:oMathPara>
                </a14:m>
                <a:endParaRPr lang="en-US" sz="14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85032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06000" y="2012138"/>
                <a:ext cx="685800" cy="6858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5033" name="AutoShape 9"/>
          <p:cNvCxnSpPr>
            <a:cxnSpLocks noChangeShapeType="1"/>
            <a:stCxn id="385028" idx="3"/>
            <a:endCxn id="385030" idx="7"/>
          </p:cNvCxnSpPr>
          <p:nvPr/>
        </p:nvCxnSpPr>
        <p:spPr bwMode="auto">
          <a:xfrm flipH="1">
            <a:off x="6833767" y="1460855"/>
            <a:ext cx="1420066" cy="65171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85034" name="AutoShape 10"/>
          <p:cNvCxnSpPr>
            <a:cxnSpLocks noChangeShapeType="1"/>
            <a:stCxn id="385028" idx="3"/>
            <a:endCxn id="385031" idx="0"/>
          </p:cNvCxnSpPr>
          <p:nvPr/>
        </p:nvCxnSpPr>
        <p:spPr bwMode="auto">
          <a:xfrm flipH="1">
            <a:off x="7429501" y="1460856"/>
            <a:ext cx="824333" cy="5512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85035" name="AutoShape 11"/>
          <p:cNvCxnSpPr>
            <a:cxnSpLocks noChangeShapeType="1"/>
            <a:stCxn id="385028" idx="5"/>
            <a:endCxn id="385032" idx="1"/>
          </p:cNvCxnSpPr>
          <p:nvPr/>
        </p:nvCxnSpPr>
        <p:spPr bwMode="auto">
          <a:xfrm>
            <a:off x="8738767" y="1460855"/>
            <a:ext cx="1267666" cy="65171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85036" name="Text Box 12"/>
          <p:cNvSpPr txBox="1">
            <a:spLocks noChangeArrowheads="1"/>
          </p:cNvSpPr>
          <p:nvPr/>
        </p:nvSpPr>
        <p:spPr bwMode="auto">
          <a:xfrm>
            <a:off x="7851830" y="2089927"/>
            <a:ext cx="3674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rbel" panose="020B0503020204020204" pitchFamily="34" charset="0"/>
                <a:cs typeface="Times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5037" name="Oval 13"/>
              <p:cNvSpPr>
                <a:spLocks noChangeArrowheads="1"/>
              </p:cNvSpPr>
              <p:nvPr/>
            </p:nvSpPr>
            <p:spPr bwMode="auto">
              <a:xfrm>
                <a:off x="8382000" y="2012138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𝐵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=1</m:t>
                      </m:r>
                    </m:oMath>
                  </m:oMathPara>
                </a14:m>
                <a:endParaRPr lang="en-US" sz="14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85037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0" y="2012138"/>
                <a:ext cx="685800" cy="68580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5038" name="Text Box 14"/>
          <p:cNvSpPr txBox="1">
            <a:spLocks noChangeArrowheads="1"/>
          </p:cNvSpPr>
          <p:nvPr/>
        </p:nvSpPr>
        <p:spPr bwMode="auto">
          <a:xfrm>
            <a:off x="9299630" y="2089927"/>
            <a:ext cx="3674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rbel" panose="020B0503020204020204" pitchFamily="34" charset="0"/>
                <a:cs typeface="Times"/>
              </a:rPr>
              <a:t>…</a:t>
            </a:r>
          </a:p>
        </p:txBody>
      </p:sp>
      <p:cxnSp>
        <p:nvCxnSpPr>
          <p:cNvPr id="385039" name="AutoShape 15"/>
          <p:cNvCxnSpPr>
            <a:cxnSpLocks noChangeShapeType="1"/>
            <a:stCxn id="385028" idx="4"/>
            <a:endCxn id="385037" idx="1"/>
          </p:cNvCxnSpPr>
          <p:nvPr/>
        </p:nvCxnSpPr>
        <p:spPr bwMode="auto">
          <a:xfrm flipH="1">
            <a:off x="8482434" y="1561289"/>
            <a:ext cx="13867" cy="55128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5040" name="Oval 16"/>
              <p:cNvSpPr>
                <a:spLocks noChangeArrowheads="1"/>
              </p:cNvSpPr>
              <p:nvPr/>
            </p:nvSpPr>
            <p:spPr bwMode="auto">
              <a:xfrm>
                <a:off x="5562600" y="3383738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𝐴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=1,</m:t>
                      </m:r>
                    </m:oMath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𝐵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=1</m:t>
                      </m:r>
                    </m:oMath>
                  </m:oMathPara>
                </a14:m>
                <a:endParaRPr lang="en-US" sz="14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85040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2600" y="3383738"/>
                <a:ext cx="685800" cy="6858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5041" name="Oval 17"/>
              <p:cNvSpPr>
                <a:spLocks noChangeArrowheads="1"/>
              </p:cNvSpPr>
              <p:nvPr/>
            </p:nvSpPr>
            <p:spPr bwMode="auto">
              <a:xfrm>
                <a:off x="6477000" y="3383738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𝐴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=1,</m:t>
                      </m:r>
                    </m:oMath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𝐵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=2</m:t>
                      </m:r>
                    </m:oMath>
                  </m:oMathPara>
                </a14:m>
                <a:endParaRPr lang="en-US" sz="14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85041" name="Oval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7000" y="3383738"/>
                <a:ext cx="685800" cy="68580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5042" name="Oval 18"/>
              <p:cNvSpPr>
                <a:spLocks noChangeArrowheads="1"/>
              </p:cNvSpPr>
              <p:nvPr/>
            </p:nvSpPr>
            <p:spPr bwMode="auto">
              <a:xfrm>
                <a:off x="8001000" y="3383738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𝐴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=1,</m:t>
                      </m:r>
                    </m:oMath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𝐶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=1</m:t>
                      </m:r>
                    </m:oMath>
                  </m:oMathPara>
                </a14:m>
                <a:endParaRPr lang="en-US" sz="14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85042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01000" y="3383738"/>
                <a:ext cx="685800" cy="68580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5043" name="Oval 19"/>
              <p:cNvSpPr>
                <a:spLocks noChangeArrowheads="1"/>
              </p:cNvSpPr>
              <p:nvPr/>
            </p:nvSpPr>
            <p:spPr bwMode="auto">
              <a:xfrm>
                <a:off x="9448800" y="3383738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𝐴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=1,</m:t>
                      </m:r>
                    </m:oMath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𝐷</m:t>
                      </m:r>
                      <m:r>
                        <a:rPr lang="en-US" sz="1400" i="1" dirty="0">
                          <a:latin typeface="Cambria Math" panose="02040503050406030204" pitchFamily="18" charset="0"/>
                          <a:cs typeface="Times"/>
                        </a:rPr>
                        <m:t>=3</m:t>
                      </m:r>
                    </m:oMath>
                  </m:oMathPara>
                </a14:m>
                <a:endParaRPr lang="en-US" sz="14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85043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48800" y="3383738"/>
                <a:ext cx="685800" cy="68580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5044" name="Text Box 20"/>
          <p:cNvSpPr txBox="1">
            <a:spLocks noChangeArrowheads="1"/>
          </p:cNvSpPr>
          <p:nvPr/>
        </p:nvSpPr>
        <p:spPr bwMode="auto">
          <a:xfrm>
            <a:off x="7315200" y="3455474"/>
            <a:ext cx="3674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rbel" panose="020B0503020204020204" pitchFamily="34" charset="0"/>
                <a:cs typeface="Times"/>
              </a:rPr>
              <a:t>…</a:t>
            </a:r>
          </a:p>
        </p:txBody>
      </p:sp>
      <p:sp>
        <p:nvSpPr>
          <p:cNvPr id="385045" name="Text Box 21"/>
          <p:cNvSpPr txBox="1">
            <a:spLocks noChangeArrowheads="1"/>
          </p:cNvSpPr>
          <p:nvPr/>
        </p:nvSpPr>
        <p:spPr bwMode="auto">
          <a:xfrm>
            <a:off x="8839200" y="3455474"/>
            <a:ext cx="3674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rbel" panose="020B0503020204020204" pitchFamily="34" charset="0"/>
                <a:cs typeface="Times"/>
              </a:rPr>
              <a:t>…</a:t>
            </a:r>
          </a:p>
        </p:txBody>
      </p:sp>
      <p:cxnSp>
        <p:nvCxnSpPr>
          <p:cNvPr id="385046" name="AutoShape 22"/>
          <p:cNvCxnSpPr>
            <a:cxnSpLocks noChangeShapeType="1"/>
            <a:stCxn id="385030" idx="3"/>
            <a:endCxn id="385040" idx="7"/>
          </p:cNvCxnSpPr>
          <p:nvPr/>
        </p:nvCxnSpPr>
        <p:spPr bwMode="auto">
          <a:xfrm flipH="1">
            <a:off x="6147967" y="2597505"/>
            <a:ext cx="200866" cy="88666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85047" name="AutoShape 23"/>
          <p:cNvCxnSpPr>
            <a:cxnSpLocks noChangeShapeType="1"/>
            <a:stCxn id="385030" idx="4"/>
            <a:endCxn id="385041" idx="0"/>
          </p:cNvCxnSpPr>
          <p:nvPr/>
        </p:nvCxnSpPr>
        <p:spPr bwMode="auto">
          <a:xfrm>
            <a:off x="6591300" y="2697938"/>
            <a:ext cx="2286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85048" name="AutoShape 24"/>
          <p:cNvCxnSpPr>
            <a:cxnSpLocks noChangeShapeType="1"/>
            <a:stCxn id="385030" idx="4"/>
            <a:endCxn id="385042" idx="1"/>
          </p:cNvCxnSpPr>
          <p:nvPr/>
        </p:nvCxnSpPr>
        <p:spPr bwMode="auto">
          <a:xfrm>
            <a:off x="6591301" y="2697939"/>
            <a:ext cx="1510133" cy="78623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85049" name="AutoShape 25"/>
          <p:cNvCxnSpPr>
            <a:cxnSpLocks noChangeShapeType="1"/>
            <a:stCxn id="385030" idx="5"/>
            <a:endCxn id="385043" idx="0"/>
          </p:cNvCxnSpPr>
          <p:nvPr/>
        </p:nvCxnSpPr>
        <p:spPr bwMode="auto">
          <a:xfrm>
            <a:off x="6833768" y="2597506"/>
            <a:ext cx="2957933" cy="78623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5050" name="Text Box 26"/>
              <p:cNvSpPr txBox="1">
                <a:spLocks noChangeArrowheads="1"/>
              </p:cNvSpPr>
              <p:nvPr/>
            </p:nvSpPr>
            <p:spPr bwMode="auto">
              <a:xfrm>
                <a:off x="3237057" y="4381608"/>
                <a:ext cx="7699087" cy="1754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𝑏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at depth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0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=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4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variables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×</m:t>
                    </m:r>
                    <m:r>
                      <a:rPr lang="en-US" b="0" i="1" dirty="0">
                        <a:latin typeface="Cambria Math" panose="02040503050406030204" pitchFamily="18" charset="0"/>
                        <a:cs typeface="Times"/>
                      </a:rPr>
                      <m:t>3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values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=12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states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𝑏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at 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1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3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×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3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=9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states</a:t>
                </a:r>
              </a:p>
              <a:p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cs typeface="Times"/>
                      </a:rPr>
                      <m:t>𝑏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at 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2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2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variables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cs typeface="Times"/>
                      </a:rPr>
                      <m:t>×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cs typeface="Times"/>
                      </a:rPr>
                      <m:t>3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values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6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states</a:t>
                </a:r>
              </a:p>
              <a:p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cs typeface="Times"/>
                      </a:rPr>
                      <m:t>𝑏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at 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3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1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variable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cs typeface="Times"/>
                      </a:rPr>
                      <m:t>×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  <a:cs typeface="Times"/>
                      </a:rPr>
                      <m:t>3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values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3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states</a:t>
                </a:r>
              </a:p>
              <a:p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At 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ℓ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"/>
                          </a:rPr>
                          <m:t>−ℓ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"/>
                      </a:rPr>
                      <m:t>𝑑</m:t>
                    </m:r>
                  </m:oMath>
                </a14:m>
                <a:endParaRPr lang="en-US" b="0" dirty="0">
                  <a:latin typeface="Corbel" panose="020B0503020204020204" pitchFamily="34" charset="0"/>
                  <a:cs typeface="Times"/>
                </a:endParaRPr>
              </a:p>
              <a:p>
                <a:pPr algn="ctr"/>
                <a:r>
                  <a:rPr lang="en-US" dirty="0">
                    <a:latin typeface="Corbel" panose="020B0503020204020204" pitchFamily="34" charset="0"/>
                    <a:cs typeface="Times"/>
                  </a:rPr>
                  <a:t>Total number of leaves =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"/>
                      </a:rPr>
                      <m:t>!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"/>
                          </a:rPr>
                          <m:t>𝒅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cs typeface="Times"/>
                          </a:rPr>
                          <m:t>𝒏</m:t>
                        </m:r>
                      </m:sup>
                    </m:sSup>
                  </m:oMath>
                </a14:m>
                <a:endParaRPr lang="en-US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385050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7057" y="4381608"/>
                <a:ext cx="7699087" cy="1754326"/>
              </a:xfrm>
              <a:prstGeom prst="rect">
                <a:avLst/>
              </a:prstGeom>
              <a:blipFill>
                <a:blip r:embed="rId21"/>
                <a:stretch>
                  <a:fillRect l="-493" t="-2158" b="-50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5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963334" y="152401"/>
            <a:ext cx="7704667" cy="758297"/>
          </a:xfrm>
        </p:spPr>
        <p:txBody>
          <a:bodyPr/>
          <a:lstStyle/>
          <a:p>
            <a:r>
              <a:rPr lang="en-US" dirty="0"/>
              <a:t>Backtracking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590800" y="1032935"/>
              <a:ext cx="7848600" cy="567266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590800" y="1032935"/>
              <a:ext cx="7848600" cy="567266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1" y="76201"/>
            <a:ext cx="7704667" cy="761999"/>
          </a:xfrm>
        </p:spPr>
        <p:txBody>
          <a:bodyPr/>
          <a:lstStyle/>
          <a:p>
            <a:r>
              <a:rPr lang="en-US" dirty="0"/>
              <a:t>Backtracking 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" name="Picture 3" descr="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198" y="874567"/>
            <a:ext cx="8629803" cy="578017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4648200" y="3810000"/>
            <a:ext cx="3429000" cy="4282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B8A773-8C80-174B-ACEB-50796531C15D}"/>
              </a:ext>
            </a:extLst>
          </p:cNvPr>
          <p:cNvSpPr/>
          <p:nvPr/>
        </p:nvSpPr>
        <p:spPr>
          <a:xfrm>
            <a:off x="2895601" y="2438400"/>
            <a:ext cx="4131129" cy="4282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C4DEFC-CC6E-3A4D-80B4-77EC92796049}"/>
              </a:ext>
            </a:extLst>
          </p:cNvPr>
          <p:cNvSpPr/>
          <p:nvPr/>
        </p:nvSpPr>
        <p:spPr>
          <a:xfrm>
            <a:off x="4191000" y="2772146"/>
            <a:ext cx="3276600" cy="4282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929044" y="76202"/>
            <a:ext cx="7704667" cy="914399"/>
          </a:xfrm>
        </p:spPr>
        <p:txBody>
          <a:bodyPr/>
          <a:lstStyle/>
          <a:p>
            <a:r>
              <a:rPr lang="en-US" dirty="0"/>
              <a:t>Backtracking Example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2590800" y="838200"/>
            <a:ext cx="7924800" cy="762000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Assign variables in the order of </a:t>
            </a:r>
            <a:r>
              <a:rPr lang="en-US" sz="3200" i="1" dirty="0">
                <a:latin typeface="Corbel" panose="020B0503020204020204" pitchFamily="34" charset="0"/>
                <a:cs typeface="Times"/>
              </a:rPr>
              <a:t>WA</a:t>
            </a:r>
            <a:r>
              <a:rPr lang="en-US" sz="3200" dirty="0">
                <a:latin typeface="Corbel" panose="020B0503020204020204" pitchFamily="34" charset="0"/>
                <a:cs typeface="Times"/>
              </a:rPr>
              <a:t>, </a:t>
            </a:r>
            <a:r>
              <a:rPr lang="en-US" sz="3200" i="1" dirty="0">
                <a:latin typeface="Corbel" panose="020B0503020204020204" pitchFamily="34" charset="0"/>
                <a:cs typeface="Times"/>
              </a:rPr>
              <a:t>NT</a:t>
            </a:r>
            <a:r>
              <a:rPr lang="en-US" sz="3200" dirty="0">
                <a:latin typeface="Corbel" panose="020B0503020204020204" pitchFamily="34" charset="0"/>
                <a:cs typeface="Times"/>
              </a:rPr>
              <a:t>, </a:t>
            </a:r>
            <a:r>
              <a:rPr lang="en-US" sz="3200" i="1" dirty="0">
                <a:latin typeface="Corbel" panose="020B0503020204020204" pitchFamily="34" charset="0"/>
                <a:cs typeface="Times"/>
              </a:rPr>
              <a:t>Q</a:t>
            </a:r>
            <a:r>
              <a:rPr lang="en-US" sz="3200" dirty="0">
                <a:latin typeface="Corbel" panose="020B0503020204020204" pitchFamily="34" charset="0"/>
                <a:cs typeface="Times"/>
              </a:rPr>
              <a:t>, …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88099" name="Picture 3" descr="backtrack-progress1c"/>
          <p:cNvPicPr>
            <a:picLocks noChangeAspect="1" noChangeArrowheads="1"/>
          </p:cNvPicPr>
          <p:nvPr/>
        </p:nvPicPr>
        <p:blipFill rotWithShape="1">
          <a:blip r:embed="rId3"/>
          <a:srcRect l="42195" r="40894" b="77895"/>
          <a:stretch/>
        </p:blipFill>
        <p:spPr bwMode="auto">
          <a:xfrm>
            <a:off x="7044193" y="1371601"/>
            <a:ext cx="1179619" cy="952769"/>
          </a:xfrm>
          <a:prstGeom prst="rect">
            <a:avLst/>
          </a:prstGeom>
          <a:noFill/>
        </p:spPr>
      </p:pic>
      <p:pic>
        <p:nvPicPr>
          <p:cNvPr id="6" name="Picture 3" descr="backtrack-progress1c"/>
          <p:cNvPicPr>
            <a:picLocks noChangeAspect="1" noChangeArrowheads="1"/>
          </p:cNvPicPr>
          <p:nvPr/>
        </p:nvPicPr>
        <p:blipFill rotWithShape="1">
          <a:blip r:embed="rId3"/>
          <a:srcRect l="42195" r="40894" b="77895"/>
          <a:stretch/>
        </p:blipFill>
        <p:spPr bwMode="auto">
          <a:xfrm>
            <a:off x="5896333" y="2734449"/>
            <a:ext cx="1179619" cy="952769"/>
          </a:xfrm>
          <a:prstGeom prst="rect">
            <a:avLst/>
          </a:prstGeom>
          <a:noFill/>
        </p:spPr>
      </p:pic>
      <p:pic>
        <p:nvPicPr>
          <p:cNvPr id="7" name="Picture 3" descr="backtrack-progress1c"/>
          <p:cNvPicPr>
            <a:picLocks noChangeAspect="1" noChangeArrowheads="1"/>
          </p:cNvPicPr>
          <p:nvPr/>
        </p:nvPicPr>
        <p:blipFill rotWithShape="1">
          <a:blip r:embed="rId3"/>
          <a:srcRect l="42195" r="40894" b="77895"/>
          <a:stretch/>
        </p:blipFill>
        <p:spPr bwMode="auto">
          <a:xfrm>
            <a:off x="7082757" y="2734449"/>
            <a:ext cx="1179619" cy="952769"/>
          </a:xfrm>
          <a:prstGeom prst="rect">
            <a:avLst/>
          </a:prstGeom>
          <a:noFill/>
        </p:spPr>
      </p:pic>
      <p:pic>
        <p:nvPicPr>
          <p:cNvPr id="8" name="Picture 3" descr="backtrack-progress1c"/>
          <p:cNvPicPr>
            <a:picLocks noChangeAspect="1" noChangeArrowheads="1"/>
          </p:cNvPicPr>
          <p:nvPr/>
        </p:nvPicPr>
        <p:blipFill rotWithShape="1">
          <a:blip r:embed="rId3"/>
          <a:srcRect l="42195" r="40894" b="77895"/>
          <a:stretch/>
        </p:blipFill>
        <p:spPr bwMode="auto">
          <a:xfrm>
            <a:off x="8269182" y="2734449"/>
            <a:ext cx="1179619" cy="952769"/>
          </a:xfrm>
          <a:prstGeom prst="rect">
            <a:avLst/>
          </a:prstGeom>
          <a:noFill/>
        </p:spPr>
      </p:pic>
      <p:pic>
        <p:nvPicPr>
          <p:cNvPr id="9" name="Picture 3" descr="backtrack-progress1c"/>
          <p:cNvPicPr>
            <a:picLocks noChangeAspect="1" noChangeArrowheads="1"/>
          </p:cNvPicPr>
          <p:nvPr/>
        </p:nvPicPr>
        <p:blipFill rotWithShape="1">
          <a:blip r:embed="rId3"/>
          <a:srcRect l="42195" r="40894" b="77895"/>
          <a:stretch/>
        </p:blipFill>
        <p:spPr bwMode="auto">
          <a:xfrm>
            <a:off x="4496669" y="4076432"/>
            <a:ext cx="1179619" cy="952769"/>
          </a:xfrm>
          <a:prstGeom prst="rect">
            <a:avLst/>
          </a:prstGeom>
          <a:noFill/>
        </p:spPr>
      </p:pic>
      <p:pic>
        <p:nvPicPr>
          <p:cNvPr id="10" name="Picture 3" descr="backtrack-progress1c"/>
          <p:cNvPicPr>
            <a:picLocks noChangeAspect="1" noChangeArrowheads="1"/>
          </p:cNvPicPr>
          <p:nvPr/>
        </p:nvPicPr>
        <p:blipFill rotWithShape="1">
          <a:blip r:embed="rId3"/>
          <a:srcRect l="42195" r="40894" b="77895"/>
          <a:stretch/>
        </p:blipFill>
        <p:spPr bwMode="auto">
          <a:xfrm>
            <a:off x="5683094" y="4076432"/>
            <a:ext cx="1179619" cy="952769"/>
          </a:xfrm>
          <a:prstGeom prst="rect">
            <a:avLst/>
          </a:prstGeom>
          <a:noFill/>
        </p:spPr>
      </p:pic>
      <p:pic>
        <p:nvPicPr>
          <p:cNvPr id="12" name="Picture 3" descr="backtrack-progress1c"/>
          <p:cNvPicPr>
            <a:picLocks noChangeAspect="1" noChangeArrowheads="1"/>
          </p:cNvPicPr>
          <p:nvPr/>
        </p:nvPicPr>
        <p:blipFill rotWithShape="1">
          <a:blip r:embed="rId3"/>
          <a:srcRect l="42195" r="40894" b="77895"/>
          <a:stretch/>
        </p:blipFill>
        <p:spPr bwMode="auto">
          <a:xfrm>
            <a:off x="3028951" y="5371832"/>
            <a:ext cx="1179619" cy="952769"/>
          </a:xfrm>
          <a:prstGeom prst="rect">
            <a:avLst/>
          </a:prstGeom>
          <a:noFill/>
        </p:spPr>
      </p:pic>
      <p:pic>
        <p:nvPicPr>
          <p:cNvPr id="13" name="Picture 3" descr="backtrack-progress1c"/>
          <p:cNvPicPr>
            <a:picLocks noChangeAspect="1" noChangeArrowheads="1"/>
          </p:cNvPicPr>
          <p:nvPr/>
        </p:nvPicPr>
        <p:blipFill rotWithShape="1">
          <a:blip r:embed="rId3"/>
          <a:srcRect l="42195" r="40894" b="77895"/>
          <a:stretch/>
        </p:blipFill>
        <p:spPr bwMode="auto">
          <a:xfrm>
            <a:off x="4215376" y="5371832"/>
            <a:ext cx="1179619" cy="952769"/>
          </a:xfrm>
          <a:prstGeom prst="rect">
            <a:avLst/>
          </a:prstGeom>
          <a:noFill/>
        </p:spPr>
      </p:pic>
      <p:sp>
        <p:nvSpPr>
          <p:cNvPr id="2" name="Freeform 1"/>
          <p:cNvSpPr/>
          <p:nvPr/>
        </p:nvSpPr>
        <p:spPr>
          <a:xfrm>
            <a:off x="6085754" y="2986817"/>
            <a:ext cx="255207" cy="402659"/>
          </a:xfrm>
          <a:custGeom>
            <a:avLst/>
            <a:gdLst>
              <a:gd name="connsiteX0" fmla="*/ 190500 w 214313"/>
              <a:gd name="connsiteY0" fmla="*/ 28575 h 338138"/>
              <a:gd name="connsiteX1" fmla="*/ 214313 w 214313"/>
              <a:gd name="connsiteY1" fmla="*/ 304800 h 338138"/>
              <a:gd name="connsiteX2" fmla="*/ 85725 w 214313"/>
              <a:gd name="connsiteY2" fmla="*/ 338138 h 338138"/>
              <a:gd name="connsiteX3" fmla="*/ 23813 w 214313"/>
              <a:gd name="connsiteY3" fmla="*/ 242888 h 338138"/>
              <a:gd name="connsiteX4" fmla="*/ 0 w 214313"/>
              <a:gd name="connsiteY4" fmla="*/ 176213 h 338138"/>
              <a:gd name="connsiteX5" fmla="*/ 95250 w 214313"/>
              <a:gd name="connsiteY5" fmla="*/ 76200 h 338138"/>
              <a:gd name="connsiteX6" fmla="*/ 142875 w 214313"/>
              <a:gd name="connsiteY6" fmla="*/ 0 h 338138"/>
              <a:gd name="connsiteX7" fmla="*/ 190500 w 214313"/>
              <a:gd name="connsiteY7" fmla="*/ 28575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313" h="338138">
                <a:moveTo>
                  <a:pt x="190500" y="28575"/>
                </a:moveTo>
                <a:lnTo>
                  <a:pt x="214313" y="304800"/>
                </a:lnTo>
                <a:lnTo>
                  <a:pt x="85725" y="338138"/>
                </a:lnTo>
                <a:lnTo>
                  <a:pt x="23813" y="242888"/>
                </a:lnTo>
                <a:lnTo>
                  <a:pt x="0" y="176213"/>
                </a:lnTo>
                <a:lnTo>
                  <a:pt x="95250" y="76200"/>
                </a:lnTo>
                <a:lnTo>
                  <a:pt x="142875" y="0"/>
                </a:lnTo>
                <a:lnTo>
                  <a:pt x="190500" y="28575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7253287" y="2986817"/>
            <a:ext cx="255207" cy="402659"/>
          </a:xfrm>
          <a:custGeom>
            <a:avLst/>
            <a:gdLst>
              <a:gd name="connsiteX0" fmla="*/ 190500 w 214313"/>
              <a:gd name="connsiteY0" fmla="*/ 28575 h 338138"/>
              <a:gd name="connsiteX1" fmla="*/ 214313 w 214313"/>
              <a:gd name="connsiteY1" fmla="*/ 304800 h 338138"/>
              <a:gd name="connsiteX2" fmla="*/ 85725 w 214313"/>
              <a:gd name="connsiteY2" fmla="*/ 338138 h 338138"/>
              <a:gd name="connsiteX3" fmla="*/ 23813 w 214313"/>
              <a:gd name="connsiteY3" fmla="*/ 242888 h 338138"/>
              <a:gd name="connsiteX4" fmla="*/ 0 w 214313"/>
              <a:gd name="connsiteY4" fmla="*/ 176213 h 338138"/>
              <a:gd name="connsiteX5" fmla="*/ 95250 w 214313"/>
              <a:gd name="connsiteY5" fmla="*/ 76200 h 338138"/>
              <a:gd name="connsiteX6" fmla="*/ 142875 w 214313"/>
              <a:gd name="connsiteY6" fmla="*/ 0 h 338138"/>
              <a:gd name="connsiteX7" fmla="*/ 190500 w 214313"/>
              <a:gd name="connsiteY7" fmla="*/ 28575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313" h="338138">
                <a:moveTo>
                  <a:pt x="190500" y="28575"/>
                </a:moveTo>
                <a:lnTo>
                  <a:pt x="214313" y="304800"/>
                </a:lnTo>
                <a:lnTo>
                  <a:pt x="85725" y="338138"/>
                </a:lnTo>
                <a:lnTo>
                  <a:pt x="23813" y="242888"/>
                </a:lnTo>
                <a:lnTo>
                  <a:pt x="0" y="176213"/>
                </a:lnTo>
                <a:lnTo>
                  <a:pt x="95250" y="76200"/>
                </a:lnTo>
                <a:lnTo>
                  <a:pt x="142875" y="0"/>
                </a:lnTo>
                <a:lnTo>
                  <a:pt x="190500" y="28575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8460867" y="2986817"/>
            <a:ext cx="255207" cy="402659"/>
          </a:xfrm>
          <a:custGeom>
            <a:avLst/>
            <a:gdLst>
              <a:gd name="connsiteX0" fmla="*/ 190500 w 214313"/>
              <a:gd name="connsiteY0" fmla="*/ 28575 h 338138"/>
              <a:gd name="connsiteX1" fmla="*/ 214313 w 214313"/>
              <a:gd name="connsiteY1" fmla="*/ 304800 h 338138"/>
              <a:gd name="connsiteX2" fmla="*/ 85725 w 214313"/>
              <a:gd name="connsiteY2" fmla="*/ 338138 h 338138"/>
              <a:gd name="connsiteX3" fmla="*/ 23813 w 214313"/>
              <a:gd name="connsiteY3" fmla="*/ 242888 h 338138"/>
              <a:gd name="connsiteX4" fmla="*/ 0 w 214313"/>
              <a:gd name="connsiteY4" fmla="*/ 176213 h 338138"/>
              <a:gd name="connsiteX5" fmla="*/ 95250 w 214313"/>
              <a:gd name="connsiteY5" fmla="*/ 76200 h 338138"/>
              <a:gd name="connsiteX6" fmla="*/ 142875 w 214313"/>
              <a:gd name="connsiteY6" fmla="*/ 0 h 338138"/>
              <a:gd name="connsiteX7" fmla="*/ 190500 w 214313"/>
              <a:gd name="connsiteY7" fmla="*/ 28575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313" h="338138">
                <a:moveTo>
                  <a:pt x="190500" y="28575"/>
                </a:moveTo>
                <a:lnTo>
                  <a:pt x="214313" y="304800"/>
                </a:lnTo>
                <a:lnTo>
                  <a:pt x="85725" y="338138"/>
                </a:lnTo>
                <a:lnTo>
                  <a:pt x="23813" y="242888"/>
                </a:lnTo>
                <a:lnTo>
                  <a:pt x="0" y="176213"/>
                </a:lnTo>
                <a:lnTo>
                  <a:pt x="95250" y="76200"/>
                </a:lnTo>
                <a:lnTo>
                  <a:pt x="142875" y="0"/>
                </a:lnTo>
                <a:lnTo>
                  <a:pt x="190500" y="28575"/>
                </a:lnTo>
                <a:close/>
              </a:path>
            </a:pathLst>
          </a:cu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4680424" y="4324707"/>
            <a:ext cx="255207" cy="402659"/>
          </a:xfrm>
          <a:custGeom>
            <a:avLst/>
            <a:gdLst>
              <a:gd name="connsiteX0" fmla="*/ 190500 w 214313"/>
              <a:gd name="connsiteY0" fmla="*/ 28575 h 338138"/>
              <a:gd name="connsiteX1" fmla="*/ 214313 w 214313"/>
              <a:gd name="connsiteY1" fmla="*/ 304800 h 338138"/>
              <a:gd name="connsiteX2" fmla="*/ 85725 w 214313"/>
              <a:gd name="connsiteY2" fmla="*/ 338138 h 338138"/>
              <a:gd name="connsiteX3" fmla="*/ 23813 w 214313"/>
              <a:gd name="connsiteY3" fmla="*/ 242888 h 338138"/>
              <a:gd name="connsiteX4" fmla="*/ 0 w 214313"/>
              <a:gd name="connsiteY4" fmla="*/ 176213 h 338138"/>
              <a:gd name="connsiteX5" fmla="*/ 95250 w 214313"/>
              <a:gd name="connsiteY5" fmla="*/ 76200 h 338138"/>
              <a:gd name="connsiteX6" fmla="*/ 142875 w 214313"/>
              <a:gd name="connsiteY6" fmla="*/ 0 h 338138"/>
              <a:gd name="connsiteX7" fmla="*/ 190500 w 214313"/>
              <a:gd name="connsiteY7" fmla="*/ 28575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313" h="338138">
                <a:moveTo>
                  <a:pt x="190500" y="28575"/>
                </a:moveTo>
                <a:lnTo>
                  <a:pt x="214313" y="304800"/>
                </a:lnTo>
                <a:lnTo>
                  <a:pt x="85725" y="338138"/>
                </a:lnTo>
                <a:lnTo>
                  <a:pt x="23813" y="242888"/>
                </a:lnTo>
                <a:lnTo>
                  <a:pt x="0" y="176213"/>
                </a:lnTo>
                <a:lnTo>
                  <a:pt x="95250" y="76200"/>
                </a:lnTo>
                <a:lnTo>
                  <a:pt x="142875" y="0"/>
                </a:lnTo>
                <a:lnTo>
                  <a:pt x="190500" y="28575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5870816" y="4321742"/>
            <a:ext cx="255207" cy="402659"/>
          </a:xfrm>
          <a:custGeom>
            <a:avLst/>
            <a:gdLst>
              <a:gd name="connsiteX0" fmla="*/ 190500 w 214313"/>
              <a:gd name="connsiteY0" fmla="*/ 28575 h 338138"/>
              <a:gd name="connsiteX1" fmla="*/ 214313 w 214313"/>
              <a:gd name="connsiteY1" fmla="*/ 304800 h 338138"/>
              <a:gd name="connsiteX2" fmla="*/ 85725 w 214313"/>
              <a:gd name="connsiteY2" fmla="*/ 338138 h 338138"/>
              <a:gd name="connsiteX3" fmla="*/ 23813 w 214313"/>
              <a:gd name="connsiteY3" fmla="*/ 242888 h 338138"/>
              <a:gd name="connsiteX4" fmla="*/ 0 w 214313"/>
              <a:gd name="connsiteY4" fmla="*/ 176213 h 338138"/>
              <a:gd name="connsiteX5" fmla="*/ 95250 w 214313"/>
              <a:gd name="connsiteY5" fmla="*/ 76200 h 338138"/>
              <a:gd name="connsiteX6" fmla="*/ 142875 w 214313"/>
              <a:gd name="connsiteY6" fmla="*/ 0 h 338138"/>
              <a:gd name="connsiteX7" fmla="*/ 190500 w 214313"/>
              <a:gd name="connsiteY7" fmla="*/ 28575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313" h="338138">
                <a:moveTo>
                  <a:pt x="190500" y="28575"/>
                </a:moveTo>
                <a:lnTo>
                  <a:pt x="214313" y="304800"/>
                </a:lnTo>
                <a:lnTo>
                  <a:pt x="85725" y="338138"/>
                </a:lnTo>
                <a:lnTo>
                  <a:pt x="23813" y="242888"/>
                </a:lnTo>
                <a:lnTo>
                  <a:pt x="0" y="176213"/>
                </a:lnTo>
                <a:lnTo>
                  <a:pt x="95250" y="76200"/>
                </a:lnTo>
                <a:lnTo>
                  <a:pt x="142875" y="0"/>
                </a:lnTo>
                <a:lnTo>
                  <a:pt x="190500" y="28575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4968516" y="4303281"/>
            <a:ext cx="201330" cy="226850"/>
          </a:xfrm>
          <a:custGeom>
            <a:avLst/>
            <a:gdLst>
              <a:gd name="connsiteX0" fmla="*/ 26194 w 169069"/>
              <a:gd name="connsiteY0" fmla="*/ 9525 h 190500"/>
              <a:gd name="connsiteX1" fmla="*/ 107156 w 169069"/>
              <a:gd name="connsiteY1" fmla="*/ 0 h 190500"/>
              <a:gd name="connsiteX2" fmla="*/ 97631 w 169069"/>
              <a:gd name="connsiteY2" fmla="*/ 35719 h 190500"/>
              <a:gd name="connsiteX3" fmla="*/ 169069 w 169069"/>
              <a:gd name="connsiteY3" fmla="*/ 78581 h 190500"/>
              <a:gd name="connsiteX4" fmla="*/ 166688 w 169069"/>
              <a:gd name="connsiteY4" fmla="*/ 190500 h 190500"/>
              <a:gd name="connsiteX5" fmla="*/ 7144 w 169069"/>
              <a:gd name="connsiteY5" fmla="*/ 188119 h 190500"/>
              <a:gd name="connsiteX6" fmla="*/ 2381 w 169069"/>
              <a:gd name="connsiteY6" fmla="*/ 92869 h 190500"/>
              <a:gd name="connsiteX7" fmla="*/ 0 w 169069"/>
              <a:gd name="connsiteY7" fmla="*/ 57150 h 190500"/>
              <a:gd name="connsiteX8" fmla="*/ 26194 w 169069"/>
              <a:gd name="connsiteY8" fmla="*/ 9525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9069" h="190500">
                <a:moveTo>
                  <a:pt x="26194" y="9525"/>
                </a:moveTo>
                <a:lnTo>
                  <a:pt x="107156" y="0"/>
                </a:lnTo>
                <a:lnTo>
                  <a:pt x="97631" y="35719"/>
                </a:lnTo>
                <a:lnTo>
                  <a:pt x="169069" y="78581"/>
                </a:lnTo>
                <a:cubicBezTo>
                  <a:pt x="168275" y="115887"/>
                  <a:pt x="167482" y="153194"/>
                  <a:pt x="166688" y="190500"/>
                </a:cubicBezTo>
                <a:lnTo>
                  <a:pt x="7144" y="188119"/>
                </a:lnTo>
                <a:lnTo>
                  <a:pt x="2381" y="92869"/>
                </a:lnTo>
                <a:lnTo>
                  <a:pt x="0" y="57150"/>
                </a:lnTo>
                <a:lnTo>
                  <a:pt x="26194" y="9525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>
          <a:xfrm>
            <a:off x="6153809" y="4296221"/>
            <a:ext cx="201330" cy="226850"/>
          </a:xfrm>
          <a:custGeom>
            <a:avLst/>
            <a:gdLst>
              <a:gd name="connsiteX0" fmla="*/ 26194 w 169069"/>
              <a:gd name="connsiteY0" fmla="*/ 9525 h 190500"/>
              <a:gd name="connsiteX1" fmla="*/ 107156 w 169069"/>
              <a:gd name="connsiteY1" fmla="*/ 0 h 190500"/>
              <a:gd name="connsiteX2" fmla="*/ 97631 w 169069"/>
              <a:gd name="connsiteY2" fmla="*/ 35719 h 190500"/>
              <a:gd name="connsiteX3" fmla="*/ 169069 w 169069"/>
              <a:gd name="connsiteY3" fmla="*/ 78581 h 190500"/>
              <a:gd name="connsiteX4" fmla="*/ 166688 w 169069"/>
              <a:gd name="connsiteY4" fmla="*/ 190500 h 190500"/>
              <a:gd name="connsiteX5" fmla="*/ 7144 w 169069"/>
              <a:gd name="connsiteY5" fmla="*/ 188119 h 190500"/>
              <a:gd name="connsiteX6" fmla="*/ 2381 w 169069"/>
              <a:gd name="connsiteY6" fmla="*/ 92869 h 190500"/>
              <a:gd name="connsiteX7" fmla="*/ 0 w 169069"/>
              <a:gd name="connsiteY7" fmla="*/ 57150 h 190500"/>
              <a:gd name="connsiteX8" fmla="*/ 26194 w 169069"/>
              <a:gd name="connsiteY8" fmla="*/ 9525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9069" h="190500">
                <a:moveTo>
                  <a:pt x="26194" y="9525"/>
                </a:moveTo>
                <a:lnTo>
                  <a:pt x="107156" y="0"/>
                </a:lnTo>
                <a:lnTo>
                  <a:pt x="97631" y="35719"/>
                </a:lnTo>
                <a:lnTo>
                  <a:pt x="169069" y="78581"/>
                </a:lnTo>
                <a:cubicBezTo>
                  <a:pt x="168275" y="115887"/>
                  <a:pt x="167482" y="153194"/>
                  <a:pt x="166688" y="190500"/>
                </a:cubicBezTo>
                <a:lnTo>
                  <a:pt x="7144" y="188119"/>
                </a:lnTo>
                <a:lnTo>
                  <a:pt x="2381" y="92869"/>
                </a:lnTo>
                <a:lnTo>
                  <a:pt x="0" y="57150"/>
                </a:lnTo>
                <a:lnTo>
                  <a:pt x="26194" y="9525"/>
                </a:lnTo>
                <a:close/>
              </a:path>
            </a:pathLst>
          </a:cu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3214413" y="5624201"/>
            <a:ext cx="255207" cy="402659"/>
          </a:xfrm>
          <a:custGeom>
            <a:avLst/>
            <a:gdLst>
              <a:gd name="connsiteX0" fmla="*/ 190500 w 214313"/>
              <a:gd name="connsiteY0" fmla="*/ 28575 h 338138"/>
              <a:gd name="connsiteX1" fmla="*/ 214313 w 214313"/>
              <a:gd name="connsiteY1" fmla="*/ 304800 h 338138"/>
              <a:gd name="connsiteX2" fmla="*/ 85725 w 214313"/>
              <a:gd name="connsiteY2" fmla="*/ 338138 h 338138"/>
              <a:gd name="connsiteX3" fmla="*/ 23813 w 214313"/>
              <a:gd name="connsiteY3" fmla="*/ 242888 h 338138"/>
              <a:gd name="connsiteX4" fmla="*/ 0 w 214313"/>
              <a:gd name="connsiteY4" fmla="*/ 176213 h 338138"/>
              <a:gd name="connsiteX5" fmla="*/ 95250 w 214313"/>
              <a:gd name="connsiteY5" fmla="*/ 76200 h 338138"/>
              <a:gd name="connsiteX6" fmla="*/ 142875 w 214313"/>
              <a:gd name="connsiteY6" fmla="*/ 0 h 338138"/>
              <a:gd name="connsiteX7" fmla="*/ 190500 w 214313"/>
              <a:gd name="connsiteY7" fmla="*/ 28575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313" h="338138">
                <a:moveTo>
                  <a:pt x="190500" y="28575"/>
                </a:moveTo>
                <a:lnTo>
                  <a:pt x="214313" y="304800"/>
                </a:lnTo>
                <a:lnTo>
                  <a:pt x="85725" y="338138"/>
                </a:lnTo>
                <a:lnTo>
                  <a:pt x="23813" y="242888"/>
                </a:lnTo>
                <a:lnTo>
                  <a:pt x="0" y="176213"/>
                </a:lnTo>
                <a:lnTo>
                  <a:pt x="95250" y="76200"/>
                </a:lnTo>
                <a:lnTo>
                  <a:pt x="142875" y="0"/>
                </a:lnTo>
                <a:lnTo>
                  <a:pt x="190500" y="28575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3502505" y="5602774"/>
            <a:ext cx="201330" cy="226850"/>
          </a:xfrm>
          <a:custGeom>
            <a:avLst/>
            <a:gdLst>
              <a:gd name="connsiteX0" fmla="*/ 26194 w 169069"/>
              <a:gd name="connsiteY0" fmla="*/ 9525 h 190500"/>
              <a:gd name="connsiteX1" fmla="*/ 107156 w 169069"/>
              <a:gd name="connsiteY1" fmla="*/ 0 h 190500"/>
              <a:gd name="connsiteX2" fmla="*/ 97631 w 169069"/>
              <a:gd name="connsiteY2" fmla="*/ 35719 h 190500"/>
              <a:gd name="connsiteX3" fmla="*/ 169069 w 169069"/>
              <a:gd name="connsiteY3" fmla="*/ 78581 h 190500"/>
              <a:gd name="connsiteX4" fmla="*/ 166688 w 169069"/>
              <a:gd name="connsiteY4" fmla="*/ 190500 h 190500"/>
              <a:gd name="connsiteX5" fmla="*/ 7144 w 169069"/>
              <a:gd name="connsiteY5" fmla="*/ 188119 h 190500"/>
              <a:gd name="connsiteX6" fmla="*/ 2381 w 169069"/>
              <a:gd name="connsiteY6" fmla="*/ 92869 h 190500"/>
              <a:gd name="connsiteX7" fmla="*/ 0 w 169069"/>
              <a:gd name="connsiteY7" fmla="*/ 57150 h 190500"/>
              <a:gd name="connsiteX8" fmla="*/ 26194 w 169069"/>
              <a:gd name="connsiteY8" fmla="*/ 9525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9069" h="190500">
                <a:moveTo>
                  <a:pt x="26194" y="9525"/>
                </a:moveTo>
                <a:lnTo>
                  <a:pt x="107156" y="0"/>
                </a:lnTo>
                <a:lnTo>
                  <a:pt x="97631" y="35719"/>
                </a:lnTo>
                <a:lnTo>
                  <a:pt x="169069" y="78581"/>
                </a:lnTo>
                <a:cubicBezTo>
                  <a:pt x="168275" y="115887"/>
                  <a:pt x="167482" y="153194"/>
                  <a:pt x="166688" y="190500"/>
                </a:cubicBezTo>
                <a:lnTo>
                  <a:pt x="7144" y="188119"/>
                </a:lnTo>
                <a:lnTo>
                  <a:pt x="2381" y="92869"/>
                </a:lnTo>
                <a:lnTo>
                  <a:pt x="0" y="57150"/>
                </a:lnTo>
                <a:lnTo>
                  <a:pt x="26194" y="9525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4396867" y="5621365"/>
            <a:ext cx="255207" cy="402659"/>
          </a:xfrm>
          <a:custGeom>
            <a:avLst/>
            <a:gdLst>
              <a:gd name="connsiteX0" fmla="*/ 190500 w 214313"/>
              <a:gd name="connsiteY0" fmla="*/ 28575 h 338138"/>
              <a:gd name="connsiteX1" fmla="*/ 214313 w 214313"/>
              <a:gd name="connsiteY1" fmla="*/ 304800 h 338138"/>
              <a:gd name="connsiteX2" fmla="*/ 85725 w 214313"/>
              <a:gd name="connsiteY2" fmla="*/ 338138 h 338138"/>
              <a:gd name="connsiteX3" fmla="*/ 23813 w 214313"/>
              <a:gd name="connsiteY3" fmla="*/ 242888 h 338138"/>
              <a:gd name="connsiteX4" fmla="*/ 0 w 214313"/>
              <a:gd name="connsiteY4" fmla="*/ 176213 h 338138"/>
              <a:gd name="connsiteX5" fmla="*/ 95250 w 214313"/>
              <a:gd name="connsiteY5" fmla="*/ 76200 h 338138"/>
              <a:gd name="connsiteX6" fmla="*/ 142875 w 214313"/>
              <a:gd name="connsiteY6" fmla="*/ 0 h 338138"/>
              <a:gd name="connsiteX7" fmla="*/ 190500 w 214313"/>
              <a:gd name="connsiteY7" fmla="*/ 28575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313" h="338138">
                <a:moveTo>
                  <a:pt x="190500" y="28575"/>
                </a:moveTo>
                <a:lnTo>
                  <a:pt x="214313" y="304800"/>
                </a:lnTo>
                <a:lnTo>
                  <a:pt x="85725" y="338138"/>
                </a:lnTo>
                <a:lnTo>
                  <a:pt x="23813" y="242888"/>
                </a:lnTo>
                <a:lnTo>
                  <a:pt x="0" y="176213"/>
                </a:lnTo>
                <a:lnTo>
                  <a:pt x="95250" y="76200"/>
                </a:lnTo>
                <a:lnTo>
                  <a:pt x="142875" y="0"/>
                </a:lnTo>
                <a:lnTo>
                  <a:pt x="190500" y="28575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4684960" y="5599939"/>
            <a:ext cx="201330" cy="226850"/>
          </a:xfrm>
          <a:custGeom>
            <a:avLst/>
            <a:gdLst>
              <a:gd name="connsiteX0" fmla="*/ 26194 w 169069"/>
              <a:gd name="connsiteY0" fmla="*/ 9525 h 190500"/>
              <a:gd name="connsiteX1" fmla="*/ 107156 w 169069"/>
              <a:gd name="connsiteY1" fmla="*/ 0 h 190500"/>
              <a:gd name="connsiteX2" fmla="*/ 97631 w 169069"/>
              <a:gd name="connsiteY2" fmla="*/ 35719 h 190500"/>
              <a:gd name="connsiteX3" fmla="*/ 169069 w 169069"/>
              <a:gd name="connsiteY3" fmla="*/ 78581 h 190500"/>
              <a:gd name="connsiteX4" fmla="*/ 166688 w 169069"/>
              <a:gd name="connsiteY4" fmla="*/ 190500 h 190500"/>
              <a:gd name="connsiteX5" fmla="*/ 7144 w 169069"/>
              <a:gd name="connsiteY5" fmla="*/ 188119 h 190500"/>
              <a:gd name="connsiteX6" fmla="*/ 2381 w 169069"/>
              <a:gd name="connsiteY6" fmla="*/ 92869 h 190500"/>
              <a:gd name="connsiteX7" fmla="*/ 0 w 169069"/>
              <a:gd name="connsiteY7" fmla="*/ 57150 h 190500"/>
              <a:gd name="connsiteX8" fmla="*/ 26194 w 169069"/>
              <a:gd name="connsiteY8" fmla="*/ 9525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9069" h="190500">
                <a:moveTo>
                  <a:pt x="26194" y="9525"/>
                </a:moveTo>
                <a:lnTo>
                  <a:pt x="107156" y="0"/>
                </a:lnTo>
                <a:lnTo>
                  <a:pt x="97631" y="35719"/>
                </a:lnTo>
                <a:lnTo>
                  <a:pt x="169069" y="78581"/>
                </a:lnTo>
                <a:cubicBezTo>
                  <a:pt x="168275" y="115887"/>
                  <a:pt x="167482" y="153194"/>
                  <a:pt x="166688" y="190500"/>
                </a:cubicBezTo>
                <a:lnTo>
                  <a:pt x="7144" y="188119"/>
                </a:lnTo>
                <a:lnTo>
                  <a:pt x="2381" y="92869"/>
                </a:lnTo>
                <a:lnTo>
                  <a:pt x="0" y="57150"/>
                </a:lnTo>
                <a:lnTo>
                  <a:pt x="26194" y="9525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3729349" y="5604352"/>
            <a:ext cx="286398" cy="292068"/>
          </a:xfrm>
          <a:custGeom>
            <a:avLst/>
            <a:gdLst>
              <a:gd name="connsiteX0" fmla="*/ 83344 w 240506"/>
              <a:gd name="connsiteY0" fmla="*/ 0 h 245268"/>
              <a:gd name="connsiteX1" fmla="*/ 123825 w 240506"/>
              <a:gd name="connsiteY1" fmla="*/ 33337 h 245268"/>
              <a:gd name="connsiteX2" fmla="*/ 138112 w 240506"/>
              <a:gd name="connsiteY2" fmla="*/ 121443 h 245268"/>
              <a:gd name="connsiteX3" fmla="*/ 197644 w 240506"/>
              <a:gd name="connsiteY3" fmla="*/ 173831 h 245268"/>
              <a:gd name="connsiteX4" fmla="*/ 226219 w 240506"/>
              <a:gd name="connsiteY4" fmla="*/ 192881 h 245268"/>
              <a:gd name="connsiteX5" fmla="*/ 240506 w 240506"/>
              <a:gd name="connsiteY5" fmla="*/ 245268 h 245268"/>
              <a:gd name="connsiteX6" fmla="*/ 69056 w 240506"/>
              <a:gd name="connsiteY6" fmla="*/ 235743 h 245268"/>
              <a:gd name="connsiteX7" fmla="*/ 66675 w 240506"/>
              <a:gd name="connsiteY7" fmla="*/ 192881 h 245268"/>
              <a:gd name="connsiteX8" fmla="*/ 0 w 240506"/>
              <a:gd name="connsiteY8" fmla="*/ 185737 h 245268"/>
              <a:gd name="connsiteX9" fmla="*/ 4762 w 240506"/>
              <a:gd name="connsiteY9" fmla="*/ 88106 h 245268"/>
              <a:gd name="connsiteX10" fmla="*/ 54769 w 240506"/>
              <a:gd name="connsiteY10" fmla="*/ 100012 h 245268"/>
              <a:gd name="connsiteX11" fmla="*/ 83344 w 240506"/>
              <a:gd name="connsiteY11" fmla="*/ 64293 h 245268"/>
              <a:gd name="connsiteX12" fmla="*/ 83344 w 240506"/>
              <a:gd name="connsiteY12" fmla="*/ 0 h 245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0506" h="245268">
                <a:moveTo>
                  <a:pt x="83344" y="0"/>
                </a:moveTo>
                <a:lnTo>
                  <a:pt x="123825" y="33337"/>
                </a:lnTo>
                <a:lnTo>
                  <a:pt x="138112" y="121443"/>
                </a:lnTo>
                <a:lnTo>
                  <a:pt x="197644" y="173831"/>
                </a:lnTo>
                <a:lnTo>
                  <a:pt x="226219" y="192881"/>
                </a:lnTo>
                <a:lnTo>
                  <a:pt x="240506" y="245268"/>
                </a:lnTo>
                <a:lnTo>
                  <a:pt x="69056" y="235743"/>
                </a:lnTo>
                <a:lnTo>
                  <a:pt x="66675" y="192881"/>
                </a:lnTo>
                <a:lnTo>
                  <a:pt x="0" y="185737"/>
                </a:lnTo>
                <a:lnTo>
                  <a:pt x="4762" y="88106"/>
                </a:lnTo>
                <a:lnTo>
                  <a:pt x="54769" y="100012"/>
                </a:lnTo>
                <a:lnTo>
                  <a:pt x="83344" y="64293"/>
                </a:lnTo>
                <a:lnTo>
                  <a:pt x="83344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29"/>
          <p:cNvSpPr/>
          <p:nvPr/>
        </p:nvSpPr>
        <p:spPr>
          <a:xfrm>
            <a:off x="4919176" y="5599939"/>
            <a:ext cx="286398" cy="292068"/>
          </a:xfrm>
          <a:custGeom>
            <a:avLst/>
            <a:gdLst>
              <a:gd name="connsiteX0" fmla="*/ 83344 w 240506"/>
              <a:gd name="connsiteY0" fmla="*/ 0 h 245268"/>
              <a:gd name="connsiteX1" fmla="*/ 123825 w 240506"/>
              <a:gd name="connsiteY1" fmla="*/ 33337 h 245268"/>
              <a:gd name="connsiteX2" fmla="*/ 138112 w 240506"/>
              <a:gd name="connsiteY2" fmla="*/ 121443 h 245268"/>
              <a:gd name="connsiteX3" fmla="*/ 197644 w 240506"/>
              <a:gd name="connsiteY3" fmla="*/ 173831 h 245268"/>
              <a:gd name="connsiteX4" fmla="*/ 226219 w 240506"/>
              <a:gd name="connsiteY4" fmla="*/ 192881 h 245268"/>
              <a:gd name="connsiteX5" fmla="*/ 240506 w 240506"/>
              <a:gd name="connsiteY5" fmla="*/ 245268 h 245268"/>
              <a:gd name="connsiteX6" fmla="*/ 69056 w 240506"/>
              <a:gd name="connsiteY6" fmla="*/ 235743 h 245268"/>
              <a:gd name="connsiteX7" fmla="*/ 66675 w 240506"/>
              <a:gd name="connsiteY7" fmla="*/ 192881 h 245268"/>
              <a:gd name="connsiteX8" fmla="*/ 0 w 240506"/>
              <a:gd name="connsiteY8" fmla="*/ 185737 h 245268"/>
              <a:gd name="connsiteX9" fmla="*/ 4762 w 240506"/>
              <a:gd name="connsiteY9" fmla="*/ 88106 h 245268"/>
              <a:gd name="connsiteX10" fmla="*/ 54769 w 240506"/>
              <a:gd name="connsiteY10" fmla="*/ 100012 h 245268"/>
              <a:gd name="connsiteX11" fmla="*/ 83344 w 240506"/>
              <a:gd name="connsiteY11" fmla="*/ 64293 h 245268"/>
              <a:gd name="connsiteX12" fmla="*/ 83344 w 240506"/>
              <a:gd name="connsiteY12" fmla="*/ 0 h 245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0506" h="245268">
                <a:moveTo>
                  <a:pt x="83344" y="0"/>
                </a:moveTo>
                <a:lnTo>
                  <a:pt x="123825" y="33337"/>
                </a:lnTo>
                <a:lnTo>
                  <a:pt x="138112" y="121443"/>
                </a:lnTo>
                <a:lnTo>
                  <a:pt x="197644" y="173831"/>
                </a:lnTo>
                <a:lnTo>
                  <a:pt x="226219" y="192881"/>
                </a:lnTo>
                <a:lnTo>
                  <a:pt x="240506" y="245268"/>
                </a:lnTo>
                <a:lnTo>
                  <a:pt x="69056" y="235743"/>
                </a:lnTo>
                <a:lnTo>
                  <a:pt x="66675" y="192881"/>
                </a:lnTo>
                <a:lnTo>
                  <a:pt x="0" y="185737"/>
                </a:lnTo>
                <a:lnTo>
                  <a:pt x="4762" y="88106"/>
                </a:lnTo>
                <a:lnTo>
                  <a:pt x="54769" y="100012"/>
                </a:lnTo>
                <a:lnTo>
                  <a:pt x="83344" y="64293"/>
                </a:lnTo>
                <a:lnTo>
                  <a:pt x="83344" y="0"/>
                </a:lnTo>
                <a:close/>
              </a:path>
            </a:pathLst>
          </a:cu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88099" idx="2"/>
            <a:endCxn id="6" idx="0"/>
          </p:cNvCxnSpPr>
          <p:nvPr/>
        </p:nvCxnSpPr>
        <p:spPr>
          <a:xfrm flipH="1">
            <a:off x="6486142" y="2324370"/>
            <a:ext cx="1147860" cy="410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88099" idx="2"/>
            <a:endCxn id="7" idx="0"/>
          </p:cNvCxnSpPr>
          <p:nvPr/>
        </p:nvCxnSpPr>
        <p:spPr>
          <a:xfrm>
            <a:off x="7634002" y="2324370"/>
            <a:ext cx="38564" cy="410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88099" idx="2"/>
            <a:endCxn id="8" idx="0"/>
          </p:cNvCxnSpPr>
          <p:nvPr/>
        </p:nvCxnSpPr>
        <p:spPr>
          <a:xfrm>
            <a:off x="7634003" y="2324370"/>
            <a:ext cx="1224989" cy="4100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6" idx="2"/>
            <a:endCxn id="10" idx="0"/>
          </p:cNvCxnSpPr>
          <p:nvPr/>
        </p:nvCxnSpPr>
        <p:spPr>
          <a:xfrm flipH="1">
            <a:off x="6272904" y="3687217"/>
            <a:ext cx="213239" cy="3892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6" idx="2"/>
            <a:endCxn id="9" idx="0"/>
          </p:cNvCxnSpPr>
          <p:nvPr/>
        </p:nvCxnSpPr>
        <p:spPr>
          <a:xfrm flipH="1">
            <a:off x="5086478" y="3687217"/>
            <a:ext cx="1399664" cy="3892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9" idx="2"/>
            <a:endCxn id="12" idx="0"/>
          </p:cNvCxnSpPr>
          <p:nvPr/>
        </p:nvCxnSpPr>
        <p:spPr>
          <a:xfrm flipH="1">
            <a:off x="3618760" y="5029201"/>
            <a:ext cx="1467718" cy="342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9" idx="2"/>
            <a:endCxn id="13" idx="0"/>
          </p:cNvCxnSpPr>
          <p:nvPr/>
        </p:nvCxnSpPr>
        <p:spPr>
          <a:xfrm flipH="1">
            <a:off x="4805186" y="5029201"/>
            <a:ext cx="281293" cy="342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17" grpId="0" animBg="1"/>
      <p:bldP spid="18" grpId="0" animBg="1"/>
      <p:bldP spid="19" grpId="0" animBg="1"/>
      <p:bldP spid="3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15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1" y="228601"/>
            <a:ext cx="7704667" cy="685799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Improving Backtracking Efficiency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idx="1"/>
          </p:nvPr>
        </p:nvSpPr>
        <p:spPr>
          <a:xfrm>
            <a:off x="2522305" y="1215498"/>
            <a:ext cx="7921752" cy="5257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3200" dirty="0">
                <a:solidFill>
                  <a:srgbClr val="FF0000"/>
                </a:solidFill>
                <a:latin typeface="Corbel" panose="020B0503020204020204" pitchFamily="34" charset="0"/>
                <a:cs typeface="Times"/>
              </a:rPr>
              <a:t>General-purpose</a:t>
            </a:r>
            <a:r>
              <a:rPr lang="en-US" sz="3200" dirty="0">
                <a:latin typeface="Corbel" panose="020B0503020204020204" pitchFamily="34" charset="0"/>
                <a:cs typeface="Times"/>
              </a:rPr>
              <a:t> heuristics can give huge time gains:</a:t>
            </a:r>
          </a:p>
          <a:p>
            <a:pPr lvl="1">
              <a:spcBef>
                <a:spcPts val="1200"/>
              </a:spcBef>
            </a:pPr>
            <a:r>
              <a:rPr lang="en-US" sz="2800" cap="small" dirty="0">
                <a:latin typeface="Corbel" panose="020B0503020204020204" pitchFamily="34" charset="0"/>
                <a:cs typeface="Times"/>
              </a:rPr>
              <a:t>Select-Unassigned-Variable</a:t>
            </a:r>
            <a:r>
              <a:rPr lang="en-US" sz="2800" dirty="0">
                <a:latin typeface="Corbel" panose="020B0503020204020204" pitchFamily="34" charset="0"/>
                <a:cs typeface="Times"/>
              </a:rPr>
              <a:t>: Which variable should be assigned next?</a:t>
            </a:r>
          </a:p>
          <a:p>
            <a:pPr lvl="1">
              <a:spcBef>
                <a:spcPts val="1200"/>
              </a:spcBef>
            </a:pPr>
            <a:r>
              <a:rPr lang="en-US" sz="2800" cap="small" dirty="0">
                <a:latin typeface="Corbel" panose="020B0503020204020204" pitchFamily="34" charset="0"/>
                <a:cs typeface="Times"/>
              </a:rPr>
              <a:t>Order-Domain-Values</a:t>
            </a:r>
            <a:r>
              <a:rPr lang="en-US" sz="2800" dirty="0">
                <a:latin typeface="Corbel" panose="020B0503020204020204" pitchFamily="34" charset="0"/>
                <a:cs typeface="Times"/>
              </a:rPr>
              <a:t>: In what order should its values be tried?</a:t>
            </a:r>
          </a:p>
          <a:p>
            <a:pPr lvl="1">
              <a:spcBef>
                <a:spcPts val="1200"/>
              </a:spcBef>
            </a:pPr>
            <a:r>
              <a:rPr lang="en-US" sz="2800" cap="small" dirty="0">
                <a:latin typeface="Corbel" panose="020B0503020204020204" pitchFamily="34" charset="0"/>
                <a:cs typeface="Times"/>
              </a:rPr>
              <a:t>Inference</a:t>
            </a:r>
            <a:r>
              <a:rPr lang="en-US" sz="2800" dirty="0">
                <a:latin typeface="Corbel" panose="020B0503020204020204" pitchFamily="34" charset="0"/>
                <a:cs typeface="Times"/>
              </a:rPr>
              <a:t>: How can domain reductions on unassigned variables be inferred?</a:t>
            </a:r>
          </a:p>
          <a:p>
            <a:pPr lvl="1">
              <a:spcBef>
                <a:spcPts val="1200"/>
              </a:spcBef>
            </a:pPr>
            <a:r>
              <a:rPr lang="en-US" sz="2800" dirty="0">
                <a:latin typeface="Corbel" panose="020B0503020204020204" pitchFamily="34" charset="0"/>
                <a:cs typeface="Times"/>
              </a:rPr>
              <a:t>Can we detect inevitable failure early?</a:t>
            </a:r>
            <a:endParaRPr lang="en-US" dirty="0">
              <a:latin typeface="Corbel" panose="020B0503020204020204" pitchFamily="34" charset="0"/>
              <a:cs typeface="Time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1" y="224900"/>
            <a:ext cx="7704667" cy="990599"/>
          </a:xfrm>
        </p:spPr>
        <p:txBody>
          <a:bodyPr/>
          <a:lstStyle/>
          <a:p>
            <a:r>
              <a:rPr lang="en-US" dirty="0"/>
              <a:t>Most Constrained Variable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>
          <a:xfrm>
            <a:off x="2136648" y="1600200"/>
            <a:ext cx="8153400" cy="52578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800" dirty="0">
                <a:latin typeface="Corbel" panose="020B0503020204020204" pitchFamily="34" charset="0"/>
                <a:cs typeface="Times"/>
              </a:rPr>
              <a:t>Most constrained variable:</a:t>
            </a:r>
          </a:p>
          <a:p>
            <a:pPr lvl="1"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choose the variable with fewest legal values</a:t>
            </a:r>
            <a:br>
              <a:rPr lang="en-US" dirty="0">
                <a:latin typeface="Corbel" panose="020B0503020204020204" pitchFamily="34" charset="0"/>
                <a:cs typeface="Times"/>
              </a:rPr>
            </a:br>
            <a:endParaRPr lang="en-US" dirty="0">
              <a:latin typeface="Corbel" panose="020B0503020204020204" pitchFamily="34" charset="0"/>
              <a:cs typeface="Times"/>
            </a:endParaRPr>
          </a:p>
          <a:p>
            <a:pPr>
              <a:spcBef>
                <a:spcPts val="1200"/>
              </a:spcBef>
            </a:pPr>
            <a:endParaRPr lang="en-US" dirty="0">
              <a:latin typeface="Corbel" panose="020B0503020204020204" pitchFamily="34" charset="0"/>
              <a:cs typeface="Times"/>
            </a:endParaRPr>
          </a:p>
          <a:p>
            <a:pPr>
              <a:spcBef>
                <a:spcPts val="1200"/>
              </a:spcBef>
            </a:pPr>
            <a:endParaRPr lang="en-US" dirty="0">
              <a:latin typeface="Corbel" panose="020B0503020204020204" pitchFamily="34" charset="0"/>
              <a:cs typeface="Times"/>
            </a:endParaRPr>
          </a:p>
          <a:p>
            <a:pPr>
              <a:spcBef>
                <a:spcPts val="1200"/>
              </a:spcBef>
            </a:pPr>
            <a:r>
              <a:rPr lang="en-US" sz="2800" dirty="0">
                <a:latin typeface="Corbel" panose="020B0503020204020204" pitchFamily="34" charset="0"/>
                <a:cs typeface="Times"/>
              </a:rPr>
              <a:t>a.k.a. </a:t>
            </a:r>
            <a:r>
              <a:rPr lang="en-US" sz="2800" dirty="0">
                <a:solidFill>
                  <a:srgbClr val="0000CC"/>
                </a:solidFill>
                <a:latin typeface="Corbel" panose="020B0503020204020204" pitchFamily="34" charset="0"/>
                <a:cs typeface="Times"/>
              </a:rPr>
              <a:t>minimum-remaining-values (MRV)</a:t>
            </a:r>
            <a:r>
              <a:rPr lang="en-US" sz="2800" dirty="0">
                <a:latin typeface="Corbel" panose="020B0503020204020204" pitchFamily="34" charset="0"/>
                <a:cs typeface="Times"/>
              </a:rPr>
              <a:t> heuristic</a:t>
            </a:r>
            <a:endParaRPr lang="en-US" dirty="0">
              <a:latin typeface="Corbel" panose="020B0503020204020204" pitchFamily="34" charset="0"/>
              <a:cs typeface="Time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95268" name="Picture 4" descr="australia-most-constrained-variab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1801" y="3048000"/>
            <a:ext cx="6105525" cy="99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1" y="86891"/>
            <a:ext cx="7704667" cy="990599"/>
          </a:xfrm>
        </p:spPr>
        <p:txBody>
          <a:bodyPr/>
          <a:lstStyle/>
          <a:p>
            <a:r>
              <a:rPr lang="en-US" dirty="0"/>
              <a:t>Most Constraining Variable</a:t>
            </a:r>
          </a:p>
        </p:txBody>
      </p:sp>
      <p:sp>
        <p:nvSpPr>
          <p:cNvPr id="396291" name="Rectangle 3"/>
          <p:cNvSpPr>
            <a:spLocks noGrp="1" noChangeArrowheads="1"/>
          </p:cNvSpPr>
          <p:nvPr>
            <p:ph idx="1"/>
          </p:nvPr>
        </p:nvSpPr>
        <p:spPr>
          <a:xfrm>
            <a:off x="2540424" y="1096539"/>
            <a:ext cx="7704667" cy="33328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800" dirty="0">
                <a:latin typeface="Corbel" panose="020B0503020204020204" pitchFamily="34" charset="0"/>
                <a:cs typeface="Times"/>
              </a:rPr>
              <a:t>Most constraining variable:</a:t>
            </a:r>
          </a:p>
          <a:p>
            <a:pPr lvl="1"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choose the variable with most constraints on remaining unassigned variables</a:t>
            </a:r>
          </a:p>
          <a:p>
            <a:pPr>
              <a:spcBef>
                <a:spcPts val="1200"/>
              </a:spcBef>
            </a:pPr>
            <a:r>
              <a:rPr lang="en-US" sz="2800" dirty="0">
                <a:latin typeface="Corbel" panose="020B0503020204020204" pitchFamily="34" charset="0"/>
                <a:cs typeface="Times"/>
              </a:rPr>
              <a:t>Tie-breaker among most constrained variables</a:t>
            </a:r>
          </a:p>
          <a:p>
            <a:pPr>
              <a:spcBef>
                <a:spcPts val="1200"/>
              </a:spcBef>
            </a:pPr>
            <a:r>
              <a:rPr lang="en-US" sz="2800" dirty="0">
                <a:latin typeface="Corbel" panose="020B0503020204020204" pitchFamily="34" charset="0"/>
                <a:cs typeface="Times"/>
              </a:rPr>
              <a:t>a.k.a. </a:t>
            </a:r>
            <a:r>
              <a:rPr lang="en-US" sz="2800" dirty="0">
                <a:solidFill>
                  <a:srgbClr val="0000FF"/>
                </a:solidFill>
                <a:latin typeface="Corbel" panose="020B0503020204020204" pitchFamily="34" charset="0"/>
                <a:cs typeface="Times"/>
              </a:rPr>
              <a:t>degree</a:t>
            </a:r>
            <a:r>
              <a:rPr lang="en-US" sz="2800" dirty="0">
                <a:latin typeface="Corbel" panose="020B0503020204020204" pitchFamily="34" charset="0"/>
                <a:cs typeface="Times"/>
              </a:rPr>
              <a:t> heuristic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96292" name="Picture 4" descr="australia-most-constraining-variable"/>
          <p:cNvPicPr>
            <a:picLocks noChangeAspect="1" noChangeArrowheads="1"/>
          </p:cNvPicPr>
          <p:nvPr/>
        </p:nvPicPr>
        <p:blipFill rotWithShape="1">
          <a:blip r:embed="rId3"/>
          <a:srcRect r="80193"/>
          <a:stretch/>
        </p:blipFill>
        <p:spPr bwMode="auto">
          <a:xfrm>
            <a:off x="2518653" y="4464735"/>
            <a:ext cx="1509317" cy="1236663"/>
          </a:xfrm>
          <a:prstGeom prst="rect">
            <a:avLst/>
          </a:prstGeom>
          <a:noFill/>
        </p:spPr>
      </p:pic>
      <p:pic>
        <p:nvPicPr>
          <p:cNvPr id="9" name="Picture 4" descr="australia-most-constraining-variable"/>
          <p:cNvPicPr>
            <a:picLocks noChangeAspect="1" noChangeArrowheads="1"/>
          </p:cNvPicPr>
          <p:nvPr/>
        </p:nvPicPr>
        <p:blipFill rotWithShape="1">
          <a:blip r:embed="rId3"/>
          <a:srcRect r="80193"/>
          <a:stretch/>
        </p:blipFill>
        <p:spPr bwMode="auto">
          <a:xfrm>
            <a:off x="4572001" y="4464735"/>
            <a:ext cx="1509317" cy="1236663"/>
          </a:xfrm>
          <a:prstGeom prst="rect">
            <a:avLst/>
          </a:prstGeom>
          <a:noFill/>
        </p:spPr>
      </p:pic>
      <p:pic>
        <p:nvPicPr>
          <p:cNvPr id="10" name="Picture 4" descr="australia-most-constraining-variable"/>
          <p:cNvPicPr>
            <a:picLocks noChangeAspect="1" noChangeArrowheads="1"/>
          </p:cNvPicPr>
          <p:nvPr/>
        </p:nvPicPr>
        <p:blipFill rotWithShape="1">
          <a:blip r:embed="rId3"/>
          <a:srcRect r="80193"/>
          <a:stretch/>
        </p:blipFill>
        <p:spPr bwMode="auto">
          <a:xfrm>
            <a:off x="6625349" y="4464735"/>
            <a:ext cx="1509317" cy="1236663"/>
          </a:xfrm>
          <a:prstGeom prst="rect">
            <a:avLst/>
          </a:prstGeom>
          <a:noFill/>
        </p:spPr>
      </p:pic>
      <p:pic>
        <p:nvPicPr>
          <p:cNvPr id="11" name="Picture 4" descr="australia-most-constraining-variable"/>
          <p:cNvPicPr>
            <a:picLocks noChangeAspect="1" noChangeArrowheads="1"/>
          </p:cNvPicPr>
          <p:nvPr/>
        </p:nvPicPr>
        <p:blipFill rotWithShape="1">
          <a:blip r:embed="rId3"/>
          <a:srcRect r="80193"/>
          <a:stretch/>
        </p:blipFill>
        <p:spPr bwMode="auto">
          <a:xfrm>
            <a:off x="8678697" y="4464735"/>
            <a:ext cx="1509317" cy="1236663"/>
          </a:xfrm>
          <a:prstGeom prst="rect">
            <a:avLst/>
          </a:prstGeom>
          <a:noFill/>
        </p:spPr>
      </p:pic>
      <p:cxnSp>
        <p:nvCxnSpPr>
          <p:cNvPr id="3" name="Straight Arrow Connector 2"/>
          <p:cNvCxnSpPr>
            <a:stCxn id="396292" idx="3"/>
            <a:endCxn id="9" idx="1"/>
          </p:cNvCxnSpPr>
          <p:nvPr/>
        </p:nvCxnSpPr>
        <p:spPr>
          <a:xfrm>
            <a:off x="4027970" y="5083066"/>
            <a:ext cx="5440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3"/>
            <a:endCxn id="10" idx="1"/>
          </p:cNvCxnSpPr>
          <p:nvPr/>
        </p:nvCxnSpPr>
        <p:spPr>
          <a:xfrm>
            <a:off x="6081318" y="5083066"/>
            <a:ext cx="5440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3"/>
            <a:endCxn id="11" idx="1"/>
          </p:cNvCxnSpPr>
          <p:nvPr/>
        </p:nvCxnSpPr>
        <p:spPr>
          <a:xfrm>
            <a:off x="8134666" y="5083066"/>
            <a:ext cx="5440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3078480" y="5037514"/>
            <a:ext cx="432262" cy="315883"/>
          </a:xfrm>
          <a:custGeom>
            <a:avLst/>
            <a:gdLst>
              <a:gd name="connsiteX0" fmla="*/ 16625 w 432262"/>
              <a:gd name="connsiteY0" fmla="*/ 0 h 315883"/>
              <a:gd name="connsiteX1" fmla="*/ 432262 w 432262"/>
              <a:gd name="connsiteY1" fmla="*/ 0 h 315883"/>
              <a:gd name="connsiteX2" fmla="*/ 423949 w 432262"/>
              <a:gd name="connsiteY2" fmla="*/ 315883 h 315883"/>
              <a:gd name="connsiteX3" fmla="*/ 332509 w 432262"/>
              <a:gd name="connsiteY3" fmla="*/ 191192 h 315883"/>
              <a:gd name="connsiteX4" fmla="*/ 299258 w 432262"/>
              <a:gd name="connsiteY4" fmla="*/ 249382 h 315883"/>
              <a:gd name="connsiteX5" fmla="*/ 141316 w 432262"/>
              <a:gd name="connsiteY5" fmla="*/ 116378 h 315883"/>
              <a:gd name="connsiteX6" fmla="*/ 0 w 432262"/>
              <a:gd name="connsiteY6" fmla="*/ 174567 h 315883"/>
              <a:gd name="connsiteX7" fmla="*/ 16625 w 432262"/>
              <a:gd name="connsiteY7" fmla="*/ 0 h 31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2262" h="315883">
                <a:moveTo>
                  <a:pt x="16625" y="0"/>
                </a:moveTo>
                <a:lnTo>
                  <a:pt x="432262" y="0"/>
                </a:lnTo>
                <a:lnTo>
                  <a:pt x="423949" y="315883"/>
                </a:lnTo>
                <a:lnTo>
                  <a:pt x="332509" y="191192"/>
                </a:lnTo>
                <a:lnTo>
                  <a:pt x="299258" y="249382"/>
                </a:lnTo>
                <a:lnTo>
                  <a:pt x="141316" y="116378"/>
                </a:lnTo>
                <a:lnTo>
                  <a:pt x="0" y="174567"/>
                </a:lnTo>
                <a:lnTo>
                  <a:pt x="16625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>
          <a:xfrm>
            <a:off x="5130338" y="5029201"/>
            <a:ext cx="432262" cy="315883"/>
          </a:xfrm>
          <a:custGeom>
            <a:avLst/>
            <a:gdLst>
              <a:gd name="connsiteX0" fmla="*/ 16625 w 432262"/>
              <a:gd name="connsiteY0" fmla="*/ 0 h 315883"/>
              <a:gd name="connsiteX1" fmla="*/ 432262 w 432262"/>
              <a:gd name="connsiteY1" fmla="*/ 0 h 315883"/>
              <a:gd name="connsiteX2" fmla="*/ 423949 w 432262"/>
              <a:gd name="connsiteY2" fmla="*/ 315883 h 315883"/>
              <a:gd name="connsiteX3" fmla="*/ 332509 w 432262"/>
              <a:gd name="connsiteY3" fmla="*/ 191192 h 315883"/>
              <a:gd name="connsiteX4" fmla="*/ 299258 w 432262"/>
              <a:gd name="connsiteY4" fmla="*/ 249382 h 315883"/>
              <a:gd name="connsiteX5" fmla="*/ 141316 w 432262"/>
              <a:gd name="connsiteY5" fmla="*/ 116378 h 315883"/>
              <a:gd name="connsiteX6" fmla="*/ 0 w 432262"/>
              <a:gd name="connsiteY6" fmla="*/ 174567 h 315883"/>
              <a:gd name="connsiteX7" fmla="*/ 16625 w 432262"/>
              <a:gd name="connsiteY7" fmla="*/ 0 h 31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2262" h="315883">
                <a:moveTo>
                  <a:pt x="16625" y="0"/>
                </a:moveTo>
                <a:lnTo>
                  <a:pt x="432262" y="0"/>
                </a:lnTo>
                <a:lnTo>
                  <a:pt x="423949" y="315883"/>
                </a:lnTo>
                <a:lnTo>
                  <a:pt x="332509" y="191192"/>
                </a:lnTo>
                <a:lnTo>
                  <a:pt x="299258" y="249382"/>
                </a:lnTo>
                <a:lnTo>
                  <a:pt x="141316" y="116378"/>
                </a:lnTo>
                <a:lnTo>
                  <a:pt x="0" y="174567"/>
                </a:lnTo>
                <a:lnTo>
                  <a:pt x="16625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7180706" y="5037514"/>
            <a:ext cx="432262" cy="315883"/>
          </a:xfrm>
          <a:custGeom>
            <a:avLst/>
            <a:gdLst>
              <a:gd name="connsiteX0" fmla="*/ 16625 w 432262"/>
              <a:gd name="connsiteY0" fmla="*/ 0 h 315883"/>
              <a:gd name="connsiteX1" fmla="*/ 432262 w 432262"/>
              <a:gd name="connsiteY1" fmla="*/ 0 h 315883"/>
              <a:gd name="connsiteX2" fmla="*/ 423949 w 432262"/>
              <a:gd name="connsiteY2" fmla="*/ 315883 h 315883"/>
              <a:gd name="connsiteX3" fmla="*/ 332509 w 432262"/>
              <a:gd name="connsiteY3" fmla="*/ 191192 h 315883"/>
              <a:gd name="connsiteX4" fmla="*/ 299258 w 432262"/>
              <a:gd name="connsiteY4" fmla="*/ 249382 h 315883"/>
              <a:gd name="connsiteX5" fmla="*/ 141316 w 432262"/>
              <a:gd name="connsiteY5" fmla="*/ 116378 h 315883"/>
              <a:gd name="connsiteX6" fmla="*/ 0 w 432262"/>
              <a:gd name="connsiteY6" fmla="*/ 174567 h 315883"/>
              <a:gd name="connsiteX7" fmla="*/ 16625 w 432262"/>
              <a:gd name="connsiteY7" fmla="*/ 0 h 31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2262" h="315883">
                <a:moveTo>
                  <a:pt x="16625" y="0"/>
                </a:moveTo>
                <a:lnTo>
                  <a:pt x="432262" y="0"/>
                </a:lnTo>
                <a:lnTo>
                  <a:pt x="423949" y="315883"/>
                </a:lnTo>
                <a:lnTo>
                  <a:pt x="332509" y="191192"/>
                </a:lnTo>
                <a:lnTo>
                  <a:pt x="299258" y="249382"/>
                </a:lnTo>
                <a:lnTo>
                  <a:pt x="141316" y="116378"/>
                </a:lnTo>
                <a:lnTo>
                  <a:pt x="0" y="174567"/>
                </a:lnTo>
                <a:lnTo>
                  <a:pt x="16625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/>
        </p:nvSpPr>
        <p:spPr>
          <a:xfrm>
            <a:off x="9237799" y="5054139"/>
            <a:ext cx="432262" cy="315883"/>
          </a:xfrm>
          <a:custGeom>
            <a:avLst/>
            <a:gdLst>
              <a:gd name="connsiteX0" fmla="*/ 16625 w 432262"/>
              <a:gd name="connsiteY0" fmla="*/ 0 h 315883"/>
              <a:gd name="connsiteX1" fmla="*/ 432262 w 432262"/>
              <a:gd name="connsiteY1" fmla="*/ 0 h 315883"/>
              <a:gd name="connsiteX2" fmla="*/ 423949 w 432262"/>
              <a:gd name="connsiteY2" fmla="*/ 315883 h 315883"/>
              <a:gd name="connsiteX3" fmla="*/ 332509 w 432262"/>
              <a:gd name="connsiteY3" fmla="*/ 191192 h 315883"/>
              <a:gd name="connsiteX4" fmla="*/ 299258 w 432262"/>
              <a:gd name="connsiteY4" fmla="*/ 249382 h 315883"/>
              <a:gd name="connsiteX5" fmla="*/ 141316 w 432262"/>
              <a:gd name="connsiteY5" fmla="*/ 116378 h 315883"/>
              <a:gd name="connsiteX6" fmla="*/ 0 w 432262"/>
              <a:gd name="connsiteY6" fmla="*/ 174567 h 315883"/>
              <a:gd name="connsiteX7" fmla="*/ 16625 w 432262"/>
              <a:gd name="connsiteY7" fmla="*/ 0 h 31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2262" h="315883">
                <a:moveTo>
                  <a:pt x="16625" y="0"/>
                </a:moveTo>
                <a:lnTo>
                  <a:pt x="432262" y="0"/>
                </a:lnTo>
                <a:lnTo>
                  <a:pt x="423949" y="315883"/>
                </a:lnTo>
                <a:lnTo>
                  <a:pt x="332509" y="191192"/>
                </a:lnTo>
                <a:lnTo>
                  <a:pt x="299258" y="249382"/>
                </a:lnTo>
                <a:lnTo>
                  <a:pt x="141316" y="116378"/>
                </a:lnTo>
                <a:lnTo>
                  <a:pt x="0" y="174567"/>
                </a:lnTo>
                <a:lnTo>
                  <a:pt x="16625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5130339" y="4572001"/>
            <a:ext cx="315883" cy="423949"/>
          </a:xfrm>
          <a:custGeom>
            <a:avLst/>
            <a:gdLst>
              <a:gd name="connsiteX0" fmla="*/ 232756 w 315883"/>
              <a:gd name="connsiteY0" fmla="*/ 41564 h 423949"/>
              <a:gd name="connsiteX1" fmla="*/ 133003 w 315883"/>
              <a:gd name="connsiteY1" fmla="*/ 0 h 423949"/>
              <a:gd name="connsiteX2" fmla="*/ 16625 w 315883"/>
              <a:gd name="connsiteY2" fmla="*/ 41564 h 423949"/>
              <a:gd name="connsiteX3" fmla="*/ 0 w 315883"/>
              <a:gd name="connsiteY3" fmla="*/ 133004 h 423949"/>
              <a:gd name="connsiteX4" fmla="*/ 0 w 315883"/>
              <a:gd name="connsiteY4" fmla="*/ 423949 h 423949"/>
              <a:gd name="connsiteX5" fmla="*/ 315883 w 315883"/>
              <a:gd name="connsiteY5" fmla="*/ 423949 h 423949"/>
              <a:gd name="connsiteX6" fmla="*/ 307571 w 315883"/>
              <a:gd name="connsiteY6" fmla="*/ 199505 h 423949"/>
              <a:gd name="connsiteX7" fmla="*/ 191192 w 315883"/>
              <a:gd name="connsiteY7" fmla="*/ 141316 h 423949"/>
              <a:gd name="connsiteX8" fmla="*/ 232756 w 315883"/>
              <a:gd name="connsiteY8" fmla="*/ 41564 h 423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883" h="423949">
                <a:moveTo>
                  <a:pt x="232756" y="41564"/>
                </a:moveTo>
                <a:lnTo>
                  <a:pt x="133003" y="0"/>
                </a:lnTo>
                <a:lnTo>
                  <a:pt x="16625" y="41564"/>
                </a:lnTo>
                <a:lnTo>
                  <a:pt x="0" y="133004"/>
                </a:lnTo>
                <a:lnTo>
                  <a:pt x="0" y="423949"/>
                </a:lnTo>
                <a:lnTo>
                  <a:pt x="315883" y="423949"/>
                </a:lnTo>
                <a:lnTo>
                  <a:pt x="307571" y="199505"/>
                </a:lnTo>
                <a:lnTo>
                  <a:pt x="191192" y="141316"/>
                </a:lnTo>
                <a:lnTo>
                  <a:pt x="232756" y="41564"/>
                </a:lnTo>
                <a:close/>
              </a:path>
            </a:pathLst>
          </a:cu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7180707" y="4572001"/>
            <a:ext cx="315883" cy="423949"/>
          </a:xfrm>
          <a:custGeom>
            <a:avLst/>
            <a:gdLst>
              <a:gd name="connsiteX0" fmla="*/ 232756 w 315883"/>
              <a:gd name="connsiteY0" fmla="*/ 41564 h 423949"/>
              <a:gd name="connsiteX1" fmla="*/ 133003 w 315883"/>
              <a:gd name="connsiteY1" fmla="*/ 0 h 423949"/>
              <a:gd name="connsiteX2" fmla="*/ 16625 w 315883"/>
              <a:gd name="connsiteY2" fmla="*/ 41564 h 423949"/>
              <a:gd name="connsiteX3" fmla="*/ 0 w 315883"/>
              <a:gd name="connsiteY3" fmla="*/ 133004 h 423949"/>
              <a:gd name="connsiteX4" fmla="*/ 0 w 315883"/>
              <a:gd name="connsiteY4" fmla="*/ 423949 h 423949"/>
              <a:gd name="connsiteX5" fmla="*/ 315883 w 315883"/>
              <a:gd name="connsiteY5" fmla="*/ 423949 h 423949"/>
              <a:gd name="connsiteX6" fmla="*/ 307571 w 315883"/>
              <a:gd name="connsiteY6" fmla="*/ 199505 h 423949"/>
              <a:gd name="connsiteX7" fmla="*/ 191192 w 315883"/>
              <a:gd name="connsiteY7" fmla="*/ 141316 h 423949"/>
              <a:gd name="connsiteX8" fmla="*/ 232756 w 315883"/>
              <a:gd name="connsiteY8" fmla="*/ 41564 h 423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883" h="423949">
                <a:moveTo>
                  <a:pt x="232756" y="41564"/>
                </a:moveTo>
                <a:lnTo>
                  <a:pt x="133003" y="0"/>
                </a:lnTo>
                <a:lnTo>
                  <a:pt x="16625" y="41564"/>
                </a:lnTo>
                <a:lnTo>
                  <a:pt x="0" y="133004"/>
                </a:lnTo>
                <a:lnTo>
                  <a:pt x="0" y="423949"/>
                </a:lnTo>
                <a:lnTo>
                  <a:pt x="315883" y="423949"/>
                </a:lnTo>
                <a:lnTo>
                  <a:pt x="307571" y="199505"/>
                </a:lnTo>
                <a:lnTo>
                  <a:pt x="191192" y="141316"/>
                </a:lnTo>
                <a:lnTo>
                  <a:pt x="232756" y="41564"/>
                </a:lnTo>
                <a:close/>
              </a:path>
            </a:pathLst>
          </a:cu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9237800" y="4572001"/>
            <a:ext cx="315883" cy="423949"/>
          </a:xfrm>
          <a:custGeom>
            <a:avLst/>
            <a:gdLst>
              <a:gd name="connsiteX0" fmla="*/ 232756 w 315883"/>
              <a:gd name="connsiteY0" fmla="*/ 41564 h 423949"/>
              <a:gd name="connsiteX1" fmla="*/ 133003 w 315883"/>
              <a:gd name="connsiteY1" fmla="*/ 0 h 423949"/>
              <a:gd name="connsiteX2" fmla="*/ 16625 w 315883"/>
              <a:gd name="connsiteY2" fmla="*/ 41564 h 423949"/>
              <a:gd name="connsiteX3" fmla="*/ 0 w 315883"/>
              <a:gd name="connsiteY3" fmla="*/ 133004 h 423949"/>
              <a:gd name="connsiteX4" fmla="*/ 0 w 315883"/>
              <a:gd name="connsiteY4" fmla="*/ 423949 h 423949"/>
              <a:gd name="connsiteX5" fmla="*/ 315883 w 315883"/>
              <a:gd name="connsiteY5" fmla="*/ 423949 h 423949"/>
              <a:gd name="connsiteX6" fmla="*/ 307571 w 315883"/>
              <a:gd name="connsiteY6" fmla="*/ 199505 h 423949"/>
              <a:gd name="connsiteX7" fmla="*/ 191192 w 315883"/>
              <a:gd name="connsiteY7" fmla="*/ 141316 h 423949"/>
              <a:gd name="connsiteX8" fmla="*/ 232756 w 315883"/>
              <a:gd name="connsiteY8" fmla="*/ 41564 h 423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883" h="423949">
                <a:moveTo>
                  <a:pt x="232756" y="41564"/>
                </a:moveTo>
                <a:lnTo>
                  <a:pt x="133003" y="0"/>
                </a:lnTo>
                <a:lnTo>
                  <a:pt x="16625" y="41564"/>
                </a:lnTo>
                <a:lnTo>
                  <a:pt x="0" y="133004"/>
                </a:lnTo>
                <a:lnTo>
                  <a:pt x="0" y="423949"/>
                </a:lnTo>
                <a:lnTo>
                  <a:pt x="315883" y="423949"/>
                </a:lnTo>
                <a:lnTo>
                  <a:pt x="307571" y="199505"/>
                </a:lnTo>
                <a:lnTo>
                  <a:pt x="191192" y="141316"/>
                </a:lnTo>
                <a:lnTo>
                  <a:pt x="232756" y="41564"/>
                </a:lnTo>
                <a:close/>
              </a:path>
            </a:pathLst>
          </a:cu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7658793" y="5128953"/>
            <a:ext cx="374072" cy="299258"/>
          </a:xfrm>
          <a:custGeom>
            <a:avLst/>
            <a:gdLst>
              <a:gd name="connsiteX0" fmla="*/ 374072 w 374072"/>
              <a:gd name="connsiteY0" fmla="*/ 0 h 299258"/>
              <a:gd name="connsiteX1" fmla="*/ 324196 w 374072"/>
              <a:gd name="connsiteY1" fmla="*/ 166254 h 299258"/>
              <a:gd name="connsiteX2" fmla="*/ 257694 w 374072"/>
              <a:gd name="connsiteY2" fmla="*/ 299258 h 299258"/>
              <a:gd name="connsiteX3" fmla="*/ 207818 w 374072"/>
              <a:gd name="connsiteY3" fmla="*/ 216131 h 299258"/>
              <a:gd name="connsiteX4" fmla="*/ 124691 w 374072"/>
              <a:gd name="connsiteY4" fmla="*/ 232756 h 299258"/>
              <a:gd name="connsiteX5" fmla="*/ 74814 w 374072"/>
              <a:gd name="connsiteY5" fmla="*/ 224443 h 299258"/>
              <a:gd name="connsiteX6" fmla="*/ 24938 w 374072"/>
              <a:gd name="connsiteY6" fmla="*/ 166254 h 299258"/>
              <a:gd name="connsiteX7" fmla="*/ 0 w 374072"/>
              <a:gd name="connsiteY7" fmla="*/ 149629 h 299258"/>
              <a:gd name="connsiteX8" fmla="*/ 0 w 374072"/>
              <a:gd name="connsiteY8" fmla="*/ 8312 h 299258"/>
              <a:gd name="connsiteX9" fmla="*/ 174567 w 374072"/>
              <a:gd name="connsiteY9" fmla="*/ 16625 h 299258"/>
              <a:gd name="connsiteX10" fmla="*/ 374072 w 374072"/>
              <a:gd name="connsiteY10" fmla="*/ 0 h 29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072" h="299258">
                <a:moveTo>
                  <a:pt x="374072" y="0"/>
                </a:moveTo>
                <a:lnTo>
                  <a:pt x="324196" y="166254"/>
                </a:lnTo>
                <a:lnTo>
                  <a:pt x="257694" y="299258"/>
                </a:lnTo>
                <a:lnTo>
                  <a:pt x="207818" y="216131"/>
                </a:lnTo>
                <a:lnTo>
                  <a:pt x="124691" y="232756"/>
                </a:lnTo>
                <a:lnTo>
                  <a:pt x="74814" y="224443"/>
                </a:lnTo>
                <a:lnTo>
                  <a:pt x="24938" y="166254"/>
                </a:lnTo>
                <a:lnTo>
                  <a:pt x="0" y="149629"/>
                </a:lnTo>
                <a:lnTo>
                  <a:pt x="0" y="8312"/>
                </a:lnTo>
                <a:lnTo>
                  <a:pt x="174567" y="16625"/>
                </a:lnTo>
                <a:lnTo>
                  <a:pt x="374072" y="0"/>
                </a:lnTo>
                <a:close/>
              </a:path>
            </a:pathLst>
          </a:cu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/>
          <p:cNvSpPr/>
          <p:nvPr/>
        </p:nvSpPr>
        <p:spPr>
          <a:xfrm>
            <a:off x="9697770" y="5128953"/>
            <a:ext cx="374072" cy="299258"/>
          </a:xfrm>
          <a:custGeom>
            <a:avLst/>
            <a:gdLst>
              <a:gd name="connsiteX0" fmla="*/ 374072 w 374072"/>
              <a:gd name="connsiteY0" fmla="*/ 0 h 299258"/>
              <a:gd name="connsiteX1" fmla="*/ 324196 w 374072"/>
              <a:gd name="connsiteY1" fmla="*/ 166254 h 299258"/>
              <a:gd name="connsiteX2" fmla="*/ 257694 w 374072"/>
              <a:gd name="connsiteY2" fmla="*/ 299258 h 299258"/>
              <a:gd name="connsiteX3" fmla="*/ 207818 w 374072"/>
              <a:gd name="connsiteY3" fmla="*/ 216131 h 299258"/>
              <a:gd name="connsiteX4" fmla="*/ 124691 w 374072"/>
              <a:gd name="connsiteY4" fmla="*/ 232756 h 299258"/>
              <a:gd name="connsiteX5" fmla="*/ 74814 w 374072"/>
              <a:gd name="connsiteY5" fmla="*/ 224443 h 299258"/>
              <a:gd name="connsiteX6" fmla="*/ 24938 w 374072"/>
              <a:gd name="connsiteY6" fmla="*/ 166254 h 299258"/>
              <a:gd name="connsiteX7" fmla="*/ 0 w 374072"/>
              <a:gd name="connsiteY7" fmla="*/ 149629 h 299258"/>
              <a:gd name="connsiteX8" fmla="*/ 0 w 374072"/>
              <a:gd name="connsiteY8" fmla="*/ 8312 h 299258"/>
              <a:gd name="connsiteX9" fmla="*/ 174567 w 374072"/>
              <a:gd name="connsiteY9" fmla="*/ 16625 h 299258"/>
              <a:gd name="connsiteX10" fmla="*/ 374072 w 374072"/>
              <a:gd name="connsiteY10" fmla="*/ 0 h 29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072" h="299258">
                <a:moveTo>
                  <a:pt x="374072" y="0"/>
                </a:moveTo>
                <a:lnTo>
                  <a:pt x="324196" y="166254"/>
                </a:lnTo>
                <a:lnTo>
                  <a:pt x="257694" y="299258"/>
                </a:lnTo>
                <a:lnTo>
                  <a:pt x="207818" y="216131"/>
                </a:lnTo>
                <a:lnTo>
                  <a:pt x="124691" y="232756"/>
                </a:lnTo>
                <a:lnTo>
                  <a:pt x="74814" y="224443"/>
                </a:lnTo>
                <a:lnTo>
                  <a:pt x="24938" y="166254"/>
                </a:lnTo>
                <a:lnTo>
                  <a:pt x="0" y="149629"/>
                </a:lnTo>
                <a:lnTo>
                  <a:pt x="0" y="8312"/>
                </a:lnTo>
                <a:lnTo>
                  <a:pt x="174567" y="16625"/>
                </a:lnTo>
                <a:lnTo>
                  <a:pt x="374072" y="0"/>
                </a:lnTo>
                <a:close/>
              </a:path>
            </a:pathLst>
          </a:cu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9595945" y="4640318"/>
            <a:ext cx="467710" cy="467711"/>
          </a:xfrm>
          <a:custGeom>
            <a:avLst/>
            <a:gdLst>
              <a:gd name="connsiteX0" fmla="*/ 178676 w 467710"/>
              <a:gd name="connsiteY0" fmla="*/ 0 h 467711"/>
              <a:gd name="connsiteX1" fmla="*/ 136634 w 467710"/>
              <a:gd name="connsiteY1" fmla="*/ 136635 h 467711"/>
              <a:gd name="connsiteX2" fmla="*/ 84083 w 467710"/>
              <a:gd name="connsiteY2" fmla="*/ 189186 h 467711"/>
              <a:gd name="connsiteX3" fmla="*/ 0 w 467710"/>
              <a:gd name="connsiteY3" fmla="*/ 152400 h 467711"/>
              <a:gd name="connsiteX4" fmla="*/ 0 w 467710"/>
              <a:gd name="connsiteY4" fmla="*/ 362607 h 467711"/>
              <a:gd name="connsiteX5" fmla="*/ 105103 w 467710"/>
              <a:gd name="connsiteY5" fmla="*/ 362607 h 467711"/>
              <a:gd name="connsiteX6" fmla="*/ 105103 w 467710"/>
              <a:gd name="connsiteY6" fmla="*/ 357352 h 467711"/>
              <a:gd name="connsiteX7" fmla="*/ 120869 w 467710"/>
              <a:gd name="connsiteY7" fmla="*/ 457200 h 467711"/>
              <a:gd name="connsiteX8" fmla="*/ 404648 w 467710"/>
              <a:gd name="connsiteY8" fmla="*/ 462455 h 467711"/>
              <a:gd name="connsiteX9" fmla="*/ 425669 w 467710"/>
              <a:gd name="connsiteY9" fmla="*/ 467711 h 467711"/>
              <a:gd name="connsiteX10" fmla="*/ 467710 w 467710"/>
              <a:gd name="connsiteY10" fmla="*/ 462455 h 467711"/>
              <a:gd name="connsiteX11" fmla="*/ 441434 w 467710"/>
              <a:gd name="connsiteY11" fmla="*/ 373117 h 467711"/>
              <a:gd name="connsiteX12" fmla="*/ 367862 w 467710"/>
              <a:gd name="connsiteY12" fmla="*/ 320566 h 467711"/>
              <a:gd name="connsiteX13" fmla="*/ 262758 w 467710"/>
              <a:gd name="connsiteY13" fmla="*/ 199697 h 467711"/>
              <a:gd name="connsiteX14" fmla="*/ 225972 w 467710"/>
              <a:gd name="connsiteY14" fmla="*/ 42042 h 467711"/>
              <a:gd name="connsiteX15" fmla="*/ 178676 w 467710"/>
              <a:gd name="connsiteY15" fmla="*/ 0 h 46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7710" h="467711">
                <a:moveTo>
                  <a:pt x="178676" y="0"/>
                </a:moveTo>
                <a:lnTo>
                  <a:pt x="136634" y="136635"/>
                </a:lnTo>
                <a:lnTo>
                  <a:pt x="84083" y="189186"/>
                </a:lnTo>
                <a:lnTo>
                  <a:pt x="0" y="152400"/>
                </a:lnTo>
                <a:lnTo>
                  <a:pt x="0" y="362607"/>
                </a:lnTo>
                <a:cubicBezTo>
                  <a:pt x="47799" y="367918"/>
                  <a:pt x="54341" y="371836"/>
                  <a:pt x="105103" y="362607"/>
                </a:cubicBezTo>
                <a:cubicBezTo>
                  <a:pt x="106826" y="362294"/>
                  <a:pt x="105103" y="359104"/>
                  <a:pt x="105103" y="357352"/>
                </a:cubicBezTo>
                <a:lnTo>
                  <a:pt x="120869" y="457200"/>
                </a:lnTo>
                <a:lnTo>
                  <a:pt x="404648" y="462455"/>
                </a:lnTo>
                <a:cubicBezTo>
                  <a:pt x="411866" y="462704"/>
                  <a:pt x="418446" y="467711"/>
                  <a:pt x="425669" y="467711"/>
                </a:cubicBezTo>
                <a:cubicBezTo>
                  <a:pt x="439792" y="467711"/>
                  <a:pt x="453587" y="462455"/>
                  <a:pt x="467710" y="462455"/>
                </a:cubicBezTo>
                <a:lnTo>
                  <a:pt x="441434" y="373117"/>
                </a:lnTo>
                <a:lnTo>
                  <a:pt x="367862" y="320566"/>
                </a:lnTo>
                <a:lnTo>
                  <a:pt x="262758" y="199697"/>
                </a:lnTo>
                <a:lnTo>
                  <a:pt x="225972" y="42042"/>
                </a:lnTo>
                <a:lnTo>
                  <a:pt x="178676" y="0"/>
                </a:lnTo>
                <a:close/>
              </a:path>
            </a:pathLst>
          </a:cu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6134" y="457202"/>
            <a:ext cx="7704667" cy="758297"/>
          </a:xfrm>
        </p:spPr>
        <p:txBody>
          <a:bodyPr/>
          <a:lstStyle/>
          <a:p>
            <a:r>
              <a:rPr lang="en-US" dirty="0"/>
              <a:t>Least Constraining Value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idx="1"/>
          </p:nvPr>
        </p:nvSpPr>
        <p:spPr>
          <a:xfrm>
            <a:off x="2136648" y="1600201"/>
            <a:ext cx="8153400" cy="2133641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3200" dirty="0">
                <a:latin typeface="Corbel" panose="020B0503020204020204" pitchFamily="34" charset="0"/>
                <a:cs typeface="Times"/>
              </a:rPr>
              <a:t>Given a variable, choose the least constraining value:</a:t>
            </a:r>
          </a:p>
          <a:p>
            <a:pPr lvl="1">
              <a:spcBef>
                <a:spcPts val="1200"/>
              </a:spcBef>
            </a:pPr>
            <a:r>
              <a:rPr lang="en-US" sz="2800" dirty="0">
                <a:latin typeface="Corbel" panose="020B0503020204020204" pitchFamily="34" charset="0"/>
                <a:cs typeface="Times"/>
              </a:rPr>
              <a:t>the one that rules out the fewest values for neighboring unassigned variables</a:t>
            </a:r>
          </a:p>
        </p:txBody>
      </p:sp>
      <p:pic>
        <p:nvPicPr>
          <p:cNvPr id="8" name="Picture 4" descr="australia-most-constraining-variable"/>
          <p:cNvPicPr>
            <a:picLocks noChangeAspect="1" noChangeArrowheads="1"/>
          </p:cNvPicPr>
          <p:nvPr/>
        </p:nvPicPr>
        <p:blipFill rotWithShape="1">
          <a:blip r:embed="rId3"/>
          <a:srcRect r="80193"/>
          <a:stretch/>
        </p:blipFill>
        <p:spPr bwMode="auto">
          <a:xfrm>
            <a:off x="2743201" y="4572001"/>
            <a:ext cx="1509317" cy="1236663"/>
          </a:xfrm>
          <a:prstGeom prst="rect">
            <a:avLst/>
          </a:prstGeom>
          <a:noFill/>
        </p:spPr>
      </p:pic>
      <p:sp>
        <p:nvSpPr>
          <p:cNvPr id="10" name="Freeform 9"/>
          <p:cNvSpPr/>
          <p:nvPr/>
        </p:nvSpPr>
        <p:spPr>
          <a:xfrm>
            <a:off x="3302304" y="4679267"/>
            <a:ext cx="315883" cy="423949"/>
          </a:xfrm>
          <a:custGeom>
            <a:avLst/>
            <a:gdLst>
              <a:gd name="connsiteX0" fmla="*/ 232756 w 315883"/>
              <a:gd name="connsiteY0" fmla="*/ 41564 h 423949"/>
              <a:gd name="connsiteX1" fmla="*/ 133003 w 315883"/>
              <a:gd name="connsiteY1" fmla="*/ 0 h 423949"/>
              <a:gd name="connsiteX2" fmla="*/ 16625 w 315883"/>
              <a:gd name="connsiteY2" fmla="*/ 41564 h 423949"/>
              <a:gd name="connsiteX3" fmla="*/ 0 w 315883"/>
              <a:gd name="connsiteY3" fmla="*/ 133004 h 423949"/>
              <a:gd name="connsiteX4" fmla="*/ 0 w 315883"/>
              <a:gd name="connsiteY4" fmla="*/ 423949 h 423949"/>
              <a:gd name="connsiteX5" fmla="*/ 315883 w 315883"/>
              <a:gd name="connsiteY5" fmla="*/ 423949 h 423949"/>
              <a:gd name="connsiteX6" fmla="*/ 307571 w 315883"/>
              <a:gd name="connsiteY6" fmla="*/ 199505 h 423949"/>
              <a:gd name="connsiteX7" fmla="*/ 191192 w 315883"/>
              <a:gd name="connsiteY7" fmla="*/ 141316 h 423949"/>
              <a:gd name="connsiteX8" fmla="*/ 232756 w 315883"/>
              <a:gd name="connsiteY8" fmla="*/ 41564 h 423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883" h="423949">
                <a:moveTo>
                  <a:pt x="232756" y="41564"/>
                </a:moveTo>
                <a:lnTo>
                  <a:pt x="133003" y="0"/>
                </a:lnTo>
                <a:lnTo>
                  <a:pt x="16625" y="41564"/>
                </a:lnTo>
                <a:lnTo>
                  <a:pt x="0" y="133004"/>
                </a:lnTo>
                <a:lnTo>
                  <a:pt x="0" y="423949"/>
                </a:lnTo>
                <a:lnTo>
                  <a:pt x="315883" y="423949"/>
                </a:lnTo>
                <a:lnTo>
                  <a:pt x="307571" y="199505"/>
                </a:lnTo>
                <a:lnTo>
                  <a:pt x="191192" y="141316"/>
                </a:lnTo>
                <a:lnTo>
                  <a:pt x="232756" y="41564"/>
                </a:lnTo>
                <a:close/>
              </a:path>
            </a:pathLst>
          </a:cu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2805788" y="4752838"/>
            <a:ext cx="474020" cy="733452"/>
          </a:xfrm>
          <a:custGeom>
            <a:avLst/>
            <a:gdLst>
              <a:gd name="connsiteX0" fmla="*/ 16625 w 432262"/>
              <a:gd name="connsiteY0" fmla="*/ 0 h 315883"/>
              <a:gd name="connsiteX1" fmla="*/ 432262 w 432262"/>
              <a:gd name="connsiteY1" fmla="*/ 0 h 315883"/>
              <a:gd name="connsiteX2" fmla="*/ 423949 w 432262"/>
              <a:gd name="connsiteY2" fmla="*/ 315883 h 315883"/>
              <a:gd name="connsiteX3" fmla="*/ 332509 w 432262"/>
              <a:gd name="connsiteY3" fmla="*/ 191192 h 315883"/>
              <a:gd name="connsiteX4" fmla="*/ 299258 w 432262"/>
              <a:gd name="connsiteY4" fmla="*/ 249382 h 315883"/>
              <a:gd name="connsiteX5" fmla="*/ 141316 w 432262"/>
              <a:gd name="connsiteY5" fmla="*/ 116378 h 315883"/>
              <a:gd name="connsiteX6" fmla="*/ 0 w 432262"/>
              <a:gd name="connsiteY6" fmla="*/ 174567 h 315883"/>
              <a:gd name="connsiteX7" fmla="*/ 16625 w 432262"/>
              <a:gd name="connsiteY7" fmla="*/ 0 h 315883"/>
              <a:gd name="connsiteX0" fmla="*/ 16625 w 432262"/>
              <a:gd name="connsiteY0" fmla="*/ 0 h 398237"/>
              <a:gd name="connsiteX1" fmla="*/ 432262 w 432262"/>
              <a:gd name="connsiteY1" fmla="*/ 0 h 398237"/>
              <a:gd name="connsiteX2" fmla="*/ 423949 w 432262"/>
              <a:gd name="connsiteY2" fmla="*/ 315883 h 398237"/>
              <a:gd name="connsiteX3" fmla="*/ 332509 w 432262"/>
              <a:gd name="connsiteY3" fmla="*/ 191192 h 398237"/>
              <a:gd name="connsiteX4" fmla="*/ 123820 w 432262"/>
              <a:gd name="connsiteY4" fmla="*/ 398237 h 398237"/>
              <a:gd name="connsiteX5" fmla="*/ 141316 w 432262"/>
              <a:gd name="connsiteY5" fmla="*/ 116378 h 398237"/>
              <a:gd name="connsiteX6" fmla="*/ 0 w 432262"/>
              <a:gd name="connsiteY6" fmla="*/ 174567 h 398237"/>
              <a:gd name="connsiteX7" fmla="*/ 16625 w 432262"/>
              <a:gd name="connsiteY7" fmla="*/ 0 h 398237"/>
              <a:gd name="connsiteX0" fmla="*/ 16625 w 432262"/>
              <a:gd name="connsiteY0" fmla="*/ 0 h 504852"/>
              <a:gd name="connsiteX1" fmla="*/ 432262 w 432262"/>
              <a:gd name="connsiteY1" fmla="*/ 0 h 504852"/>
              <a:gd name="connsiteX2" fmla="*/ 423949 w 432262"/>
              <a:gd name="connsiteY2" fmla="*/ 315883 h 504852"/>
              <a:gd name="connsiteX3" fmla="*/ 146439 w 432262"/>
              <a:gd name="connsiteY3" fmla="*/ 504852 h 504852"/>
              <a:gd name="connsiteX4" fmla="*/ 123820 w 432262"/>
              <a:gd name="connsiteY4" fmla="*/ 398237 h 504852"/>
              <a:gd name="connsiteX5" fmla="*/ 141316 w 432262"/>
              <a:gd name="connsiteY5" fmla="*/ 116378 h 504852"/>
              <a:gd name="connsiteX6" fmla="*/ 0 w 432262"/>
              <a:gd name="connsiteY6" fmla="*/ 174567 h 504852"/>
              <a:gd name="connsiteX7" fmla="*/ 16625 w 432262"/>
              <a:gd name="connsiteY7" fmla="*/ 0 h 504852"/>
              <a:gd name="connsiteX0" fmla="*/ 16625 w 445215"/>
              <a:gd name="connsiteY0" fmla="*/ 0 h 504852"/>
              <a:gd name="connsiteX1" fmla="*/ 432262 w 445215"/>
              <a:gd name="connsiteY1" fmla="*/ 0 h 504852"/>
              <a:gd name="connsiteX2" fmla="*/ 445215 w 445215"/>
              <a:gd name="connsiteY2" fmla="*/ 369045 h 504852"/>
              <a:gd name="connsiteX3" fmla="*/ 146439 w 445215"/>
              <a:gd name="connsiteY3" fmla="*/ 504852 h 504852"/>
              <a:gd name="connsiteX4" fmla="*/ 123820 w 445215"/>
              <a:gd name="connsiteY4" fmla="*/ 398237 h 504852"/>
              <a:gd name="connsiteX5" fmla="*/ 141316 w 445215"/>
              <a:gd name="connsiteY5" fmla="*/ 116378 h 504852"/>
              <a:gd name="connsiteX6" fmla="*/ 0 w 445215"/>
              <a:gd name="connsiteY6" fmla="*/ 174567 h 504852"/>
              <a:gd name="connsiteX7" fmla="*/ 16625 w 445215"/>
              <a:gd name="connsiteY7" fmla="*/ 0 h 504852"/>
              <a:gd name="connsiteX0" fmla="*/ 16625 w 445215"/>
              <a:gd name="connsiteY0" fmla="*/ 180753 h 685605"/>
              <a:gd name="connsiteX1" fmla="*/ 421629 w 445215"/>
              <a:gd name="connsiteY1" fmla="*/ 0 h 685605"/>
              <a:gd name="connsiteX2" fmla="*/ 445215 w 445215"/>
              <a:gd name="connsiteY2" fmla="*/ 549798 h 685605"/>
              <a:gd name="connsiteX3" fmla="*/ 146439 w 445215"/>
              <a:gd name="connsiteY3" fmla="*/ 685605 h 685605"/>
              <a:gd name="connsiteX4" fmla="*/ 123820 w 445215"/>
              <a:gd name="connsiteY4" fmla="*/ 578990 h 685605"/>
              <a:gd name="connsiteX5" fmla="*/ 141316 w 445215"/>
              <a:gd name="connsiteY5" fmla="*/ 297131 h 685605"/>
              <a:gd name="connsiteX6" fmla="*/ 0 w 445215"/>
              <a:gd name="connsiteY6" fmla="*/ 355320 h 685605"/>
              <a:gd name="connsiteX7" fmla="*/ 16625 w 445215"/>
              <a:gd name="connsiteY7" fmla="*/ 180753 h 685605"/>
              <a:gd name="connsiteX0" fmla="*/ 298388 w 445215"/>
              <a:gd name="connsiteY0" fmla="*/ 0 h 733452"/>
              <a:gd name="connsiteX1" fmla="*/ 421629 w 445215"/>
              <a:gd name="connsiteY1" fmla="*/ 47847 h 733452"/>
              <a:gd name="connsiteX2" fmla="*/ 445215 w 445215"/>
              <a:gd name="connsiteY2" fmla="*/ 597645 h 733452"/>
              <a:gd name="connsiteX3" fmla="*/ 146439 w 445215"/>
              <a:gd name="connsiteY3" fmla="*/ 733452 h 733452"/>
              <a:gd name="connsiteX4" fmla="*/ 123820 w 445215"/>
              <a:gd name="connsiteY4" fmla="*/ 626837 h 733452"/>
              <a:gd name="connsiteX5" fmla="*/ 141316 w 445215"/>
              <a:gd name="connsiteY5" fmla="*/ 344978 h 733452"/>
              <a:gd name="connsiteX6" fmla="*/ 0 w 445215"/>
              <a:gd name="connsiteY6" fmla="*/ 403167 h 733452"/>
              <a:gd name="connsiteX7" fmla="*/ 298388 w 445215"/>
              <a:gd name="connsiteY7" fmla="*/ 0 h 733452"/>
              <a:gd name="connsiteX0" fmla="*/ 174568 w 321395"/>
              <a:gd name="connsiteY0" fmla="*/ 0 h 733452"/>
              <a:gd name="connsiteX1" fmla="*/ 297809 w 321395"/>
              <a:gd name="connsiteY1" fmla="*/ 47847 h 733452"/>
              <a:gd name="connsiteX2" fmla="*/ 321395 w 321395"/>
              <a:gd name="connsiteY2" fmla="*/ 597645 h 733452"/>
              <a:gd name="connsiteX3" fmla="*/ 22619 w 321395"/>
              <a:gd name="connsiteY3" fmla="*/ 733452 h 733452"/>
              <a:gd name="connsiteX4" fmla="*/ 0 w 321395"/>
              <a:gd name="connsiteY4" fmla="*/ 626837 h 733452"/>
              <a:gd name="connsiteX5" fmla="*/ 17496 w 321395"/>
              <a:gd name="connsiteY5" fmla="*/ 344978 h 733452"/>
              <a:gd name="connsiteX6" fmla="*/ 3771 w 321395"/>
              <a:gd name="connsiteY6" fmla="*/ 211781 h 733452"/>
              <a:gd name="connsiteX7" fmla="*/ 174568 w 321395"/>
              <a:gd name="connsiteY7" fmla="*/ 0 h 733452"/>
              <a:gd name="connsiteX0" fmla="*/ 327193 w 474020"/>
              <a:gd name="connsiteY0" fmla="*/ 0 h 733452"/>
              <a:gd name="connsiteX1" fmla="*/ 450434 w 474020"/>
              <a:gd name="connsiteY1" fmla="*/ 47847 h 733452"/>
              <a:gd name="connsiteX2" fmla="*/ 474020 w 474020"/>
              <a:gd name="connsiteY2" fmla="*/ 597645 h 733452"/>
              <a:gd name="connsiteX3" fmla="*/ 175244 w 474020"/>
              <a:gd name="connsiteY3" fmla="*/ 733452 h 733452"/>
              <a:gd name="connsiteX4" fmla="*/ 152625 w 474020"/>
              <a:gd name="connsiteY4" fmla="*/ 626837 h 733452"/>
              <a:gd name="connsiteX5" fmla="*/ 0 w 474020"/>
              <a:gd name="connsiteY5" fmla="*/ 313080 h 733452"/>
              <a:gd name="connsiteX6" fmla="*/ 156396 w 474020"/>
              <a:gd name="connsiteY6" fmla="*/ 211781 h 733452"/>
              <a:gd name="connsiteX7" fmla="*/ 327193 w 474020"/>
              <a:gd name="connsiteY7" fmla="*/ 0 h 73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020" h="733452">
                <a:moveTo>
                  <a:pt x="327193" y="0"/>
                </a:moveTo>
                <a:lnTo>
                  <a:pt x="450434" y="47847"/>
                </a:lnTo>
                <a:lnTo>
                  <a:pt x="474020" y="597645"/>
                </a:lnTo>
                <a:lnTo>
                  <a:pt x="175244" y="733452"/>
                </a:lnTo>
                <a:lnTo>
                  <a:pt x="152625" y="626837"/>
                </a:lnTo>
                <a:lnTo>
                  <a:pt x="0" y="313080"/>
                </a:lnTo>
                <a:lnTo>
                  <a:pt x="156396" y="211781"/>
                </a:lnTo>
                <a:lnTo>
                  <a:pt x="327193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4" descr="australia-most-constraining-variable"/>
          <p:cNvPicPr>
            <a:picLocks noChangeAspect="1" noChangeArrowheads="1"/>
          </p:cNvPicPr>
          <p:nvPr/>
        </p:nvPicPr>
        <p:blipFill rotWithShape="1">
          <a:blip r:embed="rId3"/>
          <a:srcRect r="80193"/>
          <a:stretch/>
        </p:blipFill>
        <p:spPr bwMode="auto">
          <a:xfrm>
            <a:off x="5562601" y="3774303"/>
            <a:ext cx="1509317" cy="1236663"/>
          </a:xfrm>
          <a:prstGeom prst="rect">
            <a:avLst/>
          </a:prstGeom>
          <a:noFill/>
        </p:spPr>
      </p:pic>
      <p:sp>
        <p:nvSpPr>
          <p:cNvPr id="15" name="Freeform 14"/>
          <p:cNvSpPr/>
          <p:nvPr/>
        </p:nvSpPr>
        <p:spPr>
          <a:xfrm>
            <a:off x="6121704" y="3881569"/>
            <a:ext cx="315883" cy="423949"/>
          </a:xfrm>
          <a:custGeom>
            <a:avLst/>
            <a:gdLst>
              <a:gd name="connsiteX0" fmla="*/ 232756 w 315883"/>
              <a:gd name="connsiteY0" fmla="*/ 41564 h 423949"/>
              <a:gd name="connsiteX1" fmla="*/ 133003 w 315883"/>
              <a:gd name="connsiteY1" fmla="*/ 0 h 423949"/>
              <a:gd name="connsiteX2" fmla="*/ 16625 w 315883"/>
              <a:gd name="connsiteY2" fmla="*/ 41564 h 423949"/>
              <a:gd name="connsiteX3" fmla="*/ 0 w 315883"/>
              <a:gd name="connsiteY3" fmla="*/ 133004 h 423949"/>
              <a:gd name="connsiteX4" fmla="*/ 0 w 315883"/>
              <a:gd name="connsiteY4" fmla="*/ 423949 h 423949"/>
              <a:gd name="connsiteX5" fmla="*/ 315883 w 315883"/>
              <a:gd name="connsiteY5" fmla="*/ 423949 h 423949"/>
              <a:gd name="connsiteX6" fmla="*/ 307571 w 315883"/>
              <a:gd name="connsiteY6" fmla="*/ 199505 h 423949"/>
              <a:gd name="connsiteX7" fmla="*/ 191192 w 315883"/>
              <a:gd name="connsiteY7" fmla="*/ 141316 h 423949"/>
              <a:gd name="connsiteX8" fmla="*/ 232756 w 315883"/>
              <a:gd name="connsiteY8" fmla="*/ 41564 h 423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883" h="423949">
                <a:moveTo>
                  <a:pt x="232756" y="41564"/>
                </a:moveTo>
                <a:lnTo>
                  <a:pt x="133003" y="0"/>
                </a:lnTo>
                <a:lnTo>
                  <a:pt x="16625" y="41564"/>
                </a:lnTo>
                <a:lnTo>
                  <a:pt x="0" y="133004"/>
                </a:lnTo>
                <a:lnTo>
                  <a:pt x="0" y="423949"/>
                </a:lnTo>
                <a:lnTo>
                  <a:pt x="315883" y="423949"/>
                </a:lnTo>
                <a:lnTo>
                  <a:pt x="307571" y="199505"/>
                </a:lnTo>
                <a:lnTo>
                  <a:pt x="191192" y="141316"/>
                </a:lnTo>
                <a:lnTo>
                  <a:pt x="232756" y="41564"/>
                </a:lnTo>
                <a:close/>
              </a:path>
            </a:pathLst>
          </a:cu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6479849" y="3949886"/>
            <a:ext cx="467710" cy="467711"/>
          </a:xfrm>
          <a:custGeom>
            <a:avLst/>
            <a:gdLst>
              <a:gd name="connsiteX0" fmla="*/ 178676 w 467710"/>
              <a:gd name="connsiteY0" fmla="*/ 0 h 467711"/>
              <a:gd name="connsiteX1" fmla="*/ 136634 w 467710"/>
              <a:gd name="connsiteY1" fmla="*/ 136635 h 467711"/>
              <a:gd name="connsiteX2" fmla="*/ 84083 w 467710"/>
              <a:gd name="connsiteY2" fmla="*/ 189186 h 467711"/>
              <a:gd name="connsiteX3" fmla="*/ 0 w 467710"/>
              <a:gd name="connsiteY3" fmla="*/ 152400 h 467711"/>
              <a:gd name="connsiteX4" fmla="*/ 0 w 467710"/>
              <a:gd name="connsiteY4" fmla="*/ 362607 h 467711"/>
              <a:gd name="connsiteX5" fmla="*/ 105103 w 467710"/>
              <a:gd name="connsiteY5" fmla="*/ 362607 h 467711"/>
              <a:gd name="connsiteX6" fmla="*/ 105103 w 467710"/>
              <a:gd name="connsiteY6" fmla="*/ 357352 h 467711"/>
              <a:gd name="connsiteX7" fmla="*/ 120869 w 467710"/>
              <a:gd name="connsiteY7" fmla="*/ 457200 h 467711"/>
              <a:gd name="connsiteX8" fmla="*/ 404648 w 467710"/>
              <a:gd name="connsiteY8" fmla="*/ 462455 h 467711"/>
              <a:gd name="connsiteX9" fmla="*/ 425669 w 467710"/>
              <a:gd name="connsiteY9" fmla="*/ 467711 h 467711"/>
              <a:gd name="connsiteX10" fmla="*/ 467710 w 467710"/>
              <a:gd name="connsiteY10" fmla="*/ 462455 h 467711"/>
              <a:gd name="connsiteX11" fmla="*/ 441434 w 467710"/>
              <a:gd name="connsiteY11" fmla="*/ 373117 h 467711"/>
              <a:gd name="connsiteX12" fmla="*/ 367862 w 467710"/>
              <a:gd name="connsiteY12" fmla="*/ 320566 h 467711"/>
              <a:gd name="connsiteX13" fmla="*/ 262758 w 467710"/>
              <a:gd name="connsiteY13" fmla="*/ 199697 h 467711"/>
              <a:gd name="connsiteX14" fmla="*/ 225972 w 467710"/>
              <a:gd name="connsiteY14" fmla="*/ 42042 h 467711"/>
              <a:gd name="connsiteX15" fmla="*/ 178676 w 467710"/>
              <a:gd name="connsiteY15" fmla="*/ 0 h 46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7710" h="467711">
                <a:moveTo>
                  <a:pt x="178676" y="0"/>
                </a:moveTo>
                <a:lnTo>
                  <a:pt x="136634" y="136635"/>
                </a:lnTo>
                <a:lnTo>
                  <a:pt x="84083" y="189186"/>
                </a:lnTo>
                <a:lnTo>
                  <a:pt x="0" y="152400"/>
                </a:lnTo>
                <a:lnTo>
                  <a:pt x="0" y="362607"/>
                </a:lnTo>
                <a:cubicBezTo>
                  <a:pt x="47799" y="367918"/>
                  <a:pt x="54341" y="371836"/>
                  <a:pt x="105103" y="362607"/>
                </a:cubicBezTo>
                <a:cubicBezTo>
                  <a:pt x="106826" y="362294"/>
                  <a:pt x="105103" y="359104"/>
                  <a:pt x="105103" y="357352"/>
                </a:cubicBezTo>
                <a:lnTo>
                  <a:pt x="120869" y="457200"/>
                </a:lnTo>
                <a:lnTo>
                  <a:pt x="404648" y="462455"/>
                </a:lnTo>
                <a:cubicBezTo>
                  <a:pt x="411866" y="462704"/>
                  <a:pt x="418446" y="467711"/>
                  <a:pt x="425669" y="467711"/>
                </a:cubicBezTo>
                <a:cubicBezTo>
                  <a:pt x="439792" y="467711"/>
                  <a:pt x="453587" y="462455"/>
                  <a:pt x="467710" y="462455"/>
                </a:cubicBezTo>
                <a:lnTo>
                  <a:pt x="441434" y="373117"/>
                </a:lnTo>
                <a:lnTo>
                  <a:pt x="367862" y="320566"/>
                </a:lnTo>
                <a:lnTo>
                  <a:pt x="262758" y="199697"/>
                </a:lnTo>
                <a:lnTo>
                  <a:pt x="225972" y="42042"/>
                </a:lnTo>
                <a:lnTo>
                  <a:pt x="178676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5625188" y="3955140"/>
            <a:ext cx="474020" cy="733452"/>
          </a:xfrm>
          <a:custGeom>
            <a:avLst/>
            <a:gdLst>
              <a:gd name="connsiteX0" fmla="*/ 16625 w 432262"/>
              <a:gd name="connsiteY0" fmla="*/ 0 h 315883"/>
              <a:gd name="connsiteX1" fmla="*/ 432262 w 432262"/>
              <a:gd name="connsiteY1" fmla="*/ 0 h 315883"/>
              <a:gd name="connsiteX2" fmla="*/ 423949 w 432262"/>
              <a:gd name="connsiteY2" fmla="*/ 315883 h 315883"/>
              <a:gd name="connsiteX3" fmla="*/ 332509 w 432262"/>
              <a:gd name="connsiteY3" fmla="*/ 191192 h 315883"/>
              <a:gd name="connsiteX4" fmla="*/ 299258 w 432262"/>
              <a:gd name="connsiteY4" fmla="*/ 249382 h 315883"/>
              <a:gd name="connsiteX5" fmla="*/ 141316 w 432262"/>
              <a:gd name="connsiteY5" fmla="*/ 116378 h 315883"/>
              <a:gd name="connsiteX6" fmla="*/ 0 w 432262"/>
              <a:gd name="connsiteY6" fmla="*/ 174567 h 315883"/>
              <a:gd name="connsiteX7" fmla="*/ 16625 w 432262"/>
              <a:gd name="connsiteY7" fmla="*/ 0 h 315883"/>
              <a:gd name="connsiteX0" fmla="*/ 16625 w 432262"/>
              <a:gd name="connsiteY0" fmla="*/ 0 h 398237"/>
              <a:gd name="connsiteX1" fmla="*/ 432262 w 432262"/>
              <a:gd name="connsiteY1" fmla="*/ 0 h 398237"/>
              <a:gd name="connsiteX2" fmla="*/ 423949 w 432262"/>
              <a:gd name="connsiteY2" fmla="*/ 315883 h 398237"/>
              <a:gd name="connsiteX3" fmla="*/ 332509 w 432262"/>
              <a:gd name="connsiteY3" fmla="*/ 191192 h 398237"/>
              <a:gd name="connsiteX4" fmla="*/ 123820 w 432262"/>
              <a:gd name="connsiteY4" fmla="*/ 398237 h 398237"/>
              <a:gd name="connsiteX5" fmla="*/ 141316 w 432262"/>
              <a:gd name="connsiteY5" fmla="*/ 116378 h 398237"/>
              <a:gd name="connsiteX6" fmla="*/ 0 w 432262"/>
              <a:gd name="connsiteY6" fmla="*/ 174567 h 398237"/>
              <a:gd name="connsiteX7" fmla="*/ 16625 w 432262"/>
              <a:gd name="connsiteY7" fmla="*/ 0 h 398237"/>
              <a:gd name="connsiteX0" fmla="*/ 16625 w 432262"/>
              <a:gd name="connsiteY0" fmla="*/ 0 h 504852"/>
              <a:gd name="connsiteX1" fmla="*/ 432262 w 432262"/>
              <a:gd name="connsiteY1" fmla="*/ 0 h 504852"/>
              <a:gd name="connsiteX2" fmla="*/ 423949 w 432262"/>
              <a:gd name="connsiteY2" fmla="*/ 315883 h 504852"/>
              <a:gd name="connsiteX3" fmla="*/ 146439 w 432262"/>
              <a:gd name="connsiteY3" fmla="*/ 504852 h 504852"/>
              <a:gd name="connsiteX4" fmla="*/ 123820 w 432262"/>
              <a:gd name="connsiteY4" fmla="*/ 398237 h 504852"/>
              <a:gd name="connsiteX5" fmla="*/ 141316 w 432262"/>
              <a:gd name="connsiteY5" fmla="*/ 116378 h 504852"/>
              <a:gd name="connsiteX6" fmla="*/ 0 w 432262"/>
              <a:gd name="connsiteY6" fmla="*/ 174567 h 504852"/>
              <a:gd name="connsiteX7" fmla="*/ 16625 w 432262"/>
              <a:gd name="connsiteY7" fmla="*/ 0 h 504852"/>
              <a:gd name="connsiteX0" fmla="*/ 16625 w 445215"/>
              <a:gd name="connsiteY0" fmla="*/ 0 h 504852"/>
              <a:gd name="connsiteX1" fmla="*/ 432262 w 445215"/>
              <a:gd name="connsiteY1" fmla="*/ 0 h 504852"/>
              <a:gd name="connsiteX2" fmla="*/ 445215 w 445215"/>
              <a:gd name="connsiteY2" fmla="*/ 369045 h 504852"/>
              <a:gd name="connsiteX3" fmla="*/ 146439 w 445215"/>
              <a:gd name="connsiteY3" fmla="*/ 504852 h 504852"/>
              <a:gd name="connsiteX4" fmla="*/ 123820 w 445215"/>
              <a:gd name="connsiteY4" fmla="*/ 398237 h 504852"/>
              <a:gd name="connsiteX5" fmla="*/ 141316 w 445215"/>
              <a:gd name="connsiteY5" fmla="*/ 116378 h 504852"/>
              <a:gd name="connsiteX6" fmla="*/ 0 w 445215"/>
              <a:gd name="connsiteY6" fmla="*/ 174567 h 504852"/>
              <a:gd name="connsiteX7" fmla="*/ 16625 w 445215"/>
              <a:gd name="connsiteY7" fmla="*/ 0 h 504852"/>
              <a:gd name="connsiteX0" fmla="*/ 16625 w 445215"/>
              <a:gd name="connsiteY0" fmla="*/ 180753 h 685605"/>
              <a:gd name="connsiteX1" fmla="*/ 421629 w 445215"/>
              <a:gd name="connsiteY1" fmla="*/ 0 h 685605"/>
              <a:gd name="connsiteX2" fmla="*/ 445215 w 445215"/>
              <a:gd name="connsiteY2" fmla="*/ 549798 h 685605"/>
              <a:gd name="connsiteX3" fmla="*/ 146439 w 445215"/>
              <a:gd name="connsiteY3" fmla="*/ 685605 h 685605"/>
              <a:gd name="connsiteX4" fmla="*/ 123820 w 445215"/>
              <a:gd name="connsiteY4" fmla="*/ 578990 h 685605"/>
              <a:gd name="connsiteX5" fmla="*/ 141316 w 445215"/>
              <a:gd name="connsiteY5" fmla="*/ 297131 h 685605"/>
              <a:gd name="connsiteX6" fmla="*/ 0 w 445215"/>
              <a:gd name="connsiteY6" fmla="*/ 355320 h 685605"/>
              <a:gd name="connsiteX7" fmla="*/ 16625 w 445215"/>
              <a:gd name="connsiteY7" fmla="*/ 180753 h 685605"/>
              <a:gd name="connsiteX0" fmla="*/ 298388 w 445215"/>
              <a:gd name="connsiteY0" fmla="*/ 0 h 733452"/>
              <a:gd name="connsiteX1" fmla="*/ 421629 w 445215"/>
              <a:gd name="connsiteY1" fmla="*/ 47847 h 733452"/>
              <a:gd name="connsiteX2" fmla="*/ 445215 w 445215"/>
              <a:gd name="connsiteY2" fmla="*/ 597645 h 733452"/>
              <a:gd name="connsiteX3" fmla="*/ 146439 w 445215"/>
              <a:gd name="connsiteY3" fmla="*/ 733452 h 733452"/>
              <a:gd name="connsiteX4" fmla="*/ 123820 w 445215"/>
              <a:gd name="connsiteY4" fmla="*/ 626837 h 733452"/>
              <a:gd name="connsiteX5" fmla="*/ 141316 w 445215"/>
              <a:gd name="connsiteY5" fmla="*/ 344978 h 733452"/>
              <a:gd name="connsiteX6" fmla="*/ 0 w 445215"/>
              <a:gd name="connsiteY6" fmla="*/ 403167 h 733452"/>
              <a:gd name="connsiteX7" fmla="*/ 298388 w 445215"/>
              <a:gd name="connsiteY7" fmla="*/ 0 h 733452"/>
              <a:gd name="connsiteX0" fmla="*/ 174568 w 321395"/>
              <a:gd name="connsiteY0" fmla="*/ 0 h 733452"/>
              <a:gd name="connsiteX1" fmla="*/ 297809 w 321395"/>
              <a:gd name="connsiteY1" fmla="*/ 47847 h 733452"/>
              <a:gd name="connsiteX2" fmla="*/ 321395 w 321395"/>
              <a:gd name="connsiteY2" fmla="*/ 597645 h 733452"/>
              <a:gd name="connsiteX3" fmla="*/ 22619 w 321395"/>
              <a:gd name="connsiteY3" fmla="*/ 733452 h 733452"/>
              <a:gd name="connsiteX4" fmla="*/ 0 w 321395"/>
              <a:gd name="connsiteY4" fmla="*/ 626837 h 733452"/>
              <a:gd name="connsiteX5" fmla="*/ 17496 w 321395"/>
              <a:gd name="connsiteY5" fmla="*/ 344978 h 733452"/>
              <a:gd name="connsiteX6" fmla="*/ 3771 w 321395"/>
              <a:gd name="connsiteY6" fmla="*/ 211781 h 733452"/>
              <a:gd name="connsiteX7" fmla="*/ 174568 w 321395"/>
              <a:gd name="connsiteY7" fmla="*/ 0 h 733452"/>
              <a:gd name="connsiteX0" fmla="*/ 327193 w 474020"/>
              <a:gd name="connsiteY0" fmla="*/ 0 h 733452"/>
              <a:gd name="connsiteX1" fmla="*/ 450434 w 474020"/>
              <a:gd name="connsiteY1" fmla="*/ 47847 h 733452"/>
              <a:gd name="connsiteX2" fmla="*/ 474020 w 474020"/>
              <a:gd name="connsiteY2" fmla="*/ 597645 h 733452"/>
              <a:gd name="connsiteX3" fmla="*/ 175244 w 474020"/>
              <a:gd name="connsiteY3" fmla="*/ 733452 h 733452"/>
              <a:gd name="connsiteX4" fmla="*/ 152625 w 474020"/>
              <a:gd name="connsiteY4" fmla="*/ 626837 h 733452"/>
              <a:gd name="connsiteX5" fmla="*/ 0 w 474020"/>
              <a:gd name="connsiteY5" fmla="*/ 313080 h 733452"/>
              <a:gd name="connsiteX6" fmla="*/ 156396 w 474020"/>
              <a:gd name="connsiteY6" fmla="*/ 211781 h 733452"/>
              <a:gd name="connsiteX7" fmla="*/ 327193 w 474020"/>
              <a:gd name="connsiteY7" fmla="*/ 0 h 73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020" h="733452">
                <a:moveTo>
                  <a:pt x="327193" y="0"/>
                </a:moveTo>
                <a:lnTo>
                  <a:pt x="450434" y="47847"/>
                </a:lnTo>
                <a:lnTo>
                  <a:pt x="474020" y="597645"/>
                </a:lnTo>
                <a:lnTo>
                  <a:pt x="175244" y="733452"/>
                </a:lnTo>
                <a:lnTo>
                  <a:pt x="152625" y="626837"/>
                </a:lnTo>
                <a:lnTo>
                  <a:pt x="0" y="313080"/>
                </a:lnTo>
                <a:lnTo>
                  <a:pt x="156396" y="211781"/>
                </a:lnTo>
                <a:lnTo>
                  <a:pt x="327193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4" descr="australia-most-constraining-variable"/>
          <p:cNvPicPr>
            <a:picLocks noChangeAspect="1" noChangeArrowheads="1"/>
          </p:cNvPicPr>
          <p:nvPr/>
        </p:nvPicPr>
        <p:blipFill rotWithShape="1">
          <a:blip r:embed="rId3"/>
          <a:srcRect r="80193"/>
          <a:stretch/>
        </p:blipFill>
        <p:spPr bwMode="auto">
          <a:xfrm>
            <a:off x="5558382" y="5386401"/>
            <a:ext cx="1509317" cy="1236663"/>
          </a:xfrm>
          <a:prstGeom prst="rect">
            <a:avLst/>
          </a:prstGeom>
          <a:noFill/>
        </p:spPr>
      </p:pic>
      <p:sp>
        <p:nvSpPr>
          <p:cNvPr id="19" name="Freeform 18"/>
          <p:cNvSpPr/>
          <p:nvPr/>
        </p:nvSpPr>
        <p:spPr>
          <a:xfrm>
            <a:off x="6117485" y="5493667"/>
            <a:ext cx="315883" cy="423949"/>
          </a:xfrm>
          <a:custGeom>
            <a:avLst/>
            <a:gdLst>
              <a:gd name="connsiteX0" fmla="*/ 232756 w 315883"/>
              <a:gd name="connsiteY0" fmla="*/ 41564 h 423949"/>
              <a:gd name="connsiteX1" fmla="*/ 133003 w 315883"/>
              <a:gd name="connsiteY1" fmla="*/ 0 h 423949"/>
              <a:gd name="connsiteX2" fmla="*/ 16625 w 315883"/>
              <a:gd name="connsiteY2" fmla="*/ 41564 h 423949"/>
              <a:gd name="connsiteX3" fmla="*/ 0 w 315883"/>
              <a:gd name="connsiteY3" fmla="*/ 133004 h 423949"/>
              <a:gd name="connsiteX4" fmla="*/ 0 w 315883"/>
              <a:gd name="connsiteY4" fmla="*/ 423949 h 423949"/>
              <a:gd name="connsiteX5" fmla="*/ 315883 w 315883"/>
              <a:gd name="connsiteY5" fmla="*/ 423949 h 423949"/>
              <a:gd name="connsiteX6" fmla="*/ 307571 w 315883"/>
              <a:gd name="connsiteY6" fmla="*/ 199505 h 423949"/>
              <a:gd name="connsiteX7" fmla="*/ 191192 w 315883"/>
              <a:gd name="connsiteY7" fmla="*/ 141316 h 423949"/>
              <a:gd name="connsiteX8" fmla="*/ 232756 w 315883"/>
              <a:gd name="connsiteY8" fmla="*/ 41564 h 423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883" h="423949">
                <a:moveTo>
                  <a:pt x="232756" y="41564"/>
                </a:moveTo>
                <a:lnTo>
                  <a:pt x="133003" y="0"/>
                </a:lnTo>
                <a:lnTo>
                  <a:pt x="16625" y="41564"/>
                </a:lnTo>
                <a:lnTo>
                  <a:pt x="0" y="133004"/>
                </a:lnTo>
                <a:lnTo>
                  <a:pt x="0" y="423949"/>
                </a:lnTo>
                <a:lnTo>
                  <a:pt x="315883" y="423949"/>
                </a:lnTo>
                <a:lnTo>
                  <a:pt x="307571" y="199505"/>
                </a:lnTo>
                <a:lnTo>
                  <a:pt x="191192" y="141316"/>
                </a:lnTo>
                <a:lnTo>
                  <a:pt x="232756" y="41564"/>
                </a:lnTo>
                <a:close/>
              </a:path>
            </a:pathLst>
          </a:cu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6475630" y="5561984"/>
            <a:ext cx="467710" cy="467711"/>
          </a:xfrm>
          <a:custGeom>
            <a:avLst/>
            <a:gdLst>
              <a:gd name="connsiteX0" fmla="*/ 178676 w 467710"/>
              <a:gd name="connsiteY0" fmla="*/ 0 h 467711"/>
              <a:gd name="connsiteX1" fmla="*/ 136634 w 467710"/>
              <a:gd name="connsiteY1" fmla="*/ 136635 h 467711"/>
              <a:gd name="connsiteX2" fmla="*/ 84083 w 467710"/>
              <a:gd name="connsiteY2" fmla="*/ 189186 h 467711"/>
              <a:gd name="connsiteX3" fmla="*/ 0 w 467710"/>
              <a:gd name="connsiteY3" fmla="*/ 152400 h 467711"/>
              <a:gd name="connsiteX4" fmla="*/ 0 w 467710"/>
              <a:gd name="connsiteY4" fmla="*/ 362607 h 467711"/>
              <a:gd name="connsiteX5" fmla="*/ 105103 w 467710"/>
              <a:gd name="connsiteY5" fmla="*/ 362607 h 467711"/>
              <a:gd name="connsiteX6" fmla="*/ 105103 w 467710"/>
              <a:gd name="connsiteY6" fmla="*/ 357352 h 467711"/>
              <a:gd name="connsiteX7" fmla="*/ 120869 w 467710"/>
              <a:gd name="connsiteY7" fmla="*/ 457200 h 467711"/>
              <a:gd name="connsiteX8" fmla="*/ 404648 w 467710"/>
              <a:gd name="connsiteY8" fmla="*/ 462455 h 467711"/>
              <a:gd name="connsiteX9" fmla="*/ 425669 w 467710"/>
              <a:gd name="connsiteY9" fmla="*/ 467711 h 467711"/>
              <a:gd name="connsiteX10" fmla="*/ 467710 w 467710"/>
              <a:gd name="connsiteY10" fmla="*/ 462455 h 467711"/>
              <a:gd name="connsiteX11" fmla="*/ 441434 w 467710"/>
              <a:gd name="connsiteY11" fmla="*/ 373117 h 467711"/>
              <a:gd name="connsiteX12" fmla="*/ 367862 w 467710"/>
              <a:gd name="connsiteY12" fmla="*/ 320566 h 467711"/>
              <a:gd name="connsiteX13" fmla="*/ 262758 w 467710"/>
              <a:gd name="connsiteY13" fmla="*/ 199697 h 467711"/>
              <a:gd name="connsiteX14" fmla="*/ 225972 w 467710"/>
              <a:gd name="connsiteY14" fmla="*/ 42042 h 467711"/>
              <a:gd name="connsiteX15" fmla="*/ 178676 w 467710"/>
              <a:gd name="connsiteY15" fmla="*/ 0 h 46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7710" h="467711">
                <a:moveTo>
                  <a:pt x="178676" y="0"/>
                </a:moveTo>
                <a:lnTo>
                  <a:pt x="136634" y="136635"/>
                </a:lnTo>
                <a:lnTo>
                  <a:pt x="84083" y="189186"/>
                </a:lnTo>
                <a:lnTo>
                  <a:pt x="0" y="152400"/>
                </a:lnTo>
                <a:lnTo>
                  <a:pt x="0" y="362607"/>
                </a:lnTo>
                <a:cubicBezTo>
                  <a:pt x="47799" y="367918"/>
                  <a:pt x="54341" y="371836"/>
                  <a:pt x="105103" y="362607"/>
                </a:cubicBezTo>
                <a:cubicBezTo>
                  <a:pt x="106826" y="362294"/>
                  <a:pt x="105103" y="359104"/>
                  <a:pt x="105103" y="357352"/>
                </a:cubicBezTo>
                <a:lnTo>
                  <a:pt x="120869" y="457200"/>
                </a:lnTo>
                <a:lnTo>
                  <a:pt x="404648" y="462455"/>
                </a:lnTo>
                <a:cubicBezTo>
                  <a:pt x="411866" y="462704"/>
                  <a:pt x="418446" y="467711"/>
                  <a:pt x="425669" y="467711"/>
                </a:cubicBezTo>
                <a:cubicBezTo>
                  <a:pt x="439792" y="467711"/>
                  <a:pt x="453587" y="462455"/>
                  <a:pt x="467710" y="462455"/>
                </a:cubicBezTo>
                <a:lnTo>
                  <a:pt x="441434" y="373117"/>
                </a:lnTo>
                <a:lnTo>
                  <a:pt x="367862" y="320566"/>
                </a:lnTo>
                <a:lnTo>
                  <a:pt x="262758" y="199697"/>
                </a:lnTo>
                <a:lnTo>
                  <a:pt x="225972" y="42042"/>
                </a:lnTo>
                <a:lnTo>
                  <a:pt x="178676" y="0"/>
                </a:lnTo>
                <a:close/>
              </a:path>
            </a:pathLst>
          </a:cu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5620969" y="5567238"/>
            <a:ext cx="474020" cy="733452"/>
          </a:xfrm>
          <a:custGeom>
            <a:avLst/>
            <a:gdLst>
              <a:gd name="connsiteX0" fmla="*/ 16625 w 432262"/>
              <a:gd name="connsiteY0" fmla="*/ 0 h 315883"/>
              <a:gd name="connsiteX1" fmla="*/ 432262 w 432262"/>
              <a:gd name="connsiteY1" fmla="*/ 0 h 315883"/>
              <a:gd name="connsiteX2" fmla="*/ 423949 w 432262"/>
              <a:gd name="connsiteY2" fmla="*/ 315883 h 315883"/>
              <a:gd name="connsiteX3" fmla="*/ 332509 w 432262"/>
              <a:gd name="connsiteY3" fmla="*/ 191192 h 315883"/>
              <a:gd name="connsiteX4" fmla="*/ 299258 w 432262"/>
              <a:gd name="connsiteY4" fmla="*/ 249382 h 315883"/>
              <a:gd name="connsiteX5" fmla="*/ 141316 w 432262"/>
              <a:gd name="connsiteY5" fmla="*/ 116378 h 315883"/>
              <a:gd name="connsiteX6" fmla="*/ 0 w 432262"/>
              <a:gd name="connsiteY6" fmla="*/ 174567 h 315883"/>
              <a:gd name="connsiteX7" fmla="*/ 16625 w 432262"/>
              <a:gd name="connsiteY7" fmla="*/ 0 h 315883"/>
              <a:gd name="connsiteX0" fmla="*/ 16625 w 432262"/>
              <a:gd name="connsiteY0" fmla="*/ 0 h 398237"/>
              <a:gd name="connsiteX1" fmla="*/ 432262 w 432262"/>
              <a:gd name="connsiteY1" fmla="*/ 0 h 398237"/>
              <a:gd name="connsiteX2" fmla="*/ 423949 w 432262"/>
              <a:gd name="connsiteY2" fmla="*/ 315883 h 398237"/>
              <a:gd name="connsiteX3" fmla="*/ 332509 w 432262"/>
              <a:gd name="connsiteY3" fmla="*/ 191192 h 398237"/>
              <a:gd name="connsiteX4" fmla="*/ 123820 w 432262"/>
              <a:gd name="connsiteY4" fmla="*/ 398237 h 398237"/>
              <a:gd name="connsiteX5" fmla="*/ 141316 w 432262"/>
              <a:gd name="connsiteY5" fmla="*/ 116378 h 398237"/>
              <a:gd name="connsiteX6" fmla="*/ 0 w 432262"/>
              <a:gd name="connsiteY6" fmla="*/ 174567 h 398237"/>
              <a:gd name="connsiteX7" fmla="*/ 16625 w 432262"/>
              <a:gd name="connsiteY7" fmla="*/ 0 h 398237"/>
              <a:gd name="connsiteX0" fmla="*/ 16625 w 432262"/>
              <a:gd name="connsiteY0" fmla="*/ 0 h 504852"/>
              <a:gd name="connsiteX1" fmla="*/ 432262 w 432262"/>
              <a:gd name="connsiteY1" fmla="*/ 0 h 504852"/>
              <a:gd name="connsiteX2" fmla="*/ 423949 w 432262"/>
              <a:gd name="connsiteY2" fmla="*/ 315883 h 504852"/>
              <a:gd name="connsiteX3" fmla="*/ 146439 w 432262"/>
              <a:gd name="connsiteY3" fmla="*/ 504852 h 504852"/>
              <a:gd name="connsiteX4" fmla="*/ 123820 w 432262"/>
              <a:gd name="connsiteY4" fmla="*/ 398237 h 504852"/>
              <a:gd name="connsiteX5" fmla="*/ 141316 w 432262"/>
              <a:gd name="connsiteY5" fmla="*/ 116378 h 504852"/>
              <a:gd name="connsiteX6" fmla="*/ 0 w 432262"/>
              <a:gd name="connsiteY6" fmla="*/ 174567 h 504852"/>
              <a:gd name="connsiteX7" fmla="*/ 16625 w 432262"/>
              <a:gd name="connsiteY7" fmla="*/ 0 h 504852"/>
              <a:gd name="connsiteX0" fmla="*/ 16625 w 445215"/>
              <a:gd name="connsiteY0" fmla="*/ 0 h 504852"/>
              <a:gd name="connsiteX1" fmla="*/ 432262 w 445215"/>
              <a:gd name="connsiteY1" fmla="*/ 0 h 504852"/>
              <a:gd name="connsiteX2" fmla="*/ 445215 w 445215"/>
              <a:gd name="connsiteY2" fmla="*/ 369045 h 504852"/>
              <a:gd name="connsiteX3" fmla="*/ 146439 w 445215"/>
              <a:gd name="connsiteY3" fmla="*/ 504852 h 504852"/>
              <a:gd name="connsiteX4" fmla="*/ 123820 w 445215"/>
              <a:gd name="connsiteY4" fmla="*/ 398237 h 504852"/>
              <a:gd name="connsiteX5" fmla="*/ 141316 w 445215"/>
              <a:gd name="connsiteY5" fmla="*/ 116378 h 504852"/>
              <a:gd name="connsiteX6" fmla="*/ 0 w 445215"/>
              <a:gd name="connsiteY6" fmla="*/ 174567 h 504852"/>
              <a:gd name="connsiteX7" fmla="*/ 16625 w 445215"/>
              <a:gd name="connsiteY7" fmla="*/ 0 h 504852"/>
              <a:gd name="connsiteX0" fmla="*/ 16625 w 445215"/>
              <a:gd name="connsiteY0" fmla="*/ 180753 h 685605"/>
              <a:gd name="connsiteX1" fmla="*/ 421629 w 445215"/>
              <a:gd name="connsiteY1" fmla="*/ 0 h 685605"/>
              <a:gd name="connsiteX2" fmla="*/ 445215 w 445215"/>
              <a:gd name="connsiteY2" fmla="*/ 549798 h 685605"/>
              <a:gd name="connsiteX3" fmla="*/ 146439 w 445215"/>
              <a:gd name="connsiteY3" fmla="*/ 685605 h 685605"/>
              <a:gd name="connsiteX4" fmla="*/ 123820 w 445215"/>
              <a:gd name="connsiteY4" fmla="*/ 578990 h 685605"/>
              <a:gd name="connsiteX5" fmla="*/ 141316 w 445215"/>
              <a:gd name="connsiteY5" fmla="*/ 297131 h 685605"/>
              <a:gd name="connsiteX6" fmla="*/ 0 w 445215"/>
              <a:gd name="connsiteY6" fmla="*/ 355320 h 685605"/>
              <a:gd name="connsiteX7" fmla="*/ 16625 w 445215"/>
              <a:gd name="connsiteY7" fmla="*/ 180753 h 685605"/>
              <a:gd name="connsiteX0" fmla="*/ 298388 w 445215"/>
              <a:gd name="connsiteY0" fmla="*/ 0 h 733452"/>
              <a:gd name="connsiteX1" fmla="*/ 421629 w 445215"/>
              <a:gd name="connsiteY1" fmla="*/ 47847 h 733452"/>
              <a:gd name="connsiteX2" fmla="*/ 445215 w 445215"/>
              <a:gd name="connsiteY2" fmla="*/ 597645 h 733452"/>
              <a:gd name="connsiteX3" fmla="*/ 146439 w 445215"/>
              <a:gd name="connsiteY3" fmla="*/ 733452 h 733452"/>
              <a:gd name="connsiteX4" fmla="*/ 123820 w 445215"/>
              <a:gd name="connsiteY4" fmla="*/ 626837 h 733452"/>
              <a:gd name="connsiteX5" fmla="*/ 141316 w 445215"/>
              <a:gd name="connsiteY5" fmla="*/ 344978 h 733452"/>
              <a:gd name="connsiteX6" fmla="*/ 0 w 445215"/>
              <a:gd name="connsiteY6" fmla="*/ 403167 h 733452"/>
              <a:gd name="connsiteX7" fmla="*/ 298388 w 445215"/>
              <a:gd name="connsiteY7" fmla="*/ 0 h 733452"/>
              <a:gd name="connsiteX0" fmla="*/ 174568 w 321395"/>
              <a:gd name="connsiteY0" fmla="*/ 0 h 733452"/>
              <a:gd name="connsiteX1" fmla="*/ 297809 w 321395"/>
              <a:gd name="connsiteY1" fmla="*/ 47847 h 733452"/>
              <a:gd name="connsiteX2" fmla="*/ 321395 w 321395"/>
              <a:gd name="connsiteY2" fmla="*/ 597645 h 733452"/>
              <a:gd name="connsiteX3" fmla="*/ 22619 w 321395"/>
              <a:gd name="connsiteY3" fmla="*/ 733452 h 733452"/>
              <a:gd name="connsiteX4" fmla="*/ 0 w 321395"/>
              <a:gd name="connsiteY4" fmla="*/ 626837 h 733452"/>
              <a:gd name="connsiteX5" fmla="*/ 17496 w 321395"/>
              <a:gd name="connsiteY5" fmla="*/ 344978 h 733452"/>
              <a:gd name="connsiteX6" fmla="*/ 3771 w 321395"/>
              <a:gd name="connsiteY6" fmla="*/ 211781 h 733452"/>
              <a:gd name="connsiteX7" fmla="*/ 174568 w 321395"/>
              <a:gd name="connsiteY7" fmla="*/ 0 h 733452"/>
              <a:gd name="connsiteX0" fmla="*/ 327193 w 474020"/>
              <a:gd name="connsiteY0" fmla="*/ 0 h 733452"/>
              <a:gd name="connsiteX1" fmla="*/ 450434 w 474020"/>
              <a:gd name="connsiteY1" fmla="*/ 47847 h 733452"/>
              <a:gd name="connsiteX2" fmla="*/ 474020 w 474020"/>
              <a:gd name="connsiteY2" fmla="*/ 597645 h 733452"/>
              <a:gd name="connsiteX3" fmla="*/ 175244 w 474020"/>
              <a:gd name="connsiteY3" fmla="*/ 733452 h 733452"/>
              <a:gd name="connsiteX4" fmla="*/ 152625 w 474020"/>
              <a:gd name="connsiteY4" fmla="*/ 626837 h 733452"/>
              <a:gd name="connsiteX5" fmla="*/ 0 w 474020"/>
              <a:gd name="connsiteY5" fmla="*/ 313080 h 733452"/>
              <a:gd name="connsiteX6" fmla="*/ 156396 w 474020"/>
              <a:gd name="connsiteY6" fmla="*/ 211781 h 733452"/>
              <a:gd name="connsiteX7" fmla="*/ 327193 w 474020"/>
              <a:gd name="connsiteY7" fmla="*/ 0 h 73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020" h="733452">
                <a:moveTo>
                  <a:pt x="327193" y="0"/>
                </a:moveTo>
                <a:lnTo>
                  <a:pt x="450434" y="47847"/>
                </a:lnTo>
                <a:lnTo>
                  <a:pt x="474020" y="597645"/>
                </a:lnTo>
                <a:lnTo>
                  <a:pt x="175244" y="733452"/>
                </a:lnTo>
                <a:lnTo>
                  <a:pt x="152625" y="626837"/>
                </a:lnTo>
                <a:lnTo>
                  <a:pt x="0" y="313080"/>
                </a:lnTo>
                <a:lnTo>
                  <a:pt x="156396" y="211781"/>
                </a:lnTo>
                <a:lnTo>
                  <a:pt x="327193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>
            <a:stCxn id="8" idx="3"/>
            <a:endCxn id="14" idx="1"/>
          </p:cNvCxnSpPr>
          <p:nvPr/>
        </p:nvCxnSpPr>
        <p:spPr>
          <a:xfrm flipV="1">
            <a:off x="4252518" y="4392634"/>
            <a:ext cx="1310083" cy="7976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8" idx="3"/>
            <a:endCxn id="18" idx="1"/>
          </p:cNvCxnSpPr>
          <p:nvPr/>
        </p:nvCxnSpPr>
        <p:spPr>
          <a:xfrm>
            <a:off x="4252517" y="5190332"/>
            <a:ext cx="1305864" cy="8144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91400" y="3733842"/>
            <a:ext cx="212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1 value for South Aust.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1400" y="5493667"/>
            <a:ext cx="212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0 values for South Aust.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in CSPs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 Checking and Arc Consistency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5AE7ED56-99A9-924E-A5FE-40925AEF7B6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53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1" y="228601"/>
            <a:ext cx="7704667" cy="838199"/>
          </a:xfrm>
        </p:spPr>
        <p:txBody>
          <a:bodyPr/>
          <a:lstStyle/>
          <a:p>
            <a:r>
              <a:rPr lang="en-US" dirty="0"/>
              <a:t>Forward Checking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>
          <a:xfrm>
            <a:off x="2468880" y="838200"/>
            <a:ext cx="8229600" cy="1950244"/>
          </a:xfrm>
        </p:spPr>
        <p:txBody>
          <a:bodyPr/>
          <a:lstStyle/>
          <a:p>
            <a:pPr>
              <a:spcBef>
                <a:spcPts val="1200"/>
              </a:spcBef>
              <a:buNone/>
            </a:pPr>
            <a:r>
              <a:rPr lang="en-US" sz="3200" dirty="0">
                <a:solidFill>
                  <a:srgbClr val="0000CC"/>
                </a:solidFill>
                <a:latin typeface="Corbel" panose="020B0503020204020204" pitchFamily="34" charset="0"/>
                <a:cs typeface="Times"/>
              </a:rPr>
              <a:t>Idea: 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Keep track of remaining legal values for unassigned variables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Terminate search when any variable has no legal values</a:t>
            </a:r>
            <a:endParaRPr lang="en-US" sz="2300" dirty="0">
              <a:latin typeface="Corbel" panose="020B0503020204020204" pitchFamily="34" charset="0"/>
              <a:cs typeface="Time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398340" name="Picture 4" descr="forward-checking-progress1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16693" y="3581401"/>
            <a:ext cx="5133975" cy="1400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1" y="228601"/>
            <a:ext cx="7704667" cy="838199"/>
          </a:xfrm>
        </p:spPr>
        <p:txBody>
          <a:bodyPr/>
          <a:lstStyle/>
          <a:p>
            <a:r>
              <a:rPr lang="en-US" dirty="0"/>
              <a:t>Forward Checking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>
          <a:xfrm>
            <a:off x="2468880" y="838200"/>
            <a:ext cx="8229600" cy="1950244"/>
          </a:xfrm>
        </p:spPr>
        <p:txBody>
          <a:bodyPr/>
          <a:lstStyle/>
          <a:p>
            <a:pPr>
              <a:spcBef>
                <a:spcPts val="1200"/>
              </a:spcBef>
              <a:buNone/>
            </a:pPr>
            <a:r>
              <a:rPr lang="en-US" sz="3200" dirty="0">
                <a:solidFill>
                  <a:srgbClr val="0000CC"/>
                </a:solidFill>
                <a:latin typeface="Corbel" panose="020B0503020204020204" pitchFamily="34" charset="0"/>
                <a:cs typeface="Times"/>
              </a:rPr>
              <a:t>Idea: 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Keep track of remaining legal values for unassigned variables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Terminate search when any variable has no legal values</a:t>
            </a:r>
            <a:endParaRPr lang="en-US" sz="2300" dirty="0">
              <a:latin typeface="Corbel" panose="020B0503020204020204" pitchFamily="34" charset="0"/>
              <a:cs typeface="Time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6" name="Picture 4" descr="forward-checking-progress2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15201" y="3582000"/>
            <a:ext cx="5133975" cy="1695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8774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1" y="228601"/>
            <a:ext cx="7704667" cy="838199"/>
          </a:xfrm>
        </p:spPr>
        <p:txBody>
          <a:bodyPr/>
          <a:lstStyle/>
          <a:p>
            <a:r>
              <a:rPr lang="en-US" dirty="0"/>
              <a:t>Forward Checking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>
          <a:xfrm>
            <a:off x="2468880" y="838200"/>
            <a:ext cx="8229600" cy="1950244"/>
          </a:xfrm>
        </p:spPr>
        <p:txBody>
          <a:bodyPr/>
          <a:lstStyle/>
          <a:p>
            <a:pPr>
              <a:spcBef>
                <a:spcPts val="1200"/>
              </a:spcBef>
              <a:buNone/>
            </a:pPr>
            <a:r>
              <a:rPr lang="en-US" sz="3200" dirty="0">
                <a:solidFill>
                  <a:srgbClr val="0000CC"/>
                </a:solidFill>
                <a:latin typeface="Corbel" panose="020B0503020204020204" pitchFamily="34" charset="0"/>
                <a:cs typeface="Times"/>
              </a:rPr>
              <a:t>Idea: 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Keep track of remaining legal values for unassigned variables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Terminate search when any variable has no legal values</a:t>
            </a:r>
            <a:endParaRPr lang="en-US" sz="2300" dirty="0">
              <a:latin typeface="Corbel" panose="020B0503020204020204" pitchFamily="34" charset="0"/>
              <a:cs typeface="Time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7" name="Picture 4" descr="forward-checking-progress3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15201" y="3582000"/>
            <a:ext cx="5133975" cy="1981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6203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1" y="228601"/>
            <a:ext cx="7704667" cy="838199"/>
          </a:xfrm>
        </p:spPr>
        <p:txBody>
          <a:bodyPr/>
          <a:lstStyle/>
          <a:p>
            <a:r>
              <a:rPr lang="en-US" dirty="0"/>
              <a:t>Forward Checking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>
          <a:xfrm>
            <a:off x="2468880" y="838200"/>
            <a:ext cx="8229600" cy="1950244"/>
          </a:xfrm>
        </p:spPr>
        <p:txBody>
          <a:bodyPr/>
          <a:lstStyle/>
          <a:p>
            <a:pPr>
              <a:spcBef>
                <a:spcPts val="1200"/>
              </a:spcBef>
              <a:buNone/>
            </a:pPr>
            <a:r>
              <a:rPr lang="en-US" sz="3200" dirty="0">
                <a:solidFill>
                  <a:srgbClr val="0000CC"/>
                </a:solidFill>
                <a:latin typeface="Corbel" panose="020B0503020204020204" pitchFamily="34" charset="0"/>
                <a:cs typeface="Times"/>
              </a:rPr>
              <a:t>Idea: 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Keep track of remaining legal values for unassigned variables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Terminate search when any variable has no legal values</a:t>
            </a:r>
            <a:endParaRPr lang="en-US" sz="2300" dirty="0">
              <a:latin typeface="Corbel" panose="020B0503020204020204" pitchFamily="34" charset="0"/>
              <a:cs typeface="Time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" name="Picture 4" descr="forward-checking-progress4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15201" y="3582001"/>
            <a:ext cx="5133975" cy="2276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3597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6134" y="457202"/>
            <a:ext cx="7704667" cy="758297"/>
          </a:xfrm>
        </p:spPr>
        <p:txBody>
          <a:bodyPr/>
          <a:lstStyle/>
          <a:p>
            <a:r>
              <a:rPr lang="en-US" dirty="0"/>
              <a:t>Constraint Propagation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idx="1"/>
          </p:nvPr>
        </p:nvSpPr>
        <p:spPr>
          <a:xfrm>
            <a:off x="2506133" y="1238358"/>
            <a:ext cx="7813209" cy="52578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Problem: Forward checking propagates information from assigned to unassigned variables, but doesn't provide early detection for all failures:</a:t>
            </a:r>
          </a:p>
          <a:p>
            <a:pPr>
              <a:spcBef>
                <a:spcPts val="1200"/>
              </a:spcBef>
            </a:pPr>
            <a:endParaRPr lang="en-US" sz="2400" dirty="0">
              <a:latin typeface="Corbel" panose="020B0503020204020204" pitchFamily="34" charset="0"/>
              <a:cs typeface="Times"/>
            </a:endParaRPr>
          </a:p>
          <a:p>
            <a:pPr>
              <a:spcBef>
                <a:spcPts val="1200"/>
              </a:spcBef>
            </a:pPr>
            <a:endParaRPr lang="en-US" sz="2400" dirty="0">
              <a:latin typeface="Corbel" panose="020B0503020204020204" pitchFamily="34" charset="0"/>
              <a:cs typeface="Times"/>
            </a:endParaRPr>
          </a:p>
          <a:p>
            <a:pPr>
              <a:spcBef>
                <a:spcPts val="1200"/>
              </a:spcBef>
              <a:buNone/>
            </a:pPr>
            <a:endParaRPr lang="en-US" sz="2400" dirty="0">
              <a:latin typeface="Corbel" panose="020B0503020204020204" pitchFamily="34" charset="0"/>
              <a:cs typeface="Times"/>
            </a:endParaRPr>
          </a:p>
          <a:p>
            <a:pPr>
              <a:spcBef>
                <a:spcPts val="1200"/>
              </a:spcBef>
            </a:pPr>
            <a:endParaRPr lang="en-US" sz="2400" dirty="0">
              <a:latin typeface="Corbel" panose="020B0503020204020204" pitchFamily="34" charset="0"/>
              <a:cs typeface="Times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NT and SA cannot both be blue!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Solution: </a:t>
            </a:r>
            <a:r>
              <a:rPr lang="en-US" sz="2400" dirty="0">
                <a:solidFill>
                  <a:srgbClr val="0000CC"/>
                </a:solidFill>
                <a:latin typeface="Corbel" panose="020B0503020204020204" pitchFamily="34" charset="0"/>
                <a:cs typeface="Times"/>
              </a:rPr>
              <a:t>Constraint propagation</a:t>
            </a:r>
            <a:r>
              <a:rPr lang="en-US" sz="2400" dirty="0">
                <a:latin typeface="Corbel" panose="020B0503020204020204" pitchFamily="34" charset="0"/>
                <a:cs typeface="Times"/>
              </a:rPr>
              <a:t> repeatedly locally enforces constraints.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402436" name="Picture 4" descr="forward-checking-progress3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1" y="2382474"/>
            <a:ext cx="5133975" cy="1981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2649546" y="164724"/>
            <a:ext cx="7704667" cy="754305"/>
          </a:xfrm>
        </p:spPr>
        <p:txBody>
          <a:bodyPr/>
          <a:lstStyle/>
          <a:p>
            <a:r>
              <a:rPr lang="en-US" dirty="0">
                <a:ea typeface="ＭＳ Ｐゴシック" pitchFamily="-107" charset="-128"/>
                <a:cs typeface="ＭＳ Ｐゴシック" pitchFamily="-107" charset="-128"/>
              </a:rPr>
              <a:t>Inference in </a:t>
            </a:r>
            <a:r>
              <a:rPr lang="en-US" dirty="0" err="1">
                <a:ea typeface="ＭＳ Ｐゴシック" pitchFamily="-107" charset="-128"/>
                <a:cs typeface="ＭＳ Ｐゴシック" pitchFamily="-107" charset="-128"/>
              </a:rPr>
              <a:t>CSPs</a:t>
            </a:r>
            <a:endParaRPr lang="en-US" dirty="0">
              <a:ea typeface="ＭＳ Ｐゴシック" pitchFamily="-107" charset="-128"/>
              <a:cs typeface="ＭＳ Ｐゴシック" pitchFamily="-107" charset="-128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</p:nvPr>
        </p:nvGraphicFramePr>
        <p:xfrm>
          <a:off x="2481926" y="1030200"/>
          <a:ext cx="6966874" cy="346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80A76549-A046-8043-A1B2-B1D7D86B7529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7239000" y="3962400"/>
            <a:ext cx="3191412" cy="2667000"/>
            <a:chOff x="5114388" y="3200400"/>
            <a:chExt cx="3191412" cy="2667000"/>
          </a:xfrm>
        </p:grpSpPr>
        <p:sp>
          <p:nvSpPr>
            <p:cNvPr id="48136" name="Isosceles Triangle 23"/>
            <p:cNvSpPr>
              <a:spLocks noChangeArrowheads="1"/>
            </p:cNvSpPr>
            <p:nvPr/>
          </p:nvSpPr>
          <p:spPr bwMode="auto">
            <a:xfrm>
              <a:off x="5181600" y="3200400"/>
              <a:ext cx="3124200" cy="26670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Corbel" panose="020B0503020204020204" pitchFamily="34" charset="0"/>
              </a:endParaRPr>
            </a:p>
          </p:txBody>
        </p:sp>
        <p:sp>
          <p:nvSpPr>
            <p:cNvPr id="48137" name="Freeform 25"/>
            <p:cNvSpPr>
              <a:spLocks noChangeArrowheads="1"/>
            </p:cNvSpPr>
            <p:nvPr/>
          </p:nvSpPr>
          <p:spPr bwMode="auto">
            <a:xfrm>
              <a:off x="6335723" y="3230571"/>
              <a:ext cx="540186" cy="1191969"/>
            </a:xfrm>
            <a:custGeom>
              <a:avLst/>
              <a:gdLst>
                <a:gd name="T0" fmla="*/ 393459 w 540186"/>
                <a:gd name="T1" fmla="*/ 0 h 1191969"/>
                <a:gd name="T2" fmla="*/ 382318 w 540186"/>
                <a:gd name="T3" fmla="*/ 33419 h 1191969"/>
                <a:gd name="T4" fmla="*/ 371177 w 540186"/>
                <a:gd name="T5" fmla="*/ 334197 h 1191969"/>
                <a:gd name="T6" fmla="*/ 404600 w 540186"/>
                <a:gd name="T7" fmla="*/ 356476 h 1191969"/>
                <a:gd name="T8" fmla="*/ 438023 w 540186"/>
                <a:gd name="T9" fmla="*/ 389896 h 1191969"/>
                <a:gd name="T10" fmla="*/ 471446 w 540186"/>
                <a:gd name="T11" fmla="*/ 412176 h 1191969"/>
                <a:gd name="T12" fmla="*/ 516010 w 540186"/>
                <a:gd name="T13" fmla="*/ 445595 h 1191969"/>
                <a:gd name="T14" fmla="*/ 538292 w 540186"/>
                <a:gd name="T15" fmla="*/ 479015 h 1191969"/>
                <a:gd name="T16" fmla="*/ 504869 w 540186"/>
                <a:gd name="T17" fmla="*/ 523575 h 1191969"/>
                <a:gd name="T18" fmla="*/ 438023 w 540186"/>
                <a:gd name="T19" fmla="*/ 568134 h 1191969"/>
                <a:gd name="T20" fmla="*/ 404600 w 540186"/>
                <a:gd name="T21" fmla="*/ 590414 h 1191969"/>
                <a:gd name="T22" fmla="*/ 348895 w 540186"/>
                <a:gd name="T23" fmla="*/ 612694 h 1191969"/>
                <a:gd name="T24" fmla="*/ 282049 w 540186"/>
                <a:gd name="T25" fmla="*/ 657254 h 1191969"/>
                <a:gd name="T26" fmla="*/ 237484 w 540186"/>
                <a:gd name="T27" fmla="*/ 712953 h 1191969"/>
                <a:gd name="T28" fmla="*/ 293190 w 540186"/>
                <a:gd name="T29" fmla="*/ 768653 h 1191969"/>
                <a:gd name="T30" fmla="*/ 226343 w 540186"/>
                <a:gd name="T31" fmla="*/ 813212 h 1191969"/>
                <a:gd name="T32" fmla="*/ 92651 w 540186"/>
                <a:gd name="T33" fmla="*/ 880052 h 1191969"/>
                <a:gd name="T34" fmla="*/ 126074 w 540186"/>
                <a:gd name="T35" fmla="*/ 913471 h 1191969"/>
                <a:gd name="T36" fmla="*/ 181779 w 540186"/>
                <a:gd name="T37" fmla="*/ 924611 h 1191969"/>
                <a:gd name="T38" fmla="*/ 148356 w 540186"/>
                <a:gd name="T39" fmla="*/ 935751 h 1191969"/>
                <a:gd name="T40" fmla="*/ 59228 w 540186"/>
                <a:gd name="T41" fmla="*/ 969171 h 1191969"/>
                <a:gd name="T42" fmla="*/ 48087 w 540186"/>
                <a:gd name="T43" fmla="*/ 1080570 h 1191969"/>
                <a:gd name="T44" fmla="*/ 14664 w 540186"/>
                <a:gd name="T45" fmla="*/ 1125129 h 1191969"/>
                <a:gd name="T46" fmla="*/ 3523 w 540186"/>
                <a:gd name="T47" fmla="*/ 1191969 h 119196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40186"/>
                <a:gd name="T73" fmla="*/ 0 h 1191969"/>
                <a:gd name="T74" fmla="*/ 540186 w 540186"/>
                <a:gd name="T75" fmla="*/ 1191969 h 119196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40186" h="1191969">
                  <a:moveTo>
                    <a:pt x="393459" y="0"/>
                  </a:moveTo>
                  <a:cubicBezTo>
                    <a:pt x="389745" y="11140"/>
                    <a:pt x="385166" y="22027"/>
                    <a:pt x="382318" y="33419"/>
                  </a:cubicBezTo>
                  <a:cubicBezTo>
                    <a:pt x="353101" y="150276"/>
                    <a:pt x="343299" y="194822"/>
                    <a:pt x="371177" y="334197"/>
                  </a:cubicBezTo>
                  <a:cubicBezTo>
                    <a:pt x="373803" y="347326"/>
                    <a:pt x="394314" y="347905"/>
                    <a:pt x="404600" y="356476"/>
                  </a:cubicBezTo>
                  <a:cubicBezTo>
                    <a:pt x="416704" y="366561"/>
                    <a:pt x="425919" y="379810"/>
                    <a:pt x="438023" y="389896"/>
                  </a:cubicBezTo>
                  <a:cubicBezTo>
                    <a:pt x="448309" y="398467"/>
                    <a:pt x="460550" y="404394"/>
                    <a:pt x="471446" y="412176"/>
                  </a:cubicBezTo>
                  <a:cubicBezTo>
                    <a:pt x="486556" y="422967"/>
                    <a:pt x="501155" y="434455"/>
                    <a:pt x="516010" y="445595"/>
                  </a:cubicBezTo>
                  <a:cubicBezTo>
                    <a:pt x="523437" y="456735"/>
                    <a:pt x="540186" y="465761"/>
                    <a:pt x="538292" y="479015"/>
                  </a:cubicBezTo>
                  <a:cubicBezTo>
                    <a:pt x="535666" y="497396"/>
                    <a:pt x="518747" y="511240"/>
                    <a:pt x="504869" y="523575"/>
                  </a:cubicBezTo>
                  <a:cubicBezTo>
                    <a:pt x="484853" y="541365"/>
                    <a:pt x="460305" y="553281"/>
                    <a:pt x="438023" y="568134"/>
                  </a:cubicBezTo>
                  <a:cubicBezTo>
                    <a:pt x="426882" y="575561"/>
                    <a:pt x="417032" y="585442"/>
                    <a:pt x="404600" y="590414"/>
                  </a:cubicBezTo>
                  <a:cubicBezTo>
                    <a:pt x="386032" y="597841"/>
                    <a:pt x="366452" y="603118"/>
                    <a:pt x="348895" y="612694"/>
                  </a:cubicBezTo>
                  <a:cubicBezTo>
                    <a:pt x="325385" y="625516"/>
                    <a:pt x="303473" y="641188"/>
                    <a:pt x="282049" y="657254"/>
                  </a:cubicBezTo>
                  <a:cubicBezTo>
                    <a:pt x="260878" y="673130"/>
                    <a:pt x="252105" y="691023"/>
                    <a:pt x="237484" y="712953"/>
                  </a:cubicBezTo>
                  <a:cubicBezTo>
                    <a:pt x="242091" y="716024"/>
                    <a:pt x="303435" y="750726"/>
                    <a:pt x="293190" y="768653"/>
                  </a:cubicBezTo>
                  <a:cubicBezTo>
                    <a:pt x="279903" y="791903"/>
                    <a:pt x="249753" y="800208"/>
                    <a:pt x="226343" y="813212"/>
                  </a:cubicBezTo>
                  <a:cubicBezTo>
                    <a:pt x="182789" y="837406"/>
                    <a:pt x="137215" y="857772"/>
                    <a:pt x="92651" y="880052"/>
                  </a:cubicBezTo>
                  <a:cubicBezTo>
                    <a:pt x="103792" y="891192"/>
                    <a:pt x="111982" y="906426"/>
                    <a:pt x="126074" y="913471"/>
                  </a:cubicBezTo>
                  <a:cubicBezTo>
                    <a:pt x="143011" y="921939"/>
                    <a:pt x="168389" y="911222"/>
                    <a:pt x="181779" y="924611"/>
                  </a:cubicBezTo>
                  <a:cubicBezTo>
                    <a:pt x="190083" y="932915"/>
                    <a:pt x="159648" y="932525"/>
                    <a:pt x="148356" y="935751"/>
                  </a:cubicBezTo>
                  <a:cubicBezTo>
                    <a:pt x="77567" y="955974"/>
                    <a:pt x="128456" y="934560"/>
                    <a:pt x="59228" y="969171"/>
                  </a:cubicBezTo>
                  <a:cubicBezTo>
                    <a:pt x="1610" y="1055588"/>
                    <a:pt x="75785" y="928244"/>
                    <a:pt x="48087" y="1080570"/>
                  </a:cubicBezTo>
                  <a:cubicBezTo>
                    <a:pt x="44765" y="1098837"/>
                    <a:pt x="25805" y="1110276"/>
                    <a:pt x="14664" y="1125129"/>
                  </a:cubicBezTo>
                  <a:cubicBezTo>
                    <a:pt x="0" y="1169117"/>
                    <a:pt x="3523" y="1146806"/>
                    <a:pt x="3523" y="1191969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Corbel" panose="020B0503020204020204" pitchFamily="34" charset="0"/>
              </a:endParaRPr>
            </a:p>
          </p:txBody>
        </p:sp>
        <p:sp>
          <p:nvSpPr>
            <p:cNvPr id="48138" name="TextBox 26"/>
            <p:cNvSpPr txBox="1">
              <a:spLocks noChangeArrowheads="1"/>
            </p:cNvSpPr>
            <p:nvPr/>
          </p:nvSpPr>
          <p:spPr bwMode="auto">
            <a:xfrm>
              <a:off x="5114388" y="3657600"/>
              <a:ext cx="124425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>
                  <a:latin typeface="Corbel" panose="020B0503020204020204" pitchFamily="34" charset="0"/>
                  <a:cs typeface="Times"/>
                </a:rPr>
                <a:t>Searching</a:t>
              </a:r>
            </a:p>
          </p:txBody>
        </p:sp>
        <p:sp>
          <p:nvSpPr>
            <p:cNvPr id="48139" name="Isosceles Triangle 28"/>
            <p:cNvSpPr>
              <a:spLocks noChangeArrowheads="1"/>
            </p:cNvSpPr>
            <p:nvPr/>
          </p:nvSpPr>
          <p:spPr bwMode="auto">
            <a:xfrm>
              <a:off x="5692718" y="4572000"/>
              <a:ext cx="1252623" cy="1295400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Corbel" panose="020B0503020204020204" pitchFamily="34" charset="0"/>
              </a:endParaRPr>
            </a:p>
          </p:txBody>
        </p:sp>
        <p:sp>
          <p:nvSpPr>
            <p:cNvPr id="48140" name="TextBox 27"/>
            <p:cNvSpPr txBox="1">
              <a:spLocks noChangeArrowheads="1"/>
            </p:cNvSpPr>
            <p:nvPr/>
          </p:nvSpPr>
          <p:spPr bwMode="auto">
            <a:xfrm>
              <a:off x="5602896" y="5105400"/>
              <a:ext cx="1495922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 dirty="0">
                  <a:latin typeface="Corbel" panose="020B0503020204020204" pitchFamily="34" charset="0"/>
                  <a:cs typeface="Times"/>
                </a:rPr>
                <a:t>Constraint </a:t>
              </a:r>
              <a:br>
                <a:rPr lang="en-US" sz="2000" dirty="0">
                  <a:latin typeface="Corbel" panose="020B0503020204020204" pitchFamily="34" charset="0"/>
                  <a:cs typeface="Times"/>
                </a:rPr>
              </a:br>
              <a:r>
                <a:rPr lang="en-US" sz="2000" dirty="0">
                  <a:latin typeface="Corbel" panose="020B0503020204020204" pitchFamily="34" charset="0"/>
                  <a:cs typeface="Times"/>
                </a:rPr>
                <a:t>Propagation</a:t>
              </a:r>
            </a:p>
          </p:txBody>
        </p:sp>
        <p:sp>
          <p:nvSpPr>
            <p:cNvPr id="48141" name="Oval 24"/>
            <p:cNvSpPr>
              <a:spLocks noChangeArrowheads="1"/>
            </p:cNvSpPr>
            <p:nvPr/>
          </p:nvSpPr>
          <p:spPr bwMode="auto">
            <a:xfrm>
              <a:off x="6172200" y="4419600"/>
              <a:ext cx="304800" cy="304800"/>
            </a:xfrm>
            <a:prstGeom prst="ellipse">
              <a:avLst/>
            </a:prstGeom>
            <a:solidFill>
              <a:srgbClr val="B44CA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Corbel" panose="020B0503020204020204" pitchFamily="34" charset="0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731009" y="304801"/>
            <a:ext cx="7704667" cy="838199"/>
          </a:xfrm>
        </p:spPr>
        <p:txBody>
          <a:bodyPr/>
          <a:lstStyle/>
          <a:p>
            <a:r>
              <a:rPr lang="en-US" dirty="0"/>
              <a:t>Arc Consistency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403460" name="Picture 4" descr="ac-example1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50059" y="3463290"/>
            <a:ext cx="7361787" cy="252677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/>
              <p:cNvSpPr/>
              <p:nvPr/>
            </p:nvSpPr>
            <p:spPr>
              <a:xfrm>
                <a:off x="2590800" y="1143000"/>
                <a:ext cx="7620000" cy="220980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tx1"/>
                    </a:solidFill>
                    <a:cs typeface="Times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cs typeface="Times"/>
                  </a:rPr>
                  <a:t> is arc-consistent </a:t>
                </a:r>
                <a:r>
                  <a:rPr lang="en-US" dirty="0" err="1">
                    <a:solidFill>
                      <a:schemeClr val="tx1"/>
                    </a:solidFill>
                    <a:cs typeface="Times"/>
                  </a:rPr>
                  <a:t>wrt</a:t>
                </a:r>
                <a:r>
                  <a:rPr lang="en-US" dirty="0">
                    <a:solidFill>
                      <a:schemeClr val="tx1"/>
                    </a:solidFill>
                    <a:cs typeface="Time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"/>
                  </a:rPr>
                  <a:t> (the arc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/>
                      </a:rPr>
                      <m:t>(</m:t>
                    </m:r>
                    <m:sSub>
                      <m:sSubPr>
                        <m:ctrlP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/>
                      </a:rPr>
                      <m:t>,</m:t>
                    </m:r>
                    <m:sSub>
                      <m:sSubPr>
                        <m:ctrlP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"/>
                  </a:rPr>
                  <a:t> is consistent) </a:t>
                </a:r>
                <a:r>
                  <a:rPr lang="en-US" dirty="0" err="1">
                    <a:solidFill>
                      <a:schemeClr val="tx1"/>
                    </a:solidFill>
                    <a:cs typeface="Times"/>
                  </a:rPr>
                  <a:t>iff</a:t>
                </a:r>
                <a:r>
                  <a:rPr lang="en-US" dirty="0">
                    <a:solidFill>
                      <a:schemeClr val="tx1"/>
                    </a:solidFill>
                    <a:cs typeface="Times"/>
                  </a:rPr>
                  <a:t> for every value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/>
                      </a:rPr>
                      <m:t>𝑥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/>
                      </a:rPr>
                      <m:t>∈</m:t>
                    </m:r>
                    <m:sSub>
                      <m:sSubPr>
                        <m:ctrlP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"/>
                  </a:rPr>
                  <a:t> there exists some value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/>
                      </a:rPr>
                      <m:t>𝑦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"/>
                      </a:rPr>
                      <m:t>∈</m:t>
                    </m:r>
                    <m:sSub>
                      <m:sSubPr>
                        <m:ctrlP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"/>
                  </a:rPr>
                  <a:t> that satisfies the binary constraint on the arc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sSub>
                          <m:sSubPr>
                            <m:ctrlP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dirty="0" err="1">
                  <a:solidFill>
                    <a:schemeClr val="tx1"/>
                  </a:solidFill>
                  <a:cs typeface="Times"/>
                </a:endParaRPr>
              </a:p>
            </p:txBody>
          </p:sp>
        </mc:Choice>
        <mc:Fallback xmlns="">
          <p:sp>
            <p:nvSpPr>
              <p:cNvPr id="3" name="Rounded 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1143000"/>
                <a:ext cx="7620000" cy="220980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1" y="152401"/>
            <a:ext cx="7704667" cy="838199"/>
          </a:xfrm>
        </p:spPr>
        <p:txBody>
          <a:bodyPr/>
          <a:lstStyle/>
          <a:p>
            <a:r>
              <a:rPr lang="en-US" dirty="0"/>
              <a:t>More on 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48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427817" y="1185018"/>
                <a:ext cx="7924800" cy="4301382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𝑋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←</m:t>
                    </m:r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𝑥</m:t>
                    </m:r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 makes a constraint impossible to satisfy, remove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cs typeface="Times"/>
                      </a:rPr>
                      <m:t>𝑥</m:t>
                    </m:r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 from consideration!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A value is impossible: the constraint provides </a:t>
                </a:r>
                <a:r>
                  <a:rPr lang="en-US" sz="2800" b="1" i="1" dirty="0">
                    <a:latin typeface="Corbel" panose="020B0503020204020204" pitchFamily="34" charset="0"/>
                    <a:cs typeface="Times"/>
                  </a:rPr>
                  <a:t>no support </a:t>
                </a: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for the value.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cs typeface="Times"/>
                  </a:rPr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1,4,5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cs typeface="Times"/>
                      </a:rPr>
                      <m:t>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1,2,3</m:t>
                        </m:r>
                      </m:e>
                    </m:d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 and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Times"/>
                      </a:rPr>
                      <m:t>&gt;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;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Times"/>
                      </a:rPr>
                      <m:t>←1</m:t>
                    </m:r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 is impossible.</a:t>
                </a:r>
              </a:p>
            </p:txBody>
          </p:sp>
        </mc:Choice>
        <mc:Fallback xmlns="">
          <p:sp>
            <p:nvSpPr>
              <p:cNvPr id="4044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27817" y="1185018"/>
                <a:ext cx="7924800" cy="4301382"/>
              </a:xfrm>
              <a:blipFill>
                <a:blip r:embed="rId3"/>
                <a:stretch>
                  <a:fillRect l="-480" t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731009" y="304801"/>
            <a:ext cx="7704667" cy="838199"/>
          </a:xfrm>
        </p:spPr>
        <p:txBody>
          <a:bodyPr/>
          <a:lstStyle/>
          <a:p>
            <a:r>
              <a:rPr lang="en-US" dirty="0"/>
              <a:t>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345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438400" y="1219201"/>
                <a:ext cx="8305800" cy="5143501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Simplest form of propagation makes each arc </a:t>
                </a:r>
                <a:r>
                  <a:rPr lang="en-US" sz="24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consistent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orbel" panose="020B0503020204020204" pitchFamily="34" charset="0"/>
                    <a:cs typeface="Times"/>
                  </a:rPr>
                  <a:t> 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is arc-consistent </a:t>
                </a:r>
                <a:r>
                  <a:rPr lang="en-US" sz="2400" dirty="0" err="1">
                    <a:latin typeface="Corbel" panose="020B0503020204020204" pitchFamily="34" charset="0"/>
                    <a:cs typeface="Times"/>
                  </a:rPr>
                  <a:t>wrt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(the arc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(</m:t>
                    </m:r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  <m:r>
                      <a:rPr lang="en-US" sz="2400" i="1" dirty="0" err="1">
                        <a:latin typeface="Cambria Math" panose="02040503050406030204" pitchFamily="18" charset="0"/>
                        <a:cs typeface="Times"/>
                      </a:rPr>
                      <m:t>,</m:t>
                    </m:r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)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is consistent) </a:t>
                </a:r>
                <a:r>
                  <a:rPr lang="en-US" sz="2400" dirty="0" err="1">
                    <a:latin typeface="Corbel" panose="020B0503020204020204" pitchFamily="34" charset="0"/>
                    <a:cs typeface="Times"/>
                  </a:rPr>
                  <a:t>iff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for every 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there exists some 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that satisfies the binary constraint on the arc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endParaRPr lang="en-US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endParaRPr lang="en-US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endParaRPr lang="en-US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Arcs are directed, a binary constraint becomes two arcs	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Arc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"/>
                      </a:rPr>
                      <m:t>𝑁𝑆𝑊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  <a:sym typeface="Wingdings" pitchFamily="-107" charset="2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"/>
                        <a:sym typeface="Symbol" pitchFamily="-107" charset="2"/>
                      </a:rPr>
                      <m:t>𝑆𝐴</m:t>
                    </m:r>
                  </m:oMath>
                </a14:m>
                <a:r>
                  <a:rPr lang="en-US" dirty="0">
                    <a:latin typeface="Corbel" panose="020B0503020204020204" pitchFamily="34" charset="0"/>
                    <a:cs typeface="Times"/>
                    <a:sym typeface="Symbol" pitchFamily="-107" charset="2"/>
                  </a:rPr>
                  <a:t> is originally not consistent, but is consistent after deleting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"/>
                        <a:sym typeface="Symbol" pitchFamily="-107" charset="2"/>
                      </a:rPr>
                      <m:t>𝑁𝑆𝑊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"/>
                        <a:sym typeface="Symbol" pitchFamily="-107" charset="2"/>
                      </a:rPr>
                      <m:t>=</m:t>
                    </m:r>
                  </m:oMath>
                </a14:m>
                <a:r>
                  <a:rPr lang="en-US" dirty="0">
                    <a:latin typeface="Corbel" panose="020B0503020204020204" pitchFamily="34" charset="0"/>
                    <a:cs typeface="Times"/>
                    <a:sym typeface="Symbol" pitchFamily="-107" charset="2"/>
                  </a:rPr>
                  <a:t> </a:t>
                </a:r>
                <a:r>
                  <a:rPr lang="en-US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  <a:sym typeface="Symbol" pitchFamily="-107" charset="2"/>
                  </a:rPr>
                  <a:t>blue</a:t>
                </a:r>
              </a:p>
            </p:txBody>
          </p:sp>
        </mc:Choice>
        <mc:Fallback xmlns="">
          <p:sp>
            <p:nvSpPr>
              <p:cNvPr id="4034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38400" y="1219201"/>
                <a:ext cx="8305800" cy="5143501"/>
              </a:xfrm>
              <a:blipFill>
                <a:blip r:embed="rId3"/>
                <a:stretch>
                  <a:fillRect l="-458" t="-1724" r="-1527" b="-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6" name="Picture 4" descr="ac-example2c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21891" y="2902222"/>
            <a:ext cx="4437076" cy="15229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229644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731009" y="304801"/>
            <a:ext cx="7704667" cy="838199"/>
          </a:xfrm>
        </p:spPr>
        <p:txBody>
          <a:bodyPr/>
          <a:lstStyle/>
          <a:p>
            <a:r>
              <a:rPr lang="en-US" dirty="0"/>
              <a:t>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345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362200" y="1371601"/>
                <a:ext cx="8305800" cy="5143501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Simplest form of propagation makes each arc </a:t>
                </a:r>
                <a:r>
                  <a:rPr lang="en-US" sz="24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consistent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orbel" panose="020B0503020204020204" pitchFamily="34" charset="0"/>
                    <a:cs typeface="Times"/>
                  </a:rPr>
                  <a:t> 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is arc-consistent </a:t>
                </a:r>
                <a:r>
                  <a:rPr lang="en-US" sz="2400" dirty="0" err="1">
                    <a:latin typeface="Corbel" panose="020B0503020204020204" pitchFamily="34" charset="0"/>
                    <a:cs typeface="Times"/>
                  </a:rPr>
                  <a:t>wrt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(the arc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(</m:t>
                    </m:r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  <m:r>
                      <a:rPr lang="en-US" sz="2400" i="1" dirty="0" err="1">
                        <a:latin typeface="Cambria Math" panose="02040503050406030204" pitchFamily="18" charset="0"/>
                        <a:cs typeface="Times"/>
                      </a:rPr>
                      <m:t>,</m:t>
                    </m:r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)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is consistent) </a:t>
                </a:r>
                <a:r>
                  <a:rPr lang="en-US" sz="2400" dirty="0" err="1">
                    <a:latin typeface="Corbel" panose="020B0503020204020204" pitchFamily="34" charset="0"/>
                    <a:cs typeface="Times"/>
                  </a:rPr>
                  <a:t>iff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for every 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there exists some 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that satisfies the binary constraint on the arc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endParaRPr lang="en-US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endParaRPr lang="en-US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endParaRPr lang="en-US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orbel" panose="020B0503020204020204" pitchFamily="34" charset="0"/>
                    <a:cs typeface="Times"/>
                  </a:rPr>
                  <a:t> loses a value,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orbel" panose="020B0503020204020204" pitchFamily="34" charset="0"/>
                    <a:cs typeface="Times"/>
                  </a:rPr>
                  <a:t> need to be (re)checked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Arc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"/>
                        <a:sym typeface="Symbol" pitchFamily="-107" charset="2"/>
                      </a:rPr>
                      <m:t>𝑁𝑆𝑊</m:t>
                    </m:r>
                  </m:oMath>
                </a14:m>
                <a:r>
                  <a:rPr lang="en-US" dirty="0">
                    <a:latin typeface="Corbel" panose="020B0503020204020204" pitchFamily="34" charset="0"/>
                    <a:cs typeface="Times"/>
                    <a:sym typeface="Symbol" pitchFamily="-107" charset="2"/>
                  </a:rPr>
                  <a:t> is originally not consistent, but is consistent after deleting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"/>
                        <a:sym typeface="Symbol" pitchFamily="-107" charset="2"/>
                      </a:rPr>
                      <m:t>=</m:t>
                    </m:r>
                  </m:oMath>
                </a14:m>
                <a:r>
                  <a:rPr lang="en-US" dirty="0">
                    <a:latin typeface="Corbel" panose="020B0503020204020204" pitchFamily="34" charset="0"/>
                    <a:cs typeface="Times"/>
                    <a:sym typeface="Symbol" pitchFamily="-107" charset="2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latin typeface="Corbel" panose="020B0503020204020204" pitchFamily="34" charset="0"/>
                    <a:cs typeface="Times"/>
                    <a:sym typeface="Symbol" pitchFamily="-107" charset="2"/>
                  </a:rPr>
                  <a:t>red</a:t>
                </a:r>
                <a:endParaRPr lang="en-US" dirty="0">
                  <a:solidFill>
                    <a:srgbClr val="0000CC"/>
                  </a:solidFill>
                  <a:latin typeface="Corbel" panose="020B0503020204020204" pitchFamily="34" charset="0"/>
                  <a:cs typeface="Times"/>
                  <a:sym typeface="Symbol" pitchFamily="-107" charset="2"/>
                </a:endParaRPr>
              </a:p>
            </p:txBody>
          </p:sp>
        </mc:Choice>
        <mc:Fallback xmlns="">
          <p:sp>
            <p:nvSpPr>
              <p:cNvPr id="4034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62200" y="1371601"/>
                <a:ext cx="8305800" cy="5143501"/>
              </a:xfrm>
              <a:blipFill>
                <a:blip r:embed="rId3"/>
                <a:stretch>
                  <a:fillRect l="-611" t="-1724" r="-1527" b="-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7" name="Picture 4" descr="ac-example3c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84973" y="3009828"/>
            <a:ext cx="4316790" cy="14816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7358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1" y="304801"/>
            <a:ext cx="7704667" cy="609599"/>
          </a:xfrm>
        </p:spPr>
        <p:txBody>
          <a:bodyPr>
            <a:normAutofit fontScale="90000"/>
          </a:bodyPr>
          <a:lstStyle/>
          <a:p>
            <a:r>
              <a:rPr lang="en-US" dirty="0"/>
              <a:t>Arc Consistency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755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482257" y="1032935"/>
                <a:ext cx="7921752" cy="5257800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Reducing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may result in </a:t>
                </a:r>
                <a:r>
                  <a:rPr lang="en-US" dirty="0">
                    <a:latin typeface="Corbel" panose="020B0503020204020204" pitchFamily="34" charset="0"/>
                    <a:cs typeface="Times"/>
                  </a:rPr>
                  <a:t>domain reductions for others.</a:t>
                </a:r>
                <a:endParaRPr lang="en-US" sz="24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={1, 4, 5}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={1,2,3}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={2, 3, 4, 5}</m:t>
                    </m:r>
                  </m:oMath>
                </a14:m>
                <a:endParaRPr lang="en-US" sz="2400" dirty="0">
                  <a:latin typeface="Corbel" panose="020B0503020204020204" pitchFamily="34" charset="0"/>
                  <a:cs typeface="Times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Constraints: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Times"/>
                      </a:rPr>
                      <m:t>&gt;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Times"/>
                      </a:rPr>
                      <m:t>&gt;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latin typeface="Corbel" panose="020B0503020204020204" pitchFamily="34" charset="0"/>
                  <a:cs typeface="Times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Remove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"/>
                      </a:rPr>
                      <m:t>1</m:t>
                    </m:r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4, 5</m:t>
                        </m:r>
                      </m:e>
                    </m:d>
                  </m:oMath>
                </a14:m>
                <a:endParaRPr lang="en-US" sz="2000" dirty="0">
                  <a:latin typeface="Corbel" panose="020B0503020204020204" pitchFamily="34" charset="0"/>
                  <a:cs typeface="Times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No support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Times"/>
                      </a:rPr>
                      <m:t>=2,3,4</m:t>
                    </m:r>
                  </m:oMath>
                </a14:m>
                <a:endParaRPr lang="en-US" sz="2000" dirty="0">
                  <a:latin typeface="Corbel" panose="020B0503020204020204" pitchFamily="34" charset="0"/>
                  <a:cs typeface="Times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We can remove those values: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Times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5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⇒</m:t>
                    </m:r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Times"/>
                      </a:rPr>
                      <m:t>=5</m:t>
                    </m:r>
                  </m:oMath>
                </a14:m>
                <a:endParaRPr lang="en-US" sz="2000" dirty="0">
                  <a:latin typeface="Corbel" panose="020B0503020204020204" pitchFamily="34" charset="0"/>
                  <a:cs typeface="Times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Before applying AC to arc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Times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, we cannot reduce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</m:oMath>
                </a14:m>
                <a:endParaRPr lang="en-US" sz="2000" i="1" baseline="-250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A chain reaction of domain reductions.</a:t>
                </a:r>
              </a:p>
            </p:txBody>
          </p:sp>
        </mc:Choice>
        <mc:Fallback xmlns="">
          <p:sp>
            <p:nvSpPr>
              <p:cNvPr id="4075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82257" y="1032935"/>
                <a:ext cx="7921752" cy="5257800"/>
              </a:xfrm>
              <a:blipFill>
                <a:blip r:embed="rId3"/>
                <a:stretch>
                  <a:fillRect l="-320" t="-14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2743201" y="156212"/>
            <a:ext cx="7704667" cy="834497"/>
          </a:xfrm>
        </p:spPr>
        <p:txBody>
          <a:bodyPr/>
          <a:lstStyle/>
          <a:p>
            <a:r>
              <a:rPr lang="en-US" dirty="0">
                <a:ea typeface="ＭＳ Ｐゴシック" pitchFamily="-111" charset="-128"/>
                <a:cs typeface="ＭＳ Ｐゴシック" pitchFamily="-111" charset="-128"/>
              </a:rPr>
              <a:t>Sudoku Chain Reaction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 txBox="1">
                <a:spLocks noChangeArrowheads="1"/>
              </p:cNvSpPr>
              <p:nvPr/>
            </p:nvSpPr>
            <p:spPr bwMode="auto">
              <a:xfrm>
                <a:off x="2353734" y="4328268"/>
                <a:ext cx="8314266" cy="2362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marL="342900" indent="-342900">
                  <a:spcBef>
                    <a:spcPts val="1200"/>
                  </a:spcBef>
                  <a:buClr>
                    <a:schemeClr val="folHlink"/>
                  </a:buClr>
                  <a:buSzPct val="60000"/>
                  <a:buFont typeface="Wingdings" pitchFamily="-111" charset="2"/>
                  <a:buChar char="n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𝐴𝑙𝑙𝑑𝑖𝑓𝑓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constraint on middle box makes domain of </a:t>
                </a:r>
                <a:r>
                  <a:rPr lang="en-US" b="0" dirty="0">
                    <a:solidFill>
                      <a:srgbClr val="FF0000"/>
                    </a:solidFill>
                    <a:latin typeface="Corbel" panose="020B0503020204020204" pitchFamily="34" charset="0"/>
                    <a:cs typeface="Times"/>
                  </a:rPr>
                  <a:t>red</a:t>
                </a:r>
                <a:r>
                  <a:rPr lang="en-US" b="0" dirty="0">
                    <a:solidFill>
                      <a:srgbClr val="CC0000"/>
                    </a:solidFill>
                    <a:latin typeface="Corbel" panose="020B0503020204020204" pitchFamily="34" charset="0"/>
                    <a:cs typeface="Times"/>
                  </a:rPr>
                  <a:t> </a:t>
                </a:r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square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{3, 4, 5, 6, 9}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. Column constraint reduces domain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{4}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.</a:t>
                </a:r>
              </a:p>
              <a:p>
                <a:pPr marL="342900" indent="-342900">
                  <a:spcBef>
                    <a:spcPts val="1200"/>
                  </a:spcBef>
                  <a:buClr>
                    <a:schemeClr val="folHlink"/>
                  </a:buClr>
                  <a:buSzPct val="60000"/>
                  <a:buFont typeface="Wingdings" pitchFamily="-111" charset="2"/>
                  <a:buChar char="n"/>
                </a:pPr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Consider </a:t>
                </a:r>
                <a:r>
                  <a:rPr lang="en-US" b="0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Corbel" panose="020B0503020204020204" pitchFamily="34" charset="0"/>
                    <a:cs typeface="Times"/>
                  </a:rPr>
                  <a:t>orange</a:t>
                </a:r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square. Original column and box constraints yield domain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{4,7}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.  Red square forces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{7}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.</a:t>
                </a:r>
              </a:p>
              <a:p>
                <a:pPr marL="342900" indent="-342900">
                  <a:spcBef>
                    <a:spcPts val="1200"/>
                  </a:spcBef>
                  <a:buClr>
                    <a:schemeClr val="folHlink"/>
                  </a:buClr>
                  <a:buSzPct val="60000"/>
                  <a:buFont typeface="Wingdings" pitchFamily="-111" charset="2"/>
                  <a:buChar char="n"/>
                </a:pPr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B</a:t>
                </a:r>
                <a:r>
                  <a:rPr lang="en-US" b="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lue</a:t>
                </a:r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box must be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"/>
                      </a:rPr>
                      <m:t>{1}</m:t>
                    </m:r>
                  </m:oMath>
                </a14:m>
                <a:r>
                  <a:rPr lang="en-US" b="0" dirty="0">
                    <a:latin typeface="Corbel" panose="020B0503020204020204" pitchFamily="34" charset="0"/>
                    <a:cs typeface="Times"/>
                  </a:rPr>
                  <a:t> as column already has eight values.</a:t>
                </a:r>
                <a:endParaRPr lang="en-US" sz="20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3734" y="4328268"/>
                <a:ext cx="8314266" cy="2362200"/>
              </a:xfrm>
              <a:prstGeom prst="rect">
                <a:avLst/>
              </a:prstGeom>
              <a:blipFill>
                <a:blip r:embed="rId2"/>
                <a:stretch>
                  <a:fillRect t="-106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724400" y="990708"/>
          <a:ext cx="3337200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0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731009" y="304801"/>
            <a:ext cx="7704667" cy="838199"/>
          </a:xfrm>
        </p:spPr>
        <p:txBody>
          <a:bodyPr/>
          <a:lstStyle/>
          <a:p>
            <a:r>
              <a:rPr lang="en-US" dirty="0"/>
              <a:t>Arc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345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362200" y="1295401"/>
                <a:ext cx="8305800" cy="5143501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Simplest form of propagation makes each arc </a:t>
                </a:r>
                <a:r>
                  <a:rPr lang="en-US" sz="24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consistent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orbel" panose="020B0503020204020204" pitchFamily="34" charset="0"/>
                    <a:cs typeface="Times"/>
                  </a:rPr>
                  <a:t> 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is arc-consistent </a:t>
                </a:r>
                <a:r>
                  <a:rPr lang="en-US" sz="2400" dirty="0" err="1">
                    <a:latin typeface="Corbel" panose="020B0503020204020204" pitchFamily="34" charset="0"/>
                    <a:cs typeface="Times"/>
                  </a:rPr>
                  <a:t>wrt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(the arc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(</m:t>
                    </m:r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  <m:r>
                      <a:rPr lang="en-US" sz="2400" i="1" dirty="0" err="1">
                        <a:latin typeface="Cambria Math" panose="02040503050406030204" pitchFamily="18" charset="0"/>
                        <a:cs typeface="Times"/>
                      </a:rPr>
                      <m:t>,</m:t>
                    </m:r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 err="1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)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is consistent) </a:t>
                </a:r>
                <a:r>
                  <a:rPr lang="en-US" sz="2400" dirty="0" err="1">
                    <a:latin typeface="Corbel" panose="020B0503020204020204" pitchFamily="34" charset="0"/>
                    <a:cs typeface="Times"/>
                  </a:rPr>
                  <a:t>iff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for every 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there exists some 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that satisfies the binary constraint on the arc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endParaRPr lang="en-US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endParaRPr lang="en-US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endParaRPr lang="en-US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Arc consistency propagation detects failure earlier than forward checking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dirty="0">
                    <a:latin typeface="Corbel" panose="020B0503020204020204" pitchFamily="34" charset="0"/>
                    <a:cs typeface="Times"/>
                  </a:rPr>
                  <a:t>Can be run as a preprocessing step or after each assignment</a:t>
                </a:r>
              </a:p>
            </p:txBody>
          </p:sp>
        </mc:Choice>
        <mc:Fallback xmlns="">
          <p:sp>
            <p:nvSpPr>
              <p:cNvPr id="4034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62200" y="1295401"/>
                <a:ext cx="8305800" cy="5143501"/>
              </a:xfrm>
              <a:blipFill>
                <a:blip r:embed="rId3"/>
                <a:stretch>
                  <a:fillRect l="-611" t="-1481" r="-1527" b="-4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6" name="Picture 4" descr="ac-example4c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50546" y="3022061"/>
            <a:ext cx="4337111" cy="148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10124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1" y="228601"/>
            <a:ext cx="7704667" cy="685799"/>
          </a:xfrm>
        </p:spPr>
        <p:txBody>
          <a:bodyPr>
            <a:normAutofit fontScale="90000"/>
          </a:bodyPr>
          <a:lstStyle/>
          <a:p>
            <a:r>
              <a:rPr lang="en-US" dirty="0"/>
              <a:t>Arc Consistency Algorithm AC-3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0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632710" y="5444599"/>
                <a:ext cx="7543800" cy="663575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90000"/>
                  </a:lnSpc>
                  <a:buNone/>
                </a:pPr>
                <a:r>
                  <a:rPr lang="en-US" sz="3200" dirty="0">
                    <a:latin typeface="Corbel" panose="020B0503020204020204" pitchFamily="34" charset="0"/>
                    <a:cs typeface="Times"/>
                  </a:rPr>
                  <a:t>Time complexity: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  <a:cs typeface="Times"/>
                      </a:rPr>
                      <m:t>𝒪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i="1" dirty="0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pPr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  <a:cs typeface="Times"/>
                              </a:rPr>
                              <m:t>𝑛</m:t>
                            </m:r>
                          </m:e>
                          <m:sup>
                            <m:r>
                              <a:rPr lang="en-US" sz="3200" i="1" dirty="0">
                                <a:latin typeface="Cambria Math" panose="02040503050406030204" pitchFamily="18" charset="0"/>
                                <a:cs typeface="Times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3200" i="1" dirty="0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pPr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  <a:cs typeface="Times"/>
                              </a:rPr>
                              <m:t>𝑑</m:t>
                            </m:r>
                          </m:e>
                          <m:sup>
                            <m:r>
                              <a:rPr lang="en-US" sz="3200" i="1" dirty="0">
                                <a:latin typeface="Cambria Math" panose="02040503050406030204" pitchFamily="18" charset="0"/>
                                <a:cs typeface="Times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sz="32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4096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2710" y="5444599"/>
                <a:ext cx="7543800" cy="663575"/>
              </a:xfrm>
              <a:blipFill>
                <a:blip r:embed="rId3"/>
                <a:stretch>
                  <a:fillRect t="-18868" b="-9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5" name="Picture 4" descr="Picture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990600"/>
            <a:ext cx="6593100" cy="4267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this week: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Finish Lecture 9 and Lecture 11 (because Lecture 10 is very long)</a:t>
            </a:r>
          </a:p>
          <a:p>
            <a:pPr lvl="1"/>
            <a:r>
              <a:rPr lang="en-US" dirty="0"/>
              <a:t>Start on Lecture 10</a:t>
            </a:r>
          </a:p>
          <a:p>
            <a:r>
              <a:rPr lang="en-US" dirty="0"/>
              <a:t>Make-up Lecture (Come if able, otherwise it is recorded):</a:t>
            </a:r>
          </a:p>
          <a:p>
            <a:pPr lvl="1"/>
            <a:r>
              <a:rPr lang="en-US" dirty="0"/>
              <a:t>Tomorrow 12 April (Wednesday) 2 pm to 4 pm</a:t>
            </a:r>
          </a:p>
          <a:p>
            <a:pPr lvl="1"/>
            <a:r>
              <a:rPr lang="en-US" dirty="0"/>
              <a:t>On Zoom, same as previous Zoom lecture.</a:t>
            </a:r>
          </a:p>
          <a:p>
            <a:pPr lvl="1"/>
            <a:r>
              <a:rPr lang="en-US" dirty="0"/>
              <a:t>Finish Lecture 10</a:t>
            </a:r>
          </a:p>
          <a:p>
            <a:r>
              <a:rPr lang="en-US" dirty="0"/>
              <a:t>Tutorial:</a:t>
            </a:r>
          </a:p>
          <a:p>
            <a:pPr lvl="1"/>
            <a:r>
              <a:rPr lang="en-US" dirty="0"/>
              <a:t>Pre-recorded, </a:t>
            </a:r>
            <a:r>
              <a:rPr lang="en-US"/>
              <a:t>covering lectures 10 and 11.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309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1" y="72499"/>
            <a:ext cx="7704667" cy="914399"/>
          </a:xfrm>
        </p:spPr>
        <p:txBody>
          <a:bodyPr/>
          <a:lstStyle/>
          <a:p>
            <a:r>
              <a:rPr lang="en-US" dirty="0"/>
              <a:t>Time Complexity of AC-3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62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480733" y="1036214"/>
                <a:ext cx="8077200" cy="2587097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CSP has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directed arcs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Each arc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can be inserted at most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𝑑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times because </a:t>
                </a:r>
                <a:br>
                  <a:rPr lang="en-US" sz="2400" dirty="0">
                    <a:latin typeface="Corbel" panose="020B0503020204020204" pitchFamily="34" charset="0"/>
                    <a:cs typeface="Times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has at most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 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values to delete.</a:t>
                </a:r>
                <a:endParaRPr lang="en-US" sz="2400" baseline="-250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cap="small" dirty="0">
                    <a:latin typeface="Corbel" panose="020B0503020204020204" pitchFamily="34" charset="0"/>
                    <a:cs typeface="Times"/>
                  </a:rPr>
                  <a:t>Revise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: Checking the consistency of an arc takes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𝒪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time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𝒪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×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𝒪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latin typeface="Corbel" panose="020B0503020204020204" pitchFamily="34" charset="0"/>
                  <a:cs typeface="Times"/>
                </a:endParaRPr>
              </a:p>
            </p:txBody>
          </p:sp>
        </mc:Choice>
        <mc:Fallback xmlns="">
          <p:sp>
            <p:nvSpPr>
              <p:cNvPr id="4106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80733" y="1036214"/>
                <a:ext cx="8077200" cy="2587097"/>
              </a:xfrm>
              <a:blipFill>
                <a:blip r:embed="rId3"/>
                <a:stretch>
                  <a:fillRect l="-314" t="-1463" r="-3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5" name="Picture 4" descr="Picture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843" y="3623310"/>
            <a:ext cx="4944825" cy="3200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1" y="152401"/>
            <a:ext cx="7704667" cy="758297"/>
          </a:xfrm>
        </p:spPr>
        <p:txBody>
          <a:bodyPr/>
          <a:lstStyle/>
          <a:p>
            <a:r>
              <a:rPr lang="en-US" dirty="0"/>
              <a:t>Maintaining AC (MAC)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idx="1"/>
          </p:nvPr>
        </p:nvSpPr>
        <p:spPr>
          <a:xfrm>
            <a:off x="2743200" y="1185018"/>
            <a:ext cx="7921752" cy="5257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Like any other propagation, we can use AC in search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i.e., search proceeds as follows:</a:t>
            </a:r>
          </a:p>
          <a:p>
            <a:pPr lvl="1">
              <a:spcBef>
                <a:spcPts val="1200"/>
              </a:spcBef>
            </a:pPr>
            <a:r>
              <a:rPr lang="en-US" sz="2000" dirty="0">
                <a:latin typeface="Corbel" panose="020B0503020204020204" pitchFamily="34" charset="0"/>
                <a:cs typeface="Times"/>
              </a:rPr>
              <a:t>establish AC at the root</a:t>
            </a:r>
          </a:p>
          <a:p>
            <a:pPr lvl="1">
              <a:spcBef>
                <a:spcPts val="1200"/>
              </a:spcBef>
            </a:pPr>
            <a:r>
              <a:rPr lang="en-US" sz="2000" dirty="0">
                <a:latin typeface="Corbel" panose="020B0503020204020204" pitchFamily="34" charset="0"/>
                <a:cs typeface="Times"/>
              </a:rPr>
              <a:t>when AC-3 terminates, choose a new variable/value</a:t>
            </a:r>
          </a:p>
          <a:p>
            <a:pPr lvl="1">
              <a:spcBef>
                <a:spcPts val="1200"/>
              </a:spcBef>
            </a:pPr>
            <a:r>
              <a:rPr lang="en-US" sz="2000" dirty="0">
                <a:latin typeface="Corbel" panose="020B0503020204020204" pitchFamily="34" charset="0"/>
                <a:cs typeface="Times"/>
              </a:rPr>
              <a:t>re-establish AC given the new variable choice (i.e. maintain AC)</a:t>
            </a:r>
          </a:p>
          <a:p>
            <a:pPr lvl="1">
              <a:spcBef>
                <a:spcPts val="1200"/>
              </a:spcBef>
            </a:pPr>
            <a:r>
              <a:rPr lang="en-US" sz="2000" dirty="0">
                <a:latin typeface="Corbel" panose="020B0503020204020204" pitchFamily="34" charset="0"/>
                <a:cs typeface="Times"/>
              </a:rPr>
              <a:t>repeat; </a:t>
            </a:r>
          </a:p>
          <a:p>
            <a:pPr lvl="1">
              <a:spcBef>
                <a:spcPts val="1200"/>
              </a:spcBef>
            </a:pPr>
            <a:r>
              <a:rPr lang="en-US" sz="2000" dirty="0">
                <a:latin typeface="Corbel" panose="020B0503020204020204" pitchFamily="34" charset="0"/>
                <a:cs typeface="Times"/>
              </a:rPr>
              <a:t>backtrack if AC gives </a:t>
            </a:r>
            <a:r>
              <a:rPr lang="en-US" sz="2000" dirty="0">
                <a:solidFill>
                  <a:srgbClr val="0000CC"/>
                </a:solidFill>
                <a:latin typeface="Corbel" panose="020B0503020204020204" pitchFamily="34" charset="0"/>
                <a:cs typeface="Times"/>
              </a:rPr>
              <a:t>empty domain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Exception: initially, insert into queue only arcs of neighboring unassigned variables/nodes 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orbel" panose="020B0503020204020204" pitchFamily="34" charset="0"/>
                <a:cs typeface="Times"/>
              </a:rPr>
              <a:t>The hard part of implementation is undoing effects of 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3201" y="228601"/>
            <a:ext cx="7704667" cy="1142999"/>
          </a:xfrm>
        </p:spPr>
        <p:txBody>
          <a:bodyPr/>
          <a:lstStyle/>
          <a:p>
            <a:r>
              <a:rPr lang="en-US" dirty="0"/>
              <a:t>Special Types of Consistency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267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634657" y="1110986"/>
                <a:ext cx="7921752" cy="5257800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Some types of constraints lend themselves to special types of arc-consistency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Consider the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Times"/>
                      </a:rPr>
                      <m:t>𝐴𝑙𝑙𝐷𝑖𝑓𝑓</m:t>
                    </m:r>
                    <m:r>
                      <a:rPr lang="en-US" sz="2800" i="1">
                        <a:latin typeface="Cambria Math" panose="02040503050406030204" pitchFamily="18" charset="0"/>
                        <a:cs typeface="Times"/>
                      </a:rPr>
                      <m:t> </m:t>
                    </m:r>
                  </m:oMath>
                </a14:m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constraint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the named variables must all take different values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not a binary constraint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can be expressed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𝑛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  <a:sym typeface="Symbol" pitchFamily="-107" charset="2"/>
                  </a:rPr>
                  <a:t> not-equal 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binary constraints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We can apply, e.g., AC-3 as usual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But there is a much better option </a:t>
                </a:r>
              </a:p>
            </p:txBody>
          </p:sp>
        </mc:Choice>
        <mc:Fallback xmlns="">
          <p:sp>
            <p:nvSpPr>
              <p:cNvPr id="4126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4657" y="1110986"/>
                <a:ext cx="7921752" cy="5257800"/>
              </a:xfrm>
              <a:blipFill>
                <a:blip r:embed="rId3"/>
                <a:stretch>
                  <a:fillRect l="-480" t="-1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3698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137795" y="436227"/>
                <a:ext cx="8305800" cy="630572"/>
              </a:xfrm>
            </p:spPr>
            <p:txBody>
              <a:bodyPr>
                <a:noAutofit/>
              </a:bodyPr>
              <a:lstStyle/>
              <a:p>
                <a:r>
                  <a:rPr lang="en-US" sz="3400" dirty="0"/>
                  <a:t>Generalized Arc Consistency and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400" dirty="0"/>
                  <a:t>-Consistency</a:t>
                </a:r>
              </a:p>
            </p:txBody>
          </p:sp>
        </mc:Choice>
        <mc:Fallback xmlns="">
          <p:sp>
            <p:nvSpPr>
              <p:cNvPr id="41369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137795" y="436227"/>
                <a:ext cx="8305800" cy="630572"/>
              </a:xfrm>
              <a:blipFill>
                <a:blip r:embed="rId3"/>
                <a:stretch>
                  <a:fillRect l="-2056" t="-13592" r="-1689" b="-32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369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782824" y="1373877"/>
                <a:ext cx="7921752" cy="52578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={2,3}</m:t>
                    </m:r>
                  </m:oMath>
                </a14:m>
                <a:r>
                  <a:rPr lang="en-US" sz="2400" i="1" dirty="0">
                    <a:latin typeface="Corbel" panose="020B0503020204020204" pitchFamily="34" charset="0"/>
                    <a:cs typeface="Time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={1,2,3}</m:t>
                    </m:r>
                  </m:oMath>
                </a14:m>
                <a:r>
                  <a:rPr lang="en-US" sz="2400" i="1" dirty="0">
                    <a:latin typeface="Corbel" panose="020B0503020204020204" pitchFamily="34" charset="0"/>
                    <a:cs typeface="Times"/>
                  </a:rPr>
                  <a:t>.</a:t>
                </a:r>
                <a:endParaRPr lang="en-US" sz="24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The constraints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"/>
                      </a:rPr>
                      <m:t>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  <a:sym typeface="Symbol" pitchFamily="-107" charset="2"/>
                  </a:rPr>
                  <a:t> are arc-consistent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=2</m:t>
                    </m:r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 supports the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=3</m:t>
                    </m:r>
                  </m:oMath>
                </a14:m>
                <a:endParaRPr lang="en-US" sz="20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The single ternary constraint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𝐴𝑙𝑙𝑑𝑖𝑓𝑓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)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is not!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We must reduce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A special-purpose algorithm exists for </a:t>
                </a:r>
                <a:r>
                  <a:rPr lang="en-US" sz="2400" i="1" dirty="0" err="1">
                    <a:latin typeface="Corbel" panose="020B0503020204020204" pitchFamily="34" charset="0"/>
                    <a:cs typeface="Times"/>
                  </a:rPr>
                  <a:t>Alldiff</a:t>
                </a: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 constraint to establish generalized arc consistency in efficient time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>
                    <a:latin typeface="Corbel" panose="020B0503020204020204" pitchFamily="34" charset="0"/>
                    <a:cs typeface="Times"/>
                  </a:rPr>
                  <a:t>Special-purpose propagation algorithms are vital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Arc Consistency 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2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-consistency) can be extended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"/>
                      </a:rPr>
                      <m:t>𝑘</m:t>
                    </m:r>
                  </m:oMath>
                </a14:m>
                <a:r>
                  <a:rPr lang="en-US" sz="2400" dirty="0">
                    <a:latin typeface="Corbel" panose="020B0503020204020204" pitchFamily="34" charset="0"/>
                    <a:cs typeface="Times"/>
                  </a:rPr>
                  <a:t>-consistency</a:t>
                </a:r>
              </a:p>
            </p:txBody>
          </p:sp>
        </mc:Choice>
        <mc:Fallback xmlns="">
          <p:sp>
            <p:nvSpPr>
              <p:cNvPr id="4136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82824" y="1373877"/>
                <a:ext cx="7921752" cy="5257800"/>
              </a:xfrm>
              <a:blipFill>
                <a:blip r:embed="rId4"/>
                <a:stretch>
                  <a:fillRect l="-321" t="-7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1" y="228601"/>
            <a:ext cx="7704667" cy="685799"/>
          </a:xfrm>
        </p:spPr>
        <p:txBody>
          <a:bodyPr>
            <a:normAutofit fontScale="90000"/>
          </a:bodyPr>
          <a:lstStyle/>
          <a:p>
            <a:r>
              <a:rPr lang="en-US" dirty="0"/>
              <a:t>Local Search for </a:t>
            </a:r>
            <a:r>
              <a:rPr lang="en-US" dirty="0" err="1"/>
              <a:t>CSPs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574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523067" y="1215498"/>
                <a:ext cx="7924800" cy="52578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Hill-climbing, simulated annealing typically work with “complete” states, i.e., all variables assigned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To apply to </a:t>
                </a:r>
                <a:r>
                  <a:rPr lang="en-US" sz="2800" dirty="0" err="1">
                    <a:latin typeface="Corbel" panose="020B0503020204020204" pitchFamily="34" charset="0"/>
                    <a:cs typeface="Times"/>
                  </a:rPr>
                  <a:t>CSPs</a:t>
                </a: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: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allow states that violate constraints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operators </a:t>
                </a:r>
                <a:r>
                  <a:rPr lang="en-US" sz="2200" dirty="0">
                    <a:solidFill>
                      <a:srgbClr val="FF0000"/>
                    </a:solidFill>
                    <a:latin typeface="Corbel" panose="020B0503020204020204" pitchFamily="34" charset="0"/>
                    <a:cs typeface="Times"/>
                  </a:rPr>
                  <a:t>reassign</a:t>
                </a: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 variable values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Variable selection: randomly select any conflicted variable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Value selection by </a:t>
                </a:r>
                <a:r>
                  <a:rPr lang="en-US" sz="2800" dirty="0">
                    <a:solidFill>
                      <a:srgbClr val="FF0000"/>
                    </a:solidFill>
                    <a:latin typeface="Corbel" panose="020B0503020204020204" pitchFamily="34" charset="0"/>
                    <a:cs typeface="Times"/>
                  </a:rPr>
                  <a:t>min-conflicts </a:t>
                </a:r>
                <a:r>
                  <a:rPr lang="en-US" sz="2800" dirty="0">
                    <a:latin typeface="Corbel" panose="020B0503020204020204" pitchFamily="34" charset="0"/>
                    <a:cs typeface="Times"/>
                  </a:rPr>
                  <a:t>heuristic: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choose value that violates the fewest constraints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i.e., hill-climb with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𝑛</m:t>
                    </m:r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)</m:t>
                    </m:r>
                  </m:oMath>
                </a14:m>
                <a:r>
                  <a:rPr lang="en-US" sz="2200" i="1" dirty="0">
                    <a:latin typeface="Corbel" panose="020B0503020204020204" pitchFamily="34" charset="0"/>
                    <a:cs typeface="Times"/>
                  </a:rPr>
                  <a:t> </a:t>
                </a: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= total # of violated constraints</a:t>
                </a:r>
              </a:p>
            </p:txBody>
          </p:sp>
        </mc:Choice>
        <mc:Fallback xmlns="">
          <p:sp>
            <p:nvSpPr>
              <p:cNvPr id="4157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3067" y="1215498"/>
                <a:ext cx="7924800" cy="5257800"/>
              </a:xfrm>
              <a:blipFill>
                <a:blip r:embed="rId3"/>
                <a:stretch>
                  <a:fillRect l="-480" t="-1205" r="-4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838199"/>
          </a:xfrm>
        </p:spPr>
        <p:txBody>
          <a:bodyPr/>
          <a:lstStyle/>
          <a:p>
            <a:r>
              <a:rPr lang="en-US" dirty="0">
                <a:ea typeface="ＭＳ Ｐゴシック" pitchFamily="-107" charset="-128"/>
                <a:cs typeface="ＭＳ Ｐゴシック" pitchFamily="-107" charset="-128"/>
              </a:rPr>
              <a:t>Min-Conflicts</a:t>
            </a:r>
          </a:p>
        </p:txBody>
      </p:sp>
      <p:pic>
        <p:nvPicPr>
          <p:cNvPr id="7" name="Content Placeholder 6" descr="Picture 3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8146" y="1524000"/>
            <a:ext cx="8848490" cy="4191000"/>
          </a:xfrm>
        </p:spPr>
      </p:pic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46</a:t>
            </a:fld>
            <a:endParaRPr lang="en-US"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84171" y="30481"/>
            <a:ext cx="7704667" cy="914399"/>
          </a:xfrm>
        </p:spPr>
        <p:txBody>
          <a:bodyPr/>
          <a:lstStyle/>
          <a:p>
            <a:r>
              <a:rPr lang="en-US" dirty="0"/>
              <a:t>Example: 4-Queens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677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583603" y="1032935"/>
                <a:ext cx="8305800" cy="52578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States</a:t>
                </a: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4</m:t>
                    </m:r>
                  </m:oMath>
                </a14:m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 queens in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4</m:t>
                    </m:r>
                  </m:oMath>
                </a14:m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 columns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"/>
                          </a:rPr>
                          <m:t>4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cs typeface="Times"/>
                          </a:rPr>
                          <m:t>4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cs typeface="Times"/>
                      </a:rPr>
                      <m:t>=256</m:t>
                    </m:r>
                  </m:oMath>
                </a14:m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 states)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Actions</a:t>
                </a: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: move queen in column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Goal test</a:t>
                </a: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: no attacks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rgbClr val="0000CC"/>
                    </a:solidFill>
                    <a:latin typeface="Corbel" panose="020B0503020204020204" pitchFamily="34" charset="0"/>
                    <a:cs typeface="Times"/>
                  </a:rPr>
                  <a:t>Evaluation</a:t>
                </a: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𝑛</m:t>
                    </m:r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)</m:t>
                    </m:r>
                  </m:oMath>
                </a14:m>
                <a:r>
                  <a:rPr lang="en-US" sz="2200" i="1" dirty="0">
                    <a:latin typeface="Corbel" panose="020B0503020204020204" pitchFamily="34" charset="0"/>
                    <a:cs typeface="Times"/>
                  </a:rPr>
                  <a:t> </a:t>
                </a: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= number of attacks</a:t>
                </a:r>
              </a:p>
              <a:p>
                <a:pPr>
                  <a:spcBef>
                    <a:spcPts val="600"/>
                  </a:spcBef>
                </a:pPr>
                <a:endParaRPr lang="en-US" sz="22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600"/>
                  </a:spcBef>
                </a:pPr>
                <a:endParaRPr lang="en-US" sz="22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600"/>
                  </a:spcBef>
                  <a:buNone/>
                </a:pPr>
                <a:endParaRPr lang="en-US" sz="22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600"/>
                  </a:spcBef>
                  <a:buNone/>
                </a:pPr>
                <a:endParaRPr lang="en-US" sz="2200" dirty="0">
                  <a:latin typeface="Corbel" panose="020B0503020204020204" pitchFamily="34" charset="0"/>
                  <a:cs typeface="Times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Given random initial state, can solve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𝑛</m:t>
                    </m:r>
                  </m:oMath>
                </a14:m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-queens in almost constant time for arbitrary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cs typeface="Times"/>
                      </a:rPr>
                      <m:t>𝑛</m:t>
                    </m:r>
                  </m:oMath>
                </a14:m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 with high probability (e.g.,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"/>
                      </a:rPr>
                      <m:t>𝑛</m:t>
                    </m:r>
                    <m:r>
                      <a:rPr lang="en-US" sz="2200" i="1">
                        <a:latin typeface="Cambria Math" panose="02040503050406030204" pitchFamily="18" charset="0"/>
                        <a:cs typeface="Times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cs typeface="Times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cs typeface="Times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200" dirty="0">
                    <a:latin typeface="Corbel" panose="020B0503020204020204" pitchFamily="34" charset="0"/>
                    <a:cs typeface="Times"/>
                  </a:rPr>
                  <a:t>)</a:t>
                </a:r>
              </a:p>
            </p:txBody>
          </p:sp>
        </mc:Choice>
        <mc:Fallback xmlns="">
          <p:sp>
            <p:nvSpPr>
              <p:cNvPr id="4167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3603" y="1032935"/>
                <a:ext cx="8305800" cy="5257800"/>
              </a:xfrm>
              <a:blipFill>
                <a:blip r:embed="rId3"/>
                <a:stretch>
                  <a:fillRect l="-153" t="-7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416772" name="Picture 4" descr="4queens-iterativ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96520" y="2778391"/>
            <a:ext cx="4945742" cy="15089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Constraint Satisfaction Problems – Structured CSPs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AIMA Chapter 6.5</a:t>
            </a:r>
          </a:p>
        </p:txBody>
      </p:sp>
    </p:spTree>
    <p:extLst>
      <p:ext uri="{BB962C8B-B14F-4D97-AF65-F5344CB8AC3E}">
        <p14:creationId xmlns:p14="http://schemas.microsoft.com/office/powerpoint/2010/main" val="21344369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7704667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-107" charset="-128"/>
                <a:cs typeface="ＭＳ Ｐゴシック" pitchFamily="-107" charset="-128"/>
              </a:rPr>
              <a:t>CSPs With Binary Constraints as Graphs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49</a:t>
            </a:fld>
            <a:endParaRPr lang="en-US"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/>
              <p:cNvSpPr/>
              <p:nvPr/>
            </p:nvSpPr>
            <p:spPr>
              <a:xfrm>
                <a:off x="3124200" y="1905000"/>
                <a:ext cx="609600" cy="6096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1905000"/>
                <a:ext cx="609600" cy="6096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4876800" y="1752600"/>
                <a:ext cx="609600" cy="6096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1752600"/>
                <a:ext cx="609600" cy="6096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4495800" y="3581400"/>
                <a:ext cx="609600" cy="6096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581400"/>
                <a:ext cx="609600" cy="6096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6327484" y="2971800"/>
                <a:ext cx="609600" cy="6096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484" y="2971800"/>
                <a:ext cx="609600" cy="6096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8159168" y="2362200"/>
                <a:ext cx="609600" cy="6096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168" y="2362200"/>
                <a:ext cx="609600" cy="6096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>
                <a:off x="5867400" y="4495800"/>
                <a:ext cx="609600" cy="6096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4495800"/>
                <a:ext cx="609600" cy="6096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7696200" y="4038600"/>
                <a:ext cx="609600" cy="6096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4038600"/>
                <a:ext cx="609600" cy="6096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>
            <a:stCxn id="3" idx="5"/>
            <a:endCxn id="9" idx="1"/>
          </p:cNvCxnSpPr>
          <p:nvPr/>
        </p:nvCxnSpPr>
        <p:spPr>
          <a:xfrm>
            <a:off x="3644526" y="2425326"/>
            <a:ext cx="940548" cy="12453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3" idx="6"/>
            <a:endCxn id="8" idx="2"/>
          </p:cNvCxnSpPr>
          <p:nvPr/>
        </p:nvCxnSpPr>
        <p:spPr>
          <a:xfrm flipV="1">
            <a:off x="3733800" y="2057400"/>
            <a:ext cx="1143000" cy="15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0" idx="1"/>
            <a:endCxn id="8" idx="5"/>
          </p:cNvCxnSpPr>
          <p:nvPr/>
        </p:nvCxnSpPr>
        <p:spPr>
          <a:xfrm flipH="1" flipV="1">
            <a:off x="5397126" y="2272926"/>
            <a:ext cx="1019632" cy="7881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2"/>
            <a:endCxn id="10" idx="7"/>
          </p:cNvCxnSpPr>
          <p:nvPr/>
        </p:nvCxnSpPr>
        <p:spPr>
          <a:xfrm flipH="1">
            <a:off x="6847810" y="2667000"/>
            <a:ext cx="1311358" cy="3940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3" idx="1"/>
            <a:endCxn id="10" idx="5"/>
          </p:cNvCxnSpPr>
          <p:nvPr/>
        </p:nvCxnSpPr>
        <p:spPr>
          <a:xfrm flipH="1" flipV="1">
            <a:off x="6847810" y="3492126"/>
            <a:ext cx="937664" cy="6357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2" idx="0"/>
            <a:endCxn id="10" idx="4"/>
          </p:cNvCxnSpPr>
          <p:nvPr/>
        </p:nvCxnSpPr>
        <p:spPr>
          <a:xfrm flipV="1">
            <a:off x="6172200" y="3581400"/>
            <a:ext cx="460084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/>
              <p:cNvSpPr/>
              <p:nvPr/>
            </p:nvSpPr>
            <p:spPr>
              <a:xfrm>
                <a:off x="7086600" y="5799221"/>
                <a:ext cx="609600" cy="6096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5799221"/>
                <a:ext cx="609600" cy="6096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/>
              <p:cNvSpPr/>
              <p:nvPr/>
            </p:nvSpPr>
            <p:spPr>
              <a:xfrm>
                <a:off x="8534400" y="4876800"/>
                <a:ext cx="609600" cy="6096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0" y="4876800"/>
                <a:ext cx="609600" cy="6096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/>
              <p:cNvSpPr/>
              <p:nvPr/>
            </p:nvSpPr>
            <p:spPr>
              <a:xfrm>
                <a:off x="9580266" y="3593476"/>
                <a:ext cx="609600" cy="6096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0266" y="3593476"/>
                <a:ext cx="609600" cy="6096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/>
          <p:cNvCxnSpPr>
            <a:stCxn id="38" idx="0"/>
            <a:endCxn id="13" idx="4"/>
          </p:cNvCxnSpPr>
          <p:nvPr/>
        </p:nvCxnSpPr>
        <p:spPr>
          <a:xfrm flipV="1">
            <a:off x="7391400" y="4648201"/>
            <a:ext cx="609600" cy="11510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9" idx="1"/>
            <a:endCxn id="13" idx="5"/>
          </p:cNvCxnSpPr>
          <p:nvPr/>
        </p:nvCxnSpPr>
        <p:spPr>
          <a:xfrm flipH="1" flipV="1">
            <a:off x="8216526" y="4558926"/>
            <a:ext cx="407148" cy="4071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40" idx="2"/>
            <a:endCxn id="13" idx="6"/>
          </p:cNvCxnSpPr>
          <p:nvPr/>
        </p:nvCxnSpPr>
        <p:spPr>
          <a:xfrm flipH="1">
            <a:off x="8305800" y="3898276"/>
            <a:ext cx="1274466" cy="4451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523" name="Rounded Rectangular Callout 64522"/>
              <p:cNvSpPr/>
              <p:nvPr/>
            </p:nvSpPr>
            <p:spPr>
              <a:xfrm>
                <a:off x="1902116" y="3626037"/>
                <a:ext cx="2378158" cy="825126"/>
              </a:xfrm>
              <a:prstGeom prst="wedgeRoundRectCallout">
                <a:avLst>
                  <a:gd name="adj1" fmla="val 37523"/>
                  <a:gd name="adj2" fmla="val -116516"/>
                  <a:gd name="adj3" fmla="val 1666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“There is a binary constraint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523" name="Rounded Rectangular Callout 645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116" y="3626037"/>
                <a:ext cx="2378158" cy="825126"/>
              </a:xfrm>
              <a:prstGeom prst="wedgeRoundRectCallout">
                <a:avLst>
                  <a:gd name="adj1" fmla="val 37523"/>
                  <a:gd name="adj2" fmla="val -116516"/>
                  <a:gd name="adj3" fmla="val 16667"/>
                </a:avLst>
              </a:prstGeom>
              <a:blipFill>
                <a:blip r:embed="rId13"/>
                <a:stretch>
                  <a:fillRect r="-526" b="-540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73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8264960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-107" charset="-128"/>
                <a:cs typeface="ＭＳ Ｐゴシック" pitchFamily="-107" charset="-128"/>
              </a:rPr>
              <a:t>CSPs With Binary Constraints as Graphs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50</a:t>
            </a:fld>
            <a:endParaRPr lang="en-US"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191000" y="4003322"/>
            <a:ext cx="3200400" cy="2109039"/>
            <a:chOff x="1600200" y="1752600"/>
            <a:chExt cx="7065666" cy="4656221"/>
          </a:xfrm>
        </p:grpSpPr>
        <p:sp>
          <p:nvSpPr>
            <p:cNvPr id="3" name="Oval 2"/>
            <p:cNvSpPr/>
            <p:nvPr/>
          </p:nvSpPr>
          <p:spPr>
            <a:xfrm>
              <a:off x="1600200" y="1905000"/>
              <a:ext cx="609600" cy="6096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352800" y="1752600"/>
              <a:ext cx="609600" cy="6096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971800" y="3581400"/>
              <a:ext cx="609600" cy="6096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803484" y="2971800"/>
              <a:ext cx="609600" cy="6096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6635168" y="2362200"/>
              <a:ext cx="609600" cy="6096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343400" y="4495800"/>
              <a:ext cx="609600" cy="6096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6172200" y="4038600"/>
              <a:ext cx="609600" cy="6096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Straight Connector 4"/>
            <p:cNvCxnSpPr>
              <a:stCxn id="3" idx="5"/>
              <a:endCxn id="9" idx="1"/>
            </p:cNvCxnSpPr>
            <p:nvPr/>
          </p:nvCxnSpPr>
          <p:spPr>
            <a:xfrm>
              <a:off x="2120526" y="2425326"/>
              <a:ext cx="940548" cy="1245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" idx="6"/>
              <a:endCxn id="8" idx="2"/>
            </p:cNvCxnSpPr>
            <p:nvPr/>
          </p:nvCxnSpPr>
          <p:spPr>
            <a:xfrm flipV="1">
              <a:off x="2209800" y="2057400"/>
              <a:ext cx="1143000" cy="152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0" idx="1"/>
              <a:endCxn id="8" idx="5"/>
            </p:cNvCxnSpPr>
            <p:nvPr/>
          </p:nvCxnSpPr>
          <p:spPr>
            <a:xfrm flipH="1" flipV="1">
              <a:off x="3873126" y="2272926"/>
              <a:ext cx="1019632" cy="7881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1" idx="2"/>
              <a:endCxn id="10" idx="7"/>
            </p:cNvCxnSpPr>
            <p:nvPr/>
          </p:nvCxnSpPr>
          <p:spPr>
            <a:xfrm flipH="1">
              <a:off x="5323810" y="2667000"/>
              <a:ext cx="1311358" cy="3940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3" idx="1"/>
              <a:endCxn id="10" idx="5"/>
            </p:cNvCxnSpPr>
            <p:nvPr/>
          </p:nvCxnSpPr>
          <p:spPr>
            <a:xfrm flipH="1" flipV="1">
              <a:off x="5323810" y="3492126"/>
              <a:ext cx="937664" cy="6357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2" idx="0"/>
              <a:endCxn id="10" idx="4"/>
            </p:cNvCxnSpPr>
            <p:nvPr/>
          </p:nvCxnSpPr>
          <p:spPr>
            <a:xfrm flipV="1">
              <a:off x="4648200" y="3581400"/>
              <a:ext cx="460084" cy="914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5562600" y="5799221"/>
              <a:ext cx="609600" cy="6096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7010400" y="4876800"/>
              <a:ext cx="609600" cy="6096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8056266" y="3593476"/>
              <a:ext cx="609600" cy="6096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Straight Connector 40"/>
            <p:cNvCxnSpPr>
              <a:stCxn id="38" idx="0"/>
              <a:endCxn id="13" idx="4"/>
            </p:cNvCxnSpPr>
            <p:nvPr/>
          </p:nvCxnSpPr>
          <p:spPr>
            <a:xfrm flipV="1">
              <a:off x="5867400" y="4648200"/>
              <a:ext cx="609600" cy="115102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9" idx="1"/>
              <a:endCxn id="13" idx="5"/>
            </p:cNvCxnSpPr>
            <p:nvPr/>
          </p:nvCxnSpPr>
          <p:spPr>
            <a:xfrm flipH="1" flipV="1">
              <a:off x="6692526" y="4558926"/>
              <a:ext cx="407148" cy="4071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40" idx="2"/>
              <a:endCxn id="13" idx="6"/>
            </p:cNvCxnSpPr>
            <p:nvPr/>
          </p:nvCxnSpPr>
          <p:spPr>
            <a:xfrm flipH="1">
              <a:off x="6781800" y="3898276"/>
              <a:ext cx="1274466" cy="44512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2408509" y="1521550"/>
                <a:ext cx="5886080" cy="1752600"/>
              </a:xfrm>
              <a:prstGeom prst="round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Theorem: if CSP constraint graph is a </a:t>
                </a:r>
                <a:r>
                  <a:rPr lang="en-US" dirty="0">
                    <a:solidFill>
                      <a:schemeClr val="tx1"/>
                    </a:solidFill>
                  </a:rPr>
                  <a:t>tree</a:t>
                </a:r>
                <a:r>
                  <a:rPr lang="en-US" b="0" dirty="0">
                    <a:solidFill>
                      <a:schemeClr val="tx1"/>
                    </a:solidFill>
                  </a:rPr>
                  <a:t>, then we can compute a satisfying assignment (or decide that one does not exist)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509" y="1521550"/>
                <a:ext cx="5886080" cy="1752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ular Callout 5"/>
          <p:cNvSpPr/>
          <p:nvPr/>
        </p:nvSpPr>
        <p:spPr>
          <a:xfrm>
            <a:off x="8500374" y="1295401"/>
            <a:ext cx="1710427" cy="621267"/>
          </a:xfrm>
          <a:prstGeom prst="wedgeRoundRectCallout">
            <a:avLst>
              <a:gd name="adj1" fmla="val -76943"/>
              <a:gd name="adj2" fmla="val 382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cycles!</a:t>
            </a:r>
          </a:p>
        </p:txBody>
      </p:sp>
    </p:spTree>
    <p:extLst>
      <p:ext uri="{BB962C8B-B14F-4D97-AF65-F5344CB8AC3E}">
        <p14:creationId xmlns:p14="http://schemas.microsoft.com/office/powerpoint/2010/main" val="30514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8291854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-107" charset="-128"/>
                <a:cs typeface="ＭＳ Ｐゴシック" pitchFamily="-107" charset="-128"/>
              </a:rPr>
              <a:t>CSPs With Binary Constraints as Graphs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51</a:t>
            </a:fld>
            <a:endParaRPr lang="en-US"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3" name="Oval 2"/>
          <p:cNvSpPr/>
          <p:nvPr/>
        </p:nvSpPr>
        <p:spPr>
          <a:xfrm>
            <a:off x="4150129" y="3234075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397595" y="3125600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126406" y="4427303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430163" y="3993402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7733919" y="3559501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102684" y="5078154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7404387" y="4752729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/>
          <p:cNvCxnSpPr>
            <a:stCxn id="3" idx="5"/>
            <a:endCxn id="9" idx="1"/>
          </p:cNvCxnSpPr>
          <p:nvPr/>
        </p:nvCxnSpPr>
        <p:spPr>
          <a:xfrm>
            <a:off x="4520486" y="3604433"/>
            <a:ext cx="669462" cy="8864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3" idx="6"/>
            <a:endCxn id="8" idx="2"/>
          </p:cNvCxnSpPr>
          <p:nvPr/>
        </p:nvCxnSpPr>
        <p:spPr>
          <a:xfrm flipV="1">
            <a:off x="4584030" y="3342551"/>
            <a:ext cx="813565" cy="1084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0" idx="1"/>
            <a:endCxn id="8" idx="5"/>
          </p:cNvCxnSpPr>
          <p:nvPr/>
        </p:nvCxnSpPr>
        <p:spPr>
          <a:xfrm flipH="1" flipV="1">
            <a:off x="5767951" y="3495957"/>
            <a:ext cx="725754" cy="5609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2"/>
            <a:endCxn id="10" idx="7"/>
          </p:cNvCxnSpPr>
          <p:nvPr/>
        </p:nvCxnSpPr>
        <p:spPr>
          <a:xfrm flipH="1">
            <a:off x="6800519" y="3776450"/>
            <a:ext cx="933398" cy="2804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3" idx="1"/>
            <a:endCxn id="10" idx="5"/>
          </p:cNvCxnSpPr>
          <p:nvPr/>
        </p:nvCxnSpPr>
        <p:spPr>
          <a:xfrm flipH="1" flipV="1">
            <a:off x="6800520" y="4363759"/>
            <a:ext cx="667411" cy="4525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2" idx="0"/>
            <a:endCxn id="10" idx="4"/>
          </p:cNvCxnSpPr>
          <p:nvPr/>
        </p:nvCxnSpPr>
        <p:spPr>
          <a:xfrm flipV="1">
            <a:off x="6319635" y="4427303"/>
            <a:ext cx="327479" cy="6508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970486" y="6005903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8001001" y="5349342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8745428" y="4435898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cxnSp>
        <p:nvCxnSpPr>
          <p:cNvPr id="41" name="Straight Connector 40"/>
          <p:cNvCxnSpPr>
            <a:stCxn id="38" idx="0"/>
            <a:endCxn id="13" idx="4"/>
          </p:cNvCxnSpPr>
          <p:nvPr/>
        </p:nvCxnSpPr>
        <p:spPr>
          <a:xfrm flipV="1">
            <a:off x="7187437" y="5186630"/>
            <a:ext cx="433901" cy="8192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9" idx="1"/>
            <a:endCxn id="13" idx="5"/>
          </p:cNvCxnSpPr>
          <p:nvPr/>
        </p:nvCxnSpPr>
        <p:spPr>
          <a:xfrm flipH="1" flipV="1">
            <a:off x="7774744" y="5123085"/>
            <a:ext cx="289800" cy="289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40" idx="2"/>
            <a:endCxn id="13" idx="6"/>
          </p:cNvCxnSpPr>
          <p:nvPr/>
        </p:nvCxnSpPr>
        <p:spPr>
          <a:xfrm flipH="1">
            <a:off x="7838288" y="4652848"/>
            <a:ext cx="907139" cy="3168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2438400" y="1289538"/>
                <a:ext cx="5886080" cy="1145450"/>
              </a:xfrm>
              <a:prstGeom prst="round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Theorem: if CSP constraint graph is a tree, then we can compute a satisfying assignment (or decide that one does not exist) 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289538"/>
                <a:ext cx="5886080" cy="1145450"/>
              </a:xfrm>
              <a:prstGeom prst="roundRect">
                <a:avLst/>
              </a:prstGeom>
              <a:blipFill>
                <a:blip r:embed="rId3"/>
                <a:stretch>
                  <a:fillRect b="-2151"/>
                </a:stretch>
              </a:blipFill>
              <a:ln w="3810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/>
          <p:cNvSpPr/>
          <p:nvPr/>
        </p:nvSpPr>
        <p:spPr>
          <a:xfrm>
            <a:off x="3843314" y="3330900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804453" y="4529952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229055" y="2870054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5803204" y="5117914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6146298" y="4090599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7606920" y="3291793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424508" y="4451982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855662" y="4090599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8378610" y="5120741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7399275" y="5876647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7721220" y="4451982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7691044" y="5872626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692676" y="5120741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9179328" y="4204899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3552384" y="3327247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4958621" y="2865170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7886700" y="3291793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5572924" y="4097721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272604" y="3321985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1752710" y="3937760"/>
            <a:ext cx="2843078" cy="10319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Step 1: make parents arc-consistent with children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12139" y="5117914"/>
            <a:ext cx="2843078" cy="10319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Step 2: if step 1 successful, assign values from root down.</a:t>
            </a:r>
          </a:p>
        </p:txBody>
      </p:sp>
    </p:spTree>
    <p:extLst>
      <p:ext uri="{BB962C8B-B14F-4D97-AF65-F5344CB8AC3E}">
        <p14:creationId xmlns:p14="http://schemas.microsoft.com/office/powerpoint/2010/main" val="30730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1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2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2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2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2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B8F22"/>
                                      </p:to>
                                    </p:animClr>
                                    <p:set>
                                      <p:cBhvr>
                                        <p:cTn id="2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2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E8D2"/>
                                      </p:to>
                                    </p:animClr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2" grpId="0" animBg="1"/>
      <p:bldP spid="43" grpId="0" animBg="1"/>
      <p:bldP spid="45" grpId="0" animBg="1"/>
      <p:bldP spid="46" grpId="0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53" grpId="0" animBg="1"/>
      <p:bldP spid="54" grpId="0" animBg="1"/>
      <p:bldP spid="55" grpId="0" animBg="1"/>
      <p:bldP spid="58" grpId="0" animBg="1"/>
      <p:bldP spid="59" grpId="0" animBg="1"/>
      <p:bldP spid="60" grpId="0" animBg="1"/>
      <p:bldP spid="60" grpId="1" animBg="1"/>
      <p:bldP spid="61" grpId="0" animBg="1"/>
      <p:bldP spid="61" grpId="1" animBg="1"/>
      <p:bldP spid="62" grpId="0" animBg="1"/>
      <p:bldP spid="63" grpId="0" animBg="1"/>
      <p:bldP spid="63" grpId="1" animBg="1"/>
      <p:bldP spid="64" grpId="0" animBg="1"/>
      <p:bldP spid="64" grpId="1" animBg="1"/>
      <p:bldP spid="30" grpId="0" animBg="1"/>
      <p:bldP spid="6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8103595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-107" charset="-128"/>
                <a:cs typeface="ＭＳ Ｐゴシック" pitchFamily="-107" charset="-128"/>
              </a:rPr>
              <a:t>CSPs With Binary Constraints as Graphs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52</a:t>
            </a:fld>
            <a:endParaRPr lang="en-US"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3" name="Oval 2"/>
          <p:cNvSpPr/>
          <p:nvPr/>
        </p:nvSpPr>
        <p:spPr>
          <a:xfrm>
            <a:off x="4150129" y="3234075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397595" y="3125600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126406" y="4427303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430163" y="3993402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7733919" y="3559501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102684" y="5078154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7404387" y="4752729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/>
          <p:cNvCxnSpPr>
            <a:stCxn id="3" idx="5"/>
            <a:endCxn id="9" idx="1"/>
          </p:cNvCxnSpPr>
          <p:nvPr/>
        </p:nvCxnSpPr>
        <p:spPr>
          <a:xfrm>
            <a:off x="4520486" y="3604433"/>
            <a:ext cx="669462" cy="8864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3" idx="6"/>
            <a:endCxn id="8" idx="2"/>
          </p:cNvCxnSpPr>
          <p:nvPr/>
        </p:nvCxnSpPr>
        <p:spPr>
          <a:xfrm flipV="1">
            <a:off x="4584030" y="3342551"/>
            <a:ext cx="813565" cy="1084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0" idx="1"/>
            <a:endCxn id="8" idx="5"/>
          </p:cNvCxnSpPr>
          <p:nvPr/>
        </p:nvCxnSpPr>
        <p:spPr>
          <a:xfrm flipH="1" flipV="1">
            <a:off x="5767951" y="3495957"/>
            <a:ext cx="725754" cy="5609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2"/>
            <a:endCxn id="10" idx="7"/>
          </p:cNvCxnSpPr>
          <p:nvPr/>
        </p:nvCxnSpPr>
        <p:spPr>
          <a:xfrm flipH="1">
            <a:off x="6800519" y="3776450"/>
            <a:ext cx="933398" cy="2804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3" idx="1"/>
            <a:endCxn id="10" idx="5"/>
          </p:cNvCxnSpPr>
          <p:nvPr/>
        </p:nvCxnSpPr>
        <p:spPr>
          <a:xfrm flipH="1" flipV="1">
            <a:off x="6800520" y="4363759"/>
            <a:ext cx="667411" cy="4525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2" idx="0"/>
            <a:endCxn id="10" idx="4"/>
          </p:cNvCxnSpPr>
          <p:nvPr/>
        </p:nvCxnSpPr>
        <p:spPr>
          <a:xfrm flipV="1">
            <a:off x="6319635" y="4427303"/>
            <a:ext cx="327479" cy="6508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970486" y="6005903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8001001" y="5349342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8745428" y="4435898"/>
            <a:ext cx="433901" cy="43390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</p:txBody>
      </p:sp>
      <p:cxnSp>
        <p:nvCxnSpPr>
          <p:cNvPr id="41" name="Straight Connector 40"/>
          <p:cNvCxnSpPr>
            <a:stCxn id="38" idx="0"/>
            <a:endCxn id="13" idx="4"/>
          </p:cNvCxnSpPr>
          <p:nvPr/>
        </p:nvCxnSpPr>
        <p:spPr>
          <a:xfrm flipV="1">
            <a:off x="7187437" y="5186630"/>
            <a:ext cx="433901" cy="8192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9" idx="1"/>
            <a:endCxn id="13" idx="5"/>
          </p:cNvCxnSpPr>
          <p:nvPr/>
        </p:nvCxnSpPr>
        <p:spPr>
          <a:xfrm flipH="1" flipV="1">
            <a:off x="7774744" y="5123085"/>
            <a:ext cx="289800" cy="289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40" idx="2"/>
            <a:endCxn id="13" idx="6"/>
          </p:cNvCxnSpPr>
          <p:nvPr/>
        </p:nvCxnSpPr>
        <p:spPr>
          <a:xfrm flipH="1">
            <a:off x="7838288" y="4652848"/>
            <a:ext cx="907139" cy="3168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2438400" y="1289538"/>
                <a:ext cx="5886080" cy="1145450"/>
              </a:xfrm>
              <a:prstGeom prst="round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Theorem: if CSP constraint graph is a tree, then we can compute a satisfying assignment (or decide that one does not exist) 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289538"/>
                <a:ext cx="5886080" cy="1145450"/>
              </a:xfrm>
              <a:prstGeom prst="roundRect">
                <a:avLst/>
              </a:prstGeom>
              <a:blipFill>
                <a:blip r:embed="rId3"/>
                <a:stretch>
                  <a:fillRect b="-2151"/>
                </a:stretch>
              </a:blipFill>
              <a:ln w="3810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/>
          <p:cNvSpPr/>
          <p:nvPr/>
        </p:nvSpPr>
        <p:spPr>
          <a:xfrm>
            <a:off x="3843314" y="3330900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4804453" y="4529952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229055" y="2870054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5803204" y="5117914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6146298" y="4090599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7606920" y="3291793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8378610" y="5120741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7399275" y="5876647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7721220" y="4451982"/>
            <a:ext cx="228600" cy="228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7691044" y="5872626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692676" y="5120741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9179328" y="4204899"/>
            <a:ext cx="228600" cy="22860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7886700" y="3291793"/>
            <a:ext cx="228600" cy="2286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1752710" y="3937760"/>
            <a:ext cx="2843078" cy="10319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Step 1: make parents arc-consistent with children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12139" y="5117914"/>
            <a:ext cx="2843078" cy="10319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Step 2: if step 1 successful, assign values from root down.</a:t>
            </a:r>
          </a:p>
        </p:txBody>
      </p:sp>
    </p:spTree>
    <p:extLst>
      <p:ext uri="{BB962C8B-B14F-4D97-AF65-F5344CB8AC3E}">
        <p14:creationId xmlns:p14="http://schemas.microsoft.com/office/powerpoint/2010/main" val="334381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8076701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-107" charset="-128"/>
                <a:cs typeface="ＭＳ Ｐゴシック" pitchFamily="-107" charset="-128"/>
              </a:rPr>
              <a:t>CSPs With Binary Constraints as Graphs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53</a:t>
            </a:fld>
            <a:endParaRPr lang="en-US"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743990" y="2795460"/>
            <a:ext cx="3466810" cy="2284601"/>
            <a:chOff x="2626128" y="3125599"/>
            <a:chExt cx="5029200" cy="3314204"/>
          </a:xfrm>
        </p:grpSpPr>
        <p:sp>
          <p:nvSpPr>
            <p:cNvPr id="3" name="Oval 2"/>
            <p:cNvSpPr/>
            <p:nvPr/>
          </p:nvSpPr>
          <p:spPr>
            <a:xfrm>
              <a:off x="2626128" y="3234074"/>
              <a:ext cx="433901" cy="43390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873594" y="3125599"/>
              <a:ext cx="433901" cy="43390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602405" y="4427302"/>
              <a:ext cx="433901" cy="43390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906162" y="3993401"/>
              <a:ext cx="433901" cy="43390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6209918" y="3559500"/>
              <a:ext cx="433901" cy="43390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578683" y="5078153"/>
              <a:ext cx="433901" cy="43390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880386" y="4752728"/>
              <a:ext cx="433901" cy="43390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Straight Connector 4"/>
            <p:cNvCxnSpPr>
              <a:stCxn id="3" idx="5"/>
              <a:endCxn id="9" idx="1"/>
            </p:cNvCxnSpPr>
            <p:nvPr/>
          </p:nvCxnSpPr>
          <p:spPr>
            <a:xfrm>
              <a:off x="2996486" y="3604432"/>
              <a:ext cx="669462" cy="8864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" idx="6"/>
              <a:endCxn id="8" idx="2"/>
            </p:cNvCxnSpPr>
            <p:nvPr/>
          </p:nvCxnSpPr>
          <p:spPr>
            <a:xfrm flipV="1">
              <a:off x="3060029" y="3342550"/>
              <a:ext cx="813565" cy="1084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0" idx="1"/>
              <a:endCxn id="8" idx="5"/>
            </p:cNvCxnSpPr>
            <p:nvPr/>
          </p:nvCxnSpPr>
          <p:spPr>
            <a:xfrm flipH="1" flipV="1">
              <a:off x="4243951" y="3495957"/>
              <a:ext cx="725754" cy="5609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1" idx="2"/>
              <a:endCxn id="10" idx="7"/>
            </p:cNvCxnSpPr>
            <p:nvPr/>
          </p:nvCxnSpPr>
          <p:spPr>
            <a:xfrm flipH="1">
              <a:off x="5276519" y="3776450"/>
              <a:ext cx="933398" cy="28049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3" idx="1"/>
              <a:endCxn id="10" idx="5"/>
            </p:cNvCxnSpPr>
            <p:nvPr/>
          </p:nvCxnSpPr>
          <p:spPr>
            <a:xfrm flipH="1" flipV="1">
              <a:off x="5276519" y="4363758"/>
              <a:ext cx="667411" cy="4525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2" idx="0"/>
              <a:endCxn id="10" idx="4"/>
            </p:cNvCxnSpPr>
            <p:nvPr/>
          </p:nvCxnSpPr>
          <p:spPr>
            <a:xfrm flipV="1">
              <a:off x="4795634" y="4427302"/>
              <a:ext cx="327479" cy="6508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5446485" y="6005902"/>
              <a:ext cx="433901" cy="43390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6477000" y="5349341"/>
              <a:ext cx="433901" cy="43390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7221427" y="4435897"/>
              <a:ext cx="433901" cy="43390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Straight Connector 40"/>
            <p:cNvCxnSpPr>
              <a:stCxn id="38" idx="0"/>
              <a:endCxn id="13" idx="4"/>
            </p:cNvCxnSpPr>
            <p:nvPr/>
          </p:nvCxnSpPr>
          <p:spPr>
            <a:xfrm flipV="1">
              <a:off x="5663436" y="5186629"/>
              <a:ext cx="433901" cy="8192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9" idx="1"/>
              <a:endCxn id="13" idx="5"/>
            </p:cNvCxnSpPr>
            <p:nvPr/>
          </p:nvCxnSpPr>
          <p:spPr>
            <a:xfrm flipH="1" flipV="1">
              <a:off x="6250744" y="5123085"/>
              <a:ext cx="289800" cy="289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40" idx="2"/>
              <a:endCxn id="13" idx="6"/>
            </p:cNvCxnSpPr>
            <p:nvPr/>
          </p:nvCxnSpPr>
          <p:spPr>
            <a:xfrm flipH="1">
              <a:off x="6314287" y="4652848"/>
              <a:ext cx="907139" cy="3168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2438400" y="1289538"/>
                <a:ext cx="5886080" cy="1145450"/>
              </a:xfrm>
              <a:prstGeom prst="round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Theorem: if CSP constraint graph is a tree, then we can compute a satisfying assignment (or decide that one does not exist) 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289538"/>
                <a:ext cx="5886080" cy="1145450"/>
              </a:xfrm>
              <a:prstGeom prst="roundRect">
                <a:avLst/>
              </a:prstGeom>
              <a:blipFill>
                <a:blip r:embed="rId3"/>
                <a:stretch>
                  <a:fillRect b="-2151"/>
                </a:stretch>
              </a:blipFill>
              <a:ln w="3810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/>
          <p:cNvSpPr/>
          <p:nvPr/>
        </p:nvSpPr>
        <p:spPr>
          <a:xfrm>
            <a:off x="1752710" y="3937760"/>
            <a:ext cx="2843078" cy="10319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Step 1: make parents arc-consistent with children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12139" y="5117914"/>
            <a:ext cx="2843078" cy="10319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Step 2: if step 1 successful, assign values from root down.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ular Callout 5"/>
              <p:cNvSpPr/>
              <p:nvPr/>
            </p:nvSpPr>
            <p:spPr>
              <a:xfrm>
                <a:off x="4717175" y="3267325"/>
                <a:ext cx="1957412" cy="934700"/>
              </a:xfrm>
              <a:prstGeom prst="wedgeRoundRectCallout">
                <a:avLst>
                  <a:gd name="adj1" fmla="val -70628"/>
                  <a:gd name="adj2" fmla="val 76475"/>
                  <a:gd name="adj3" fmla="val 1666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steps taking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 each</a:t>
                </a:r>
              </a:p>
            </p:txBody>
          </p:sp>
        </mc:Choice>
        <mc:Fallback xmlns="">
          <p:sp>
            <p:nvSpPr>
              <p:cNvPr id="6" name="Rounded Rectangular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175" y="3267325"/>
                <a:ext cx="1957412" cy="934700"/>
              </a:xfrm>
              <a:prstGeom prst="wedgeRoundRectCallout">
                <a:avLst>
                  <a:gd name="adj1" fmla="val -70628"/>
                  <a:gd name="adj2" fmla="val 76475"/>
                  <a:gd name="adj3" fmla="val 16667"/>
                </a:avLst>
              </a:prstGeom>
              <a:blipFill>
                <a:blip r:embed="rId4"/>
                <a:stretch>
                  <a:fillRect t="-4167" r="-5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ounded Rectangle 49"/>
              <p:cNvSpPr/>
              <p:nvPr/>
            </p:nvSpPr>
            <p:spPr>
              <a:xfrm>
                <a:off x="1724545" y="2795459"/>
                <a:ext cx="2843078" cy="103191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Topological sort takes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𝓞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 on tree.</a:t>
                </a:r>
              </a:p>
            </p:txBody>
          </p:sp>
        </mc:Choice>
        <mc:Fallback xmlns="">
          <p:sp>
            <p:nvSpPr>
              <p:cNvPr id="50" name="Rounded 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545" y="2795459"/>
                <a:ext cx="2843078" cy="1031918"/>
              </a:xfrm>
              <a:prstGeom prst="roundRect">
                <a:avLst/>
              </a:prstGeom>
              <a:blipFill>
                <a:blip r:embed="rId5"/>
                <a:stretch>
                  <a:fillRect r="-4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ounded Rectangular Callout 50"/>
              <p:cNvSpPr/>
              <p:nvPr/>
            </p:nvSpPr>
            <p:spPr>
              <a:xfrm>
                <a:off x="4936130" y="4516201"/>
                <a:ext cx="1957412" cy="934700"/>
              </a:xfrm>
              <a:prstGeom prst="wedgeRoundRectCallout">
                <a:avLst>
                  <a:gd name="adj1" fmla="val -70628"/>
                  <a:gd name="adj2" fmla="val 76475"/>
                  <a:gd name="adj3" fmla="val 1666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steps taking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 each</a:t>
                </a:r>
              </a:p>
            </p:txBody>
          </p:sp>
        </mc:Choice>
        <mc:Fallback xmlns="">
          <p:sp>
            <p:nvSpPr>
              <p:cNvPr id="51" name="Rounded Rectangular Callout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130" y="4516201"/>
                <a:ext cx="1957412" cy="934700"/>
              </a:xfrm>
              <a:prstGeom prst="wedgeRoundRectCallout">
                <a:avLst>
                  <a:gd name="adj1" fmla="val -70628"/>
                  <a:gd name="adj2" fmla="val 76475"/>
                  <a:gd name="adj3" fmla="val 16667"/>
                </a:avLst>
              </a:prstGeom>
              <a:blipFill>
                <a:blip r:embed="rId6"/>
                <a:stretch>
                  <a:fillRect t="-4167" r="-10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98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0" grpId="0" animBg="1"/>
      <p:bldP spid="5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2506134" y="457202"/>
            <a:ext cx="8130490" cy="838199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-107" charset="-128"/>
                <a:cs typeface="ＭＳ Ｐゴシック" pitchFamily="-107" charset="-128"/>
              </a:rPr>
              <a:t>CSPs With Binary Constraints as Graphs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b="1" kern="1200">
                <a:solidFill>
                  <a:schemeClr val="tx1"/>
                </a:solidFill>
                <a:latin typeface="Verdana" pitchFamily="-107" charset="0"/>
                <a:ea typeface="+mn-ea"/>
                <a:cs typeface="+mn-cs"/>
              </a:defRPr>
            </a:lvl9pPr>
          </a:lstStyle>
          <a:p>
            <a:fld id="{32B34ACD-7DFC-FB4A-AD56-3A0F509086A4}" type="slidenum">
              <a:rPr lang="en-US" smtClean="0"/>
              <a:pPr/>
              <a:t>54</a:t>
            </a:fld>
            <a:endParaRPr lang="en-US">
              <a:latin typeface="Tahoma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743990" y="2795460"/>
            <a:ext cx="3466810" cy="2284601"/>
            <a:chOff x="2626128" y="3125599"/>
            <a:chExt cx="5029200" cy="3314204"/>
          </a:xfrm>
        </p:grpSpPr>
        <p:sp>
          <p:nvSpPr>
            <p:cNvPr id="3" name="Oval 2"/>
            <p:cNvSpPr/>
            <p:nvPr/>
          </p:nvSpPr>
          <p:spPr>
            <a:xfrm>
              <a:off x="2626128" y="3234074"/>
              <a:ext cx="433901" cy="43390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873594" y="3125599"/>
              <a:ext cx="433901" cy="43390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602405" y="4427302"/>
              <a:ext cx="433901" cy="43390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906162" y="3993401"/>
              <a:ext cx="433901" cy="43390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6209918" y="3559500"/>
              <a:ext cx="433901" cy="43390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578683" y="5078153"/>
              <a:ext cx="433901" cy="43390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880386" y="4752728"/>
              <a:ext cx="433901" cy="43390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Straight Connector 4"/>
            <p:cNvCxnSpPr>
              <a:stCxn id="3" idx="5"/>
              <a:endCxn id="9" idx="1"/>
            </p:cNvCxnSpPr>
            <p:nvPr/>
          </p:nvCxnSpPr>
          <p:spPr>
            <a:xfrm>
              <a:off x="2996486" y="3604432"/>
              <a:ext cx="669462" cy="8864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" idx="6"/>
              <a:endCxn id="8" idx="2"/>
            </p:cNvCxnSpPr>
            <p:nvPr/>
          </p:nvCxnSpPr>
          <p:spPr>
            <a:xfrm flipV="1">
              <a:off x="3060029" y="3342550"/>
              <a:ext cx="813565" cy="1084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0" idx="1"/>
              <a:endCxn id="8" idx="5"/>
            </p:cNvCxnSpPr>
            <p:nvPr/>
          </p:nvCxnSpPr>
          <p:spPr>
            <a:xfrm flipH="1" flipV="1">
              <a:off x="4243951" y="3495957"/>
              <a:ext cx="725754" cy="5609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1" idx="2"/>
              <a:endCxn id="10" idx="7"/>
            </p:cNvCxnSpPr>
            <p:nvPr/>
          </p:nvCxnSpPr>
          <p:spPr>
            <a:xfrm flipH="1">
              <a:off x="5276519" y="3776450"/>
              <a:ext cx="933398" cy="28049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3" idx="1"/>
              <a:endCxn id="10" idx="5"/>
            </p:cNvCxnSpPr>
            <p:nvPr/>
          </p:nvCxnSpPr>
          <p:spPr>
            <a:xfrm flipH="1" flipV="1">
              <a:off x="5276519" y="4363758"/>
              <a:ext cx="667411" cy="4525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2" idx="0"/>
              <a:endCxn id="10" idx="4"/>
            </p:cNvCxnSpPr>
            <p:nvPr/>
          </p:nvCxnSpPr>
          <p:spPr>
            <a:xfrm flipV="1">
              <a:off x="4795634" y="4427302"/>
              <a:ext cx="327479" cy="6508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5446485" y="6005902"/>
              <a:ext cx="433901" cy="43390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6477000" y="5349341"/>
              <a:ext cx="433901" cy="43390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7221427" y="4435897"/>
              <a:ext cx="433901" cy="433901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Straight Connector 40"/>
            <p:cNvCxnSpPr>
              <a:stCxn id="38" idx="0"/>
              <a:endCxn id="13" idx="4"/>
            </p:cNvCxnSpPr>
            <p:nvPr/>
          </p:nvCxnSpPr>
          <p:spPr>
            <a:xfrm flipV="1">
              <a:off x="5663436" y="5186629"/>
              <a:ext cx="433901" cy="8192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9" idx="1"/>
              <a:endCxn id="13" idx="5"/>
            </p:cNvCxnSpPr>
            <p:nvPr/>
          </p:nvCxnSpPr>
          <p:spPr>
            <a:xfrm flipH="1" flipV="1">
              <a:off x="6250744" y="5123085"/>
              <a:ext cx="289800" cy="2898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40" idx="2"/>
              <a:endCxn id="13" idx="6"/>
            </p:cNvCxnSpPr>
            <p:nvPr/>
          </p:nvCxnSpPr>
          <p:spPr>
            <a:xfrm flipH="1">
              <a:off x="6314287" y="4652848"/>
              <a:ext cx="907139" cy="3168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2438400" y="1289538"/>
                <a:ext cx="5886080" cy="1145450"/>
              </a:xfrm>
              <a:prstGeom prst="round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Theorem: if CSP constraint graph is a tree, then we can compute a satisfying assignment (or decide that one does not exist) 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289538"/>
                <a:ext cx="5886080" cy="1145450"/>
              </a:xfrm>
              <a:prstGeom prst="roundRect">
                <a:avLst/>
              </a:prstGeom>
              <a:blipFill>
                <a:blip r:embed="rId3"/>
                <a:stretch>
                  <a:fillRect b="-2151"/>
                </a:stretch>
              </a:blipFill>
              <a:ln w="3810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/>
          <p:cNvSpPr/>
          <p:nvPr/>
        </p:nvSpPr>
        <p:spPr>
          <a:xfrm>
            <a:off x="1752710" y="3937760"/>
            <a:ext cx="2843078" cy="10319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Step 1: make parents arc-consistent with children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12139" y="5117914"/>
            <a:ext cx="2843078" cy="10319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Step 2: if step 1 successful, assign values from root down.</a:t>
            </a:r>
          </a:p>
        </p:txBody>
      </p:sp>
      <p:sp>
        <p:nvSpPr>
          <p:cNvPr id="51" name="Rounded Rectangular Callout 50"/>
          <p:cNvSpPr/>
          <p:nvPr/>
        </p:nvSpPr>
        <p:spPr>
          <a:xfrm>
            <a:off x="5435796" y="5270915"/>
            <a:ext cx="4846837" cy="1351199"/>
          </a:xfrm>
          <a:prstGeom prst="wedgeRoundRectCallout">
            <a:avLst>
              <a:gd name="adj1" fmla="val -66390"/>
              <a:gd name="adj2" fmla="val -34330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Because constraint graph is a tree, no need to backtrack when assigning! Assignment for node affects only its subtree.</a:t>
            </a:r>
          </a:p>
        </p:txBody>
      </p:sp>
      <p:sp>
        <p:nvSpPr>
          <p:cNvPr id="31" name="Rounded Rectangular Callout 30"/>
          <p:cNvSpPr/>
          <p:nvPr/>
        </p:nvSpPr>
        <p:spPr>
          <a:xfrm>
            <a:off x="1788198" y="2568244"/>
            <a:ext cx="4846837" cy="1044723"/>
          </a:xfrm>
          <a:prstGeom prst="wedgeRoundRectCallout">
            <a:avLst>
              <a:gd name="adj1" fmla="val -21194"/>
              <a:gd name="adj2" fmla="val 8587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Could it be that this step removes options for a valid CSP assignment? That would be very bad…</a:t>
            </a:r>
          </a:p>
        </p:txBody>
      </p:sp>
    </p:spTree>
    <p:extLst>
      <p:ext uri="{BB962C8B-B14F-4D97-AF65-F5344CB8AC3E}">
        <p14:creationId xmlns:p14="http://schemas.microsoft.com/office/powerpoint/2010/main" val="43617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31" grpId="0" animBg="1"/>
    </p:bldLst>
  </p:timing>
</p:sld>
</file>

<file path=ppt/theme/theme1.xml><?xml version="1.0" encoding="utf-8"?>
<a:theme xmlns:a="http://schemas.openxmlformats.org/drawingml/2006/main" name="CS2106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2106" id="{BD053D78-7E81-2946-8F60-5F5E7270001E}" vid="{FFFE8269-1513-0D47-BC36-75E38BB2E4D5}"/>
    </a:ext>
  </a:extLst>
</a:theme>
</file>

<file path=ppt/theme/theme2.xml><?xml version="1.0" encoding="utf-8"?>
<a:theme xmlns:a="http://schemas.openxmlformats.org/drawingml/2006/main" name="L1 - Basic of C++">
  <a:themeElements>
    <a:clrScheme name="L1 - Basic of C++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L1 - Basic of C++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1 - Basic of C++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</Template>
  <TotalTime>17938</TotalTime>
  <Words>4914</Words>
  <Application>Microsoft Macintosh PowerPoint</Application>
  <PresentationFormat>Widescreen</PresentationFormat>
  <Paragraphs>668</Paragraphs>
  <Slides>54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54</vt:i4>
      </vt:variant>
    </vt:vector>
  </HeadingPairs>
  <TitlesOfParts>
    <vt:vector size="70" baseType="lpstr">
      <vt:lpstr>ＭＳ Ｐゴシック</vt:lpstr>
      <vt:lpstr>Arial</vt:lpstr>
      <vt:lpstr>Arial Black</vt:lpstr>
      <vt:lpstr>Calibri</vt:lpstr>
      <vt:lpstr>Calibri Light</vt:lpstr>
      <vt:lpstr>Cambria Math</vt:lpstr>
      <vt:lpstr>Corbel</vt:lpstr>
      <vt:lpstr>Garamond</vt:lpstr>
      <vt:lpstr>Tahoma</vt:lpstr>
      <vt:lpstr>Times</vt:lpstr>
      <vt:lpstr>Times New Roman</vt:lpstr>
      <vt:lpstr>Wingdings</vt:lpstr>
      <vt:lpstr>Wingdings 2</vt:lpstr>
      <vt:lpstr>CS2106</vt:lpstr>
      <vt:lpstr>L1 - Basic of C++</vt:lpstr>
      <vt:lpstr>HDOfficeLightV0</vt:lpstr>
      <vt:lpstr>IT5005 Artificial Intelligence</vt:lpstr>
      <vt:lpstr>Previously…</vt:lpstr>
      <vt:lpstr>Previously…</vt:lpstr>
      <vt:lpstr>Constraint Satisfaction Problems</vt:lpstr>
      <vt:lpstr>Outline</vt:lpstr>
      <vt:lpstr>CSP: a Broad Modelling Framework</vt:lpstr>
      <vt:lpstr>Constraint Satisfaction Problems (CSPs)</vt:lpstr>
      <vt:lpstr>Example: Graph Coloring</vt:lpstr>
      <vt:lpstr>Example: Graph Coloring</vt:lpstr>
      <vt:lpstr>Constraint Graph</vt:lpstr>
      <vt:lpstr>Example: Job-Shop Scheduling</vt:lpstr>
      <vt:lpstr>CSP Variants</vt:lpstr>
      <vt:lpstr>Constraint Variants</vt:lpstr>
      <vt:lpstr>Cryptarithmetic Puzzles</vt:lpstr>
      <vt:lpstr>Sudoku</vt:lpstr>
      <vt:lpstr>Standard Search Formulation (Incremental)</vt:lpstr>
      <vt:lpstr>CSP Search Tree Size</vt:lpstr>
      <vt:lpstr>Backtracking Search</vt:lpstr>
      <vt:lpstr>Backtracking Search</vt:lpstr>
      <vt:lpstr>Backtracking Example</vt:lpstr>
      <vt:lpstr>Improving Backtracking Efficiency</vt:lpstr>
      <vt:lpstr>Most Constrained Variable</vt:lpstr>
      <vt:lpstr>Most Constraining Variable</vt:lpstr>
      <vt:lpstr>Least Constraining Value</vt:lpstr>
      <vt:lpstr>Inference in CSPs</vt:lpstr>
      <vt:lpstr>Forward Checking</vt:lpstr>
      <vt:lpstr>Forward Checking</vt:lpstr>
      <vt:lpstr>Forward Checking</vt:lpstr>
      <vt:lpstr>Forward Checking</vt:lpstr>
      <vt:lpstr>Constraint Propagation</vt:lpstr>
      <vt:lpstr>Inference in CSPs</vt:lpstr>
      <vt:lpstr>Arc Consistency</vt:lpstr>
      <vt:lpstr>More on Arc Consistency</vt:lpstr>
      <vt:lpstr>Arc Consistency</vt:lpstr>
      <vt:lpstr>Arc Consistency</vt:lpstr>
      <vt:lpstr>Arc Consistency Propagation</vt:lpstr>
      <vt:lpstr>Sudoku Chain Reaction</vt:lpstr>
      <vt:lpstr>Arc Consistency</vt:lpstr>
      <vt:lpstr>Arc Consistency Algorithm AC-3</vt:lpstr>
      <vt:lpstr>Plan for this week:</vt:lpstr>
      <vt:lpstr>Time Complexity of AC-3</vt:lpstr>
      <vt:lpstr>Maintaining AC (MAC)</vt:lpstr>
      <vt:lpstr>Special Types of Consistency</vt:lpstr>
      <vt:lpstr>Generalized Arc Consistency and k-Consistency</vt:lpstr>
      <vt:lpstr>Local Search for CSPs</vt:lpstr>
      <vt:lpstr>Min-Conflicts</vt:lpstr>
      <vt:lpstr>Example: 4-Queens</vt:lpstr>
      <vt:lpstr>Constraint Satisfaction Problems – Structured CSPs</vt:lpstr>
      <vt:lpstr>CSPs With Binary Constraints as Graphs</vt:lpstr>
      <vt:lpstr>CSPs With Binary Constraints as Graphs</vt:lpstr>
      <vt:lpstr>CSPs With Binary Constraints as Graphs</vt:lpstr>
      <vt:lpstr>CSPs With Binary Constraints as Graphs</vt:lpstr>
      <vt:lpstr>CSPs With Binary Constraints as Graphs</vt:lpstr>
      <vt:lpstr>CSPs With Binary Constraints as Graphs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Adipranoto</dc:creator>
  <cp:lastModifiedBy>Tan Keng Yan, Colin</cp:lastModifiedBy>
  <cp:revision>505</cp:revision>
  <dcterms:created xsi:type="dcterms:W3CDTF">2022-01-23T09:22:42Z</dcterms:created>
  <dcterms:modified xsi:type="dcterms:W3CDTF">2024-03-24T12:22:42Z</dcterms:modified>
</cp:coreProperties>
</file>