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 id="2147483685" r:id="rId3"/>
  </p:sldMasterIdLst>
  <p:notesMasterIdLst>
    <p:notesMasterId r:id="rId62"/>
  </p:notesMasterIdLst>
  <p:sldIdLst>
    <p:sldId id="256" r:id="rId4"/>
    <p:sldId id="504" r:id="rId5"/>
    <p:sldId id="505" r:id="rId6"/>
    <p:sldId id="506" r:id="rId7"/>
    <p:sldId id="453" r:id="rId8"/>
    <p:sldId id="507" r:id="rId9"/>
    <p:sldId id="509" r:id="rId10"/>
    <p:sldId id="511" r:id="rId11"/>
    <p:sldId id="510" r:id="rId12"/>
    <p:sldId id="443" r:id="rId13"/>
    <p:sldId id="488" r:id="rId14"/>
    <p:sldId id="497" r:id="rId15"/>
    <p:sldId id="496" r:id="rId16"/>
    <p:sldId id="429" r:id="rId17"/>
    <p:sldId id="398" r:id="rId18"/>
    <p:sldId id="399" r:id="rId19"/>
    <p:sldId id="400" r:id="rId20"/>
    <p:sldId id="454" r:id="rId21"/>
    <p:sldId id="502" r:id="rId22"/>
    <p:sldId id="459" r:id="rId23"/>
    <p:sldId id="401" r:id="rId24"/>
    <p:sldId id="402" r:id="rId25"/>
    <p:sldId id="460" r:id="rId26"/>
    <p:sldId id="464" r:id="rId27"/>
    <p:sldId id="466" r:id="rId28"/>
    <p:sldId id="467" r:id="rId29"/>
    <p:sldId id="468" r:id="rId30"/>
    <p:sldId id="469" r:id="rId31"/>
    <p:sldId id="470" r:id="rId32"/>
    <p:sldId id="471" r:id="rId33"/>
    <p:sldId id="473" r:id="rId34"/>
    <p:sldId id="410" r:id="rId35"/>
    <p:sldId id="475" r:id="rId36"/>
    <p:sldId id="476" r:id="rId37"/>
    <p:sldId id="477" r:id="rId38"/>
    <p:sldId id="478" r:id="rId39"/>
    <p:sldId id="479" r:id="rId40"/>
    <p:sldId id="480" r:id="rId41"/>
    <p:sldId id="481" r:id="rId42"/>
    <p:sldId id="503" r:id="rId43"/>
    <p:sldId id="482" r:id="rId44"/>
    <p:sldId id="422" r:id="rId45"/>
    <p:sldId id="423" r:id="rId46"/>
    <p:sldId id="457" r:id="rId47"/>
    <p:sldId id="425" r:id="rId48"/>
    <p:sldId id="499" r:id="rId49"/>
    <p:sldId id="500" r:id="rId50"/>
    <p:sldId id="498" r:id="rId51"/>
    <p:sldId id="501" r:id="rId52"/>
    <p:sldId id="428" r:id="rId53"/>
    <p:sldId id="446" r:id="rId54"/>
    <p:sldId id="447" r:id="rId55"/>
    <p:sldId id="485" r:id="rId56"/>
    <p:sldId id="486" r:id="rId57"/>
    <p:sldId id="487" r:id="rId58"/>
    <p:sldId id="445" r:id="rId59"/>
    <p:sldId id="444" r:id="rId60"/>
    <p:sldId id="430" r:id="rId6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46"/>
    <p:restoredTop sz="94754"/>
  </p:normalViewPr>
  <p:slideViewPr>
    <p:cSldViewPr snapToGrid="0" snapToObjects="1">
      <p:cViewPr varScale="1">
        <p:scale>
          <a:sx n="114" d="100"/>
          <a:sy n="114" d="100"/>
        </p:scale>
        <p:origin x="86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s>
</file>

<file path=ppt/diagrams/_rels/data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image" Target="../media/image9.jpg"/></Relationships>
</file>

<file path=ppt/diagrams/_rels/data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image" Target="../media/image10.jpg"/></Relationships>
</file>

<file path=ppt/diagrams/_rels/data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g"/><Relationship Id="rId1" Type="http://schemas.openxmlformats.org/officeDocument/2006/relationships/image" Target="../media/image13.jpg"/></Relationships>
</file>

<file path=ppt/diagrams/_rels/drawing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image" Target="../media/image9.jpg"/></Relationships>
</file>

<file path=ppt/diagrams/_rels/drawing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g"/><Relationship Id="rId1" Type="http://schemas.openxmlformats.org/officeDocument/2006/relationships/image" Target="../media/image10.jpg"/></Relationships>
</file>

<file path=ppt/diagrams/_rels/drawing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g"/><Relationship Id="rId1" Type="http://schemas.openxmlformats.org/officeDocument/2006/relationships/image" Target="../media/image13.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7BB40F-9211-4C61-A45D-5FFC31CEAB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8AE5275-243F-4824-951F-956F2A80E9B1}">
      <dgm:prSet/>
      <dgm:spPr/>
      <dgm:t>
        <a:bodyPr/>
        <a:lstStyle/>
        <a:p>
          <a:pPr rtl="0"/>
          <a:r>
            <a:rPr lang="en-US"/>
            <a:t>Local search strategies</a:t>
          </a:r>
        </a:p>
      </dgm:t>
    </dgm:pt>
    <dgm:pt modelId="{F67119C5-35A7-4CA2-84B1-B862C0503AD4}" type="parTrans" cxnId="{89F5CDF1-094A-4789-BAA9-3DAF41E17DAD}">
      <dgm:prSet/>
      <dgm:spPr/>
      <dgm:t>
        <a:bodyPr/>
        <a:lstStyle/>
        <a:p>
          <a:endParaRPr lang="en-US"/>
        </a:p>
      </dgm:t>
    </dgm:pt>
    <dgm:pt modelId="{52330ACE-4434-4236-A2A5-4051E3137908}" type="sibTrans" cxnId="{89F5CDF1-094A-4789-BAA9-3DAF41E17DAD}">
      <dgm:prSet/>
      <dgm:spPr/>
      <dgm:t>
        <a:bodyPr/>
        <a:lstStyle/>
        <a:p>
          <a:endParaRPr lang="en-US"/>
        </a:p>
      </dgm:t>
    </dgm:pt>
    <dgm:pt modelId="{E6B72652-6D51-4380-949D-075017F2273D}">
      <dgm:prSet/>
      <dgm:spPr/>
      <dgm:t>
        <a:bodyPr/>
        <a:lstStyle/>
        <a:p>
          <a:pPr rtl="0"/>
          <a:r>
            <a:rPr lang="en-US" dirty="0"/>
            <a:t>Hill-climbing search: use of heuristic function to improve “current” state</a:t>
          </a:r>
        </a:p>
      </dgm:t>
    </dgm:pt>
    <dgm:pt modelId="{D277D877-179E-4A64-887B-C8A8459084C1}" type="parTrans" cxnId="{52E9A6F2-46FA-4CB7-9BB0-6652E6B1238D}">
      <dgm:prSet/>
      <dgm:spPr/>
      <dgm:t>
        <a:bodyPr/>
        <a:lstStyle/>
        <a:p>
          <a:endParaRPr lang="en-US"/>
        </a:p>
      </dgm:t>
    </dgm:pt>
    <dgm:pt modelId="{752D12CC-90A0-401D-9A57-CE278D3ECE6D}" type="sibTrans" cxnId="{52E9A6F2-46FA-4CB7-9BB0-6652E6B1238D}">
      <dgm:prSet/>
      <dgm:spPr/>
      <dgm:t>
        <a:bodyPr/>
        <a:lstStyle/>
        <a:p>
          <a:endParaRPr lang="en-US"/>
        </a:p>
      </dgm:t>
    </dgm:pt>
    <dgm:pt modelId="{7F801830-B2DE-4DB3-BD8D-D148B8B9F1A6}" type="pres">
      <dgm:prSet presAssocID="{147BB40F-9211-4C61-A45D-5FFC31CEABD3}" presName="linear" presStyleCnt="0">
        <dgm:presLayoutVars>
          <dgm:animLvl val="lvl"/>
          <dgm:resizeHandles val="exact"/>
        </dgm:presLayoutVars>
      </dgm:prSet>
      <dgm:spPr/>
      <dgm:t>
        <a:bodyPr/>
        <a:lstStyle/>
        <a:p>
          <a:endParaRPr lang="en-US"/>
        </a:p>
      </dgm:t>
    </dgm:pt>
    <dgm:pt modelId="{E52928F8-3B49-45C0-ADB2-5782B7CBBDD7}" type="pres">
      <dgm:prSet presAssocID="{48AE5275-243F-4824-951F-956F2A80E9B1}" presName="parentText" presStyleLbl="node1" presStyleIdx="0" presStyleCnt="1">
        <dgm:presLayoutVars>
          <dgm:chMax val="0"/>
          <dgm:bulletEnabled val="1"/>
        </dgm:presLayoutVars>
      </dgm:prSet>
      <dgm:spPr/>
      <dgm:t>
        <a:bodyPr/>
        <a:lstStyle/>
        <a:p>
          <a:endParaRPr lang="en-US"/>
        </a:p>
      </dgm:t>
    </dgm:pt>
    <dgm:pt modelId="{826B3B7F-93B9-4F22-BBF0-D68EF71AE7DB}" type="pres">
      <dgm:prSet presAssocID="{48AE5275-243F-4824-951F-956F2A80E9B1}" presName="childText" presStyleLbl="revTx" presStyleIdx="0" presStyleCnt="1">
        <dgm:presLayoutVars>
          <dgm:bulletEnabled val="1"/>
        </dgm:presLayoutVars>
      </dgm:prSet>
      <dgm:spPr/>
      <dgm:t>
        <a:bodyPr/>
        <a:lstStyle/>
        <a:p>
          <a:endParaRPr lang="en-US"/>
        </a:p>
      </dgm:t>
    </dgm:pt>
  </dgm:ptLst>
  <dgm:cxnLst>
    <dgm:cxn modelId="{06534CA8-7105-4922-B3E7-9F4103CE7011}" type="presOf" srcId="{147BB40F-9211-4C61-A45D-5FFC31CEABD3}" destId="{7F801830-B2DE-4DB3-BD8D-D148B8B9F1A6}" srcOrd="0" destOrd="0" presId="urn:microsoft.com/office/officeart/2005/8/layout/vList2"/>
    <dgm:cxn modelId="{89F5CDF1-094A-4789-BAA9-3DAF41E17DAD}" srcId="{147BB40F-9211-4C61-A45D-5FFC31CEABD3}" destId="{48AE5275-243F-4824-951F-956F2A80E9B1}" srcOrd="0" destOrd="0" parTransId="{F67119C5-35A7-4CA2-84B1-B862C0503AD4}" sibTransId="{52330ACE-4434-4236-A2A5-4051E3137908}"/>
    <dgm:cxn modelId="{6180E16D-5572-4AC1-931E-C909885489B8}" type="presOf" srcId="{E6B72652-6D51-4380-949D-075017F2273D}" destId="{826B3B7F-93B9-4F22-BBF0-D68EF71AE7DB}" srcOrd="0" destOrd="0" presId="urn:microsoft.com/office/officeart/2005/8/layout/vList2"/>
    <dgm:cxn modelId="{6A9106AD-BC4C-4505-AFC3-781108B0E720}" type="presOf" srcId="{48AE5275-243F-4824-951F-956F2A80E9B1}" destId="{E52928F8-3B49-45C0-ADB2-5782B7CBBDD7}" srcOrd="0" destOrd="0" presId="urn:microsoft.com/office/officeart/2005/8/layout/vList2"/>
    <dgm:cxn modelId="{52E9A6F2-46FA-4CB7-9BB0-6652E6B1238D}" srcId="{48AE5275-243F-4824-951F-956F2A80E9B1}" destId="{E6B72652-6D51-4380-949D-075017F2273D}" srcOrd="0" destOrd="0" parTransId="{D277D877-179E-4A64-887B-C8A8459084C1}" sibTransId="{752D12CC-90A0-401D-9A57-CE278D3ECE6D}"/>
    <dgm:cxn modelId="{29A87984-5D0F-4EA6-B3F6-75461D809CDF}" type="presParOf" srcId="{7F801830-B2DE-4DB3-BD8D-D148B8B9F1A6}" destId="{E52928F8-3B49-45C0-ADB2-5782B7CBBDD7}" srcOrd="0" destOrd="0" presId="urn:microsoft.com/office/officeart/2005/8/layout/vList2"/>
    <dgm:cxn modelId="{ED5ED9A7-A706-4AF9-9677-0347FE1BF7E2}" type="presParOf" srcId="{7F801830-B2DE-4DB3-BD8D-D148B8B9F1A6}" destId="{826B3B7F-93B9-4F22-BBF0-D68EF71AE7DB}"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2AEF1A-FFBD-4DB0-8019-EB6CECAA6CFC}" type="doc">
      <dgm:prSet loTypeId="urn:microsoft.com/office/officeart/2008/layout/BendingPictureCaptionList" loCatId="picture" qsTypeId="urn:microsoft.com/office/officeart/2005/8/quickstyle/simple1" qsCatId="simple" csTypeId="urn:microsoft.com/office/officeart/2005/8/colors/accent1_2" csCatId="accent1" phldr="1"/>
      <dgm:spPr/>
      <dgm:t>
        <a:bodyPr/>
        <a:lstStyle/>
        <a:p>
          <a:endParaRPr lang="en-US"/>
        </a:p>
      </dgm:t>
    </dgm:pt>
    <dgm:pt modelId="{5BEFC6D2-7171-4944-9317-A893EFDBEA97}">
      <dgm:prSet phldrT="[Text]"/>
      <dgm:spPr/>
      <dgm:t>
        <a:bodyPr/>
        <a:lstStyle/>
        <a:p>
          <a:r>
            <a:rPr lang="en-US" dirty="0"/>
            <a:t>Kasparov Vs. IBM’s Deep Blue (1997)</a:t>
          </a:r>
        </a:p>
      </dgm:t>
    </dgm:pt>
    <dgm:pt modelId="{9B45CCA3-FBC7-46F0-9143-589FEE4F21E6}" type="parTrans" cxnId="{0F1C09BE-C0AD-45EB-AE93-77709A4DF381}">
      <dgm:prSet/>
      <dgm:spPr/>
      <dgm:t>
        <a:bodyPr/>
        <a:lstStyle/>
        <a:p>
          <a:endParaRPr lang="en-US"/>
        </a:p>
      </dgm:t>
    </dgm:pt>
    <dgm:pt modelId="{FBB9166E-5D43-4135-97EA-88520EC28225}" type="sibTrans" cxnId="{0F1C09BE-C0AD-45EB-AE93-77709A4DF381}">
      <dgm:prSet/>
      <dgm:spPr/>
      <dgm:t>
        <a:bodyPr/>
        <a:lstStyle/>
        <a:p>
          <a:endParaRPr lang="en-US"/>
        </a:p>
      </dgm:t>
    </dgm:pt>
    <dgm:pt modelId="{349170D5-DA83-4241-9D17-13C906ABBD2C}">
      <dgm:prSet phldrT="[Text]"/>
      <dgm:spPr/>
      <dgm:t>
        <a:bodyPr/>
        <a:lstStyle/>
        <a:p>
          <a:r>
            <a:rPr lang="en-US" dirty="0"/>
            <a:t>World Poker Champs Vs. </a:t>
          </a:r>
          <a:r>
            <a:rPr lang="en-US" dirty="0" err="1"/>
            <a:t>Libratus</a:t>
          </a:r>
          <a:r>
            <a:rPr lang="en-US" dirty="0"/>
            <a:t> (2017)</a:t>
          </a:r>
        </a:p>
      </dgm:t>
    </dgm:pt>
    <dgm:pt modelId="{F06687CF-C332-4A41-A92D-1DE2873C7326}" type="parTrans" cxnId="{AE0D458F-EED4-4741-AB7B-B85B27BBE8AB}">
      <dgm:prSet/>
      <dgm:spPr/>
      <dgm:t>
        <a:bodyPr/>
        <a:lstStyle/>
        <a:p>
          <a:endParaRPr lang="en-US"/>
        </a:p>
      </dgm:t>
    </dgm:pt>
    <dgm:pt modelId="{E8AF1AF5-3B03-40B9-9CB9-93033F5522A3}" type="sibTrans" cxnId="{AE0D458F-EED4-4741-AB7B-B85B27BBE8AB}">
      <dgm:prSet/>
      <dgm:spPr/>
      <dgm:t>
        <a:bodyPr/>
        <a:lstStyle/>
        <a:p>
          <a:endParaRPr lang="en-US"/>
        </a:p>
      </dgm:t>
    </dgm:pt>
    <dgm:pt modelId="{DF586FAA-629B-48AE-BA8A-C656963B83E6}">
      <dgm:prSet phldrT="[Text]"/>
      <dgm:spPr/>
      <dgm:t>
        <a:bodyPr/>
        <a:lstStyle/>
        <a:p>
          <a:r>
            <a:rPr lang="en-US" dirty="0"/>
            <a:t>Lee </a:t>
          </a:r>
          <a:r>
            <a:rPr lang="en-US" dirty="0" err="1"/>
            <a:t>Sedol</a:t>
          </a:r>
          <a:r>
            <a:rPr lang="en-US" dirty="0"/>
            <a:t> Vs. DeepMind’s </a:t>
          </a:r>
          <a:r>
            <a:rPr lang="en-US" dirty="0" err="1"/>
            <a:t>AlphaGo</a:t>
          </a:r>
          <a:r>
            <a:rPr lang="en-US" dirty="0"/>
            <a:t> (2016)</a:t>
          </a:r>
        </a:p>
      </dgm:t>
    </dgm:pt>
    <dgm:pt modelId="{62AECD7D-9C25-4E03-BD88-1D27305AFD5B}" type="parTrans" cxnId="{88EAB581-BB8F-4B23-BCF3-C695DE949A21}">
      <dgm:prSet/>
      <dgm:spPr/>
      <dgm:t>
        <a:bodyPr/>
        <a:lstStyle/>
        <a:p>
          <a:endParaRPr lang="en-US"/>
        </a:p>
      </dgm:t>
    </dgm:pt>
    <dgm:pt modelId="{4BF75A5A-0885-4157-A2A9-798259F6BDEF}" type="sibTrans" cxnId="{88EAB581-BB8F-4B23-BCF3-C695DE949A21}">
      <dgm:prSet/>
      <dgm:spPr/>
      <dgm:t>
        <a:bodyPr/>
        <a:lstStyle/>
        <a:p>
          <a:endParaRPr lang="en-US"/>
        </a:p>
      </dgm:t>
    </dgm:pt>
    <dgm:pt modelId="{25DBA72D-C7B2-4521-B3A0-60094C083DC5}" type="pres">
      <dgm:prSet presAssocID="{B72AEF1A-FFBD-4DB0-8019-EB6CECAA6CFC}" presName="Name0" presStyleCnt="0">
        <dgm:presLayoutVars>
          <dgm:dir/>
          <dgm:resizeHandles val="exact"/>
        </dgm:presLayoutVars>
      </dgm:prSet>
      <dgm:spPr/>
      <dgm:t>
        <a:bodyPr/>
        <a:lstStyle/>
        <a:p>
          <a:endParaRPr lang="en-US"/>
        </a:p>
      </dgm:t>
    </dgm:pt>
    <dgm:pt modelId="{6250E726-6C50-4561-9622-A3B4BC6A59A6}" type="pres">
      <dgm:prSet presAssocID="{5BEFC6D2-7171-4944-9317-A893EFDBEA97}" presName="composite" presStyleCnt="0"/>
      <dgm:spPr/>
    </dgm:pt>
    <dgm:pt modelId="{F0FBCDB9-0392-4A06-9491-B2D6ADDB20D3}" type="pres">
      <dgm:prSet presAssocID="{5BEFC6D2-7171-4944-9317-A893EFDBEA97}" presName="rect1" presStyleLbl="b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3000" r="-13000"/>
          </a:stretch>
        </a:blipFill>
      </dgm:spPr>
    </dgm:pt>
    <dgm:pt modelId="{CA9AD698-C1F9-4526-8B6B-AE95881270E4}" type="pres">
      <dgm:prSet presAssocID="{5BEFC6D2-7171-4944-9317-A893EFDBEA97}" presName="wedgeRectCallout1" presStyleLbl="node1" presStyleIdx="0" presStyleCnt="3">
        <dgm:presLayoutVars>
          <dgm:bulletEnabled val="1"/>
        </dgm:presLayoutVars>
      </dgm:prSet>
      <dgm:spPr/>
      <dgm:t>
        <a:bodyPr/>
        <a:lstStyle/>
        <a:p>
          <a:endParaRPr lang="en-US"/>
        </a:p>
      </dgm:t>
    </dgm:pt>
    <dgm:pt modelId="{97523CFD-E894-4557-890A-EE1E14E20A2D}" type="pres">
      <dgm:prSet presAssocID="{FBB9166E-5D43-4135-97EA-88520EC28225}" presName="sibTrans" presStyleCnt="0"/>
      <dgm:spPr/>
    </dgm:pt>
    <dgm:pt modelId="{545F0263-8172-4FBA-BDC5-D5D6C8532951}" type="pres">
      <dgm:prSet presAssocID="{349170D5-DA83-4241-9D17-13C906ABBD2C}" presName="composite" presStyleCnt="0"/>
      <dgm:spPr/>
    </dgm:pt>
    <dgm:pt modelId="{5084DAFC-3C68-4963-AF89-AEFBFD669A5B}" type="pres">
      <dgm:prSet presAssocID="{349170D5-DA83-4241-9D17-13C906ABBD2C}" presName="rect1" presStyleLbl="b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10000" r="-10000"/>
          </a:stretch>
        </a:blipFill>
      </dgm:spPr>
    </dgm:pt>
    <dgm:pt modelId="{386B5E69-BF6A-4AD3-B2EB-6A52E15CCE7A}" type="pres">
      <dgm:prSet presAssocID="{349170D5-DA83-4241-9D17-13C906ABBD2C}" presName="wedgeRectCallout1" presStyleLbl="node1" presStyleIdx="1" presStyleCnt="3">
        <dgm:presLayoutVars>
          <dgm:bulletEnabled val="1"/>
        </dgm:presLayoutVars>
      </dgm:prSet>
      <dgm:spPr/>
      <dgm:t>
        <a:bodyPr/>
        <a:lstStyle/>
        <a:p>
          <a:endParaRPr lang="en-US"/>
        </a:p>
      </dgm:t>
    </dgm:pt>
    <dgm:pt modelId="{AB761602-6E03-4B10-B102-C8AB71B78C1A}" type="pres">
      <dgm:prSet presAssocID="{E8AF1AF5-3B03-40B9-9CB9-93033F5522A3}" presName="sibTrans" presStyleCnt="0"/>
      <dgm:spPr/>
    </dgm:pt>
    <dgm:pt modelId="{7186D63A-1422-4620-A7E9-492A376009CA}" type="pres">
      <dgm:prSet presAssocID="{DF586FAA-629B-48AE-BA8A-C656963B83E6}" presName="composite" presStyleCnt="0"/>
      <dgm:spPr/>
    </dgm:pt>
    <dgm:pt modelId="{3D39892B-937F-44D6-8D43-8752372E206F}" type="pres">
      <dgm:prSet presAssocID="{DF586FAA-629B-48AE-BA8A-C656963B83E6}" presName="rect1" presStyleLbl="b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dgm:spPr>
    </dgm:pt>
    <dgm:pt modelId="{086A36D4-5A2E-4686-9C7C-254C2B9BE14F}" type="pres">
      <dgm:prSet presAssocID="{DF586FAA-629B-48AE-BA8A-C656963B83E6}" presName="wedgeRectCallout1" presStyleLbl="node1" presStyleIdx="2" presStyleCnt="3">
        <dgm:presLayoutVars>
          <dgm:bulletEnabled val="1"/>
        </dgm:presLayoutVars>
      </dgm:prSet>
      <dgm:spPr/>
      <dgm:t>
        <a:bodyPr/>
        <a:lstStyle/>
        <a:p>
          <a:endParaRPr lang="en-US"/>
        </a:p>
      </dgm:t>
    </dgm:pt>
  </dgm:ptLst>
  <dgm:cxnLst>
    <dgm:cxn modelId="{88EAB581-BB8F-4B23-BCF3-C695DE949A21}" srcId="{B72AEF1A-FFBD-4DB0-8019-EB6CECAA6CFC}" destId="{DF586FAA-629B-48AE-BA8A-C656963B83E6}" srcOrd="2" destOrd="0" parTransId="{62AECD7D-9C25-4E03-BD88-1D27305AFD5B}" sibTransId="{4BF75A5A-0885-4157-A2A9-798259F6BDEF}"/>
    <dgm:cxn modelId="{7E2D869C-9644-44E5-A460-489A0A8A1078}" type="presOf" srcId="{5BEFC6D2-7171-4944-9317-A893EFDBEA97}" destId="{CA9AD698-C1F9-4526-8B6B-AE95881270E4}" srcOrd="0" destOrd="0" presId="urn:microsoft.com/office/officeart/2008/layout/BendingPictureCaptionList"/>
    <dgm:cxn modelId="{66E69425-BEBC-4989-A788-7AE2E5F100FE}" type="presOf" srcId="{B72AEF1A-FFBD-4DB0-8019-EB6CECAA6CFC}" destId="{25DBA72D-C7B2-4521-B3A0-60094C083DC5}" srcOrd="0" destOrd="0" presId="urn:microsoft.com/office/officeart/2008/layout/BendingPictureCaptionList"/>
    <dgm:cxn modelId="{0F1C09BE-C0AD-45EB-AE93-77709A4DF381}" srcId="{B72AEF1A-FFBD-4DB0-8019-EB6CECAA6CFC}" destId="{5BEFC6D2-7171-4944-9317-A893EFDBEA97}" srcOrd="0" destOrd="0" parTransId="{9B45CCA3-FBC7-46F0-9143-589FEE4F21E6}" sibTransId="{FBB9166E-5D43-4135-97EA-88520EC28225}"/>
    <dgm:cxn modelId="{547ACC46-B261-43FD-8747-B39770399BBF}" type="presOf" srcId="{DF586FAA-629B-48AE-BA8A-C656963B83E6}" destId="{086A36D4-5A2E-4686-9C7C-254C2B9BE14F}" srcOrd="0" destOrd="0" presId="urn:microsoft.com/office/officeart/2008/layout/BendingPictureCaptionList"/>
    <dgm:cxn modelId="{AE0D458F-EED4-4741-AB7B-B85B27BBE8AB}" srcId="{B72AEF1A-FFBD-4DB0-8019-EB6CECAA6CFC}" destId="{349170D5-DA83-4241-9D17-13C906ABBD2C}" srcOrd="1" destOrd="0" parTransId="{F06687CF-C332-4A41-A92D-1DE2873C7326}" sibTransId="{E8AF1AF5-3B03-40B9-9CB9-93033F5522A3}"/>
    <dgm:cxn modelId="{040D30CC-8EC5-410C-9A35-A884C9692E30}" type="presOf" srcId="{349170D5-DA83-4241-9D17-13C906ABBD2C}" destId="{386B5E69-BF6A-4AD3-B2EB-6A52E15CCE7A}" srcOrd="0" destOrd="0" presId="urn:microsoft.com/office/officeart/2008/layout/BendingPictureCaptionList"/>
    <dgm:cxn modelId="{364D3165-FE3A-449E-BF0C-526F41C33603}" type="presParOf" srcId="{25DBA72D-C7B2-4521-B3A0-60094C083DC5}" destId="{6250E726-6C50-4561-9622-A3B4BC6A59A6}" srcOrd="0" destOrd="0" presId="urn:microsoft.com/office/officeart/2008/layout/BendingPictureCaptionList"/>
    <dgm:cxn modelId="{39CDBD4A-94A2-4D5E-9C41-54B5290653A0}" type="presParOf" srcId="{6250E726-6C50-4561-9622-A3B4BC6A59A6}" destId="{F0FBCDB9-0392-4A06-9491-B2D6ADDB20D3}" srcOrd="0" destOrd="0" presId="urn:microsoft.com/office/officeart/2008/layout/BendingPictureCaptionList"/>
    <dgm:cxn modelId="{CDE0A1C8-0948-487E-8C7A-F4631795439C}" type="presParOf" srcId="{6250E726-6C50-4561-9622-A3B4BC6A59A6}" destId="{CA9AD698-C1F9-4526-8B6B-AE95881270E4}" srcOrd="1" destOrd="0" presId="urn:microsoft.com/office/officeart/2008/layout/BendingPictureCaptionList"/>
    <dgm:cxn modelId="{DCC21765-B748-4572-BD31-D63B6D892153}" type="presParOf" srcId="{25DBA72D-C7B2-4521-B3A0-60094C083DC5}" destId="{97523CFD-E894-4557-890A-EE1E14E20A2D}" srcOrd="1" destOrd="0" presId="urn:microsoft.com/office/officeart/2008/layout/BendingPictureCaptionList"/>
    <dgm:cxn modelId="{0EAA2386-3782-4730-A70A-F530DC7201F0}" type="presParOf" srcId="{25DBA72D-C7B2-4521-B3A0-60094C083DC5}" destId="{545F0263-8172-4FBA-BDC5-D5D6C8532951}" srcOrd="2" destOrd="0" presId="urn:microsoft.com/office/officeart/2008/layout/BendingPictureCaptionList"/>
    <dgm:cxn modelId="{BB9A9112-F951-43F4-92FF-A8E36872B823}" type="presParOf" srcId="{545F0263-8172-4FBA-BDC5-D5D6C8532951}" destId="{5084DAFC-3C68-4963-AF89-AEFBFD669A5B}" srcOrd="0" destOrd="0" presId="urn:microsoft.com/office/officeart/2008/layout/BendingPictureCaptionList"/>
    <dgm:cxn modelId="{627D763A-CCA7-4A3A-93A6-93C1DDF5A9A8}" type="presParOf" srcId="{545F0263-8172-4FBA-BDC5-D5D6C8532951}" destId="{386B5E69-BF6A-4AD3-B2EB-6A52E15CCE7A}" srcOrd="1" destOrd="0" presId="urn:microsoft.com/office/officeart/2008/layout/BendingPictureCaptionList"/>
    <dgm:cxn modelId="{B1C8824D-6474-4E1D-9972-F4FF884A3192}" type="presParOf" srcId="{25DBA72D-C7B2-4521-B3A0-60094C083DC5}" destId="{AB761602-6E03-4B10-B102-C8AB71B78C1A}" srcOrd="3" destOrd="0" presId="urn:microsoft.com/office/officeart/2008/layout/BendingPictureCaptionList"/>
    <dgm:cxn modelId="{5EE8F692-456B-433A-8D43-FED4663C2F8B}" type="presParOf" srcId="{25DBA72D-C7B2-4521-B3A0-60094C083DC5}" destId="{7186D63A-1422-4620-A7E9-492A376009CA}" srcOrd="4" destOrd="0" presId="urn:microsoft.com/office/officeart/2008/layout/BendingPictureCaptionList"/>
    <dgm:cxn modelId="{D5AE2AC2-481E-43CB-9494-8DEC807644E4}" type="presParOf" srcId="{7186D63A-1422-4620-A7E9-492A376009CA}" destId="{3D39892B-937F-44D6-8D43-8752372E206F}" srcOrd="0" destOrd="0" presId="urn:microsoft.com/office/officeart/2008/layout/BendingPictureCaptionList"/>
    <dgm:cxn modelId="{FBA186EF-E884-4440-BDBB-D4A9CF124D76}" type="presParOf" srcId="{7186D63A-1422-4620-A7E9-492A376009CA}" destId="{086A36D4-5A2E-4686-9C7C-254C2B9BE14F}"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2AEF1A-FFBD-4DB0-8019-EB6CECAA6CFC}" type="doc">
      <dgm:prSet loTypeId="urn:microsoft.com/office/officeart/2008/layout/BendingPictureCaptionList" loCatId="picture" qsTypeId="urn:microsoft.com/office/officeart/2005/8/quickstyle/simple1" qsCatId="simple" csTypeId="urn:microsoft.com/office/officeart/2005/8/colors/accent1_2" csCatId="accent1" phldr="1"/>
      <dgm:spPr/>
      <dgm:t>
        <a:bodyPr/>
        <a:lstStyle/>
        <a:p>
          <a:endParaRPr lang="en-US"/>
        </a:p>
      </dgm:t>
    </dgm:pt>
    <dgm:pt modelId="{349170D5-DA83-4241-9D17-13C906ABBD2C}">
      <dgm:prSet phldrT="[Text]"/>
      <dgm:spPr/>
      <dgm:t>
        <a:bodyPr/>
        <a:lstStyle/>
        <a:p>
          <a:r>
            <a:rPr lang="en-US" dirty="0"/>
            <a:t>World Poker Champs Vs. </a:t>
          </a:r>
          <a:r>
            <a:rPr lang="en-US" dirty="0" err="1"/>
            <a:t>Libratus</a:t>
          </a:r>
          <a:r>
            <a:rPr lang="en-US" dirty="0"/>
            <a:t> (2017)</a:t>
          </a:r>
        </a:p>
      </dgm:t>
    </dgm:pt>
    <dgm:pt modelId="{F06687CF-C332-4A41-A92D-1DE2873C7326}" type="parTrans" cxnId="{AE0D458F-EED4-4741-AB7B-B85B27BBE8AB}">
      <dgm:prSet/>
      <dgm:spPr/>
      <dgm:t>
        <a:bodyPr/>
        <a:lstStyle/>
        <a:p>
          <a:endParaRPr lang="en-US"/>
        </a:p>
      </dgm:t>
    </dgm:pt>
    <dgm:pt modelId="{E8AF1AF5-3B03-40B9-9CB9-93033F5522A3}" type="sibTrans" cxnId="{AE0D458F-EED4-4741-AB7B-B85B27BBE8AB}">
      <dgm:prSet/>
      <dgm:spPr/>
      <dgm:t>
        <a:bodyPr/>
        <a:lstStyle/>
        <a:p>
          <a:endParaRPr lang="en-US"/>
        </a:p>
      </dgm:t>
    </dgm:pt>
    <dgm:pt modelId="{DF586FAA-629B-48AE-BA8A-C656963B83E6}">
      <dgm:prSet phldrT="[Text]"/>
      <dgm:spPr/>
      <dgm:t>
        <a:bodyPr/>
        <a:lstStyle/>
        <a:p>
          <a:r>
            <a:rPr lang="en-US" dirty="0"/>
            <a:t>Lee </a:t>
          </a:r>
          <a:r>
            <a:rPr lang="en-US" dirty="0" err="1"/>
            <a:t>Sedol</a:t>
          </a:r>
          <a:r>
            <a:rPr lang="en-US" dirty="0"/>
            <a:t> Vs. DeepMind’s </a:t>
          </a:r>
          <a:r>
            <a:rPr lang="en-US" dirty="0" err="1"/>
            <a:t>AlphaGo</a:t>
          </a:r>
          <a:r>
            <a:rPr lang="en-US" dirty="0"/>
            <a:t> (2016)</a:t>
          </a:r>
        </a:p>
      </dgm:t>
    </dgm:pt>
    <dgm:pt modelId="{62AECD7D-9C25-4E03-BD88-1D27305AFD5B}" type="parTrans" cxnId="{88EAB581-BB8F-4B23-BCF3-C695DE949A21}">
      <dgm:prSet/>
      <dgm:spPr/>
      <dgm:t>
        <a:bodyPr/>
        <a:lstStyle/>
        <a:p>
          <a:endParaRPr lang="en-US"/>
        </a:p>
      </dgm:t>
    </dgm:pt>
    <dgm:pt modelId="{4BF75A5A-0885-4157-A2A9-798259F6BDEF}" type="sibTrans" cxnId="{88EAB581-BB8F-4B23-BCF3-C695DE949A21}">
      <dgm:prSet/>
      <dgm:spPr/>
      <dgm:t>
        <a:bodyPr/>
        <a:lstStyle/>
        <a:p>
          <a:endParaRPr lang="en-US"/>
        </a:p>
      </dgm:t>
    </dgm:pt>
    <dgm:pt modelId="{B83E39F3-02F4-475C-94F2-AC41657A2E85}">
      <dgm:prSet phldrT="[Text]"/>
      <dgm:spPr/>
      <dgm:t>
        <a:bodyPr/>
        <a:lstStyle/>
        <a:p>
          <a:r>
            <a:rPr lang="en-US" dirty="0" err="1"/>
            <a:t>AlphaZero</a:t>
          </a:r>
          <a:r>
            <a:rPr lang="en-US" dirty="0"/>
            <a:t> can solve any zero-sum game!</a:t>
          </a:r>
        </a:p>
      </dgm:t>
    </dgm:pt>
    <dgm:pt modelId="{EF70328C-4404-412A-98BA-A17C4D0CEEB9}" type="parTrans" cxnId="{A7EB2A38-A2D7-4862-9B14-13950D024010}">
      <dgm:prSet/>
      <dgm:spPr/>
      <dgm:t>
        <a:bodyPr/>
        <a:lstStyle/>
        <a:p>
          <a:endParaRPr lang="en-US"/>
        </a:p>
      </dgm:t>
    </dgm:pt>
    <dgm:pt modelId="{E7AEFB33-2E0A-4C37-98B2-A516E7F1C63F}" type="sibTrans" cxnId="{A7EB2A38-A2D7-4862-9B14-13950D024010}">
      <dgm:prSet/>
      <dgm:spPr/>
      <dgm:t>
        <a:bodyPr/>
        <a:lstStyle/>
        <a:p>
          <a:endParaRPr lang="en-US"/>
        </a:p>
      </dgm:t>
    </dgm:pt>
    <dgm:pt modelId="{25DBA72D-C7B2-4521-B3A0-60094C083DC5}" type="pres">
      <dgm:prSet presAssocID="{B72AEF1A-FFBD-4DB0-8019-EB6CECAA6CFC}" presName="Name0" presStyleCnt="0">
        <dgm:presLayoutVars>
          <dgm:dir/>
          <dgm:resizeHandles val="exact"/>
        </dgm:presLayoutVars>
      </dgm:prSet>
      <dgm:spPr/>
      <dgm:t>
        <a:bodyPr/>
        <a:lstStyle/>
        <a:p>
          <a:endParaRPr lang="en-US"/>
        </a:p>
      </dgm:t>
    </dgm:pt>
    <dgm:pt modelId="{545F0263-8172-4FBA-BDC5-D5D6C8532951}" type="pres">
      <dgm:prSet presAssocID="{349170D5-DA83-4241-9D17-13C906ABBD2C}" presName="composite" presStyleCnt="0"/>
      <dgm:spPr/>
    </dgm:pt>
    <dgm:pt modelId="{5084DAFC-3C68-4963-AF89-AEFBFD669A5B}" type="pres">
      <dgm:prSet presAssocID="{349170D5-DA83-4241-9D17-13C906ABBD2C}" presName="rect1" presStyleLbl="b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dgm:spPr>
    </dgm:pt>
    <dgm:pt modelId="{386B5E69-BF6A-4AD3-B2EB-6A52E15CCE7A}" type="pres">
      <dgm:prSet presAssocID="{349170D5-DA83-4241-9D17-13C906ABBD2C}" presName="wedgeRectCallout1" presStyleLbl="node1" presStyleIdx="0" presStyleCnt="3">
        <dgm:presLayoutVars>
          <dgm:bulletEnabled val="1"/>
        </dgm:presLayoutVars>
      </dgm:prSet>
      <dgm:spPr/>
      <dgm:t>
        <a:bodyPr/>
        <a:lstStyle/>
        <a:p>
          <a:endParaRPr lang="en-US"/>
        </a:p>
      </dgm:t>
    </dgm:pt>
    <dgm:pt modelId="{AB761602-6E03-4B10-B102-C8AB71B78C1A}" type="pres">
      <dgm:prSet presAssocID="{E8AF1AF5-3B03-40B9-9CB9-93033F5522A3}" presName="sibTrans" presStyleCnt="0"/>
      <dgm:spPr/>
    </dgm:pt>
    <dgm:pt modelId="{7186D63A-1422-4620-A7E9-492A376009CA}" type="pres">
      <dgm:prSet presAssocID="{DF586FAA-629B-48AE-BA8A-C656963B83E6}" presName="composite" presStyleCnt="0"/>
      <dgm:spPr/>
    </dgm:pt>
    <dgm:pt modelId="{3D39892B-937F-44D6-8D43-8752372E206F}" type="pres">
      <dgm:prSet presAssocID="{DF586FAA-629B-48AE-BA8A-C656963B83E6}" presName="rect1" presStyleLbl="b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21000" r="-21000"/>
          </a:stretch>
        </a:blipFill>
      </dgm:spPr>
    </dgm:pt>
    <dgm:pt modelId="{086A36D4-5A2E-4686-9C7C-254C2B9BE14F}" type="pres">
      <dgm:prSet presAssocID="{DF586FAA-629B-48AE-BA8A-C656963B83E6}" presName="wedgeRectCallout1" presStyleLbl="node1" presStyleIdx="1" presStyleCnt="3">
        <dgm:presLayoutVars>
          <dgm:bulletEnabled val="1"/>
        </dgm:presLayoutVars>
      </dgm:prSet>
      <dgm:spPr/>
      <dgm:t>
        <a:bodyPr/>
        <a:lstStyle/>
        <a:p>
          <a:endParaRPr lang="en-US"/>
        </a:p>
      </dgm:t>
    </dgm:pt>
    <dgm:pt modelId="{D93E9A68-9F45-4111-9069-DB9455ABA7FB}" type="pres">
      <dgm:prSet presAssocID="{4BF75A5A-0885-4157-A2A9-798259F6BDEF}" presName="sibTrans" presStyleCnt="0"/>
      <dgm:spPr/>
    </dgm:pt>
    <dgm:pt modelId="{21AFB00E-1930-4A66-971E-3D43440F310B}" type="pres">
      <dgm:prSet presAssocID="{B83E39F3-02F4-475C-94F2-AC41657A2E85}" presName="composite" presStyleCnt="0"/>
      <dgm:spPr/>
    </dgm:pt>
    <dgm:pt modelId="{D9C6F939-B4EB-4537-B78D-A6E50D9309C6}" type="pres">
      <dgm:prSet presAssocID="{B83E39F3-02F4-475C-94F2-AC41657A2E85}" presName="rect1" presStyleLbl="b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dgm:spPr>
    </dgm:pt>
    <dgm:pt modelId="{A3276E16-DEB0-490E-85BA-06E2EBC3C338}" type="pres">
      <dgm:prSet presAssocID="{B83E39F3-02F4-475C-94F2-AC41657A2E85}" presName="wedgeRectCallout1" presStyleLbl="node1" presStyleIdx="2" presStyleCnt="3">
        <dgm:presLayoutVars>
          <dgm:bulletEnabled val="1"/>
        </dgm:presLayoutVars>
      </dgm:prSet>
      <dgm:spPr/>
      <dgm:t>
        <a:bodyPr/>
        <a:lstStyle/>
        <a:p>
          <a:endParaRPr lang="en-US"/>
        </a:p>
      </dgm:t>
    </dgm:pt>
  </dgm:ptLst>
  <dgm:cxnLst>
    <dgm:cxn modelId="{88EAB581-BB8F-4B23-BCF3-C695DE949A21}" srcId="{B72AEF1A-FFBD-4DB0-8019-EB6CECAA6CFC}" destId="{DF586FAA-629B-48AE-BA8A-C656963B83E6}" srcOrd="1" destOrd="0" parTransId="{62AECD7D-9C25-4E03-BD88-1D27305AFD5B}" sibTransId="{4BF75A5A-0885-4157-A2A9-798259F6BDEF}"/>
    <dgm:cxn modelId="{A7EB2A38-A2D7-4862-9B14-13950D024010}" srcId="{B72AEF1A-FFBD-4DB0-8019-EB6CECAA6CFC}" destId="{B83E39F3-02F4-475C-94F2-AC41657A2E85}" srcOrd="2" destOrd="0" parTransId="{EF70328C-4404-412A-98BA-A17C4D0CEEB9}" sibTransId="{E7AEFB33-2E0A-4C37-98B2-A516E7F1C63F}"/>
    <dgm:cxn modelId="{70F1FC95-B9C8-4B4B-A93F-7AEA737D3A50}" type="presOf" srcId="{DF586FAA-629B-48AE-BA8A-C656963B83E6}" destId="{086A36D4-5A2E-4686-9C7C-254C2B9BE14F}" srcOrd="0" destOrd="0" presId="urn:microsoft.com/office/officeart/2008/layout/BendingPictureCaptionList"/>
    <dgm:cxn modelId="{3A1B93CC-5414-48E1-AC24-87A358A6EA49}" type="presOf" srcId="{349170D5-DA83-4241-9D17-13C906ABBD2C}" destId="{386B5E69-BF6A-4AD3-B2EB-6A52E15CCE7A}" srcOrd="0" destOrd="0" presId="urn:microsoft.com/office/officeart/2008/layout/BendingPictureCaptionList"/>
    <dgm:cxn modelId="{AE347BFE-F4B6-4AF5-B08B-466137B424BF}" type="presOf" srcId="{B72AEF1A-FFBD-4DB0-8019-EB6CECAA6CFC}" destId="{25DBA72D-C7B2-4521-B3A0-60094C083DC5}" srcOrd="0" destOrd="0" presId="urn:microsoft.com/office/officeart/2008/layout/BendingPictureCaptionList"/>
    <dgm:cxn modelId="{32F5C590-5804-4137-A362-6B0EFE31A130}" type="presOf" srcId="{B83E39F3-02F4-475C-94F2-AC41657A2E85}" destId="{A3276E16-DEB0-490E-85BA-06E2EBC3C338}" srcOrd="0" destOrd="0" presId="urn:microsoft.com/office/officeart/2008/layout/BendingPictureCaptionList"/>
    <dgm:cxn modelId="{AE0D458F-EED4-4741-AB7B-B85B27BBE8AB}" srcId="{B72AEF1A-FFBD-4DB0-8019-EB6CECAA6CFC}" destId="{349170D5-DA83-4241-9D17-13C906ABBD2C}" srcOrd="0" destOrd="0" parTransId="{F06687CF-C332-4A41-A92D-1DE2873C7326}" sibTransId="{E8AF1AF5-3B03-40B9-9CB9-93033F5522A3}"/>
    <dgm:cxn modelId="{D357205D-356A-4EA8-98F1-9378A9E5FD19}" type="presParOf" srcId="{25DBA72D-C7B2-4521-B3A0-60094C083DC5}" destId="{545F0263-8172-4FBA-BDC5-D5D6C8532951}" srcOrd="0" destOrd="0" presId="urn:microsoft.com/office/officeart/2008/layout/BendingPictureCaptionList"/>
    <dgm:cxn modelId="{653ED642-5F0E-4EBD-8114-2C966FFD8013}" type="presParOf" srcId="{545F0263-8172-4FBA-BDC5-D5D6C8532951}" destId="{5084DAFC-3C68-4963-AF89-AEFBFD669A5B}" srcOrd="0" destOrd="0" presId="urn:microsoft.com/office/officeart/2008/layout/BendingPictureCaptionList"/>
    <dgm:cxn modelId="{B1B9E08B-1AF5-43D3-81AE-CAFAD8D5498E}" type="presParOf" srcId="{545F0263-8172-4FBA-BDC5-D5D6C8532951}" destId="{386B5E69-BF6A-4AD3-B2EB-6A52E15CCE7A}" srcOrd="1" destOrd="0" presId="urn:microsoft.com/office/officeart/2008/layout/BendingPictureCaptionList"/>
    <dgm:cxn modelId="{2A2D6419-45B6-4820-8219-C5C552CE90A4}" type="presParOf" srcId="{25DBA72D-C7B2-4521-B3A0-60094C083DC5}" destId="{AB761602-6E03-4B10-B102-C8AB71B78C1A}" srcOrd="1" destOrd="0" presId="urn:microsoft.com/office/officeart/2008/layout/BendingPictureCaptionList"/>
    <dgm:cxn modelId="{59A7338D-5153-48F1-829A-894B12AD66BB}" type="presParOf" srcId="{25DBA72D-C7B2-4521-B3A0-60094C083DC5}" destId="{7186D63A-1422-4620-A7E9-492A376009CA}" srcOrd="2" destOrd="0" presId="urn:microsoft.com/office/officeart/2008/layout/BendingPictureCaptionList"/>
    <dgm:cxn modelId="{478083E5-E72C-4CC1-A346-ED445AF26FC9}" type="presParOf" srcId="{7186D63A-1422-4620-A7E9-492A376009CA}" destId="{3D39892B-937F-44D6-8D43-8752372E206F}" srcOrd="0" destOrd="0" presId="urn:microsoft.com/office/officeart/2008/layout/BendingPictureCaptionList"/>
    <dgm:cxn modelId="{B36405D0-3C47-4F57-B741-40B6D8243390}" type="presParOf" srcId="{7186D63A-1422-4620-A7E9-492A376009CA}" destId="{086A36D4-5A2E-4686-9C7C-254C2B9BE14F}" srcOrd="1" destOrd="0" presId="urn:microsoft.com/office/officeart/2008/layout/BendingPictureCaptionList"/>
    <dgm:cxn modelId="{27674367-30F6-4E5D-9E71-9578B88974D5}" type="presParOf" srcId="{25DBA72D-C7B2-4521-B3A0-60094C083DC5}" destId="{D93E9A68-9F45-4111-9069-DB9455ABA7FB}" srcOrd="3" destOrd="0" presId="urn:microsoft.com/office/officeart/2008/layout/BendingPictureCaptionList"/>
    <dgm:cxn modelId="{B9F2153F-B39D-405B-9B33-89DBC28C407C}" type="presParOf" srcId="{25DBA72D-C7B2-4521-B3A0-60094C083DC5}" destId="{21AFB00E-1930-4A66-971E-3D43440F310B}" srcOrd="4" destOrd="0" presId="urn:microsoft.com/office/officeart/2008/layout/BendingPictureCaptionList"/>
    <dgm:cxn modelId="{C80760FD-0EA6-45DB-9B6B-913440DDD9FC}" type="presParOf" srcId="{21AFB00E-1930-4A66-971E-3D43440F310B}" destId="{D9C6F939-B4EB-4537-B78D-A6E50D9309C6}" srcOrd="0" destOrd="0" presId="urn:microsoft.com/office/officeart/2008/layout/BendingPictureCaptionList"/>
    <dgm:cxn modelId="{6E9732CD-BD6F-4B2B-BA2F-88E3142D7F53}" type="presParOf" srcId="{21AFB00E-1930-4A66-971E-3D43440F310B}" destId="{A3276E16-DEB0-490E-85BA-06E2EBC3C338}"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72AEF1A-FFBD-4DB0-8019-EB6CECAA6CFC}" type="doc">
      <dgm:prSet loTypeId="urn:microsoft.com/office/officeart/2008/layout/BendingPictureCaptionList" loCatId="picture" qsTypeId="urn:microsoft.com/office/officeart/2005/8/quickstyle/simple1" qsCatId="simple" csTypeId="urn:microsoft.com/office/officeart/2005/8/colors/accent1_2" csCatId="accent1" phldr="1"/>
      <dgm:spPr/>
      <dgm:t>
        <a:bodyPr/>
        <a:lstStyle/>
        <a:p>
          <a:endParaRPr lang="en-US"/>
        </a:p>
      </dgm:t>
    </dgm:pt>
    <dgm:pt modelId="{B83E39F3-02F4-475C-94F2-AC41657A2E85}">
      <dgm:prSet phldrT="[Text]"/>
      <dgm:spPr/>
      <dgm:t>
        <a:bodyPr/>
        <a:lstStyle/>
        <a:p>
          <a:r>
            <a:rPr lang="en-US" dirty="0" err="1"/>
            <a:t>OpenAI</a:t>
          </a:r>
          <a:r>
            <a:rPr lang="en-US" dirty="0"/>
            <a:t> Five beats pro DOTA 2 players.</a:t>
          </a:r>
        </a:p>
      </dgm:t>
    </dgm:pt>
    <dgm:pt modelId="{EF70328C-4404-412A-98BA-A17C4D0CEEB9}" type="parTrans" cxnId="{A7EB2A38-A2D7-4862-9B14-13950D024010}">
      <dgm:prSet/>
      <dgm:spPr/>
      <dgm:t>
        <a:bodyPr/>
        <a:lstStyle/>
        <a:p>
          <a:endParaRPr lang="en-US"/>
        </a:p>
      </dgm:t>
    </dgm:pt>
    <dgm:pt modelId="{E7AEFB33-2E0A-4C37-98B2-A516E7F1C63F}" type="sibTrans" cxnId="{A7EB2A38-A2D7-4862-9B14-13950D024010}">
      <dgm:prSet/>
      <dgm:spPr/>
      <dgm:t>
        <a:bodyPr/>
        <a:lstStyle/>
        <a:p>
          <a:endParaRPr lang="en-US"/>
        </a:p>
      </dgm:t>
    </dgm:pt>
    <dgm:pt modelId="{462D6F83-CA5D-4DD4-B2D1-F31E49396673}">
      <dgm:prSet phldrT="[Text]"/>
      <dgm:spPr/>
      <dgm:t>
        <a:bodyPr/>
        <a:lstStyle/>
        <a:p>
          <a:r>
            <a:rPr lang="en-US" dirty="0"/>
            <a:t>Pluribus beats multi-player poker pros</a:t>
          </a:r>
        </a:p>
      </dgm:t>
    </dgm:pt>
    <dgm:pt modelId="{166656EE-81EE-475A-B166-A31B415DAE73}" type="parTrans" cxnId="{A7B70384-CE96-4BBE-BD1E-BECD8F70836B}">
      <dgm:prSet/>
      <dgm:spPr/>
      <dgm:t>
        <a:bodyPr/>
        <a:lstStyle/>
        <a:p>
          <a:endParaRPr lang="en-US"/>
        </a:p>
      </dgm:t>
    </dgm:pt>
    <dgm:pt modelId="{C1A71A92-0AC3-4F27-8C10-C840AC3CD116}" type="sibTrans" cxnId="{A7B70384-CE96-4BBE-BD1E-BECD8F70836B}">
      <dgm:prSet/>
      <dgm:spPr/>
      <dgm:t>
        <a:bodyPr/>
        <a:lstStyle/>
        <a:p>
          <a:endParaRPr lang="en-US"/>
        </a:p>
      </dgm:t>
    </dgm:pt>
    <dgm:pt modelId="{D6151B7C-DC9C-4C79-9B23-44548049E457}">
      <dgm:prSet phldrT="[Text]"/>
      <dgm:spPr/>
      <dgm:t>
        <a:bodyPr/>
        <a:lstStyle/>
        <a:p>
          <a:r>
            <a:rPr lang="en-US" dirty="0" err="1"/>
            <a:t>AlphaStar</a:t>
          </a:r>
          <a:r>
            <a:rPr lang="en-US" dirty="0"/>
            <a:t> beats top </a:t>
          </a:r>
          <a:r>
            <a:rPr lang="en-US" dirty="0" err="1"/>
            <a:t>Starcraft</a:t>
          </a:r>
          <a:r>
            <a:rPr lang="en-US" dirty="0"/>
            <a:t> II players</a:t>
          </a:r>
        </a:p>
      </dgm:t>
    </dgm:pt>
    <dgm:pt modelId="{38B35B8D-BB9F-498E-B80B-BD5EE1A79CCB}" type="parTrans" cxnId="{A2E956B1-4890-4BFD-AED0-4246C6D661C2}">
      <dgm:prSet/>
      <dgm:spPr/>
      <dgm:t>
        <a:bodyPr/>
        <a:lstStyle/>
        <a:p>
          <a:endParaRPr lang="en-US"/>
        </a:p>
      </dgm:t>
    </dgm:pt>
    <dgm:pt modelId="{78F69DBE-95B5-46BF-9C5E-2CF6695AB5D7}" type="sibTrans" cxnId="{A2E956B1-4890-4BFD-AED0-4246C6D661C2}">
      <dgm:prSet/>
      <dgm:spPr/>
      <dgm:t>
        <a:bodyPr/>
        <a:lstStyle/>
        <a:p>
          <a:endParaRPr lang="en-US"/>
        </a:p>
      </dgm:t>
    </dgm:pt>
    <dgm:pt modelId="{25DBA72D-C7B2-4521-B3A0-60094C083DC5}" type="pres">
      <dgm:prSet presAssocID="{B72AEF1A-FFBD-4DB0-8019-EB6CECAA6CFC}" presName="Name0" presStyleCnt="0">
        <dgm:presLayoutVars>
          <dgm:dir/>
          <dgm:resizeHandles val="exact"/>
        </dgm:presLayoutVars>
      </dgm:prSet>
      <dgm:spPr/>
      <dgm:t>
        <a:bodyPr/>
        <a:lstStyle/>
        <a:p>
          <a:endParaRPr lang="en-US"/>
        </a:p>
      </dgm:t>
    </dgm:pt>
    <dgm:pt modelId="{21AFB00E-1930-4A66-971E-3D43440F310B}" type="pres">
      <dgm:prSet presAssocID="{B83E39F3-02F4-475C-94F2-AC41657A2E85}" presName="composite" presStyleCnt="0"/>
      <dgm:spPr/>
    </dgm:pt>
    <dgm:pt modelId="{D9C6F939-B4EB-4537-B78D-A6E50D9309C6}" type="pres">
      <dgm:prSet presAssocID="{B83E39F3-02F4-475C-94F2-AC41657A2E85}" presName="rect1" presStyleLbl="bgImgPlac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dgm:spPr>
    </dgm:pt>
    <dgm:pt modelId="{A3276E16-DEB0-490E-85BA-06E2EBC3C338}" type="pres">
      <dgm:prSet presAssocID="{B83E39F3-02F4-475C-94F2-AC41657A2E85}" presName="wedgeRectCallout1" presStyleLbl="node1" presStyleIdx="0" presStyleCnt="3">
        <dgm:presLayoutVars>
          <dgm:bulletEnabled val="1"/>
        </dgm:presLayoutVars>
      </dgm:prSet>
      <dgm:spPr/>
      <dgm:t>
        <a:bodyPr/>
        <a:lstStyle/>
        <a:p>
          <a:endParaRPr lang="en-US"/>
        </a:p>
      </dgm:t>
    </dgm:pt>
    <dgm:pt modelId="{38D98024-51BF-475E-985E-2699E4A4EAD1}" type="pres">
      <dgm:prSet presAssocID="{E7AEFB33-2E0A-4C37-98B2-A516E7F1C63F}" presName="sibTrans" presStyleCnt="0"/>
      <dgm:spPr/>
    </dgm:pt>
    <dgm:pt modelId="{0459339C-72F4-4A22-A705-1EA879841385}" type="pres">
      <dgm:prSet presAssocID="{462D6F83-CA5D-4DD4-B2D1-F31E49396673}" presName="composite" presStyleCnt="0"/>
      <dgm:spPr/>
    </dgm:pt>
    <dgm:pt modelId="{C24C27C5-924B-4D80-8FD6-386AB22E96BF}" type="pres">
      <dgm:prSet presAssocID="{462D6F83-CA5D-4DD4-B2D1-F31E49396673}" presName="rect1" presStyleLbl="bgImgPlac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a:stretch>
            <a:fillRect l="-21000" r="-21000"/>
          </a:stretch>
        </a:blipFill>
      </dgm:spPr>
    </dgm:pt>
    <dgm:pt modelId="{1BFE2281-C339-4864-B288-4AC5E3849B33}" type="pres">
      <dgm:prSet presAssocID="{462D6F83-CA5D-4DD4-B2D1-F31E49396673}" presName="wedgeRectCallout1" presStyleLbl="node1" presStyleIdx="1" presStyleCnt="3">
        <dgm:presLayoutVars>
          <dgm:bulletEnabled val="1"/>
        </dgm:presLayoutVars>
      </dgm:prSet>
      <dgm:spPr/>
      <dgm:t>
        <a:bodyPr/>
        <a:lstStyle/>
        <a:p>
          <a:endParaRPr lang="en-US"/>
        </a:p>
      </dgm:t>
    </dgm:pt>
    <dgm:pt modelId="{1A1D90DF-906B-4EA8-ADD1-B5D0D5642F33}" type="pres">
      <dgm:prSet presAssocID="{C1A71A92-0AC3-4F27-8C10-C840AC3CD116}" presName="sibTrans" presStyleCnt="0"/>
      <dgm:spPr/>
    </dgm:pt>
    <dgm:pt modelId="{460161FE-CF7F-497F-A175-C1E9AD6DC1B9}" type="pres">
      <dgm:prSet presAssocID="{D6151B7C-DC9C-4C79-9B23-44548049E457}" presName="composite" presStyleCnt="0"/>
      <dgm:spPr/>
    </dgm:pt>
    <dgm:pt modelId="{63AD1894-96F8-4F71-B4F8-056AB83E0E00}" type="pres">
      <dgm:prSet presAssocID="{D6151B7C-DC9C-4C79-9B23-44548049E457}" presName="rect1" presStyleLbl="bgImgPlac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dgm:spPr>
    </dgm:pt>
    <dgm:pt modelId="{E4D262C8-E614-4076-9B1C-84A66E3364B3}" type="pres">
      <dgm:prSet presAssocID="{D6151B7C-DC9C-4C79-9B23-44548049E457}" presName="wedgeRectCallout1" presStyleLbl="node1" presStyleIdx="2" presStyleCnt="3">
        <dgm:presLayoutVars>
          <dgm:bulletEnabled val="1"/>
        </dgm:presLayoutVars>
      </dgm:prSet>
      <dgm:spPr/>
      <dgm:t>
        <a:bodyPr/>
        <a:lstStyle/>
        <a:p>
          <a:endParaRPr lang="en-US"/>
        </a:p>
      </dgm:t>
    </dgm:pt>
  </dgm:ptLst>
  <dgm:cxnLst>
    <dgm:cxn modelId="{D3E350C3-3E53-4E25-891C-8F8AD84EE153}" type="presOf" srcId="{462D6F83-CA5D-4DD4-B2D1-F31E49396673}" destId="{1BFE2281-C339-4864-B288-4AC5E3849B33}" srcOrd="0" destOrd="0" presId="urn:microsoft.com/office/officeart/2008/layout/BendingPictureCaptionList"/>
    <dgm:cxn modelId="{AE347BFE-F4B6-4AF5-B08B-466137B424BF}" type="presOf" srcId="{B72AEF1A-FFBD-4DB0-8019-EB6CECAA6CFC}" destId="{25DBA72D-C7B2-4521-B3A0-60094C083DC5}" srcOrd="0" destOrd="0" presId="urn:microsoft.com/office/officeart/2008/layout/BendingPictureCaptionList"/>
    <dgm:cxn modelId="{A7EB2A38-A2D7-4862-9B14-13950D024010}" srcId="{B72AEF1A-FFBD-4DB0-8019-EB6CECAA6CFC}" destId="{B83E39F3-02F4-475C-94F2-AC41657A2E85}" srcOrd="0" destOrd="0" parTransId="{EF70328C-4404-412A-98BA-A17C4D0CEEB9}" sibTransId="{E7AEFB33-2E0A-4C37-98B2-A516E7F1C63F}"/>
    <dgm:cxn modelId="{32F5C590-5804-4137-A362-6B0EFE31A130}" type="presOf" srcId="{B83E39F3-02F4-475C-94F2-AC41657A2E85}" destId="{A3276E16-DEB0-490E-85BA-06E2EBC3C338}" srcOrd="0" destOrd="0" presId="urn:microsoft.com/office/officeart/2008/layout/BendingPictureCaptionList"/>
    <dgm:cxn modelId="{E6358580-D613-4D43-BD33-6296DDD2B580}" type="presOf" srcId="{D6151B7C-DC9C-4C79-9B23-44548049E457}" destId="{E4D262C8-E614-4076-9B1C-84A66E3364B3}" srcOrd="0" destOrd="0" presId="urn:microsoft.com/office/officeart/2008/layout/BendingPictureCaptionList"/>
    <dgm:cxn modelId="{A2E956B1-4890-4BFD-AED0-4246C6D661C2}" srcId="{B72AEF1A-FFBD-4DB0-8019-EB6CECAA6CFC}" destId="{D6151B7C-DC9C-4C79-9B23-44548049E457}" srcOrd="2" destOrd="0" parTransId="{38B35B8D-BB9F-498E-B80B-BD5EE1A79CCB}" sibTransId="{78F69DBE-95B5-46BF-9C5E-2CF6695AB5D7}"/>
    <dgm:cxn modelId="{A7B70384-CE96-4BBE-BD1E-BECD8F70836B}" srcId="{B72AEF1A-FFBD-4DB0-8019-EB6CECAA6CFC}" destId="{462D6F83-CA5D-4DD4-B2D1-F31E49396673}" srcOrd="1" destOrd="0" parTransId="{166656EE-81EE-475A-B166-A31B415DAE73}" sibTransId="{C1A71A92-0AC3-4F27-8C10-C840AC3CD116}"/>
    <dgm:cxn modelId="{B9F2153F-B39D-405B-9B33-89DBC28C407C}" type="presParOf" srcId="{25DBA72D-C7B2-4521-B3A0-60094C083DC5}" destId="{21AFB00E-1930-4A66-971E-3D43440F310B}" srcOrd="0" destOrd="0" presId="urn:microsoft.com/office/officeart/2008/layout/BendingPictureCaptionList"/>
    <dgm:cxn modelId="{C80760FD-0EA6-45DB-9B6B-913440DDD9FC}" type="presParOf" srcId="{21AFB00E-1930-4A66-971E-3D43440F310B}" destId="{D9C6F939-B4EB-4537-B78D-A6E50D9309C6}" srcOrd="0" destOrd="0" presId="urn:microsoft.com/office/officeart/2008/layout/BendingPictureCaptionList"/>
    <dgm:cxn modelId="{6E9732CD-BD6F-4B2B-BA2F-88E3142D7F53}" type="presParOf" srcId="{21AFB00E-1930-4A66-971E-3D43440F310B}" destId="{A3276E16-DEB0-490E-85BA-06E2EBC3C338}" srcOrd="1" destOrd="0" presId="urn:microsoft.com/office/officeart/2008/layout/BendingPictureCaptionList"/>
    <dgm:cxn modelId="{B2B1CEB1-5F25-4047-846A-64F9C5C3F851}" type="presParOf" srcId="{25DBA72D-C7B2-4521-B3A0-60094C083DC5}" destId="{38D98024-51BF-475E-985E-2699E4A4EAD1}" srcOrd="1" destOrd="0" presId="urn:microsoft.com/office/officeart/2008/layout/BendingPictureCaptionList"/>
    <dgm:cxn modelId="{787F304A-534B-465B-8F21-1AFDF8D1C86A}" type="presParOf" srcId="{25DBA72D-C7B2-4521-B3A0-60094C083DC5}" destId="{0459339C-72F4-4A22-A705-1EA879841385}" srcOrd="2" destOrd="0" presId="urn:microsoft.com/office/officeart/2008/layout/BendingPictureCaptionList"/>
    <dgm:cxn modelId="{65DE0646-D008-4AB3-AE90-DE0281D58C10}" type="presParOf" srcId="{0459339C-72F4-4A22-A705-1EA879841385}" destId="{C24C27C5-924B-4D80-8FD6-386AB22E96BF}" srcOrd="0" destOrd="0" presId="urn:microsoft.com/office/officeart/2008/layout/BendingPictureCaptionList"/>
    <dgm:cxn modelId="{1F289CF1-B81C-453E-8E36-C3717C21C739}" type="presParOf" srcId="{0459339C-72F4-4A22-A705-1EA879841385}" destId="{1BFE2281-C339-4864-B288-4AC5E3849B33}" srcOrd="1" destOrd="0" presId="urn:microsoft.com/office/officeart/2008/layout/BendingPictureCaptionList"/>
    <dgm:cxn modelId="{831F8642-130F-4C93-931C-3D3AD6F704BF}" type="presParOf" srcId="{25DBA72D-C7B2-4521-B3A0-60094C083DC5}" destId="{1A1D90DF-906B-4EA8-ADD1-B5D0D5642F33}" srcOrd="3" destOrd="0" presId="urn:microsoft.com/office/officeart/2008/layout/BendingPictureCaptionList"/>
    <dgm:cxn modelId="{9792394B-B79E-47EE-8596-BA7D68D797A0}" type="presParOf" srcId="{25DBA72D-C7B2-4521-B3A0-60094C083DC5}" destId="{460161FE-CF7F-497F-A175-C1E9AD6DC1B9}" srcOrd="4" destOrd="0" presId="urn:microsoft.com/office/officeart/2008/layout/BendingPictureCaptionList"/>
    <dgm:cxn modelId="{EB69D7CD-9BF2-4C33-A3E4-8E05E106395C}" type="presParOf" srcId="{460161FE-CF7F-497F-A175-C1E9AD6DC1B9}" destId="{63AD1894-96F8-4F71-B4F8-056AB83E0E00}" srcOrd="0" destOrd="0" presId="urn:microsoft.com/office/officeart/2008/layout/BendingPictureCaptionList"/>
    <dgm:cxn modelId="{42164C08-72B7-4D98-B70C-CEAC2B18E9AC}" type="presParOf" srcId="{460161FE-CF7F-497F-A175-C1E9AD6DC1B9}" destId="{E4D262C8-E614-4076-9B1C-84A66E3364B3}"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4C12497-4AD7-44BC-A580-87CDCD0F0EE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47F2B7C-EFD9-4F80-95B7-047EBA032681}">
      <dgm:prSet/>
      <dgm:spPr/>
      <dgm:t>
        <a:bodyPr/>
        <a:lstStyle/>
        <a:p>
          <a:pPr rtl="0"/>
          <a:r>
            <a:rPr lang="en-US"/>
            <a:t>Utility maximizing opponent</a:t>
          </a:r>
        </a:p>
      </dgm:t>
    </dgm:pt>
    <dgm:pt modelId="{099273C5-7E63-4C43-A3D5-DE21800A6D93}" type="parTrans" cxnId="{133F3C46-B861-4FC2-B390-E6C34B552CA6}">
      <dgm:prSet/>
      <dgm:spPr/>
      <dgm:t>
        <a:bodyPr/>
        <a:lstStyle/>
        <a:p>
          <a:endParaRPr lang="en-US"/>
        </a:p>
      </dgm:t>
    </dgm:pt>
    <dgm:pt modelId="{CBD4A580-F37C-4FBC-A694-85D156029D48}" type="sibTrans" cxnId="{133F3C46-B861-4FC2-B390-E6C34B552CA6}">
      <dgm:prSet/>
      <dgm:spPr/>
      <dgm:t>
        <a:bodyPr/>
        <a:lstStyle/>
        <a:p>
          <a:endParaRPr lang="en-US"/>
        </a:p>
      </dgm:t>
    </dgm:pt>
    <dgm:pt modelId="{7DFCA5C6-843C-4102-ACF6-1DE528F4FC30}">
      <dgm:prSet/>
      <dgm:spPr/>
      <dgm:t>
        <a:bodyPr/>
        <a:lstStyle/>
        <a:p>
          <a:pPr rtl="0"/>
          <a:r>
            <a:rPr lang="en-US"/>
            <a:t>solution is a strategy specifying a move for every possible opponent response.</a:t>
          </a:r>
        </a:p>
      </dgm:t>
    </dgm:pt>
    <dgm:pt modelId="{B00A254D-DD3C-4FE0-9D90-B902B605D29B}" type="parTrans" cxnId="{88CD1B76-B4A9-4F47-AEFB-883FF79FAB85}">
      <dgm:prSet/>
      <dgm:spPr/>
      <dgm:t>
        <a:bodyPr/>
        <a:lstStyle/>
        <a:p>
          <a:endParaRPr lang="en-US"/>
        </a:p>
      </dgm:t>
    </dgm:pt>
    <dgm:pt modelId="{26A97C9F-C5DB-4D36-B6B1-3E690230EB19}" type="sibTrans" cxnId="{88CD1B76-B4A9-4F47-AEFB-883FF79FAB85}">
      <dgm:prSet/>
      <dgm:spPr/>
      <dgm:t>
        <a:bodyPr/>
        <a:lstStyle/>
        <a:p>
          <a:endParaRPr lang="en-US"/>
        </a:p>
      </dgm:t>
    </dgm:pt>
    <dgm:pt modelId="{9B436BCE-3755-4AAF-A825-AE6E2DDC954C}">
      <dgm:prSet/>
      <dgm:spPr/>
      <dgm:t>
        <a:bodyPr/>
        <a:lstStyle/>
        <a:p>
          <a:pPr rtl="0"/>
          <a:r>
            <a:rPr lang="en-US"/>
            <a:t>Time limit</a:t>
          </a:r>
        </a:p>
      </dgm:t>
    </dgm:pt>
    <dgm:pt modelId="{F781732D-0318-4E4C-9D2A-0B6C1B746988}" type="parTrans" cxnId="{157A1324-11D9-4958-9035-9D14BD12990D}">
      <dgm:prSet/>
      <dgm:spPr/>
      <dgm:t>
        <a:bodyPr/>
        <a:lstStyle/>
        <a:p>
          <a:endParaRPr lang="en-US"/>
        </a:p>
      </dgm:t>
    </dgm:pt>
    <dgm:pt modelId="{A2CAC2C0-358C-430D-A6E1-A1888D16F987}" type="sibTrans" cxnId="{157A1324-11D9-4958-9035-9D14BD12990D}">
      <dgm:prSet/>
      <dgm:spPr/>
      <dgm:t>
        <a:bodyPr/>
        <a:lstStyle/>
        <a:p>
          <a:endParaRPr lang="en-US"/>
        </a:p>
      </dgm:t>
    </dgm:pt>
    <dgm:pt modelId="{C75FD273-4A87-45C2-B357-318EA3E27E32}">
      <dgm:prSet/>
      <dgm:spPr/>
      <dgm:t>
        <a:bodyPr/>
        <a:lstStyle/>
        <a:p>
          <a:pPr rtl="0"/>
          <a:r>
            <a:rPr lang="en-US"/>
            <a:t>unlikely to find goal, must approximate</a:t>
          </a:r>
          <a:br>
            <a:rPr lang="en-US"/>
          </a:br>
          <a:endParaRPr lang="en-US"/>
        </a:p>
      </dgm:t>
    </dgm:pt>
    <dgm:pt modelId="{44988F65-7E80-42ED-A8A6-34836B5BC601}" type="parTrans" cxnId="{ED74DE55-5615-40FD-AE05-07BC6C4AC0AC}">
      <dgm:prSet/>
      <dgm:spPr/>
      <dgm:t>
        <a:bodyPr/>
        <a:lstStyle/>
        <a:p>
          <a:endParaRPr lang="en-US"/>
        </a:p>
      </dgm:t>
    </dgm:pt>
    <dgm:pt modelId="{11E6C8BF-A02E-4839-923F-C611D6E71E22}" type="sibTrans" cxnId="{ED74DE55-5615-40FD-AE05-07BC6C4AC0AC}">
      <dgm:prSet/>
      <dgm:spPr/>
      <dgm:t>
        <a:bodyPr/>
        <a:lstStyle/>
        <a:p>
          <a:endParaRPr lang="en-US"/>
        </a:p>
      </dgm:t>
    </dgm:pt>
    <dgm:pt modelId="{85752B17-11B8-4D46-ADAD-C88507727A7C}" type="pres">
      <dgm:prSet presAssocID="{C4C12497-4AD7-44BC-A580-87CDCD0F0EEE}" presName="linear" presStyleCnt="0">
        <dgm:presLayoutVars>
          <dgm:animLvl val="lvl"/>
          <dgm:resizeHandles val="exact"/>
        </dgm:presLayoutVars>
      </dgm:prSet>
      <dgm:spPr/>
      <dgm:t>
        <a:bodyPr/>
        <a:lstStyle/>
        <a:p>
          <a:endParaRPr lang="en-US"/>
        </a:p>
      </dgm:t>
    </dgm:pt>
    <dgm:pt modelId="{AEB7F14F-E799-41D1-A9BB-E1666693D592}" type="pres">
      <dgm:prSet presAssocID="{747F2B7C-EFD9-4F80-95B7-047EBA032681}" presName="parentText" presStyleLbl="node1" presStyleIdx="0" presStyleCnt="2">
        <dgm:presLayoutVars>
          <dgm:chMax val="0"/>
          <dgm:bulletEnabled val="1"/>
        </dgm:presLayoutVars>
      </dgm:prSet>
      <dgm:spPr/>
      <dgm:t>
        <a:bodyPr/>
        <a:lstStyle/>
        <a:p>
          <a:endParaRPr lang="en-US"/>
        </a:p>
      </dgm:t>
    </dgm:pt>
    <dgm:pt modelId="{F6F77F5B-088A-4F1F-83E0-AE1A79F560AD}" type="pres">
      <dgm:prSet presAssocID="{747F2B7C-EFD9-4F80-95B7-047EBA032681}" presName="childText" presStyleLbl="revTx" presStyleIdx="0" presStyleCnt="2">
        <dgm:presLayoutVars>
          <dgm:bulletEnabled val="1"/>
        </dgm:presLayoutVars>
      </dgm:prSet>
      <dgm:spPr/>
      <dgm:t>
        <a:bodyPr/>
        <a:lstStyle/>
        <a:p>
          <a:endParaRPr lang="en-US"/>
        </a:p>
      </dgm:t>
    </dgm:pt>
    <dgm:pt modelId="{3C169122-3AEF-4CB1-932E-1E73F7D014D0}" type="pres">
      <dgm:prSet presAssocID="{9B436BCE-3755-4AAF-A825-AE6E2DDC954C}" presName="parentText" presStyleLbl="node1" presStyleIdx="1" presStyleCnt="2">
        <dgm:presLayoutVars>
          <dgm:chMax val="0"/>
          <dgm:bulletEnabled val="1"/>
        </dgm:presLayoutVars>
      </dgm:prSet>
      <dgm:spPr/>
      <dgm:t>
        <a:bodyPr/>
        <a:lstStyle/>
        <a:p>
          <a:endParaRPr lang="en-US"/>
        </a:p>
      </dgm:t>
    </dgm:pt>
    <dgm:pt modelId="{F5A7380B-EC68-4CAE-96EC-BD81BEBFF3B2}" type="pres">
      <dgm:prSet presAssocID="{9B436BCE-3755-4AAF-A825-AE6E2DDC954C}" presName="childText" presStyleLbl="revTx" presStyleIdx="1" presStyleCnt="2">
        <dgm:presLayoutVars>
          <dgm:bulletEnabled val="1"/>
        </dgm:presLayoutVars>
      </dgm:prSet>
      <dgm:spPr/>
      <dgm:t>
        <a:bodyPr/>
        <a:lstStyle/>
        <a:p>
          <a:endParaRPr lang="en-US"/>
        </a:p>
      </dgm:t>
    </dgm:pt>
  </dgm:ptLst>
  <dgm:cxnLst>
    <dgm:cxn modelId="{4F170306-7960-4A9F-AED9-A2AAED9A1E1C}" type="presOf" srcId="{7DFCA5C6-843C-4102-ACF6-1DE528F4FC30}" destId="{F6F77F5B-088A-4F1F-83E0-AE1A79F560AD}" srcOrd="0" destOrd="0" presId="urn:microsoft.com/office/officeart/2005/8/layout/vList2"/>
    <dgm:cxn modelId="{ED74DE55-5615-40FD-AE05-07BC6C4AC0AC}" srcId="{9B436BCE-3755-4AAF-A825-AE6E2DDC954C}" destId="{C75FD273-4A87-45C2-B357-318EA3E27E32}" srcOrd="0" destOrd="0" parTransId="{44988F65-7E80-42ED-A8A6-34836B5BC601}" sibTransId="{11E6C8BF-A02E-4839-923F-C611D6E71E22}"/>
    <dgm:cxn modelId="{65EE88E2-BDFE-47DA-A891-259A2C8CB436}" type="presOf" srcId="{9B436BCE-3755-4AAF-A825-AE6E2DDC954C}" destId="{3C169122-3AEF-4CB1-932E-1E73F7D014D0}" srcOrd="0" destOrd="0" presId="urn:microsoft.com/office/officeart/2005/8/layout/vList2"/>
    <dgm:cxn modelId="{B24CF45D-5A2A-419C-926F-FDE59F79E9C0}" type="presOf" srcId="{C4C12497-4AD7-44BC-A580-87CDCD0F0EEE}" destId="{85752B17-11B8-4D46-ADAD-C88507727A7C}" srcOrd="0" destOrd="0" presId="urn:microsoft.com/office/officeart/2005/8/layout/vList2"/>
    <dgm:cxn modelId="{133F3C46-B861-4FC2-B390-E6C34B552CA6}" srcId="{C4C12497-4AD7-44BC-A580-87CDCD0F0EEE}" destId="{747F2B7C-EFD9-4F80-95B7-047EBA032681}" srcOrd="0" destOrd="0" parTransId="{099273C5-7E63-4C43-A3D5-DE21800A6D93}" sibTransId="{CBD4A580-F37C-4FBC-A694-85D156029D48}"/>
    <dgm:cxn modelId="{4778A3D1-79F9-42F2-BEF7-B2827021D83B}" type="presOf" srcId="{747F2B7C-EFD9-4F80-95B7-047EBA032681}" destId="{AEB7F14F-E799-41D1-A9BB-E1666693D592}" srcOrd="0" destOrd="0" presId="urn:microsoft.com/office/officeart/2005/8/layout/vList2"/>
    <dgm:cxn modelId="{157A1324-11D9-4958-9035-9D14BD12990D}" srcId="{C4C12497-4AD7-44BC-A580-87CDCD0F0EEE}" destId="{9B436BCE-3755-4AAF-A825-AE6E2DDC954C}" srcOrd="1" destOrd="0" parTransId="{F781732D-0318-4E4C-9D2A-0B6C1B746988}" sibTransId="{A2CAC2C0-358C-430D-A6E1-A1888D16F987}"/>
    <dgm:cxn modelId="{8D90412F-B780-4515-AD71-99BC2C7D9A42}" type="presOf" srcId="{C75FD273-4A87-45C2-B357-318EA3E27E32}" destId="{F5A7380B-EC68-4CAE-96EC-BD81BEBFF3B2}" srcOrd="0" destOrd="0" presId="urn:microsoft.com/office/officeart/2005/8/layout/vList2"/>
    <dgm:cxn modelId="{88CD1B76-B4A9-4F47-AEFB-883FF79FAB85}" srcId="{747F2B7C-EFD9-4F80-95B7-047EBA032681}" destId="{7DFCA5C6-843C-4102-ACF6-1DE528F4FC30}" srcOrd="0" destOrd="0" parTransId="{B00A254D-DD3C-4FE0-9D90-B902B605D29B}" sibTransId="{26A97C9F-C5DB-4D36-B6B1-3E690230EB19}"/>
    <dgm:cxn modelId="{3D035BBD-E9CD-4BDA-ABF9-EDBDC382BB24}" type="presParOf" srcId="{85752B17-11B8-4D46-ADAD-C88507727A7C}" destId="{AEB7F14F-E799-41D1-A9BB-E1666693D592}" srcOrd="0" destOrd="0" presId="urn:microsoft.com/office/officeart/2005/8/layout/vList2"/>
    <dgm:cxn modelId="{E100BC64-6383-4BB0-BE3E-C1EEF5207E84}" type="presParOf" srcId="{85752B17-11B8-4D46-ADAD-C88507727A7C}" destId="{F6F77F5B-088A-4F1F-83E0-AE1A79F560AD}" srcOrd="1" destOrd="0" presId="urn:microsoft.com/office/officeart/2005/8/layout/vList2"/>
    <dgm:cxn modelId="{E037E19D-95E5-4D79-A4F1-BF40E78E5339}" type="presParOf" srcId="{85752B17-11B8-4D46-ADAD-C88507727A7C}" destId="{3C169122-3AEF-4CB1-932E-1E73F7D014D0}" srcOrd="2" destOrd="0" presId="urn:microsoft.com/office/officeart/2005/8/layout/vList2"/>
    <dgm:cxn modelId="{D824E66E-396A-485F-BAFA-D41864666BCE}" type="presParOf" srcId="{85752B17-11B8-4D46-ADAD-C88507727A7C}" destId="{F5A7380B-EC68-4CAE-96EC-BD81BEBFF3B2}"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2928F8-3B49-45C0-ADB2-5782B7CBBDD7}">
      <dsp:nvSpPr>
        <dsp:cNvPr id="0" name=""/>
        <dsp:cNvSpPr/>
      </dsp:nvSpPr>
      <dsp:spPr>
        <a:xfrm>
          <a:off x="0" y="313874"/>
          <a:ext cx="10753859" cy="1404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lvl="0" algn="l" defTabSz="2667000" rtl="0">
            <a:lnSpc>
              <a:spcPct val="90000"/>
            </a:lnSpc>
            <a:spcBef>
              <a:spcPct val="0"/>
            </a:spcBef>
            <a:spcAft>
              <a:spcPct val="35000"/>
            </a:spcAft>
          </a:pPr>
          <a:r>
            <a:rPr lang="en-US" sz="6000" kern="1200"/>
            <a:t>Local search strategies</a:t>
          </a:r>
        </a:p>
      </dsp:txBody>
      <dsp:txXfrm>
        <a:off x="68538" y="382412"/>
        <a:ext cx="10616783" cy="1266924"/>
      </dsp:txXfrm>
    </dsp:sp>
    <dsp:sp modelId="{826B3B7F-93B9-4F22-BBF0-D68EF71AE7DB}">
      <dsp:nvSpPr>
        <dsp:cNvPr id="0" name=""/>
        <dsp:cNvSpPr/>
      </dsp:nvSpPr>
      <dsp:spPr>
        <a:xfrm>
          <a:off x="0" y="1717874"/>
          <a:ext cx="10753859" cy="1397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435" tIns="76200" rIns="426720" bIns="76200" numCol="1" spcCol="1270" anchor="t" anchorCtr="0">
          <a:noAutofit/>
        </a:bodyPr>
        <a:lstStyle/>
        <a:p>
          <a:pPr marL="285750" lvl="1" indent="-285750" algn="l" defTabSz="2089150" rtl="0">
            <a:lnSpc>
              <a:spcPct val="90000"/>
            </a:lnSpc>
            <a:spcBef>
              <a:spcPct val="0"/>
            </a:spcBef>
            <a:spcAft>
              <a:spcPct val="20000"/>
            </a:spcAft>
            <a:buChar char="••"/>
          </a:pPr>
          <a:r>
            <a:rPr lang="en-US" sz="4700" kern="1200" dirty="0"/>
            <a:t>Hill-climbing search: use of heuristic function to improve “current” state</a:t>
          </a:r>
        </a:p>
      </dsp:txBody>
      <dsp:txXfrm>
        <a:off x="0" y="1717874"/>
        <a:ext cx="10753859" cy="13972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FBCDB9-0392-4A06-9491-B2D6ADDB20D3}">
      <dsp:nvSpPr>
        <dsp:cNvPr id="0" name=""/>
        <dsp:cNvSpPr/>
      </dsp:nvSpPr>
      <dsp:spPr>
        <a:xfrm>
          <a:off x="0" y="504825"/>
          <a:ext cx="2571749" cy="20573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3000" r="-13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9AD698-C1F9-4526-8B6B-AE95881270E4}">
      <dsp:nvSpPr>
        <dsp:cNvPr id="0" name=""/>
        <dsp:cNvSpPr/>
      </dsp:nvSpPr>
      <dsp:spPr>
        <a:xfrm>
          <a:off x="231457"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Kasparov Vs. IBM’s Deep Blue (1997)</a:t>
          </a:r>
        </a:p>
      </dsp:txBody>
      <dsp:txXfrm>
        <a:off x="231457" y="2356485"/>
        <a:ext cx="2288857" cy="720090"/>
      </dsp:txXfrm>
    </dsp:sp>
    <dsp:sp modelId="{5084DAFC-3C68-4963-AF89-AEFBFD669A5B}">
      <dsp:nvSpPr>
        <dsp:cNvPr id="0" name=""/>
        <dsp:cNvSpPr/>
      </dsp:nvSpPr>
      <dsp:spPr>
        <a:xfrm>
          <a:off x="2828925" y="504825"/>
          <a:ext cx="2571749" cy="20573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10000" r="-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6B5E69-BF6A-4AD3-B2EB-6A52E15CCE7A}">
      <dsp:nvSpPr>
        <dsp:cNvPr id="0" name=""/>
        <dsp:cNvSpPr/>
      </dsp:nvSpPr>
      <dsp:spPr>
        <a:xfrm>
          <a:off x="3060382"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World Poker Champs Vs. </a:t>
          </a:r>
          <a:r>
            <a:rPr lang="en-US" sz="1500" kern="1200" dirty="0" err="1"/>
            <a:t>Libratus</a:t>
          </a:r>
          <a:r>
            <a:rPr lang="en-US" sz="1500" kern="1200" dirty="0"/>
            <a:t> (2017)</a:t>
          </a:r>
        </a:p>
      </dsp:txBody>
      <dsp:txXfrm>
        <a:off x="3060382" y="2356485"/>
        <a:ext cx="2288857" cy="720090"/>
      </dsp:txXfrm>
    </dsp:sp>
    <dsp:sp modelId="{3D39892B-937F-44D6-8D43-8752372E206F}">
      <dsp:nvSpPr>
        <dsp:cNvPr id="0" name=""/>
        <dsp:cNvSpPr/>
      </dsp:nvSpPr>
      <dsp:spPr>
        <a:xfrm>
          <a:off x="5657849" y="504825"/>
          <a:ext cx="2571749" cy="20573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6A36D4-5A2E-4686-9C7C-254C2B9BE14F}">
      <dsp:nvSpPr>
        <dsp:cNvPr id="0" name=""/>
        <dsp:cNvSpPr/>
      </dsp:nvSpPr>
      <dsp:spPr>
        <a:xfrm>
          <a:off x="5889307"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Lee </a:t>
          </a:r>
          <a:r>
            <a:rPr lang="en-US" sz="1500" kern="1200" dirty="0" err="1"/>
            <a:t>Sedol</a:t>
          </a:r>
          <a:r>
            <a:rPr lang="en-US" sz="1500" kern="1200" dirty="0"/>
            <a:t> Vs. DeepMind’s </a:t>
          </a:r>
          <a:r>
            <a:rPr lang="en-US" sz="1500" kern="1200" dirty="0" err="1"/>
            <a:t>AlphaGo</a:t>
          </a:r>
          <a:r>
            <a:rPr lang="en-US" sz="1500" kern="1200" dirty="0"/>
            <a:t> (2016)</a:t>
          </a:r>
        </a:p>
      </dsp:txBody>
      <dsp:txXfrm>
        <a:off x="5889307" y="2356485"/>
        <a:ext cx="2288857" cy="7200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84DAFC-3C68-4963-AF89-AEFBFD669A5B}">
      <dsp:nvSpPr>
        <dsp:cNvPr id="0" name=""/>
        <dsp:cNvSpPr/>
      </dsp:nvSpPr>
      <dsp:spPr>
        <a:xfrm>
          <a:off x="0" y="504825"/>
          <a:ext cx="2571749" cy="20573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86B5E69-BF6A-4AD3-B2EB-6A52E15CCE7A}">
      <dsp:nvSpPr>
        <dsp:cNvPr id="0" name=""/>
        <dsp:cNvSpPr/>
      </dsp:nvSpPr>
      <dsp:spPr>
        <a:xfrm>
          <a:off x="231457"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World Poker Champs Vs. </a:t>
          </a:r>
          <a:r>
            <a:rPr lang="en-US" sz="1500" kern="1200" dirty="0" err="1"/>
            <a:t>Libratus</a:t>
          </a:r>
          <a:r>
            <a:rPr lang="en-US" sz="1500" kern="1200" dirty="0"/>
            <a:t> (2017)</a:t>
          </a:r>
        </a:p>
      </dsp:txBody>
      <dsp:txXfrm>
        <a:off x="231457" y="2356485"/>
        <a:ext cx="2288857" cy="720090"/>
      </dsp:txXfrm>
    </dsp:sp>
    <dsp:sp modelId="{3D39892B-937F-44D6-8D43-8752372E206F}">
      <dsp:nvSpPr>
        <dsp:cNvPr id="0" name=""/>
        <dsp:cNvSpPr/>
      </dsp:nvSpPr>
      <dsp:spPr>
        <a:xfrm>
          <a:off x="2828925" y="504825"/>
          <a:ext cx="2571749" cy="20573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1000" r="-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6A36D4-5A2E-4686-9C7C-254C2B9BE14F}">
      <dsp:nvSpPr>
        <dsp:cNvPr id="0" name=""/>
        <dsp:cNvSpPr/>
      </dsp:nvSpPr>
      <dsp:spPr>
        <a:xfrm>
          <a:off x="3060382"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a:t>Lee </a:t>
          </a:r>
          <a:r>
            <a:rPr lang="en-US" sz="1500" kern="1200" dirty="0" err="1"/>
            <a:t>Sedol</a:t>
          </a:r>
          <a:r>
            <a:rPr lang="en-US" sz="1500" kern="1200" dirty="0"/>
            <a:t> Vs. DeepMind’s </a:t>
          </a:r>
          <a:r>
            <a:rPr lang="en-US" sz="1500" kern="1200" dirty="0" err="1"/>
            <a:t>AlphaGo</a:t>
          </a:r>
          <a:r>
            <a:rPr lang="en-US" sz="1500" kern="1200" dirty="0"/>
            <a:t> (2016)</a:t>
          </a:r>
        </a:p>
      </dsp:txBody>
      <dsp:txXfrm>
        <a:off x="3060382" y="2356485"/>
        <a:ext cx="2288857" cy="720090"/>
      </dsp:txXfrm>
    </dsp:sp>
    <dsp:sp modelId="{D9C6F939-B4EB-4537-B78D-A6E50D9309C6}">
      <dsp:nvSpPr>
        <dsp:cNvPr id="0" name=""/>
        <dsp:cNvSpPr/>
      </dsp:nvSpPr>
      <dsp:spPr>
        <a:xfrm>
          <a:off x="5657849" y="504825"/>
          <a:ext cx="2571749" cy="20573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276E16-DEB0-490E-85BA-06E2EBC3C338}">
      <dsp:nvSpPr>
        <dsp:cNvPr id="0" name=""/>
        <dsp:cNvSpPr/>
      </dsp:nvSpPr>
      <dsp:spPr>
        <a:xfrm>
          <a:off x="5889307"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err="1"/>
            <a:t>AlphaZero</a:t>
          </a:r>
          <a:r>
            <a:rPr lang="en-US" sz="1500" kern="1200" dirty="0"/>
            <a:t> can solve any zero-sum game!</a:t>
          </a:r>
        </a:p>
      </dsp:txBody>
      <dsp:txXfrm>
        <a:off x="5889307" y="2356485"/>
        <a:ext cx="2288857" cy="72009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C6F939-B4EB-4537-B78D-A6E50D9309C6}">
      <dsp:nvSpPr>
        <dsp:cNvPr id="0" name=""/>
        <dsp:cNvSpPr/>
      </dsp:nvSpPr>
      <dsp:spPr>
        <a:xfrm>
          <a:off x="0" y="504825"/>
          <a:ext cx="2571749" cy="20573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0000" r="-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276E16-DEB0-490E-85BA-06E2EBC3C338}">
      <dsp:nvSpPr>
        <dsp:cNvPr id="0" name=""/>
        <dsp:cNvSpPr/>
      </dsp:nvSpPr>
      <dsp:spPr>
        <a:xfrm>
          <a:off x="231457"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err="1"/>
            <a:t>OpenAI</a:t>
          </a:r>
          <a:r>
            <a:rPr lang="en-US" sz="1800" kern="1200" dirty="0"/>
            <a:t> Five beats pro DOTA 2 players.</a:t>
          </a:r>
        </a:p>
      </dsp:txBody>
      <dsp:txXfrm>
        <a:off x="231457" y="2356485"/>
        <a:ext cx="2288857" cy="720090"/>
      </dsp:txXfrm>
    </dsp:sp>
    <dsp:sp modelId="{C24C27C5-924B-4D80-8FD6-386AB22E96BF}">
      <dsp:nvSpPr>
        <dsp:cNvPr id="0" name=""/>
        <dsp:cNvSpPr/>
      </dsp:nvSpPr>
      <dsp:spPr>
        <a:xfrm>
          <a:off x="2828925" y="504825"/>
          <a:ext cx="2571749" cy="20573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l="-21000" r="-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BFE2281-C339-4864-B288-4AC5E3849B33}">
      <dsp:nvSpPr>
        <dsp:cNvPr id="0" name=""/>
        <dsp:cNvSpPr/>
      </dsp:nvSpPr>
      <dsp:spPr>
        <a:xfrm>
          <a:off x="3060382"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a:t>Pluribus beats multi-player poker pros</a:t>
          </a:r>
        </a:p>
      </dsp:txBody>
      <dsp:txXfrm>
        <a:off x="3060382" y="2356485"/>
        <a:ext cx="2288857" cy="720090"/>
      </dsp:txXfrm>
    </dsp:sp>
    <dsp:sp modelId="{63AD1894-96F8-4F71-B4F8-056AB83E0E00}">
      <dsp:nvSpPr>
        <dsp:cNvPr id="0" name=""/>
        <dsp:cNvSpPr/>
      </dsp:nvSpPr>
      <dsp:spPr>
        <a:xfrm>
          <a:off x="5657849" y="504825"/>
          <a:ext cx="2571749" cy="20573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l="-21000" r="-2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4D262C8-E614-4076-9B1C-84A66E3364B3}">
      <dsp:nvSpPr>
        <dsp:cNvPr id="0" name=""/>
        <dsp:cNvSpPr/>
      </dsp:nvSpPr>
      <dsp:spPr>
        <a:xfrm>
          <a:off x="5889307" y="2356485"/>
          <a:ext cx="2288857" cy="720090"/>
        </a:xfrm>
        <a:prstGeom prst="wedgeRectCallout">
          <a:avLst>
            <a:gd name="adj1" fmla="val 20250"/>
            <a:gd name="adj2" fmla="val -607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err="1"/>
            <a:t>AlphaStar</a:t>
          </a:r>
          <a:r>
            <a:rPr lang="en-US" sz="1800" kern="1200" dirty="0"/>
            <a:t> beats top </a:t>
          </a:r>
          <a:r>
            <a:rPr lang="en-US" sz="1800" kern="1200" dirty="0" err="1"/>
            <a:t>Starcraft</a:t>
          </a:r>
          <a:r>
            <a:rPr lang="en-US" sz="1800" kern="1200" dirty="0"/>
            <a:t> II players</a:t>
          </a:r>
        </a:p>
      </dsp:txBody>
      <dsp:txXfrm>
        <a:off x="5889307" y="2356485"/>
        <a:ext cx="2288857" cy="7200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B7F14F-E799-41D1-A9BB-E1666693D592}">
      <dsp:nvSpPr>
        <dsp:cNvPr id="0" name=""/>
        <dsp:cNvSpPr/>
      </dsp:nvSpPr>
      <dsp:spPr>
        <a:xfrm>
          <a:off x="0" y="58425"/>
          <a:ext cx="10015843" cy="9827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kern="1200"/>
            <a:t>Utility maximizing opponent</a:t>
          </a:r>
        </a:p>
      </dsp:txBody>
      <dsp:txXfrm>
        <a:off x="47976" y="106401"/>
        <a:ext cx="9919891" cy="886847"/>
      </dsp:txXfrm>
    </dsp:sp>
    <dsp:sp modelId="{F6F77F5B-088A-4F1F-83E0-AE1A79F560AD}">
      <dsp:nvSpPr>
        <dsp:cNvPr id="0" name=""/>
        <dsp:cNvSpPr/>
      </dsp:nvSpPr>
      <dsp:spPr>
        <a:xfrm>
          <a:off x="0" y="1041225"/>
          <a:ext cx="10015843" cy="978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8003" tIns="53340" rIns="298704" bIns="53340" numCol="1" spcCol="1270" anchor="t" anchorCtr="0">
          <a:noAutofit/>
        </a:bodyPr>
        <a:lstStyle/>
        <a:p>
          <a:pPr marL="285750" lvl="1" indent="-285750" algn="l" defTabSz="1466850" rtl="0">
            <a:lnSpc>
              <a:spcPct val="90000"/>
            </a:lnSpc>
            <a:spcBef>
              <a:spcPct val="0"/>
            </a:spcBef>
            <a:spcAft>
              <a:spcPct val="20000"/>
            </a:spcAft>
            <a:buChar char="••"/>
          </a:pPr>
          <a:r>
            <a:rPr lang="en-US" sz="3300" kern="1200"/>
            <a:t>solution is a strategy specifying a move for every possible opponent response.</a:t>
          </a:r>
        </a:p>
      </dsp:txBody>
      <dsp:txXfrm>
        <a:off x="0" y="1041225"/>
        <a:ext cx="10015843" cy="978074"/>
      </dsp:txXfrm>
    </dsp:sp>
    <dsp:sp modelId="{3C169122-3AEF-4CB1-932E-1E73F7D014D0}">
      <dsp:nvSpPr>
        <dsp:cNvPr id="0" name=""/>
        <dsp:cNvSpPr/>
      </dsp:nvSpPr>
      <dsp:spPr>
        <a:xfrm>
          <a:off x="0" y="2019300"/>
          <a:ext cx="10015843" cy="9827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lvl="0" algn="l" defTabSz="1866900" rtl="0">
            <a:lnSpc>
              <a:spcPct val="90000"/>
            </a:lnSpc>
            <a:spcBef>
              <a:spcPct val="0"/>
            </a:spcBef>
            <a:spcAft>
              <a:spcPct val="35000"/>
            </a:spcAft>
          </a:pPr>
          <a:r>
            <a:rPr lang="en-US" sz="4200" kern="1200"/>
            <a:t>Time limit</a:t>
          </a:r>
        </a:p>
      </dsp:txBody>
      <dsp:txXfrm>
        <a:off x="47976" y="2067276"/>
        <a:ext cx="9919891" cy="886847"/>
      </dsp:txXfrm>
    </dsp:sp>
    <dsp:sp modelId="{F5A7380B-EC68-4CAE-96EC-BD81BEBFF3B2}">
      <dsp:nvSpPr>
        <dsp:cNvPr id="0" name=""/>
        <dsp:cNvSpPr/>
      </dsp:nvSpPr>
      <dsp:spPr>
        <a:xfrm>
          <a:off x="0" y="3002100"/>
          <a:ext cx="10015843" cy="978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8003" tIns="53340" rIns="298704" bIns="53340" numCol="1" spcCol="1270" anchor="t" anchorCtr="0">
          <a:noAutofit/>
        </a:bodyPr>
        <a:lstStyle/>
        <a:p>
          <a:pPr marL="285750" lvl="1" indent="-285750" algn="l" defTabSz="1466850" rtl="0">
            <a:lnSpc>
              <a:spcPct val="90000"/>
            </a:lnSpc>
            <a:spcBef>
              <a:spcPct val="0"/>
            </a:spcBef>
            <a:spcAft>
              <a:spcPct val="20000"/>
            </a:spcAft>
            <a:buChar char="••"/>
          </a:pPr>
          <a:r>
            <a:rPr lang="en-US" sz="3300" kern="1200"/>
            <a:t>unlikely to find goal, must approximate</a:t>
          </a:r>
          <a:br>
            <a:rPr lang="en-US" sz="3300" kern="1200"/>
          </a:br>
          <a:endParaRPr lang="en-US" sz="3300" kern="1200"/>
        </a:p>
      </dsp:txBody>
      <dsp:txXfrm>
        <a:off x="0" y="3002100"/>
        <a:ext cx="10015843" cy="97807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2FB812-A9EC-154A-AEED-8655930439B2}" type="datetimeFigureOut">
              <a:rPr lang="en-US" smtClean="0"/>
              <a:t>3/6/2023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2C8E0-764B-DD40-AB5B-8F1D61D4EC99}" type="slidenum">
              <a:rPr lang="en-US" smtClean="0"/>
              <a:t>‹#›</a:t>
            </a:fld>
            <a:endParaRPr lang="en-US"/>
          </a:p>
        </p:txBody>
      </p:sp>
    </p:spTree>
    <p:extLst>
      <p:ext uri="{BB962C8B-B14F-4D97-AF65-F5344CB8AC3E}">
        <p14:creationId xmlns:p14="http://schemas.microsoft.com/office/powerpoint/2010/main" val="3976339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Solution is not sequence/path of actions but a goal state.</a:t>
            </a:r>
          </a:p>
        </p:txBody>
      </p:sp>
      <p:sp>
        <p:nvSpPr>
          <p:cNvPr id="4" name="Slide Number Placeholder 3"/>
          <p:cNvSpPr>
            <a:spLocks noGrp="1"/>
          </p:cNvSpPr>
          <p:nvPr>
            <p:ph type="sldNum" sz="quarter" idx="10"/>
          </p:nvPr>
        </p:nvSpPr>
        <p:spPr/>
        <p:txBody>
          <a:bodyPr/>
          <a:lstStyle/>
          <a:p>
            <a:fld id="{607AC38A-57BD-3F4C-8C07-081859D9DC9A}" type="slidenum">
              <a:rPr lang="en-US" smtClean="0"/>
              <a:pPr/>
              <a:t>2</a:t>
            </a:fld>
            <a:endParaRPr lang="en-US"/>
          </a:p>
        </p:txBody>
      </p:sp>
    </p:spTree>
    <p:extLst>
      <p:ext uri="{BB962C8B-B14F-4D97-AF65-F5344CB8AC3E}">
        <p14:creationId xmlns:p14="http://schemas.microsoft.com/office/powerpoint/2010/main" val="1880662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2. Not partial configuration</a:t>
            </a:r>
          </a:p>
          <a:p>
            <a:r>
              <a:rPr lang="en-US" dirty="0"/>
              <a:t>3. Constraints defining</a:t>
            </a:r>
            <a:r>
              <a:rPr lang="en-US" baseline="0" dirty="0"/>
              <a:t> goal state</a:t>
            </a:r>
          </a:p>
          <a:p>
            <a:r>
              <a:rPr lang="en-US" baseline="0" dirty="0"/>
              <a:t>4. greedy/myopic</a:t>
            </a:r>
          </a:p>
          <a:p>
            <a:r>
              <a:rPr lang="en-US" baseline="0" dirty="0"/>
              <a:t>5. In practice, it can often find near-optimal solutions but not optimal. May get stuck in suboptimal.</a:t>
            </a:r>
            <a:endParaRPr lang="en-US" dirty="0"/>
          </a:p>
        </p:txBody>
      </p:sp>
      <p:sp>
        <p:nvSpPr>
          <p:cNvPr id="4" name="Slide Number Placeholder 3"/>
          <p:cNvSpPr>
            <a:spLocks noGrp="1"/>
          </p:cNvSpPr>
          <p:nvPr>
            <p:ph type="sldNum" sz="quarter" idx="10"/>
          </p:nvPr>
        </p:nvSpPr>
        <p:spPr/>
        <p:txBody>
          <a:bodyPr/>
          <a:lstStyle/>
          <a:p>
            <a:fld id="{D22AD042-1FBE-2840-8B0E-8AAD10D10D89}" type="slidenum">
              <a:rPr lang="en-US" smtClean="0"/>
              <a:pPr/>
              <a:t>3</a:t>
            </a:fld>
            <a:endParaRPr lang="en-US"/>
          </a:p>
        </p:txBody>
      </p:sp>
    </p:spTree>
    <p:extLst>
      <p:ext uri="{BB962C8B-B14F-4D97-AF65-F5344CB8AC3E}">
        <p14:creationId xmlns:p14="http://schemas.microsoft.com/office/powerpoint/2010/main" val="175406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1. Each state corresponds to a complete </a:t>
            </a:r>
            <a:r>
              <a:rPr lang="en-US" dirty="0" err="1"/>
              <a:t>config</a:t>
            </a:r>
            <a:r>
              <a:rPr lang="en-US" dirty="0"/>
              <a:t>, with </a:t>
            </a:r>
            <a:r>
              <a:rPr lang="en-US" dirty="0" err="1"/>
              <a:t>n</a:t>
            </a:r>
            <a:r>
              <a:rPr lang="en-US" dirty="0"/>
              <a:t> queens on board, 1 per column.</a:t>
            </a:r>
          </a:p>
          <a:p>
            <a:r>
              <a:rPr lang="en-US" dirty="0"/>
              <a:t>2. Move from state to state.</a:t>
            </a:r>
          </a:p>
          <a:p>
            <a:r>
              <a:rPr lang="en-US" dirty="0"/>
              <a:t>3. The successor of a</a:t>
            </a:r>
            <a:r>
              <a:rPr lang="en-US" baseline="0" dirty="0"/>
              <a:t> state is generated by moving a single queen to another square in the same column: 4 </a:t>
            </a:r>
            <a:r>
              <a:rPr lang="en-US" baseline="0" dirty="0" err="1"/>
              <a:t>x</a:t>
            </a:r>
            <a:r>
              <a:rPr lang="en-US" baseline="0" dirty="0"/>
              <a:t> 3 successors from each state</a:t>
            </a:r>
            <a:endParaRPr lang="en-US" dirty="0"/>
          </a:p>
        </p:txBody>
      </p:sp>
      <p:sp>
        <p:nvSpPr>
          <p:cNvPr id="4" name="Slide Number Placeholder 3"/>
          <p:cNvSpPr>
            <a:spLocks noGrp="1"/>
          </p:cNvSpPr>
          <p:nvPr>
            <p:ph type="sldNum" sz="quarter" idx="10"/>
          </p:nvPr>
        </p:nvSpPr>
        <p:spPr/>
        <p:txBody>
          <a:bodyPr/>
          <a:lstStyle/>
          <a:p>
            <a:fld id="{D22AD042-1FBE-2840-8B0E-8AAD10D10D89}" type="slidenum">
              <a:rPr lang="en-US" smtClean="0"/>
              <a:pPr/>
              <a:t>4</a:t>
            </a:fld>
            <a:endParaRPr lang="en-US"/>
          </a:p>
        </p:txBody>
      </p:sp>
    </p:spTree>
    <p:extLst>
      <p:ext uri="{BB962C8B-B14F-4D97-AF65-F5344CB8AC3E}">
        <p14:creationId xmlns:p14="http://schemas.microsoft.com/office/powerpoint/2010/main" val="3453321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sz="1200" dirty="0">
                <a:latin typeface="Corbel" panose="020B0503020204020204" pitchFamily="34" charset="0"/>
                <a:cs typeface="Times"/>
              </a:rPr>
              <a:t>Really simple. Keep track of 1 state</a:t>
            </a:r>
            <a:r>
              <a:rPr lang="en-US" sz="1200" baseline="0" dirty="0">
                <a:latin typeface="Corbel" panose="020B0503020204020204" pitchFamily="34" charset="0"/>
                <a:cs typeface="Times"/>
              </a:rPr>
              <a:t> or some number of states.</a:t>
            </a:r>
          </a:p>
          <a:p>
            <a:r>
              <a:rPr lang="en-US" sz="1200" dirty="0">
                <a:latin typeface="Corbel" panose="020B0503020204020204" pitchFamily="34" charset="0"/>
                <a:cs typeface="Times"/>
              </a:rPr>
              <a:t>No guarantees on optimality.</a:t>
            </a:r>
          </a:p>
        </p:txBody>
      </p:sp>
      <p:sp>
        <p:nvSpPr>
          <p:cNvPr id="4" name="Slide Number Placeholder 3"/>
          <p:cNvSpPr>
            <a:spLocks noGrp="1"/>
          </p:cNvSpPr>
          <p:nvPr>
            <p:ph type="sldNum" sz="quarter" idx="10"/>
          </p:nvPr>
        </p:nvSpPr>
        <p:spPr/>
        <p:txBody>
          <a:bodyPr/>
          <a:lstStyle/>
          <a:p>
            <a:fld id="{D22AD042-1FBE-2840-8B0E-8AAD10D10D89}" type="slidenum">
              <a:rPr lang="en-US" smtClean="0"/>
              <a:pPr/>
              <a:t>5</a:t>
            </a:fld>
            <a:endParaRPr lang="en-US"/>
          </a:p>
        </p:txBody>
      </p:sp>
    </p:spTree>
    <p:extLst>
      <p:ext uri="{BB962C8B-B14F-4D97-AF65-F5344CB8AC3E}">
        <p14:creationId xmlns:p14="http://schemas.microsoft.com/office/powerpoint/2010/main" val="1321741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0. Talking about reward or negative</a:t>
            </a:r>
            <a:r>
              <a:rPr lang="en-US" baseline="0" dirty="0"/>
              <a:t> </a:t>
            </a:r>
            <a:r>
              <a:rPr lang="en-US" dirty="0"/>
              <a:t>cost.</a:t>
            </a:r>
          </a:p>
          <a:p>
            <a:r>
              <a:rPr lang="en-US" dirty="0"/>
              <a:t>1. Loop</a:t>
            </a:r>
            <a:r>
              <a:rPr lang="en-US" baseline="0" dirty="0"/>
              <a:t> to move in direction of increasing value – uphill.</a:t>
            </a:r>
            <a:endParaRPr lang="en-US" dirty="0"/>
          </a:p>
          <a:p>
            <a:r>
              <a:rPr lang="en-US" dirty="0"/>
              <a:t>2. Stops when it reaches a peak</a:t>
            </a:r>
            <a:r>
              <a:rPr lang="en-US" baseline="0" dirty="0"/>
              <a:t> where no neighbor has a higher value.</a:t>
            </a:r>
          </a:p>
          <a:p>
            <a:r>
              <a:rPr lang="en-US" baseline="0" dirty="0"/>
              <a:t>3. Data structure of current node = (state, value).</a:t>
            </a:r>
          </a:p>
          <a:p>
            <a:r>
              <a:rPr lang="en-US" baseline="0" dirty="0"/>
              <a:t>4. Does not look beyond immediate neighbors of current state. Called greedy local search.</a:t>
            </a:r>
            <a:endParaRPr lang="en-US" dirty="0"/>
          </a:p>
          <a:p>
            <a:r>
              <a:rPr lang="en-US" dirty="0"/>
              <a:t>Amnesia: loss of memory</a:t>
            </a:r>
          </a:p>
        </p:txBody>
      </p:sp>
      <p:sp>
        <p:nvSpPr>
          <p:cNvPr id="4" name="Slide Number Placeholder 3"/>
          <p:cNvSpPr>
            <a:spLocks noGrp="1"/>
          </p:cNvSpPr>
          <p:nvPr>
            <p:ph type="sldNum" sz="quarter" idx="10"/>
          </p:nvPr>
        </p:nvSpPr>
        <p:spPr/>
        <p:txBody>
          <a:bodyPr/>
          <a:lstStyle/>
          <a:p>
            <a:fld id="{D22AD042-1FBE-2840-8B0E-8AAD10D10D89}" type="slidenum">
              <a:rPr lang="en-US" smtClean="0"/>
              <a:pPr/>
              <a:t>6</a:t>
            </a:fld>
            <a:endParaRPr lang="en-US"/>
          </a:p>
        </p:txBody>
      </p:sp>
    </p:spTree>
    <p:extLst>
      <p:ext uri="{BB962C8B-B14F-4D97-AF65-F5344CB8AC3E}">
        <p14:creationId xmlns:p14="http://schemas.microsoft.com/office/powerpoint/2010/main" val="494632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1. Heuristic cost fn </a:t>
            </a:r>
            <a:r>
              <a:rPr lang="en-US" dirty="0" err="1"/>
              <a:t>h</a:t>
            </a:r>
            <a:r>
              <a:rPr lang="en-US" dirty="0"/>
              <a:t>.</a:t>
            </a:r>
          </a:p>
          <a:p>
            <a:r>
              <a:rPr lang="en-US" dirty="0"/>
              <a:t>2. Each square shows the value of </a:t>
            </a:r>
            <a:r>
              <a:rPr lang="en-US" dirty="0" err="1"/>
              <a:t>h</a:t>
            </a:r>
            <a:r>
              <a:rPr lang="en-US" dirty="0"/>
              <a:t> for each</a:t>
            </a:r>
            <a:r>
              <a:rPr lang="en-US" baseline="0" dirty="0"/>
              <a:t> successor from moving a queen within its column.</a:t>
            </a:r>
            <a:endParaRPr lang="en-US" dirty="0"/>
          </a:p>
          <a:p>
            <a:r>
              <a:rPr lang="en-US" dirty="0"/>
              <a:t>3. Remember not to </a:t>
            </a:r>
            <a:r>
              <a:rPr lang="en-US" dirty="0" err="1"/>
              <a:t>overcount</a:t>
            </a:r>
            <a:r>
              <a:rPr lang="en-US" dirty="0"/>
              <a:t>.</a:t>
            </a:r>
          </a:p>
          <a:p>
            <a:endParaRPr lang="en-US" dirty="0"/>
          </a:p>
        </p:txBody>
      </p:sp>
      <p:sp>
        <p:nvSpPr>
          <p:cNvPr id="4" name="Slide Number Placeholder 3"/>
          <p:cNvSpPr>
            <a:spLocks noGrp="1"/>
          </p:cNvSpPr>
          <p:nvPr>
            <p:ph type="sldNum" sz="quarter" idx="10"/>
          </p:nvPr>
        </p:nvSpPr>
        <p:spPr/>
        <p:txBody>
          <a:bodyPr/>
          <a:lstStyle/>
          <a:p>
            <a:fld id="{D22AD042-1FBE-2840-8B0E-8AAD10D10D89}" type="slidenum">
              <a:rPr lang="en-US" smtClean="0"/>
              <a:pPr/>
              <a:t>7</a:t>
            </a:fld>
            <a:endParaRPr lang="en-US"/>
          </a:p>
        </p:txBody>
      </p:sp>
    </p:spTree>
    <p:extLst>
      <p:ext uri="{BB962C8B-B14F-4D97-AF65-F5344CB8AC3E}">
        <p14:creationId xmlns:p14="http://schemas.microsoft.com/office/powerpoint/2010/main" val="2480849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1. Get stuck:</a:t>
            </a:r>
            <a:r>
              <a:rPr lang="en-US" baseline="0" dirty="0"/>
              <a:t> </a:t>
            </a:r>
            <a:r>
              <a:rPr lang="en-US" dirty="0"/>
              <a:t>Shoulder, local max, flat local max or plateau.</a:t>
            </a:r>
            <a:r>
              <a:rPr lang="en-US" baseline="0" dirty="0"/>
              <a:t> Incomplete</a:t>
            </a:r>
            <a:endParaRPr lang="en-US" dirty="0"/>
          </a:p>
          <a:p>
            <a:r>
              <a:rPr lang="en-US" dirty="0"/>
              <a:t>2(a) Allow</a:t>
            </a:r>
            <a:r>
              <a:rPr lang="en-US" baseline="0" dirty="0"/>
              <a:t> sideway moves (along same value) to get out of shoulder, limit it </a:t>
            </a:r>
            <a:r>
              <a:rPr lang="en-US" baseline="0" dirty="0" err="1"/>
              <a:t>cos</a:t>
            </a:r>
            <a:r>
              <a:rPr lang="en-US" baseline="0" dirty="0"/>
              <a:t> may be in plateau.</a:t>
            </a:r>
          </a:p>
          <a:p>
            <a:r>
              <a:rPr lang="en-US" baseline="0" dirty="0"/>
              <a:t>Randomly generated initial states</a:t>
            </a:r>
            <a:endParaRPr lang="en-US" dirty="0"/>
          </a:p>
        </p:txBody>
      </p:sp>
      <p:sp>
        <p:nvSpPr>
          <p:cNvPr id="4" name="Slide Number Placeholder 3"/>
          <p:cNvSpPr>
            <a:spLocks noGrp="1"/>
          </p:cNvSpPr>
          <p:nvPr>
            <p:ph type="sldNum" sz="quarter" idx="10"/>
          </p:nvPr>
        </p:nvSpPr>
        <p:spPr/>
        <p:txBody>
          <a:bodyPr/>
          <a:lstStyle/>
          <a:p>
            <a:fld id="{D22AD042-1FBE-2840-8B0E-8AAD10D10D89}" type="slidenum">
              <a:rPr lang="en-US" smtClean="0"/>
              <a:pPr/>
              <a:t>8</a:t>
            </a:fld>
            <a:endParaRPr lang="en-US"/>
          </a:p>
        </p:txBody>
      </p:sp>
    </p:spTree>
    <p:extLst>
      <p:ext uri="{BB962C8B-B14F-4D97-AF65-F5344CB8AC3E}">
        <p14:creationId xmlns:p14="http://schemas.microsoft.com/office/powerpoint/2010/main" val="4200398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1. Heuristic cost fn </a:t>
            </a:r>
            <a:r>
              <a:rPr lang="en-US" dirty="0" err="1"/>
              <a:t>h</a:t>
            </a:r>
            <a:r>
              <a:rPr lang="en-US" dirty="0"/>
              <a:t>.</a:t>
            </a:r>
          </a:p>
          <a:p>
            <a:r>
              <a:rPr lang="en-US" dirty="0"/>
              <a:t>2. Each square shows the value of </a:t>
            </a:r>
            <a:r>
              <a:rPr lang="en-US" dirty="0" err="1"/>
              <a:t>h</a:t>
            </a:r>
            <a:r>
              <a:rPr lang="en-US" dirty="0"/>
              <a:t> for each</a:t>
            </a:r>
            <a:r>
              <a:rPr lang="en-US" baseline="0" dirty="0"/>
              <a:t> successor from moving a queen within its column.</a:t>
            </a:r>
            <a:endParaRPr lang="en-US" dirty="0"/>
          </a:p>
          <a:p>
            <a:r>
              <a:rPr lang="en-US" dirty="0"/>
              <a:t>3. Remember not to </a:t>
            </a:r>
            <a:r>
              <a:rPr lang="en-US" dirty="0" err="1"/>
              <a:t>overcount</a:t>
            </a:r>
            <a:r>
              <a:rPr lang="en-US" dirty="0"/>
              <a:t>.</a:t>
            </a:r>
          </a:p>
          <a:p>
            <a:endParaRPr lang="en-US" dirty="0"/>
          </a:p>
        </p:txBody>
      </p:sp>
      <p:sp>
        <p:nvSpPr>
          <p:cNvPr id="4" name="Slide Number Placeholder 3"/>
          <p:cNvSpPr>
            <a:spLocks noGrp="1"/>
          </p:cNvSpPr>
          <p:nvPr>
            <p:ph type="sldNum" sz="quarter" idx="10"/>
          </p:nvPr>
        </p:nvSpPr>
        <p:spPr/>
        <p:txBody>
          <a:bodyPr/>
          <a:lstStyle/>
          <a:p>
            <a:fld id="{D22AD042-1FBE-2840-8B0E-8AAD10D10D89}" type="slidenum">
              <a:rPr lang="en-US" smtClean="0"/>
              <a:pPr/>
              <a:t>9</a:t>
            </a:fld>
            <a:endParaRPr lang="en-US"/>
          </a:p>
        </p:txBody>
      </p:sp>
    </p:spTree>
    <p:extLst>
      <p:ext uri="{BB962C8B-B14F-4D97-AF65-F5344CB8AC3E}">
        <p14:creationId xmlns:p14="http://schemas.microsoft.com/office/powerpoint/2010/main" val="130099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607AC38A-57BD-3F4C-8C07-081859D9DC9A}" type="slidenum">
              <a:rPr lang="en-US" smtClean="0"/>
              <a:pPr/>
              <a:t>10</a:t>
            </a:fld>
            <a:endParaRPr lang="en-US"/>
          </a:p>
        </p:txBody>
      </p:sp>
    </p:spTree>
    <p:extLst>
      <p:ext uri="{BB962C8B-B14F-4D97-AF65-F5344CB8AC3E}">
        <p14:creationId xmlns:p14="http://schemas.microsoft.com/office/powerpoint/2010/main" val="3089765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11</a:t>
            </a:fld>
            <a:endParaRPr lang="en-US"/>
          </a:p>
        </p:txBody>
      </p:sp>
    </p:spTree>
    <p:extLst>
      <p:ext uri="{BB962C8B-B14F-4D97-AF65-F5344CB8AC3E}">
        <p14:creationId xmlns:p14="http://schemas.microsoft.com/office/powerpoint/2010/main" val="2196520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12</a:t>
            </a:fld>
            <a:endParaRPr lang="en-US"/>
          </a:p>
        </p:txBody>
      </p:sp>
    </p:spTree>
    <p:extLst>
      <p:ext uri="{BB962C8B-B14F-4D97-AF65-F5344CB8AC3E}">
        <p14:creationId xmlns:p14="http://schemas.microsoft.com/office/powerpoint/2010/main" val="1721954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13</a:t>
            </a:fld>
            <a:endParaRPr lang="en-US"/>
          </a:p>
        </p:txBody>
      </p:sp>
    </p:spTree>
    <p:extLst>
      <p:ext uri="{BB962C8B-B14F-4D97-AF65-F5344CB8AC3E}">
        <p14:creationId xmlns:p14="http://schemas.microsoft.com/office/powerpoint/2010/main" val="3515524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14</a:t>
            </a:fld>
            <a:endParaRPr lang="en-US"/>
          </a:p>
        </p:txBody>
      </p:sp>
    </p:spTree>
    <p:extLst>
      <p:ext uri="{BB962C8B-B14F-4D97-AF65-F5344CB8AC3E}">
        <p14:creationId xmlns:p14="http://schemas.microsoft.com/office/powerpoint/2010/main" val="297425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dirty="0"/>
              <a:t>Competitive </a:t>
            </a:r>
            <a:r>
              <a:rPr lang="en-US" dirty="0" err="1"/>
              <a:t>env</a:t>
            </a:r>
            <a:r>
              <a:rPr lang="en-US" dirty="0"/>
              <a:t> with multiples agents whose</a:t>
            </a:r>
            <a:r>
              <a:rPr lang="en-US" baseline="0" dirty="0"/>
              <a:t> goals are in conflict.</a:t>
            </a:r>
          </a:p>
        </p:txBody>
      </p:sp>
      <p:sp>
        <p:nvSpPr>
          <p:cNvPr id="4" name="Slide Number Placeholder 3"/>
          <p:cNvSpPr>
            <a:spLocks noGrp="1"/>
          </p:cNvSpPr>
          <p:nvPr>
            <p:ph type="sldNum" sz="quarter" idx="10"/>
          </p:nvPr>
        </p:nvSpPr>
        <p:spPr/>
        <p:txBody>
          <a:bodyPr/>
          <a:lstStyle/>
          <a:p>
            <a:fld id="{C3D1DE78-4677-CA45-9559-6E36E4BF50C7}" type="slidenum">
              <a:rPr lang="en-US" smtClean="0"/>
              <a:pPr/>
              <a:t>15</a:t>
            </a:fld>
            <a:endParaRPr lang="en-US"/>
          </a:p>
        </p:txBody>
      </p:sp>
    </p:spTree>
    <p:extLst>
      <p:ext uri="{BB962C8B-B14F-4D97-AF65-F5344CB8AC3E}">
        <p14:creationId xmlns:p14="http://schemas.microsoft.com/office/powerpoint/2010/main" val="4232115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dirty="0"/>
              <a:t>Contrast with normal search: Strategy is a sequence of actions to reach a goal.</a:t>
            </a:r>
          </a:p>
          <a:p>
            <a:pPr marL="228600" indent="-228600">
              <a:buNone/>
            </a:pPr>
            <a:r>
              <a:rPr lang="en-US" dirty="0"/>
              <a:t>2(a)</a:t>
            </a:r>
            <a:r>
              <a:rPr lang="en-US" baseline="0" dirty="0"/>
              <a:t> </a:t>
            </a:r>
            <a:r>
              <a:rPr lang="en-US" dirty="0"/>
              <a:t>Not enough time to search the whole game tree from initial state to goal. </a:t>
            </a:r>
          </a:p>
          <a:p>
            <a:pPr marL="228600" indent="-228600">
              <a:buNone/>
            </a:pPr>
            <a:r>
              <a:rPr lang="en-US" dirty="0"/>
              <a:t>2(b) Approximate the adversarial search problem by limiting depth of search.</a:t>
            </a:r>
          </a:p>
        </p:txBody>
      </p:sp>
      <p:sp>
        <p:nvSpPr>
          <p:cNvPr id="4" name="Slide Number Placeholder 3"/>
          <p:cNvSpPr>
            <a:spLocks noGrp="1"/>
          </p:cNvSpPr>
          <p:nvPr>
            <p:ph type="sldNum" sz="quarter" idx="10"/>
          </p:nvPr>
        </p:nvSpPr>
        <p:spPr/>
        <p:txBody>
          <a:bodyPr/>
          <a:lstStyle/>
          <a:p>
            <a:fld id="{C3D1DE78-4677-CA45-9559-6E36E4BF50C7}" type="slidenum">
              <a:rPr lang="en-US" smtClean="0"/>
              <a:pPr/>
              <a:t>16</a:t>
            </a:fld>
            <a:endParaRPr lang="en-US"/>
          </a:p>
        </p:txBody>
      </p:sp>
    </p:spTree>
    <p:extLst>
      <p:ext uri="{BB962C8B-B14F-4D97-AF65-F5344CB8AC3E}">
        <p14:creationId xmlns:p14="http://schemas.microsoft.com/office/powerpoint/2010/main" val="761334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None/>
            </a:pPr>
            <a:r>
              <a:rPr lang="en-US" dirty="0"/>
              <a:t>1(a) Take</a:t>
            </a:r>
            <a:r>
              <a:rPr lang="en-US" baseline="0" dirty="0"/>
              <a:t> turns until game is over. </a:t>
            </a:r>
          </a:p>
          <a:p>
            <a:pPr marL="228600" indent="-228600">
              <a:buNone/>
            </a:pPr>
            <a:r>
              <a:rPr lang="en-US" baseline="0" dirty="0"/>
              <a:t>1(b) Winner gets rewarded and loser penalized</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17</a:t>
            </a:fld>
            <a:endParaRPr lang="en-US"/>
          </a:p>
        </p:txBody>
      </p:sp>
    </p:spTree>
    <p:extLst>
      <p:ext uri="{BB962C8B-B14F-4D97-AF65-F5344CB8AC3E}">
        <p14:creationId xmlns:p14="http://schemas.microsoft.com/office/powerpoint/2010/main" val="699871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Book makes a mistake.</a:t>
            </a:r>
          </a:p>
          <a:p>
            <a:r>
              <a:rPr lang="en-US" dirty="0"/>
              <a:t>3. Diff. from formulation of typical</a:t>
            </a:r>
            <a:r>
              <a:rPr lang="en-US" baseline="0" dirty="0"/>
              <a:t> search problem</a:t>
            </a:r>
            <a:endParaRPr lang="en-US" dirty="0"/>
          </a:p>
          <a:p>
            <a:r>
              <a:rPr lang="en-US" dirty="0"/>
              <a:t>4. a</a:t>
            </a:r>
            <a:r>
              <a:rPr lang="en-US" baseline="0" dirty="0"/>
              <a:t> \in </a:t>
            </a:r>
            <a:r>
              <a:rPr lang="en-US" baseline="0" dirty="0" err="1"/>
              <a:t>ACTIONS(s</a:t>
            </a:r>
            <a:r>
              <a:rPr lang="en-US" baseline="0" dirty="0"/>
              <a:t>)</a:t>
            </a:r>
          </a:p>
          <a:p>
            <a:r>
              <a:rPr lang="en-US" dirty="0"/>
              <a:t>5. If I ask </a:t>
            </a:r>
            <a:r>
              <a:rPr lang="en-US" dirty="0" err="1"/>
              <a:t>u</a:t>
            </a:r>
            <a:r>
              <a:rPr lang="en-US" dirty="0"/>
              <a:t> to define a transition function, do it formally</a:t>
            </a:r>
            <a:r>
              <a:rPr lang="en-US" baseline="0" dirty="0"/>
              <a:t> (general expression or mappings)</a:t>
            </a:r>
            <a:r>
              <a:rPr lang="en-US" dirty="0"/>
              <a:t>. Don’t give me an essay.</a:t>
            </a:r>
          </a:p>
        </p:txBody>
      </p:sp>
      <p:sp>
        <p:nvSpPr>
          <p:cNvPr id="4" name="Slide Number Placeholder 3"/>
          <p:cNvSpPr>
            <a:spLocks noGrp="1"/>
          </p:cNvSpPr>
          <p:nvPr>
            <p:ph type="sldNum" sz="quarter" idx="10"/>
          </p:nvPr>
        </p:nvSpPr>
        <p:spPr/>
        <p:txBody>
          <a:bodyPr/>
          <a:lstStyle/>
          <a:p>
            <a:fld id="{607AC38A-57BD-3F4C-8C07-081859D9DC9A}" type="slidenum">
              <a:rPr lang="en-US" smtClean="0"/>
              <a:pPr/>
              <a:t>18</a:t>
            </a:fld>
            <a:endParaRPr lang="en-US"/>
          </a:p>
        </p:txBody>
      </p:sp>
    </p:spTree>
    <p:extLst>
      <p:ext uri="{BB962C8B-B14F-4D97-AF65-F5344CB8AC3E}">
        <p14:creationId xmlns:p14="http://schemas.microsoft.com/office/powerpoint/2010/main" val="1401912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Book makes a mistake.</a:t>
            </a:r>
          </a:p>
          <a:p>
            <a:r>
              <a:rPr lang="en-US" dirty="0"/>
              <a:t>3. Diff. from formulation of typical</a:t>
            </a:r>
            <a:r>
              <a:rPr lang="en-US" baseline="0" dirty="0"/>
              <a:t> search problem</a:t>
            </a:r>
            <a:endParaRPr lang="en-US" dirty="0"/>
          </a:p>
          <a:p>
            <a:r>
              <a:rPr lang="en-US" dirty="0"/>
              <a:t>4. a</a:t>
            </a:r>
            <a:r>
              <a:rPr lang="en-US" baseline="0" dirty="0"/>
              <a:t> \in </a:t>
            </a:r>
            <a:r>
              <a:rPr lang="en-US" baseline="0" dirty="0" err="1"/>
              <a:t>ACTIONS(s</a:t>
            </a:r>
            <a:r>
              <a:rPr lang="en-US" baseline="0" dirty="0"/>
              <a:t>)</a:t>
            </a:r>
          </a:p>
          <a:p>
            <a:r>
              <a:rPr lang="en-US" dirty="0"/>
              <a:t>5. If I ask </a:t>
            </a:r>
            <a:r>
              <a:rPr lang="en-US" dirty="0" err="1"/>
              <a:t>u</a:t>
            </a:r>
            <a:r>
              <a:rPr lang="en-US" dirty="0"/>
              <a:t> to define a transition function, do it formally</a:t>
            </a:r>
            <a:r>
              <a:rPr lang="en-US" baseline="0" dirty="0"/>
              <a:t> (general expression or mappings)</a:t>
            </a:r>
            <a:r>
              <a:rPr lang="en-US" dirty="0"/>
              <a:t>. Don’t give me an essay.</a:t>
            </a:r>
          </a:p>
        </p:txBody>
      </p:sp>
      <p:sp>
        <p:nvSpPr>
          <p:cNvPr id="4" name="Slide Number Placeholder 3"/>
          <p:cNvSpPr>
            <a:spLocks noGrp="1"/>
          </p:cNvSpPr>
          <p:nvPr>
            <p:ph type="sldNum" sz="quarter" idx="10"/>
          </p:nvPr>
        </p:nvSpPr>
        <p:spPr/>
        <p:txBody>
          <a:bodyPr/>
          <a:lstStyle/>
          <a:p>
            <a:fld id="{607AC38A-57BD-3F4C-8C07-081859D9DC9A}" type="slidenum">
              <a:rPr lang="en-US" smtClean="0"/>
              <a:pPr/>
              <a:t>19</a:t>
            </a:fld>
            <a:endParaRPr lang="en-US"/>
          </a:p>
        </p:txBody>
      </p:sp>
    </p:spTree>
    <p:extLst>
      <p:ext uri="{BB962C8B-B14F-4D97-AF65-F5344CB8AC3E}">
        <p14:creationId xmlns:p14="http://schemas.microsoft.com/office/powerpoint/2010/main" val="186196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Book makes a mistake.</a:t>
            </a:r>
          </a:p>
          <a:p>
            <a:r>
              <a:rPr lang="en-US" dirty="0"/>
              <a:t>3. Diff. from formulation of typical</a:t>
            </a:r>
            <a:r>
              <a:rPr lang="en-US" baseline="0" dirty="0"/>
              <a:t> search problem</a:t>
            </a:r>
            <a:endParaRPr lang="en-US" dirty="0"/>
          </a:p>
          <a:p>
            <a:r>
              <a:rPr lang="en-US" dirty="0"/>
              <a:t>4. a</a:t>
            </a:r>
            <a:r>
              <a:rPr lang="en-US" baseline="0" dirty="0"/>
              <a:t> \in </a:t>
            </a:r>
            <a:r>
              <a:rPr lang="en-US" baseline="0" dirty="0" err="1"/>
              <a:t>ACTIONS(s</a:t>
            </a:r>
            <a:r>
              <a:rPr lang="en-US" baseline="0" dirty="0"/>
              <a:t>)</a:t>
            </a:r>
          </a:p>
          <a:p>
            <a:r>
              <a:rPr lang="en-US" dirty="0"/>
              <a:t>5. If I ask </a:t>
            </a:r>
            <a:r>
              <a:rPr lang="en-US" dirty="0" err="1"/>
              <a:t>u</a:t>
            </a:r>
            <a:r>
              <a:rPr lang="en-US" dirty="0"/>
              <a:t> to define a transition function, do it formally</a:t>
            </a:r>
            <a:r>
              <a:rPr lang="en-US" baseline="0" dirty="0"/>
              <a:t> (general expression or mappings)</a:t>
            </a:r>
            <a:r>
              <a:rPr lang="en-US" dirty="0"/>
              <a:t>. Don’t give me an essay.</a:t>
            </a:r>
          </a:p>
        </p:txBody>
      </p:sp>
      <p:sp>
        <p:nvSpPr>
          <p:cNvPr id="4" name="Slide Number Placeholder 3"/>
          <p:cNvSpPr>
            <a:spLocks noGrp="1"/>
          </p:cNvSpPr>
          <p:nvPr>
            <p:ph type="sldNum" sz="quarter" idx="10"/>
          </p:nvPr>
        </p:nvSpPr>
        <p:spPr/>
        <p:txBody>
          <a:bodyPr/>
          <a:lstStyle/>
          <a:p>
            <a:fld id="{607AC38A-57BD-3F4C-8C07-081859D9DC9A}" type="slidenum">
              <a:rPr lang="en-US" smtClean="0"/>
              <a:pPr/>
              <a:t>20</a:t>
            </a:fld>
            <a:endParaRPr lang="en-US"/>
          </a:p>
        </p:txBody>
      </p:sp>
    </p:spTree>
    <p:extLst>
      <p:ext uri="{BB962C8B-B14F-4D97-AF65-F5344CB8AC3E}">
        <p14:creationId xmlns:p14="http://schemas.microsoft.com/office/powerpoint/2010/main" val="23605146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dirty="0"/>
              <a:t>Defined using initial state, actions function, transition model</a:t>
            </a:r>
          </a:p>
          <a:p>
            <a:pPr marL="228600" indent="-228600">
              <a:buAutoNum type="arabicPeriod"/>
            </a:pPr>
            <a:r>
              <a:rPr lang="en-US" dirty="0"/>
              <a:t>Nodes: game states, edges: moves</a:t>
            </a:r>
          </a:p>
          <a:p>
            <a:pPr marL="228600" indent="-228600">
              <a:buAutoNum type="arabicPeriod"/>
            </a:pPr>
            <a:r>
              <a:rPr lang="en-US" dirty="0"/>
              <a:t>Tic-tac-toe</a:t>
            </a:r>
          </a:p>
          <a:p>
            <a:pPr marL="228600" indent="-228600">
              <a:buAutoNum type="arabicPeriod"/>
            </a:pPr>
            <a:r>
              <a:rPr lang="en-US" dirty="0"/>
              <a:t>Initial state: Top node</a:t>
            </a:r>
          </a:p>
          <a:p>
            <a:pPr marL="228600" indent="-228600">
              <a:buAutoNum type="arabicPeriod"/>
            </a:pPr>
            <a:r>
              <a:rPr lang="en-US" dirty="0"/>
              <a:t>MAX places X, MIN places O</a:t>
            </a:r>
          </a:p>
          <a:p>
            <a:pPr marL="228600" indent="-228600">
              <a:buAutoNum type="arabicPeriod"/>
            </a:pPr>
            <a:r>
              <a:rPr lang="en-US" dirty="0"/>
              <a:t>Terminal states: 3 in a row, </a:t>
            </a:r>
            <a:r>
              <a:rPr lang="en-US" dirty="0" err="1"/>
              <a:t>col</a:t>
            </a:r>
            <a:r>
              <a:rPr lang="en-US" dirty="0"/>
              <a:t>, </a:t>
            </a:r>
            <a:r>
              <a:rPr lang="en-US" dirty="0" err="1"/>
              <a:t>diag</a:t>
            </a:r>
            <a:r>
              <a:rPr lang="en-US" baseline="0" dirty="0"/>
              <a:t> OR all squares filled up</a:t>
            </a:r>
          </a:p>
          <a:p>
            <a:pPr marL="228600" indent="-228600">
              <a:buAutoNum type="arabicPeriod"/>
            </a:pPr>
            <a:r>
              <a:rPr lang="en-US" baseline="0" dirty="0"/>
              <a:t>Utility of MAX player: going for +1, MIN aiming to achieve -1. Keeping track of </a:t>
            </a:r>
            <a:r>
              <a:rPr lang="en-US" baseline="0" dirty="0" err="1"/>
              <a:t>MAX’s</a:t>
            </a:r>
            <a:r>
              <a:rPr lang="en-US" baseline="0" dirty="0"/>
              <a:t> utility only.</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21</a:t>
            </a:fld>
            <a:endParaRPr lang="en-US"/>
          </a:p>
        </p:txBody>
      </p:sp>
    </p:spTree>
    <p:extLst>
      <p:ext uri="{BB962C8B-B14F-4D97-AF65-F5344CB8AC3E}">
        <p14:creationId xmlns:p14="http://schemas.microsoft.com/office/powerpoint/2010/main" val="33996777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To be done in tutorial.</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22</a:t>
            </a:fld>
            <a:endParaRPr lang="en-US"/>
          </a:p>
        </p:txBody>
      </p:sp>
    </p:spTree>
    <p:extLst>
      <p:ext uri="{BB962C8B-B14F-4D97-AF65-F5344CB8AC3E}">
        <p14:creationId xmlns:p14="http://schemas.microsoft.com/office/powerpoint/2010/main" val="1727511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To be done in tutorial.</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23</a:t>
            </a:fld>
            <a:endParaRPr lang="en-US"/>
          </a:p>
        </p:txBody>
      </p:sp>
    </p:spTree>
    <p:extLst>
      <p:ext uri="{BB962C8B-B14F-4D97-AF65-F5344CB8AC3E}">
        <p14:creationId xmlns:p14="http://schemas.microsoft.com/office/powerpoint/2010/main" val="1980058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To be done in tutorial.</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24</a:t>
            </a:fld>
            <a:endParaRPr lang="en-US"/>
          </a:p>
        </p:txBody>
      </p:sp>
    </p:spTree>
    <p:extLst>
      <p:ext uri="{BB962C8B-B14F-4D97-AF65-F5344CB8AC3E}">
        <p14:creationId xmlns:p14="http://schemas.microsoft.com/office/powerpoint/2010/main" val="1292267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None/>
            </a:pPr>
            <a:r>
              <a:rPr lang="en-US" sz="1200" b="0" kern="1200" baseline="0" dirty="0">
                <a:solidFill>
                  <a:schemeClr val="tx1"/>
                </a:solidFill>
                <a:latin typeface="Arial" pitchFamily="-107" charset="0"/>
                <a:ea typeface="Arial" pitchFamily="-107" charset="0"/>
                <a:cs typeface="Arial" pitchFamily="-107" charset="0"/>
              </a:rPr>
              <a:t>1(a) Best worst-case payoff for MAX.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1(b) Q?: What if MIN does not play optimally? MAX does better.</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1(c) Against </a:t>
            </a:r>
            <a:r>
              <a:rPr lang="en-US" sz="1200" b="0" kern="1200" baseline="0" dirty="0" err="1">
                <a:solidFill>
                  <a:schemeClr val="tx1"/>
                </a:solidFill>
                <a:latin typeface="Arial" pitchFamily="-107" charset="0"/>
                <a:ea typeface="Arial" pitchFamily="-107" charset="0"/>
                <a:cs typeface="Arial" pitchFamily="-107" charset="0"/>
              </a:rPr>
              <a:t>subopt</a:t>
            </a:r>
            <a:r>
              <a:rPr lang="en-US" sz="1200" b="0" kern="1200" baseline="0" dirty="0">
                <a:solidFill>
                  <a:schemeClr val="tx1"/>
                </a:solidFill>
                <a:latin typeface="Arial" pitchFamily="-107" charset="0"/>
                <a:ea typeface="Arial" pitchFamily="-107" charset="0"/>
                <a:cs typeface="Arial" pitchFamily="-107" charset="0"/>
              </a:rPr>
              <a:t> play, MAX can choose strategy better than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1(d) Q?: Should MAX switch away from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1(e) No! Cos if MIN plays optimal again, MAX does worse than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a:t>
            </a:r>
          </a:p>
          <a:p>
            <a:endParaRPr lang="en-US" sz="1200" kern="1200" dirty="0">
              <a:solidFill>
                <a:schemeClr val="tx1"/>
              </a:solidFill>
              <a:latin typeface="Arial" pitchFamily="-107" charset="0"/>
              <a:ea typeface="Arial" pitchFamily="-107" charset="0"/>
              <a:cs typeface="Arial" pitchFamily="-107" charset="0"/>
            </a:endParaRPr>
          </a:p>
          <a:p>
            <a:endParaRPr lang="en-US" sz="1200" kern="1200" dirty="0">
              <a:solidFill>
                <a:schemeClr val="tx1"/>
              </a:solidFill>
              <a:latin typeface="Arial" pitchFamily="-107" charset="0"/>
              <a:ea typeface="Arial" pitchFamily="-107" charset="0"/>
              <a:cs typeface="Arial" pitchFamily="-107" charset="0"/>
            </a:endParaRPr>
          </a:p>
          <a:p>
            <a:r>
              <a:rPr lang="en-US" sz="1200" kern="1200" dirty="0">
                <a:solidFill>
                  <a:schemeClr val="tx1"/>
                </a:solidFill>
                <a:latin typeface="Arial" pitchFamily="-107" charset="0"/>
                <a:ea typeface="Arial" pitchFamily="-107" charset="0"/>
                <a:cs typeface="Arial" pitchFamily="-107" charset="0"/>
              </a:rPr>
              <a:t>---</a:t>
            </a:r>
          </a:p>
          <a:p>
            <a:r>
              <a:rPr lang="en-US" sz="1200" kern="1200" dirty="0">
                <a:solidFill>
                  <a:schemeClr val="tx1"/>
                </a:solidFill>
                <a:latin typeface="Arial" pitchFamily="-107" charset="0"/>
                <a:ea typeface="Arial" pitchFamily="-107" charset="0"/>
                <a:cs typeface="Arial" pitchFamily="-107" charset="0"/>
              </a:rPr>
              <a:t>\</a:t>
            </a:r>
            <a:r>
              <a:rPr lang="en-US" sz="1200" kern="1200" dirty="0" err="1">
                <a:solidFill>
                  <a:schemeClr val="tx1"/>
                </a:solidFill>
                <a:latin typeface="Arial" pitchFamily="-107" charset="0"/>
                <a:ea typeface="Arial" pitchFamily="-107" charset="0"/>
                <a:cs typeface="Arial" pitchFamily="-107" charset="0"/>
              </a:rPr>
              <a:t>noindent\scshape{Minimax}$(s</a:t>
            </a:r>
            <a:r>
              <a:rPr lang="en-US" sz="1200" kern="1200" dirty="0">
                <a:solidFill>
                  <a:schemeClr val="tx1"/>
                </a:solidFill>
                <a:latin typeface="Arial" pitchFamily="-107" charset="0"/>
                <a:ea typeface="Arial" pitchFamily="-107" charset="0"/>
                <a:cs typeface="Arial" pitchFamily="-107" charset="0"/>
              </a:rPr>
              <a:t>) =$\\$\left\{\</a:t>
            </a:r>
            <a:r>
              <a:rPr lang="en-US" sz="1200" kern="1200" dirty="0" err="1">
                <a:solidFill>
                  <a:schemeClr val="tx1"/>
                </a:solidFill>
                <a:latin typeface="Arial" pitchFamily="-107" charset="0"/>
                <a:ea typeface="Arial" pitchFamily="-107" charset="0"/>
                <a:cs typeface="Arial" pitchFamily="-107" charset="0"/>
              </a:rPr>
              <a:t>begin{array}{ll}\mbox{\scshape{Utility}}(s</a:t>
            </a:r>
            <a:r>
              <a:rPr lang="en-US" sz="1200" kern="1200" dirty="0">
                <a:solidFill>
                  <a:schemeClr val="tx1"/>
                </a:solidFill>
                <a:latin typeface="Arial" pitchFamily="-107" charset="0"/>
                <a:ea typeface="Arial" pitchFamily="-107" charset="0"/>
                <a:cs typeface="Arial" pitchFamily="-107" charset="0"/>
              </a:rPr>
              <a:t>) &amp; \</a:t>
            </a:r>
            <a:r>
              <a:rPr lang="en-US" sz="1200" kern="1200" dirty="0" err="1">
                <a:solidFill>
                  <a:schemeClr val="tx1"/>
                </a:solidFill>
                <a:latin typeface="Arial" pitchFamily="-107" charset="0"/>
                <a:ea typeface="Arial" pitchFamily="-107" charset="0"/>
                <a:cs typeface="Arial" pitchFamily="-107" charset="0"/>
              </a:rPr>
              <a:t>mbox{\normalfont{if</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scshape{Terminal-Test}}(s)\\\max_{a\in\mbox{Actions}(s</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mbox{\scshape{Minimax}}(\mbox{\scshape{Result}}(s,a</a:t>
            </a:r>
            <a:r>
              <a:rPr lang="en-US" sz="1200" kern="1200" dirty="0">
                <a:solidFill>
                  <a:schemeClr val="tx1"/>
                </a:solidFill>
                <a:latin typeface="Arial" pitchFamily="-107" charset="0"/>
                <a:ea typeface="Arial" pitchFamily="-107" charset="0"/>
                <a:cs typeface="Arial" pitchFamily="-107" charset="0"/>
              </a:rPr>
              <a:t>)) &amp; \</a:t>
            </a:r>
            <a:r>
              <a:rPr lang="en-US" sz="1200" kern="1200" dirty="0" err="1">
                <a:solidFill>
                  <a:schemeClr val="tx1"/>
                </a:solidFill>
                <a:latin typeface="Arial" pitchFamily="-107" charset="0"/>
                <a:ea typeface="Arial" pitchFamily="-107" charset="0"/>
                <a:cs typeface="Arial" pitchFamily="-107" charset="0"/>
              </a:rPr>
              <a:t>mbox{\normalfont{if</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scshape{Player}}(s</a:t>
            </a:r>
            <a:r>
              <a:rPr lang="en-US" sz="1200" kern="1200" dirty="0">
                <a:solidFill>
                  <a:schemeClr val="tx1"/>
                </a:solidFill>
                <a:latin typeface="Arial" pitchFamily="-107" charset="0"/>
                <a:ea typeface="Arial" pitchFamily="-107" charset="0"/>
                <a:cs typeface="Arial" pitchFamily="-107" charset="0"/>
              </a:rPr>
              <a:t>) = \</a:t>
            </a:r>
            <a:r>
              <a:rPr lang="en-US" sz="1200" kern="1200" dirty="0" err="1">
                <a:solidFill>
                  <a:schemeClr val="tx1"/>
                </a:solidFill>
                <a:latin typeface="Arial" pitchFamily="-107" charset="0"/>
                <a:ea typeface="Arial" pitchFamily="-107" charset="0"/>
                <a:cs typeface="Arial" pitchFamily="-107" charset="0"/>
              </a:rPr>
              <a:t>mbox{MAX}\\\min_{a\in\mbox{Actions}(s</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mbox{\scshape{Minimax}}(\mbox{\scshape{Result}}(s,a</a:t>
            </a:r>
            <a:r>
              <a:rPr lang="en-US" sz="1200" kern="1200" dirty="0">
                <a:solidFill>
                  <a:schemeClr val="tx1"/>
                </a:solidFill>
                <a:latin typeface="Arial" pitchFamily="-107" charset="0"/>
                <a:ea typeface="Arial" pitchFamily="-107" charset="0"/>
                <a:cs typeface="Arial" pitchFamily="-107" charset="0"/>
              </a:rPr>
              <a:t>)) &amp; \</a:t>
            </a:r>
            <a:r>
              <a:rPr lang="en-US" sz="1200" kern="1200" dirty="0" err="1">
                <a:solidFill>
                  <a:schemeClr val="tx1"/>
                </a:solidFill>
                <a:latin typeface="Arial" pitchFamily="-107" charset="0"/>
                <a:ea typeface="Arial" pitchFamily="-107" charset="0"/>
                <a:cs typeface="Arial" pitchFamily="-107" charset="0"/>
              </a:rPr>
              <a:t>mbox{\normalfont{if</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scshape{Player}}(s</a:t>
            </a:r>
            <a:r>
              <a:rPr lang="en-US" sz="1200" kern="1200" dirty="0">
                <a:solidFill>
                  <a:schemeClr val="tx1"/>
                </a:solidFill>
                <a:latin typeface="Arial" pitchFamily="-107" charset="0"/>
                <a:ea typeface="Arial" pitchFamily="-107" charset="0"/>
                <a:cs typeface="Arial" pitchFamily="-107" charset="0"/>
              </a:rPr>
              <a:t>) = \</a:t>
            </a:r>
            <a:r>
              <a:rPr lang="en-US" sz="1200" kern="1200" dirty="0" err="1">
                <a:solidFill>
                  <a:schemeClr val="tx1"/>
                </a:solidFill>
                <a:latin typeface="Arial" pitchFamily="-107" charset="0"/>
                <a:ea typeface="Arial" pitchFamily="-107" charset="0"/>
                <a:cs typeface="Arial" pitchFamily="-107" charset="0"/>
              </a:rPr>
              <a:t>mbox{MIN}\end{array}\right</a:t>
            </a:r>
            <a:r>
              <a:rPr lang="en-US" sz="1200" kern="1200" dirty="0">
                <a:solidFill>
                  <a:schemeClr val="tx1"/>
                </a:solidFill>
                <a:latin typeface="Arial" pitchFamily="-107" charset="0"/>
                <a:ea typeface="Arial" pitchFamily="-107" charset="0"/>
                <a:cs typeface="Arial" pitchFamily="-107" charset="0"/>
              </a:rPr>
              <a:t>.$</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25</a:t>
            </a:fld>
            <a:endParaRPr lang="en-US"/>
          </a:p>
        </p:txBody>
      </p:sp>
    </p:spTree>
    <p:extLst>
      <p:ext uri="{BB962C8B-B14F-4D97-AF65-F5344CB8AC3E}">
        <p14:creationId xmlns:p14="http://schemas.microsoft.com/office/powerpoint/2010/main" val="9001280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sz="1200" b="0" kern="1200" dirty="0">
                <a:solidFill>
                  <a:schemeClr val="tx1"/>
                </a:solidFill>
                <a:latin typeface="Arial" pitchFamily="-107" charset="0"/>
                <a:ea typeface="Arial" pitchFamily="-107" charset="0"/>
                <a:cs typeface="Arial" pitchFamily="-107" charset="0"/>
              </a:rPr>
              <a:t>Optimal play is the strategy of MAX which achieves best payoff given MIN plays optimally.</a:t>
            </a:r>
          </a:p>
          <a:p>
            <a:pPr marL="228600" indent="-228600">
              <a:buAutoNum type="arabicPeriod"/>
            </a:pPr>
            <a:r>
              <a:rPr lang="en-US" sz="1200" b="0" kern="1200" dirty="0" err="1">
                <a:solidFill>
                  <a:schemeClr val="tx1"/>
                </a:solidFill>
                <a:latin typeface="Arial" pitchFamily="-107" charset="0"/>
                <a:ea typeface="Arial" pitchFamily="-107" charset="0"/>
                <a:cs typeface="Arial" pitchFamily="-107" charset="0"/>
              </a:rPr>
              <a:t>Minimax</a:t>
            </a:r>
            <a:r>
              <a:rPr lang="en-US" sz="1200" b="0" kern="1200" dirty="0">
                <a:solidFill>
                  <a:schemeClr val="tx1"/>
                </a:solidFill>
                <a:latin typeface="Arial" pitchFamily="-107" charset="0"/>
                <a:ea typeface="Arial" pitchFamily="-107" charset="0"/>
                <a:cs typeface="Arial" pitchFamily="-107" charset="0"/>
              </a:rPr>
              <a:t> </a:t>
            </a:r>
            <a:r>
              <a:rPr lang="en-US" sz="1200" b="0" kern="1200" dirty="0" err="1">
                <a:solidFill>
                  <a:schemeClr val="tx1"/>
                </a:solidFill>
                <a:latin typeface="Arial" pitchFamily="-107" charset="0"/>
                <a:ea typeface="Arial" pitchFamily="-107" charset="0"/>
                <a:cs typeface="Arial" pitchFamily="-107" charset="0"/>
              </a:rPr>
              <a:t>value(s</a:t>
            </a:r>
            <a:r>
              <a:rPr lang="en-US" sz="1200" b="0" kern="1200" dirty="0">
                <a:solidFill>
                  <a:schemeClr val="tx1"/>
                </a:solidFill>
                <a:latin typeface="Arial" pitchFamily="-107" charset="0"/>
                <a:ea typeface="Arial" pitchFamily="-107" charset="0"/>
                <a:cs typeface="Arial" pitchFamily="-107" charset="0"/>
              </a:rPr>
              <a:t>) is utility</a:t>
            </a:r>
            <a:r>
              <a:rPr lang="en-US" sz="1200" b="0" kern="1200" baseline="0" dirty="0">
                <a:solidFill>
                  <a:schemeClr val="tx1"/>
                </a:solidFill>
                <a:latin typeface="Arial" pitchFamily="-107" charset="0"/>
                <a:ea typeface="Arial" pitchFamily="-107" charset="0"/>
                <a:cs typeface="Arial" pitchFamily="-107" charset="0"/>
              </a:rPr>
              <a:t> (for MAX) of being in state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assuming both players play optimally from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to end of game.</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3(a) Each player’s move is called a ply.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3(b) Backward induction. E.g., MIN 3 12 8, MAX 3 2 2</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3(c)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values determine the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decisions: root = A_1</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26</a:t>
            </a:fld>
            <a:endParaRPr lang="en-US"/>
          </a:p>
        </p:txBody>
      </p:sp>
    </p:spTree>
    <p:extLst>
      <p:ext uri="{BB962C8B-B14F-4D97-AF65-F5344CB8AC3E}">
        <p14:creationId xmlns:p14="http://schemas.microsoft.com/office/powerpoint/2010/main" val="18753067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sz="1200" b="0" kern="1200" dirty="0">
                <a:solidFill>
                  <a:schemeClr val="tx1"/>
                </a:solidFill>
                <a:latin typeface="Arial" pitchFamily="-107" charset="0"/>
                <a:ea typeface="Arial" pitchFamily="-107" charset="0"/>
                <a:cs typeface="Arial" pitchFamily="-107" charset="0"/>
              </a:rPr>
              <a:t>Optimal play is the strategy of MAX which achieves best payoff given MIN plays optimally.</a:t>
            </a:r>
          </a:p>
          <a:p>
            <a:pPr marL="228600" indent="-228600">
              <a:buAutoNum type="arabicPeriod"/>
            </a:pPr>
            <a:r>
              <a:rPr lang="en-US" sz="1200" b="0" kern="1200" dirty="0" err="1">
                <a:solidFill>
                  <a:schemeClr val="tx1"/>
                </a:solidFill>
                <a:latin typeface="Arial" pitchFamily="-107" charset="0"/>
                <a:ea typeface="Arial" pitchFamily="-107" charset="0"/>
                <a:cs typeface="Arial" pitchFamily="-107" charset="0"/>
              </a:rPr>
              <a:t>Minimax</a:t>
            </a:r>
            <a:r>
              <a:rPr lang="en-US" sz="1200" b="0" kern="1200" dirty="0">
                <a:solidFill>
                  <a:schemeClr val="tx1"/>
                </a:solidFill>
                <a:latin typeface="Arial" pitchFamily="-107" charset="0"/>
                <a:ea typeface="Arial" pitchFamily="-107" charset="0"/>
                <a:cs typeface="Arial" pitchFamily="-107" charset="0"/>
              </a:rPr>
              <a:t> </a:t>
            </a:r>
            <a:r>
              <a:rPr lang="en-US" sz="1200" b="0" kern="1200" dirty="0" err="1">
                <a:solidFill>
                  <a:schemeClr val="tx1"/>
                </a:solidFill>
                <a:latin typeface="Arial" pitchFamily="-107" charset="0"/>
                <a:ea typeface="Arial" pitchFamily="-107" charset="0"/>
                <a:cs typeface="Arial" pitchFamily="-107" charset="0"/>
              </a:rPr>
              <a:t>value(s</a:t>
            </a:r>
            <a:r>
              <a:rPr lang="en-US" sz="1200" b="0" kern="1200" dirty="0">
                <a:solidFill>
                  <a:schemeClr val="tx1"/>
                </a:solidFill>
                <a:latin typeface="Arial" pitchFamily="-107" charset="0"/>
                <a:ea typeface="Arial" pitchFamily="-107" charset="0"/>
                <a:cs typeface="Arial" pitchFamily="-107" charset="0"/>
              </a:rPr>
              <a:t>) is utility</a:t>
            </a:r>
            <a:r>
              <a:rPr lang="en-US" sz="1200" b="0" kern="1200" baseline="0" dirty="0">
                <a:solidFill>
                  <a:schemeClr val="tx1"/>
                </a:solidFill>
                <a:latin typeface="Arial" pitchFamily="-107" charset="0"/>
                <a:ea typeface="Arial" pitchFamily="-107" charset="0"/>
                <a:cs typeface="Arial" pitchFamily="-107" charset="0"/>
              </a:rPr>
              <a:t> (for MAX) of being in state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assuming both players play optimally from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to end of game.</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3(a) Each player’s move is called a ply.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3(b) Backward induction. E.g., MIN 3 12 8, MAX 3 2 2</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3(c)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values determine the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decisions: root = A_1</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27</a:t>
            </a:fld>
            <a:endParaRPr lang="en-US"/>
          </a:p>
        </p:txBody>
      </p:sp>
    </p:spTree>
    <p:extLst>
      <p:ext uri="{BB962C8B-B14F-4D97-AF65-F5344CB8AC3E}">
        <p14:creationId xmlns:p14="http://schemas.microsoft.com/office/powerpoint/2010/main" val="250154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sz="1200" b="0" kern="1200" dirty="0">
                <a:solidFill>
                  <a:schemeClr val="tx1"/>
                </a:solidFill>
                <a:latin typeface="Arial" pitchFamily="-107" charset="0"/>
                <a:ea typeface="Arial" pitchFamily="-107" charset="0"/>
                <a:cs typeface="Arial" pitchFamily="-107" charset="0"/>
              </a:rPr>
              <a:t>Optimal play is the strategy of MAX which achieves best payoff given MIN plays optimally.</a:t>
            </a:r>
          </a:p>
          <a:p>
            <a:pPr marL="228600" indent="-228600">
              <a:buAutoNum type="arabicPeriod"/>
            </a:pPr>
            <a:r>
              <a:rPr lang="en-US" sz="1200" b="0" kern="1200" dirty="0" err="1">
                <a:solidFill>
                  <a:schemeClr val="tx1"/>
                </a:solidFill>
                <a:latin typeface="Arial" pitchFamily="-107" charset="0"/>
                <a:ea typeface="Arial" pitchFamily="-107" charset="0"/>
                <a:cs typeface="Arial" pitchFamily="-107" charset="0"/>
              </a:rPr>
              <a:t>Minimax</a:t>
            </a:r>
            <a:r>
              <a:rPr lang="en-US" sz="1200" b="0" kern="1200" dirty="0">
                <a:solidFill>
                  <a:schemeClr val="tx1"/>
                </a:solidFill>
                <a:latin typeface="Arial" pitchFamily="-107" charset="0"/>
                <a:ea typeface="Arial" pitchFamily="-107" charset="0"/>
                <a:cs typeface="Arial" pitchFamily="-107" charset="0"/>
              </a:rPr>
              <a:t> </a:t>
            </a:r>
            <a:r>
              <a:rPr lang="en-US" sz="1200" b="0" kern="1200" dirty="0" err="1">
                <a:solidFill>
                  <a:schemeClr val="tx1"/>
                </a:solidFill>
                <a:latin typeface="Arial" pitchFamily="-107" charset="0"/>
                <a:ea typeface="Arial" pitchFamily="-107" charset="0"/>
                <a:cs typeface="Arial" pitchFamily="-107" charset="0"/>
              </a:rPr>
              <a:t>value(s</a:t>
            </a:r>
            <a:r>
              <a:rPr lang="en-US" sz="1200" b="0" kern="1200" dirty="0">
                <a:solidFill>
                  <a:schemeClr val="tx1"/>
                </a:solidFill>
                <a:latin typeface="Arial" pitchFamily="-107" charset="0"/>
                <a:ea typeface="Arial" pitchFamily="-107" charset="0"/>
                <a:cs typeface="Arial" pitchFamily="-107" charset="0"/>
              </a:rPr>
              <a:t>) is utility</a:t>
            </a:r>
            <a:r>
              <a:rPr lang="en-US" sz="1200" b="0" kern="1200" baseline="0" dirty="0">
                <a:solidFill>
                  <a:schemeClr val="tx1"/>
                </a:solidFill>
                <a:latin typeface="Arial" pitchFamily="-107" charset="0"/>
                <a:ea typeface="Arial" pitchFamily="-107" charset="0"/>
                <a:cs typeface="Arial" pitchFamily="-107" charset="0"/>
              </a:rPr>
              <a:t> (for MAX) of being in state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assuming both players play optimally from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to end of game.</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3(a) Each player’s move is called a ply.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3(b) Backward induction. E.g., MIN 3 12 8, MAX 3 2 2</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3(c)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values determine the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decisions: root = A_1</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28</a:t>
            </a:fld>
            <a:endParaRPr lang="en-US"/>
          </a:p>
        </p:txBody>
      </p:sp>
    </p:spTree>
    <p:extLst>
      <p:ext uri="{BB962C8B-B14F-4D97-AF65-F5344CB8AC3E}">
        <p14:creationId xmlns:p14="http://schemas.microsoft.com/office/powerpoint/2010/main" val="15957630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sz="1200" b="0" kern="1200" dirty="0">
                <a:solidFill>
                  <a:schemeClr val="tx1"/>
                </a:solidFill>
                <a:latin typeface="Arial" pitchFamily="-107" charset="0"/>
                <a:ea typeface="Arial" pitchFamily="-107" charset="0"/>
                <a:cs typeface="Arial" pitchFamily="-107" charset="0"/>
              </a:rPr>
              <a:t>Optimal play is the strategy of MAX which achieves best payoff given MIN plays optimally.</a:t>
            </a:r>
          </a:p>
          <a:p>
            <a:pPr marL="228600" indent="-228600">
              <a:buAutoNum type="arabicPeriod"/>
            </a:pPr>
            <a:r>
              <a:rPr lang="en-US" sz="1200" b="0" kern="1200" dirty="0" err="1">
                <a:solidFill>
                  <a:schemeClr val="tx1"/>
                </a:solidFill>
                <a:latin typeface="Arial" pitchFamily="-107" charset="0"/>
                <a:ea typeface="Arial" pitchFamily="-107" charset="0"/>
                <a:cs typeface="Arial" pitchFamily="-107" charset="0"/>
              </a:rPr>
              <a:t>Minimax</a:t>
            </a:r>
            <a:r>
              <a:rPr lang="en-US" sz="1200" b="0" kern="1200" dirty="0">
                <a:solidFill>
                  <a:schemeClr val="tx1"/>
                </a:solidFill>
                <a:latin typeface="Arial" pitchFamily="-107" charset="0"/>
                <a:ea typeface="Arial" pitchFamily="-107" charset="0"/>
                <a:cs typeface="Arial" pitchFamily="-107" charset="0"/>
              </a:rPr>
              <a:t> </a:t>
            </a:r>
            <a:r>
              <a:rPr lang="en-US" sz="1200" b="0" kern="1200" dirty="0" err="1">
                <a:solidFill>
                  <a:schemeClr val="tx1"/>
                </a:solidFill>
                <a:latin typeface="Arial" pitchFamily="-107" charset="0"/>
                <a:ea typeface="Arial" pitchFamily="-107" charset="0"/>
                <a:cs typeface="Arial" pitchFamily="-107" charset="0"/>
              </a:rPr>
              <a:t>value(s</a:t>
            </a:r>
            <a:r>
              <a:rPr lang="en-US" sz="1200" b="0" kern="1200" dirty="0">
                <a:solidFill>
                  <a:schemeClr val="tx1"/>
                </a:solidFill>
                <a:latin typeface="Arial" pitchFamily="-107" charset="0"/>
                <a:ea typeface="Arial" pitchFamily="-107" charset="0"/>
                <a:cs typeface="Arial" pitchFamily="-107" charset="0"/>
              </a:rPr>
              <a:t>) is utility</a:t>
            </a:r>
            <a:r>
              <a:rPr lang="en-US" sz="1200" b="0" kern="1200" baseline="0" dirty="0">
                <a:solidFill>
                  <a:schemeClr val="tx1"/>
                </a:solidFill>
                <a:latin typeface="Arial" pitchFamily="-107" charset="0"/>
                <a:ea typeface="Arial" pitchFamily="-107" charset="0"/>
                <a:cs typeface="Arial" pitchFamily="-107" charset="0"/>
              </a:rPr>
              <a:t> (for MAX) of being in state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assuming both players play optimally from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to end of game.</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3(a) Each player’s move is called a ply.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3(b) Backward induction. E.g., MIN 3 12 8, MAX 3 2 2</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3(c)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values determine the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decisions: root = A_1</a:t>
            </a:r>
          </a:p>
        </p:txBody>
      </p:sp>
      <p:sp>
        <p:nvSpPr>
          <p:cNvPr id="4" name="Slide Number Placeholder 3"/>
          <p:cNvSpPr>
            <a:spLocks noGrp="1"/>
          </p:cNvSpPr>
          <p:nvPr>
            <p:ph type="sldNum" sz="quarter" idx="10"/>
          </p:nvPr>
        </p:nvSpPr>
        <p:spPr/>
        <p:txBody>
          <a:bodyPr/>
          <a:lstStyle/>
          <a:p>
            <a:fld id="{C3D1DE78-4677-CA45-9559-6E36E4BF50C7}" type="slidenum">
              <a:rPr lang="en-US" smtClean="0"/>
              <a:pPr/>
              <a:t>29</a:t>
            </a:fld>
            <a:endParaRPr lang="en-US"/>
          </a:p>
        </p:txBody>
      </p:sp>
    </p:spTree>
    <p:extLst>
      <p:ext uri="{BB962C8B-B14F-4D97-AF65-F5344CB8AC3E}">
        <p14:creationId xmlns:p14="http://schemas.microsoft.com/office/powerpoint/2010/main" val="6754581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sz="1200" b="0" kern="1200" dirty="0">
                <a:solidFill>
                  <a:schemeClr val="tx1"/>
                </a:solidFill>
                <a:latin typeface="Arial" pitchFamily="-107" charset="0"/>
                <a:ea typeface="Arial" pitchFamily="-107" charset="0"/>
                <a:cs typeface="Arial" pitchFamily="-107" charset="0"/>
              </a:rPr>
              <a:t>Optimal play is the strategy of MAX which achieves best payoff given MIN plays optimally.</a:t>
            </a:r>
          </a:p>
          <a:p>
            <a:pPr marL="228600" indent="-228600">
              <a:buAutoNum type="arabicPeriod"/>
            </a:pPr>
            <a:r>
              <a:rPr lang="en-US" sz="1200" b="0" kern="1200" dirty="0" err="1">
                <a:solidFill>
                  <a:schemeClr val="tx1"/>
                </a:solidFill>
                <a:latin typeface="Arial" pitchFamily="-107" charset="0"/>
                <a:ea typeface="Arial" pitchFamily="-107" charset="0"/>
                <a:cs typeface="Arial" pitchFamily="-107" charset="0"/>
              </a:rPr>
              <a:t>Minimax</a:t>
            </a:r>
            <a:r>
              <a:rPr lang="en-US" sz="1200" b="0" kern="1200" dirty="0">
                <a:solidFill>
                  <a:schemeClr val="tx1"/>
                </a:solidFill>
                <a:latin typeface="Arial" pitchFamily="-107" charset="0"/>
                <a:ea typeface="Arial" pitchFamily="-107" charset="0"/>
                <a:cs typeface="Arial" pitchFamily="-107" charset="0"/>
              </a:rPr>
              <a:t> </a:t>
            </a:r>
            <a:r>
              <a:rPr lang="en-US" sz="1200" b="0" kern="1200" dirty="0" err="1">
                <a:solidFill>
                  <a:schemeClr val="tx1"/>
                </a:solidFill>
                <a:latin typeface="Arial" pitchFamily="-107" charset="0"/>
                <a:ea typeface="Arial" pitchFamily="-107" charset="0"/>
                <a:cs typeface="Arial" pitchFamily="-107" charset="0"/>
              </a:rPr>
              <a:t>value(s</a:t>
            </a:r>
            <a:r>
              <a:rPr lang="en-US" sz="1200" b="0" kern="1200" dirty="0">
                <a:solidFill>
                  <a:schemeClr val="tx1"/>
                </a:solidFill>
                <a:latin typeface="Arial" pitchFamily="-107" charset="0"/>
                <a:ea typeface="Arial" pitchFamily="-107" charset="0"/>
                <a:cs typeface="Arial" pitchFamily="-107" charset="0"/>
              </a:rPr>
              <a:t>) is utility</a:t>
            </a:r>
            <a:r>
              <a:rPr lang="en-US" sz="1200" b="0" kern="1200" baseline="0" dirty="0">
                <a:solidFill>
                  <a:schemeClr val="tx1"/>
                </a:solidFill>
                <a:latin typeface="Arial" pitchFamily="-107" charset="0"/>
                <a:ea typeface="Arial" pitchFamily="-107" charset="0"/>
                <a:cs typeface="Arial" pitchFamily="-107" charset="0"/>
              </a:rPr>
              <a:t> (for MAX) of being in state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assuming both players play optimally from </a:t>
            </a:r>
            <a:r>
              <a:rPr lang="en-US" sz="1200" b="0" kern="1200" baseline="0" dirty="0" err="1">
                <a:solidFill>
                  <a:schemeClr val="tx1"/>
                </a:solidFill>
                <a:latin typeface="Arial" pitchFamily="-107" charset="0"/>
                <a:ea typeface="Arial" pitchFamily="-107" charset="0"/>
                <a:cs typeface="Arial" pitchFamily="-107" charset="0"/>
              </a:rPr>
              <a:t>s</a:t>
            </a:r>
            <a:r>
              <a:rPr lang="en-US" sz="1200" b="0" kern="1200" baseline="0" dirty="0">
                <a:solidFill>
                  <a:schemeClr val="tx1"/>
                </a:solidFill>
                <a:latin typeface="Arial" pitchFamily="-107" charset="0"/>
                <a:ea typeface="Arial" pitchFamily="-107" charset="0"/>
                <a:cs typeface="Arial" pitchFamily="-107" charset="0"/>
              </a:rPr>
              <a:t> to end of game.</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3(a) Each player’s move is called a ply. </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3(b) Backward induction. E.g., MIN 3 12 8, MAX 3 2 2</a:t>
            </a:r>
          </a:p>
          <a:p>
            <a:pPr marL="228600" indent="-228600">
              <a:buNone/>
            </a:pPr>
            <a:r>
              <a:rPr lang="en-US" sz="1200" b="0" kern="1200" baseline="0" dirty="0">
                <a:solidFill>
                  <a:schemeClr val="tx1"/>
                </a:solidFill>
                <a:latin typeface="Arial" pitchFamily="-107" charset="0"/>
                <a:ea typeface="Arial" pitchFamily="-107" charset="0"/>
                <a:cs typeface="Arial" pitchFamily="-107" charset="0"/>
              </a:rPr>
              <a:t>3(c)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values determine the </a:t>
            </a:r>
            <a:r>
              <a:rPr lang="en-US" sz="1200" b="0" kern="1200" baseline="0" dirty="0" err="1">
                <a:solidFill>
                  <a:schemeClr val="tx1"/>
                </a:solidFill>
                <a:latin typeface="Arial" pitchFamily="-107" charset="0"/>
                <a:ea typeface="Arial" pitchFamily="-107" charset="0"/>
                <a:cs typeface="Arial" pitchFamily="-107" charset="0"/>
              </a:rPr>
              <a:t>minimax</a:t>
            </a:r>
            <a:r>
              <a:rPr lang="en-US" sz="1200" b="0" kern="1200" baseline="0" dirty="0">
                <a:solidFill>
                  <a:schemeClr val="tx1"/>
                </a:solidFill>
                <a:latin typeface="Arial" pitchFamily="-107" charset="0"/>
                <a:ea typeface="Arial" pitchFamily="-107" charset="0"/>
                <a:cs typeface="Arial" pitchFamily="-107" charset="0"/>
              </a:rPr>
              <a:t> decisions: root = A_1</a:t>
            </a:r>
          </a:p>
        </p:txBody>
      </p:sp>
      <p:sp>
        <p:nvSpPr>
          <p:cNvPr id="4" name="Slide Number Placeholder 3"/>
          <p:cNvSpPr>
            <a:spLocks noGrp="1"/>
          </p:cNvSpPr>
          <p:nvPr>
            <p:ph type="sldNum" sz="quarter" idx="10"/>
          </p:nvPr>
        </p:nvSpPr>
        <p:spPr/>
        <p:txBody>
          <a:bodyPr/>
          <a:lstStyle/>
          <a:p>
            <a:fld id="{C3D1DE78-4677-CA45-9559-6E36E4BF50C7}" type="slidenum">
              <a:rPr lang="en-US" smtClean="0"/>
              <a:pPr/>
              <a:t>30</a:t>
            </a:fld>
            <a:endParaRPr lang="en-US"/>
          </a:p>
        </p:txBody>
      </p:sp>
    </p:spTree>
    <p:extLst>
      <p:ext uri="{BB962C8B-B14F-4D97-AF65-F5344CB8AC3E}">
        <p14:creationId xmlns:p14="http://schemas.microsoft.com/office/powerpoint/2010/main" val="1200147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None/>
            </a:pP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31</a:t>
            </a:fld>
            <a:endParaRPr lang="en-US"/>
          </a:p>
        </p:txBody>
      </p:sp>
    </p:spTree>
    <p:extLst>
      <p:ext uri="{BB962C8B-B14F-4D97-AF65-F5344CB8AC3E}">
        <p14:creationId xmlns:p14="http://schemas.microsoft.com/office/powerpoint/2010/main" val="255471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33</a:t>
            </a:fld>
            <a:endParaRPr lang="en-US"/>
          </a:p>
        </p:txBody>
      </p:sp>
    </p:spTree>
    <p:extLst>
      <p:ext uri="{BB962C8B-B14F-4D97-AF65-F5344CB8AC3E}">
        <p14:creationId xmlns:p14="http://schemas.microsoft.com/office/powerpoint/2010/main" val="10280676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34</a:t>
            </a:fld>
            <a:endParaRPr lang="en-US"/>
          </a:p>
        </p:txBody>
      </p:sp>
    </p:spTree>
    <p:extLst>
      <p:ext uri="{BB962C8B-B14F-4D97-AF65-F5344CB8AC3E}">
        <p14:creationId xmlns:p14="http://schemas.microsoft.com/office/powerpoint/2010/main" val="12395983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35</a:t>
            </a:fld>
            <a:endParaRPr lang="en-US"/>
          </a:p>
        </p:txBody>
      </p:sp>
    </p:spTree>
    <p:extLst>
      <p:ext uri="{BB962C8B-B14F-4D97-AF65-F5344CB8AC3E}">
        <p14:creationId xmlns:p14="http://schemas.microsoft.com/office/powerpoint/2010/main" val="15544507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36</a:t>
            </a:fld>
            <a:endParaRPr lang="en-US"/>
          </a:p>
        </p:txBody>
      </p:sp>
    </p:spTree>
    <p:extLst>
      <p:ext uri="{BB962C8B-B14F-4D97-AF65-F5344CB8AC3E}">
        <p14:creationId xmlns:p14="http://schemas.microsoft.com/office/powerpoint/2010/main" val="14848969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37</a:t>
            </a:fld>
            <a:endParaRPr lang="en-US"/>
          </a:p>
        </p:txBody>
      </p:sp>
    </p:spTree>
    <p:extLst>
      <p:ext uri="{BB962C8B-B14F-4D97-AF65-F5344CB8AC3E}">
        <p14:creationId xmlns:p14="http://schemas.microsoft.com/office/powerpoint/2010/main" val="16527654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38</a:t>
            </a:fld>
            <a:endParaRPr lang="en-US"/>
          </a:p>
        </p:txBody>
      </p:sp>
    </p:spTree>
    <p:extLst>
      <p:ext uri="{BB962C8B-B14F-4D97-AF65-F5344CB8AC3E}">
        <p14:creationId xmlns:p14="http://schemas.microsoft.com/office/powerpoint/2010/main" val="3024636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39</a:t>
            </a:fld>
            <a:endParaRPr lang="en-US"/>
          </a:p>
        </p:txBody>
      </p:sp>
    </p:spTree>
    <p:extLst>
      <p:ext uri="{BB962C8B-B14F-4D97-AF65-F5344CB8AC3E}">
        <p14:creationId xmlns:p14="http://schemas.microsoft.com/office/powerpoint/2010/main" val="7998854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sz="1200" b="0" kern="1200" baseline="0" dirty="0">
              <a:solidFill>
                <a:schemeClr val="tx1"/>
              </a:solidFill>
              <a:latin typeface="Arial" pitchFamily="-107" charset="0"/>
              <a:ea typeface="Arial" pitchFamily="-107" charset="0"/>
              <a:cs typeface="Arial" pitchFamily="-107" charset="0"/>
            </a:endParaRPr>
          </a:p>
        </p:txBody>
      </p:sp>
      <p:sp>
        <p:nvSpPr>
          <p:cNvPr id="4" name="Slide Number Placeholder 3"/>
          <p:cNvSpPr>
            <a:spLocks noGrp="1"/>
          </p:cNvSpPr>
          <p:nvPr>
            <p:ph type="sldNum" sz="quarter" idx="10"/>
          </p:nvPr>
        </p:nvSpPr>
        <p:spPr/>
        <p:txBody>
          <a:bodyPr/>
          <a:lstStyle/>
          <a:p>
            <a:fld id="{C3D1DE78-4677-CA45-9559-6E36E4BF50C7}" type="slidenum">
              <a:rPr lang="en-US" smtClean="0"/>
              <a:pPr/>
              <a:t>40</a:t>
            </a:fld>
            <a:endParaRPr lang="en-US"/>
          </a:p>
        </p:txBody>
      </p:sp>
    </p:spTree>
    <p:extLst>
      <p:ext uri="{BB962C8B-B14F-4D97-AF65-F5344CB8AC3E}">
        <p14:creationId xmlns:p14="http://schemas.microsoft.com/office/powerpoint/2010/main" val="7189526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2. Alpha is the highest lower bound of MAX (alpha</a:t>
            </a:r>
            <a:r>
              <a:rPr lang="en-US" baseline="0" dirty="0"/>
              <a:t> update)</a:t>
            </a:r>
            <a:endParaRPr lang="en-US" dirty="0"/>
          </a:p>
          <a:p>
            <a:r>
              <a:rPr lang="en-US" dirty="0"/>
              <a:t>3. Beta is the lowest</a:t>
            </a:r>
            <a:r>
              <a:rPr lang="en-US" baseline="0" dirty="0"/>
              <a:t> upper bound of MIN (beta update)</a:t>
            </a:r>
          </a:p>
          <a:p>
            <a:r>
              <a:rPr lang="en-US" baseline="0" dirty="0"/>
              <a:t>4. MAX player will never consider a move to come to this MIN node (prune at MIN node)</a:t>
            </a:r>
          </a:p>
          <a:p>
            <a:r>
              <a:rPr lang="en-US" baseline="0" dirty="0"/>
              <a:t>5. MIN player will never consider a move to come to this MAX node (prune at MAX node)</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42</a:t>
            </a:fld>
            <a:endParaRPr lang="en-US"/>
          </a:p>
        </p:txBody>
      </p:sp>
    </p:spTree>
    <p:extLst>
      <p:ext uri="{BB962C8B-B14F-4D97-AF65-F5344CB8AC3E}">
        <p14:creationId xmlns:p14="http://schemas.microsoft.com/office/powerpoint/2010/main" val="3578889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Similar to DLS.</a:t>
            </a:r>
          </a:p>
        </p:txBody>
      </p:sp>
      <p:sp>
        <p:nvSpPr>
          <p:cNvPr id="4" name="Slide Number Placeholder 3"/>
          <p:cNvSpPr>
            <a:spLocks noGrp="1"/>
          </p:cNvSpPr>
          <p:nvPr>
            <p:ph type="sldNum" sz="quarter" idx="10"/>
          </p:nvPr>
        </p:nvSpPr>
        <p:spPr/>
        <p:txBody>
          <a:bodyPr/>
          <a:lstStyle/>
          <a:p>
            <a:fld id="{C3D1DE78-4677-CA45-9559-6E36E4BF50C7}" type="slidenum">
              <a:rPr lang="en-US" smtClean="0"/>
              <a:pPr/>
              <a:t>43</a:t>
            </a:fld>
            <a:endParaRPr lang="en-US"/>
          </a:p>
        </p:txBody>
      </p:sp>
    </p:spTree>
    <p:extLst>
      <p:ext uri="{BB962C8B-B14F-4D97-AF65-F5344CB8AC3E}">
        <p14:creationId xmlns:p14="http://schemas.microsoft.com/office/powerpoint/2010/main" val="887006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sz="1200" kern="1200" dirty="0" err="1">
                <a:solidFill>
                  <a:schemeClr val="tx1"/>
                </a:solidFill>
                <a:latin typeface="Arial" pitchFamily="-107" charset="0"/>
                <a:ea typeface="Arial" pitchFamily="-107" charset="0"/>
                <a:cs typeface="Arial" pitchFamily="-107" charset="0"/>
              </a:rPr>
              <a:t>d</a:t>
            </a:r>
            <a:r>
              <a:rPr lang="en-US" sz="1200" kern="1200" dirty="0">
                <a:solidFill>
                  <a:schemeClr val="tx1"/>
                </a:solidFill>
                <a:latin typeface="Arial" pitchFamily="-107" charset="0"/>
                <a:ea typeface="Arial" pitchFamily="-107" charset="0"/>
                <a:cs typeface="Arial" pitchFamily="-107" charset="0"/>
              </a:rPr>
              <a:t> = depth</a:t>
            </a:r>
          </a:p>
          <a:p>
            <a:endParaRPr lang="en-US" sz="1200" kern="1200" dirty="0">
              <a:solidFill>
                <a:schemeClr val="tx1"/>
              </a:solidFill>
              <a:latin typeface="Arial" pitchFamily="-107" charset="0"/>
              <a:ea typeface="Arial" pitchFamily="-107" charset="0"/>
              <a:cs typeface="Arial" pitchFamily="-107" charset="0"/>
            </a:endParaRPr>
          </a:p>
          <a:p>
            <a:r>
              <a:rPr lang="en-US" sz="1200" kern="1200" dirty="0">
                <a:solidFill>
                  <a:schemeClr val="tx1"/>
                </a:solidFill>
                <a:latin typeface="Arial" pitchFamily="-107" charset="0"/>
                <a:ea typeface="Arial" pitchFamily="-107" charset="0"/>
                <a:cs typeface="Arial" pitchFamily="-107" charset="0"/>
              </a:rPr>
              <a:t>\</a:t>
            </a:r>
            <a:r>
              <a:rPr lang="en-US" sz="1200" kern="1200" dirty="0" err="1">
                <a:solidFill>
                  <a:schemeClr val="tx1"/>
                </a:solidFill>
                <a:latin typeface="Arial" pitchFamily="-107" charset="0"/>
                <a:ea typeface="Arial" pitchFamily="-107" charset="0"/>
                <a:cs typeface="Arial" pitchFamily="-107" charset="0"/>
              </a:rPr>
              <a:t>noindent\scshape{H-Minimax}$(s,d</a:t>
            </a:r>
            <a:r>
              <a:rPr lang="en-US" sz="1200" kern="1200" dirty="0">
                <a:solidFill>
                  <a:schemeClr val="tx1"/>
                </a:solidFill>
                <a:latin typeface="Arial" pitchFamily="-107" charset="0"/>
                <a:ea typeface="Arial" pitchFamily="-107" charset="0"/>
                <a:cs typeface="Arial" pitchFamily="-107" charset="0"/>
              </a:rPr>
              <a:t>) =$\\$\left\{\</a:t>
            </a:r>
            <a:r>
              <a:rPr lang="en-US" sz="1200" kern="1200" dirty="0" err="1">
                <a:solidFill>
                  <a:schemeClr val="tx1"/>
                </a:solidFill>
                <a:latin typeface="Arial" pitchFamily="-107" charset="0"/>
                <a:ea typeface="Arial" pitchFamily="-107" charset="0"/>
                <a:cs typeface="Arial" pitchFamily="-107" charset="0"/>
              </a:rPr>
              <a:t>begin{array}{ll}\mbox{\scshape{Eval}}(s</a:t>
            </a:r>
            <a:r>
              <a:rPr lang="en-US" sz="1200" kern="1200" dirty="0">
                <a:solidFill>
                  <a:schemeClr val="tx1"/>
                </a:solidFill>
                <a:latin typeface="Arial" pitchFamily="-107" charset="0"/>
                <a:ea typeface="Arial" pitchFamily="-107" charset="0"/>
                <a:cs typeface="Arial" pitchFamily="-107" charset="0"/>
              </a:rPr>
              <a:t>) &amp; \</a:t>
            </a:r>
            <a:r>
              <a:rPr lang="en-US" sz="1200" kern="1200" dirty="0" err="1">
                <a:solidFill>
                  <a:schemeClr val="tx1"/>
                </a:solidFill>
                <a:latin typeface="Arial" pitchFamily="-107" charset="0"/>
                <a:ea typeface="Arial" pitchFamily="-107" charset="0"/>
                <a:cs typeface="Arial" pitchFamily="-107" charset="0"/>
              </a:rPr>
              <a:t>mbox{\normalfont{if</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scshape{Cutoff-Test}}(s,d)\\\max_{a\in\mbox{Actions}(s</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mbox{\scshape{H-Minimax}}(\mbox{\scshape{Result}}(s,a</a:t>
            </a:r>
            <a:r>
              <a:rPr lang="en-US" sz="1200" kern="1200" dirty="0">
                <a:solidFill>
                  <a:schemeClr val="tx1"/>
                </a:solidFill>
                <a:latin typeface="Arial" pitchFamily="-107" charset="0"/>
                <a:ea typeface="Arial" pitchFamily="-107" charset="0"/>
                <a:cs typeface="Arial" pitchFamily="-107" charset="0"/>
              </a:rPr>
              <a:t>), d+1) &amp; \</a:t>
            </a:r>
            <a:r>
              <a:rPr lang="en-US" sz="1200" kern="1200" dirty="0" err="1">
                <a:solidFill>
                  <a:schemeClr val="tx1"/>
                </a:solidFill>
                <a:latin typeface="Arial" pitchFamily="-107" charset="0"/>
                <a:ea typeface="Arial" pitchFamily="-107" charset="0"/>
                <a:cs typeface="Arial" pitchFamily="-107" charset="0"/>
              </a:rPr>
              <a:t>mbox{\normalfont{if</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scshape{Player}}(s</a:t>
            </a:r>
            <a:r>
              <a:rPr lang="en-US" sz="1200" kern="1200" dirty="0">
                <a:solidFill>
                  <a:schemeClr val="tx1"/>
                </a:solidFill>
                <a:latin typeface="Arial" pitchFamily="-107" charset="0"/>
                <a:ea typeface="Arial" pitchFamily="-107" charset="0"/>
                <a:cs typeface="Arial" pitchFamily="-107" charset="0"/>
              </a:rPr>
              <a:t>) = \</a:t>
            </a:r>
            <a:r>
              <a:rPr lang="en-US" sz="1200" kern="1200" dirty="0" err="1">
                <a:solidFill>
                  <a:schemeClr val="tx1"/>
                </a:solidFill>
                <a:latin typeface="Arial" pitchFamily="-107" charset="0"/>
                <a:ea typeface="Arial" pitchFamily="-107" charset="0"/>
                <a:cs typeface="Arial" pitchFamily="-107" charset="0"/>
              </a:rPr>
              <a:t>mbox{MAX}\\\min_{a\in\mbox{Actions}(s</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mbox{\scshape{H-Minimax}}(\mbox{\scshape{Result}}(s,a</a:t>
            </a:r>
            <a:r>
              <a:rPr lang="en-US" sz="1200" kern="1200" dirty="0">
                <a:solidFill>
                  <a:schemeClr val="tx1"/>
                </a:solidFill>
                <a:latin typeface="Arial" pitchFamily="-107" charset="0"/>
                <a:ea typeface="Arial" pitchFamily="-107" charset="0"/>
                <a:cs typeface="Arial" pitchFamily="-107" charset="0"/>
              </a:rPr>
              <a:t>), d+1) &amp; \</a:t>
            </a:r>
            <a:r>
              <a:rPr lang="en-US" sz="1200" kern="1200" dirty="0" err="1">
                <a:solidFill>
                  <a:schemeClr val="tx1"/>
                </a:solidFill>
                <a:latin typeface="Arial" pitchFamily="-107" charset="0"/>
                <a:ea typeface="Arial" pitchFamily="-107" charset="0"/>
                <a:cs typeface="Arial" pitchFamily="-107" charset="0"/>
              </a:rPr>
              <a:t>mbox{\normalfont{if</a:t>
            </a:r>
            <a:r>
              <a:rPr lang="en-US" sz="1200" kern="1200" dirty="0">
                <a:solidFill>
                  <a:schemeClr val="tx1"/>
                </a:solidFill>
                <a:latin typeface="Arial" pitchFamily="-107" charset="0"/>
                <a:ea typeface="Arial" pitchFamily="-107" charset="0"/>
                <a:cs typeface="Arial" pitchFamily="-107" charset="0"/>
              </a:rPr>
              <a:t>} \</a:t>
            </a:r>
            <a:r>
              <a:rPr lang="en-US" sz="1200" kern="1200" dirty="0" err="1">
                <a:solidFill>
                  <a:schemeClr val="tx1"/>
                </a:solidFill>
                <a:latin typeface="Arial" pitchFamily="-107" charset="0"/>
                <a:ea typeface="Arial" pitchFamily="-107" charset="0"/>
                <a:cs typeface="Arial" pitchFamily="-107" charset="0"/>
              </a:rPr>
              <a:t>scshape{Player}}(s</a:t>
            </a:r>
            <a:r>
              <a:rPr lang="en-US" sz="1200" kern="1200" dirty="0">
                <a:solidFill>
                  <a:schemeClr val="tx1"/>
                </a:solidFill>
                <a:latin typeface="Arial" pitchFamily="-107" charset="0"/>
                <a:ea typeface="Arial" pitchFamily="-107" charset="0"/>
                <a:cs typeface="Arial" pitchFamily="-107" charset="0"/>
              </a:rPr>
              <a:t>) = \</a:t>
            </a:r>
            <a:r>
              <a:rPr lang="en-US" sz="1200" kern="1200" dirty="0" err="1">
                <a:solidFill>
                  <a:schemeClr val="tx1"/>
                </a:solidFill>
                <a:latin typeface="Arial" pitchFamily="-107" charset="0"/>
                <a:ea typeface="Arial" pitchFamily="-107" charset="0"/>
                <a:cs typeface="Arial" pitchFamily="-107" charset="0"/>
              </a:rPr>
              <a:t>mbox{MIN}\end{array}\right</a:t>
            </a:r>
            <a:r>
              <a:rPr lang="en-US" sz="1200" kern="1200" dirty="0">
                <a:solidFill>
                  <a:schemeClr val="tx1"/>
                </a:solidFill>
                <a:latin typeface="Arial" pitchFamily="-107" charset="0"/>
                <a:ea typeface="Arial" pitchFamily="-107" charset="0"/>
                <a:cs typeface="Arial" pitchFamily="-107" charset="0"/>
              </a:rPr>
              <a:t>.$</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44</a:t>
            </a:fld>
            <a:endParaRPr lang="en-US"/>
          </a:p>
        </p:txBody>
      </p:sp>
    </p:spTree>
    <p:extLst>
      <p:ext uri="{BB962C8B-B14F-4D97-AF65-F5344CB8AC3E}">
        <p14:creationId xmlns:p14="http://schemas.microsoft.com/office/powerpoint/2010/main" val="29232144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0" indent="0">
              <a:buNone/>
            </a:pPr>
            <a:endParaRPr lang="en-US" baseline="0"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45</a:t>
            </a:fld>
            <a:endParaRPr lang="en-US"/>
          </a:p>
        </p:txBody>
      </p:sp>
    </p:spTree>
    <p:extLst>
      <p:ext uri="{BB962C8B-B14F-4D97-AF65-F5344CB8AC3E}">
        <p14:creationId xmlns:p14="http://schemas.microsoft.com/office/powerpoint/2010/main" val="9052001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0" indent="0">
              <a:buNone/>
            </a:pPr>
            <a:endParaRPr lang="en-US" baseline="0"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46</a:t>
            </a:fld>
            <a:endParaRPr lang="en-US"/>
          </a:p>
        </p:txBody>
      </p:sp>
    </p:spTree>
    <p:extLst>
      <p:ext uri="{BB962C8B-B14F-4D97-AF65-F5344CB8AC3E}">
        <p14:creationId xmlns:p14="http://schemas.microsoft.com/office/powerpoint/2010/main" val="25470883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0" indent="0">
              <a:buNone/>
            </a:pPr>
            <a:endParaRPr lang="en-US" baseline="0"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47</a:t>
            </a:fld>
            <a:endParaRPr lang="en-US"/>
          </a:p>
        </p:txBody>
      </p:sp>
    </p:spTree>
    <p:extLst>
      <p:ext uri="{BB962C8B-B14F-4D97-AF65-F5344CB8AC3E}">
        <p14:creationId xmlns:p14="http://schemas.microsoft.com/office/powerpoint/2010/main" val="7519255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dirty="0"/>
              <a:t>At </a:t>
            </a:r>
            <a:r>
              <a:rPr lang="en-US" dirty="0" err="1"/>
              <a:t>d</a:t>
            </a:r>
            <a:r>
              <a:rPr lang="en-US" dirty="0"/>
              <a:t> = max depth, EVAL does not need to be UTIL. Order of evaluated values of terminal states should be the same as that</a:t>
            </a:r>
            <a:r>
              <a:rPr lang="en-US" baseline="0" dirty="0"/>
              <a:t> using utility function. Give e.g. on leaf nodes</a:t>
            </a:r>
          </a:p>
          <a:p>
            <a:pPr marL="228600" indent="-228600">
              <a:buAutoNum type="arabicPeriod"/>
            </a:pPr>
            <a:r>
              <a:rPr lang="en-US" baseline="0" dirty="0"/>
              <a:t>Otherwise, same incurred time as searching deep.</a:t>
            </a:r>
          </a:p>
          <a:p>
            <a:pPr marL="228600" indent="-228600">
              <a:buAutoNum type="arabicPeriod"/>
            </a:pPr>
            <a:r>
              <a:rPr lang="en-US" baseline="0" dirty="0"/>
              <a:t>Depth </a:t>
            </a:r>
            <a:r>
              <a:rPr lang="en-US" baseline="0" dirty="0" err="1"/>
              <a:t>d</a:t>
            </a:r>
            <a:r>
              <a:rPr lang="en-US" baseline="0" dirty="0"/>
              <a:t> &lt; max depth: Otherwise, you may lose.</a:t>
            </a:r>
          </a:p>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48</a:t>
            </a:fld>
            <a:endParaRPr lang="en-US"/>
          </a:p>
        </p:txBody>
      </p:sp>
    </p:spTree>
    <p:extLst>
      <p:ext uri="{BB962C8B-B14F-4D97-AF65-F5344CB8AC3E}">
        <p14:creationId xmlns:p14="http://schemas.microsoft.com/office/powerpoint/2010/main" val="24498400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49</a:t>
            </a:fld>
            <a:endParaRPr lang="en-US"/>
          </a:p>
        </p:txBody>
      </p:sp>
    </p:spTree>
    <p:extLst>
      <p:ext uri="{BB962C8B-B14F-4D97-AF65-F5344CB8AC3E}">
        <p14:creationId xmlns:p14="http://schemas.microsoft.com/office/powerpoint/2010/main" val="32293990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1. In some games, you want to include some unpredictable element (or chance) such as rolling</a:t>
            </a:r>
            <a:r>
              <a:rPr lang="en-US" baseline="0" dirty="0"/>
              <a:t> of dice.</a:t>
            </a:r>
          </a:p>
          <a:p>
            <a:r>
              <a:rPr lang="en-US" baseline="0" dirty="0"/>
              <a:t>Backgammon, monopoly</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51</a:t>
            </a:fld>
            <a:endParaRPr lang="en-US"/>
          </a:p>
        </p:txBody>
      </p:sp>
    </p:spTree>
    <p:extLst>
      <p:ext uri="{BB962C8B-B14F-4D97-AF65-F5344CB8AC3E}">
        <p14:creationId xmlns:p14="http://schemas.microsoft.com/office/powerpoint/2010/main" val="5257963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52</a:t>
            </a:fld>
            <a:endParaRPr lang="en-US"/>
          </a:p>
        </p:txBody>
      </p:sp>
    </p:spTree>
    <p:extLst>
      <p:ext uri="{BB962C8B-B14F-4D97-AF65-F5344CB8AC3E}">
        <p14:creationId xmlns:p14="http://schemas.microsoft.com/office/powerpoint/2010/main" val="42095988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53</a:t>
            </a:fld>
            <a:endParaRPr lang="en-US"/>
          </a:p>
        </p:txBody>
      </p:sp>
    </p:spTree>
    <p:extLst>
      <p:ext uri="{BB962C8B-B14F-4D97-AF65-F5344CB8AC3E}">
        <p14:creationId xmlns:p14="http://schemas.microsoft.com/office/powerpoint/2010/main" val="2150420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54</a:t>
            </a:fld>
            <a:endParaRPr lang="en-US"/>
          </a:p>
        </p:txBody>
      </p:sp>
    </p:spTree>
    <p:extLst>
      <p:ext uri="{BB962C8B-B14F-4D97-AF65-F5344CB8AC3E}">
        <p14:creationId xmlns:p14="http://schemas.microsoft.com/office/powerpoint/2010/main" val="3324598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55</a:t>
            </a:fld>
            <a:endParaRPr lang="en-US"/>
          </a:p>
        </p:txBody>
      </p:sp>
    </p:spTree>
    <p:extLst>
      <p:ext uri="{BB962C8B-B14F-4D97-AF65-F5344CB8AC3E}">
        <p14:creationId xmlns:p14="http://schemas.microsoft.com/office/powerpoint/2010/main" val="19742593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marL="228600" indent="-228600">
              <a:buAutoNum type="arabicPeriod"/>
            </a:pPr>
            <a:r>
              <a:rPr lang="en-US" dirty="0"/>
              <a:t>Very far from terminal states</a:t>
            </a:r>
          </a:p>
          <a:p>
            <a:pPr marL="228600" indent="-228600">
              <a:buAutoNum type="arabicPeriod"/>
            </a:pPr>
            <a:r>
              <a:rPr lang="en-US" dirty="0"/>
              <a:t>Number of states considerably</a:t>
            </a:r>
            <a:r>
              <a:rPr lang="en-US" baseline="0" dirty="0"/>
              <a:t> smaller, solve it completely and store results in a lookup table</a:t>
            </a:r>
            <a:endParaRPr lang="en-US" dirty="0"/>
          </a:p>
          <a:p>
            <a:r>
              <a:rPr lang="en-US" dirty="0"/>
              <a:t>King</a:t>
            </a:r>
            <a:r>
              <a:rPr lang="en-US" baseline="0" dirty="0"/>
              <a:t> and rook </a:t>
            </a:r>
            <a:r>
              <a:rPr lang="en-US" baseline="0" dirty="0" err="1"/>
              <a:t>vs</a:t>
            </a:r>
            <a:r>
              <a:rPr lang="en-US" baseline="0" dirty="0"/>
              <a:t> king: </a:t>
            </a:r>
            <a:r>
              <a:rPr lang="en-US" sz="1200" kern="1200" baseline="0" dirty="0">
                <a:solidFill>
                  <a:schemeClr val="tx1"/>
                </a:solidFill>
                <a:latin typeface="Arial" pitchFamily="-107" charset="0"/>
                <a:ea typeface="Arial" pitchFamily="-107" charset="0"/>
                <a:cs typeface="Arial" pitchFamily="-107" charset="0"/>
              </a:rPr>
              <a:t>reduce the opposing king's mobility by squeezing it toward one edge of the board, using your king to prevent the opponent from escaping the squeeze. </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56</a:t>
            </a:fld>
            <a:endParaRPr lang="en-US"/>
          </a:p>
        </p:txBody>
      </p:sp>
    </p:spTree>
    <p:extLst>
      <p:ext uri="{BB962C8B-B14F-4D97-AF65-F5344CB8AC3E}">
        <p14:creationId xmlns:p14="http://schemas.microsoft.com/office/powerpoint/2010/main" val="199154191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pitchFamily="-107" charset="0"/>
                <a:ea typeface="Arial" pitchFamily="-107" charset="0"/>
                <a:cs typeface="Arial" pitchFamily="-107" charset="0"/>
              </a:rPr>
              <a:t>1. An opponent's move that causes serious damage and is ultimately unavoidable, but can be temporarily avoided by delaying tactics.</a:t>
            </a:r>
          </a:p>
          <a:p>
            <a:endParaRPr lang="en-US" sz="1200" kern="1200" baseline="0" dirty="0">
              <a:solidFill>
                <a:schemeClr val="tx1"/>
              </a:solidFill>
              <a:latin typeface="Arial" pitchFamily="-107" charset="0"/>
              <a:ea typeface="Arial" pitchFamily="-107" charset="0"/>
              <a:cs typeface="Arial" pitchFamily="-107" charset="0"/>
            </a:endParaRPr>
          </a:p>
          <a:p>
            <a:r>
              <a:rPr lang="en-US" sz="1200" b="0" kern="1200" baseline="0" dirty="0">
                <a:solidFill>
                  <a:schemeClr val="tx1"/>
                </a:solidFill>
                <a:latin typeface="Corbel" panose="020B0503020204020204" pitchFamily="34" charset="0"/>
                <a:ea typeface="Arial" pitchFamily="-107" charset="0"/>
                <a:cs typeface="Times"/>
              </a:rPr>
              <a:t>The white rook can capture it by moving to h8, then a8, then a7; a capture at depth 6 ply. But Black does have a sequence of moves that pushes the capture of the bishop "over the horizon." Suppose Black searches to depth 8 ply. Most moves by Black will lead to the eventual capture of the bishop, and thus will be marked as "bad" moves. But Black will consider checking the white king with the pawn at e5. This will lead to the king capturing the pawn. Now Black will consider checking again, with the pawn at f4, leading to another pawn capture. That takes up 4 ply, and from there the remaining 4 ply is not enough to capture the bishop. Black thinks that the line of play has saved the bishop at the price of two pawns, when actually all it has done is push the inevitable capture of the bishop beyond the horizon that Black can see. </a:t>
            </a:r>
          </a:p>
          <a:p>
            <a:endParaRPr lang="en-US" sz="1200" kern="1200" baseline="0" dirty="0">
              <a:solidFill>
                <a:schemeClr val="tx1"/>
              </a:solidFill>
              <a:latin typeface="Arial" pitchFamily="-107" charset="0"/>
              <a:ea typeface="Arial" pitchFamily="-107" charset="0"/>
              <a:cs typeface="Arial" pitchFamily="-107" charset="0"/>
            </a:endParaRPr>
          </a:p>
          <a:p>
            <a:r>
              <a:rPr lang="en-US" sz="1200" kern="1200" dirty="0">
                <a:solidFill>
                  <a:schemeClr val="tx1"/>
                </a:solidFill>
                <a:latin typeface="Arial" pitchFamily="-107" charset="0"/>
                <a:ea typeface="Arial" pitchFamily="-107" charset="0"/>
                <a:cs typeface="Arial" pitchFamily="-107" charset="0"/>
              </a:rPr>
              <a:t>But Black can forestall that event by checking the white king with its pawns, forcing the king to capture the pawns. This pushes the inevitable loss of the bishop over the horizon, and thus the pawn </a:t>
            </a:r>
            <a:r>
              <a:rPr lang="en-US" sz="1200" kern="1200" dirty="0" err="1">
                <a:solidFill>
                  <a:schemeClr val="tx1"/>
                </a:solidFill>
                <a:latin typeface="Arial" pitchFamily="-107" charset="0"/>
                <a:ea typeface="Arial" pitchFamily="-107" charset="0"/>
                <a:cs typeface="Arial" pitchFamily="-107" charset="0"/>
              </a:rPr>
              <a:t>sacriﬁces</a:t>
            </a:r>
            <a:r>
              <a:rPr lang="en-US" sz="1200" kern="1200" dirty="0">
                <a:solidFill>
                  <a:schemeClr val="tx1"/>
                </a:solidFill>
                <a:latin typeface="Arial" pitchFamily="-107" charset="0"/>
                <a:ea typeface="Arial" pitchFamily="-107" charset="0"/>
                <a:cs typeface="Arial" pitchFamily="-107" charset="0"/>
              </a:rPr>
              <a:t> are seen by the search algorithm as good moves rather than bad ones. </a:t>
            </a:r>
            <a:endParaRPr lang="en-US" dirty="0"/>
          </a:p>
        </p:txBody>
      </p:sp>
      <p:sp>
        <p:nvSpPr>
          <p:cNvPr id="4" name="Slide Number Placeholder 3"/>
          <p:cNvSpPr>
            <a:spLocks noGrp="1"/>
          </p:cNvSpPr>
          <p:nvPr>
            <p:ph type="sldNum" sz="quarter" idx="10"/>
          </p:nvPr>
        </p:nvSpPr>
        <p:spPr/>
        <p:txBody>
          <a:bodyPr/>
          <a:lstStyle/>
          <a:p>
            <a:fld id="{C3D1DE78-4677-CA45-9559-6E36E4BF50C7}" type="slidenum">
              <a:rPr lang="en-US" smtClean="0"/>
              <a:pPr/>
              <a:t>57</a:t>
            </a:fld>
            <a:endParaRPr lang="en-US"/>
          </a:p>
        </p:txBody>
      </p:sp>
    </p:spTree>
    <p:extLst>
      <p:ext uri="{BB962C8B-B14F-4D97-AF65-F5344CB8AC3E}">
        <p14:creationId xmlns:p14="http://schemas.microsoft.com/office/powerpoint/2010/main" val="1247505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1219202" y="1524000"/>
            <a:ext cx="10164233" cy="1752600"/>
          </a:xfrm>
        </p:spPr>
        <p:txBody>
          <a:bodyPr/>
          <a:lstStyle>
            <a:lvl1pPr>
              <a:defRPr sz="5000"/>
            </a:lvl1pPr>
          </a:lstStyle>
          <a:p>
            <a:pPr lvl="0"/>
            <a:r>
              <a:rPr lang="en-GB" altLang="en-US" noProof="0"/>
              <a:t>Click to edit Master title style</a:t>
            </a:r>
            <a:endParaRPr lang="en-US" altLang="en-US" noProof="0"/>
          </a:p>
        </p:txBody>
      </p:sp>
      <p:sp>
        <p:nvSpPr>
          <p:cNvPr id="8195"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GB" altLang="en-US" noProof="0"/>
              <a:t>Click to edit Master subtitle style</a:t>
            </a:r>
            <a:endParaRPr lang="en-US" altLang="en-US" noProof="0"/>
          </a:p>
        </p:txBody>
      </p:sp>
      <p:sp>
        <p:nvSpPr>
          <p:cNvPr id="8196" name="Freeform 4"/>
          <p:cNvSpPr>
            <a:spLocks noChangeArrowheads="1"/>
          </p:cNvSpPr>
          <p:nvPr/>
        </p:nvSpPr>
        <p:spPr bwMode="auto">
          <a:xfrm>
            <a:off x="812800" y="1219200"/>
            <a:ext cx="105664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sz="1800"/>
          </a:p>
        </p:txBody>
      </p:sp>
      <p:sp>
        <p:nvSpPr>
          <p:cNvPr id="8197" name="Line 5"/>
          <p:cNvSpPr>
            <a:spLocks noChangeShapeType="1"/>
          </p:cNvSpPr>
          <p:nvPr/>
        </p:nvSpPr>
        <p:spPr bwMode="auto">
          <a:xfrm>
            <a:off x="2641602"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1800"/>
          </a:p>
        </p:txBody>
      </p:sp>
      <p:sp>
        <p:nvSpPr>
          <p:cNvPr id="8198" name="Rectangle 6"/>
          <p:cNvSpPr>
            <a:spLocks noChangeArrowheads="1"/>
          </p:cNvSpPr>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r"/>
            <a:fld id="{2B9BC0BA-7162-46C8-A117-543B5FF937FE}" type="slidenum">
              <a:rPr lang="en-US" altLang="en-US" sz="1400" b="1">
                <a:latin typeface="Garamond" pitchFamily="18" charset="0"/>
              </a:rPr>
              <a:pPr algn="r"/>
              <a:t>‹#›</a:t>
            </a:fld>
            <a:endParaRPr lang="en-US" altLang="en-US" sz="1400" b="1">
              <a:latin typeface="Garamond" pitchFamily="18" charset="0"/>
            </a:endParaRPr>
          </a:p>
        </p:txBody>
      </p:sp>
    </p:spTree>
    <p:extLst>
      <p:ext uri="{BB962C8B-B14F-4D97-AF65-F5344CB8AC3E}">
        <p14:creationId xmlns:p14="http://schemas.microsoft.com/office/powerpoint/2010/main" val="42419195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3714130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lstStyle>
            <a:lvl1pPr algn="l">
              <a:defRPr sz="4000" b="1" cap="all"/>
            </a:lvl1pPr>
          </a:lstStyle>
          <a:p>
            <a:r>
              <a:rPr lang="en-GB"/>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GB"/>
              <a:t>Click to edit Master text styles</a:t>
            </a:r>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2265994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sz="half" idx="1"/>
          </p:nvPr>
        </p:nvSpPr>
        <p:spPr>
          <a:xfrm>
            <a:off x="609600" y="990600"/>
            <a:ext cx="53848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p:cNvSpPr>
            <a:spLocks noGrp="1"/>
          </p:cNvSpPr>
          <p:nvPr>
            <p:ph sz="half" idx="2"/>
          </p:nvPr>
        </p:nvSpPr>
        <p:spPr>
          <a:xfrm>
            <a:off x="6197600" y="990600"/>
            <a:ext cx="53848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Slide Number Placeholder 4"/>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1315021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GB"/>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Slide Number Placeholder 6"/>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905712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Slide Number Placeholder 2"/>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4134314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992816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GB"/>
              <a:t>Click to edit Master title style</a:t>
            </a:r>
            <a:endParaRPr lang="en-SG"/>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397731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Click icon to add picture</a:t>
            </a:r>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4117379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834128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7816"/>
            <a:ext cx="2743200" cy="6199187"/>
          </a:xfrm>
        </p:spPr>
        <p:txBody>
          <a:bodyPr vert="eaVert"/>
          <a:lstStyle/>
          <a:p>
            <a:r>
              <a:rPr lang="en-GB"/>
              <a:t>Click to edit Master title style</a:t>
            </a:r>
            <a:endParaRPr lang="en-SG"/>
          </a:p>
        </p:txBody>
      </p:sp>
      <p:sp>
        <p:nvSpPr>
          <p:cNvPr id="3" name="Vertical Text Placeholder 2"/>
          <p:cNvSpPr>
            <a:spLocks noGrp="1"/>
          </p:cNvSpPr>
          <p:nvPr>
            <p:ph type="body" orient="vert" idx="1"/>
          </p:nvPr>
        </p:nvSpPr>
        <p:spPr>
          <a:xfrm>
            <a:off x="609600" y="277816"/>
            <a:ext cx="8026400" cy="619918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Tree>
    <p:extLst>
      <p:ext uri="{BB962C8B-B14F-4D97-AF65-F5344CB8AC3E}">
        <p14:creationId xmlns:p14="http://schemas.microsoft.com/office/powerpoint/2010/main" val="955474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6"/>
            <a:ext cx="10972800" cy="712787"/>
          </a:xfrm>
        </p:spPr>
        <p:txBody>
          <a:bodyPr/>
          <a:lstStyle/>
          <a:p>
            <a:r>
              <a:rPr lang="en-GB"/>
              <a:t>Click to edit Master title style</a:t>
            </a:r>
            <a:endParaRPr lang="en-SG"/>
          </a:p>
        </p:txBody>
      </p:sp>
      <p:sp>
        <p:nvSpPr>
          <p:cNvPr id="3" name="Table Placeholder 2"/>
          <p:cNvSpPr>
            <a:spLocks noGrp="1"/>
          </p:cNvSpPr>
          <p:nvPr>
            <p:ph type="tbl" idx="1"/>
          </p:nvPr>
        </p:nvSpPr>
        <p:spPr>
          <a:xfrm>
            <a:off x="609600" y="990600"/>
            <a:ext cx="10972800" cy="5486400"/>
          </a:xfrm>
        </p:spPr>
        <p:txBody>
          <a:bodyPr/>
          <a:lstStyle/>
          <a:p>
            <a:r>
              <a:rPr lang="en-GB"/>
              <a:t>Click icon to add table</a:t>
            </a:r>
            <a:endParaRPr lang="en-SG"/>
          </a:p>
        </p:txBody>
      </p:sp>
      <p:sp>
        <p:nvSpPr>
          <p:cNvPr id="4" name="Slide Number Placeholder 3"/>
          <p:cNvSpPr>
            <a:spLocks noGrp="1"/>
          </p:cNvSpPr>
          <p:nvPr>
            <p:ph type="sldNum" sz="quarter" idx="10"/>
          </p:nvPr>
        </p:nvSpPr>
        <p:spPr>
          <a:xfrm>
            <a:off x="11480800" y="6400800"/>
            <a:ext cx="711200" cy="457200"/>
          </a:xfrm>
        </p:spPr>
        <p:txBody>
          <a:bodyPr/>
          <a:lstStyle>
            <a:lvl1pPr>
              <a:defRPr/>
            </a:lvl1pPr>
          </a:lstStyle>
          <a:p>
            <a:fld id="{375F0208-B501-1940-A7C0-92DF3AA3486D}" type="slidenum">
              <a:rPr lang="en-US" smtClean="0"/>
              <a:t>‹#›</a:t>
            </a:fld>
            <a:endParaRPr lang="en-US"/>
          </a:p>
        </p:txBody>
      </p:sp>
      <p:sp>
        <p:nvSpPr>
          <p:cNvPr id="5" name="Footer Placeholder 4"/>
          <p:cNvSpPr>
            <a:spLocks noGrp="1"/>
          </p:cNvSpPr>
          <p:nvPr>
            <p:ph type="ftr" sz="quarter" idx="11"/>
          </p:nvPr>
        </p:nvSpPr>
        <p:spPr>
          <a:xfrm>
            <a:off x="812800" y="6521450"/>
            <a:ext cx="5994400" cy="228600"/>
          </a:xfrm>
        </p:spPr>
        <p:txBody>
          <a:bodyPr/>
          <a:lstStyle>
            <a:lvl1pPr>
              <a:defRPr/>
            </a:lvl1pPr>
          </a:lstStyle>
          <a:p>
            <a:endParaRPr lang="en-US"/>
          </a:p>
        </p:txBody>
      </p:sp>
    </p:spTree>
    <p:extLst>
      <p:ext uri="{BB962C8B-B14F-4D97-AF65-F5344CB8AC3E}">
        <p14:creationId xmlns:p14="http://schemas.microsoft.com/office/powerpoint/2010/main" val="2636874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1219202" y="1524000"/>
            <a:ext cx="10164233" cy="1752600"/>
          </a:xfrm>
        </p:spPr>
        <p:txBody>
          <a:bodyPr/>
          <a:lstStyle>
            <a:lvl1pPr>
              <a:defRPr sz="5000"/>
            </a:lvl1pPr>
          </a:lstStyle>
          <a:p>
            <a:pPr lvl="0"/>
            <a:r>
              <a:rPr lang="en-GB" altLang="en-US" noProof="0"/>
              <a:t>Click to edit Master title style</a:t>
            </a:r>
            <a:endParaRPr lang="en-US" altLang="en-US" noProof="0"/>
          </a:p>
        </p:txBody>
      </p:sp>
      <p:sp>
        <p:nvSpPr>
          <p:cNvPr id="36867"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pPr lvl="0"/>
            <a:r>
              <a:rPr lang="en-GB" altLang="en-US" noProof="0"/>
              <a:t>Click to edit Master subtitle style</a:t>
            </a:r>
            <a:endParaRPr lang="en-US" altLang="en-US" noProof="0"/>
          </a:p>
        </p:txBody>
      </p:sp>
      <p:sp>
        <p:nvSpPr>
          <p:cNvPr id="36868" name="Freeform 4"/>
          <p:cNvSpPr>
            <a:spLocks noChangeArrowheads="1"/>
          </p:cNvSpPr>
          <p:nvPr/>
        </p:nvSpPr>
        <p:spPr bwMode="auto">
          <a:xfrm>
            <a:off x="812800" y="1219200"/>
            <a:ext cx="105664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6869" name="Line 5"/>
          <p:cNvSpPr>
            <a:spLocks noChangeShapeType="1"/>
          </p:cNvSpPr>
          <p:nvPr/>
        </p:nvSpPr>
        <p:spPr bwMode="auto">
          <a:xfrm>
            <a:off x="2641602" y="3962400"/>
            <a:ext cx="8682567"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Tree>
    <p:extLst>
      <p:ext uri="{BB962C8B-B14F-4D97-AF65-F5344CB8AC3E}">
        <p14:creationId xmlns:p14="http://schemas.microsoft.com/office/powerpoint/2010/main" val="1203979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6F0D8D79-08E0-48CA-9203-A37DB9B01E0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611189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lstStyle>
            <a:lvl1pPr algn="l">
              <a:defRPr sz="4000" b="1" cap="all"/>
            </a:lvl1pPr>
          </a:lstStyle>
          <a:p>
            <a:r>
              <a:rPr lang="en-GB"/>
              <a:t>Click to edit Master title style</a:t>
            </a:r>
            <a:endParaRPr lang="en-SG"/>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GB"/>
              <a:t>Click to edit Master text styles</a:t>
            </a:r>
          </a:p>
        </p:txBody>
      </p:sp>
      <p:sp>
        <p:nvSpPr>
          <p:cNvPr id="4" name="Slide Number Placeholder 3"/>
          <p:cNvSpPr>
            <a:spLocks noGrp="1"/>
          </p:cNvSpPr>
          <p:nvPr>
            <p:ph type="sldNum" sz="quarter" idx="10"/>
          </p:nvPr>
        </p:nvSpPr>
        <p:spPr/>
        <p:txBody>
          <a:bodyPr/>
          <a:lstStyle>
            <a:lvl1pPr>
              <a:defRPr/>
            </a:lvl1pPr>
          </a:lstStyle>
          <a:p>
            <a:fld id="{E740D621-3521-4C00-9508-D1BF9CF0F093}"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9180531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Content Placeholder 2"/>
          <p:cNvSpPr>
            <a:spLocks noGrp="1"/>
          </p:cNvSpPr>
          <p:nvPr>
            <p:ph sz="half" idx="1"/>
          </p:nvPr>
        </p:nvSpPr>
        <p:spPr>
          <a:xfrm>
            <a:off x="609600" y="1219200"/>
            <a:ext cx="53848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p:cNvSpPr>
            <a:spLocks noGrp="1"/>
          </p:cNvSpPr>
          <p:nvPr>
            <p:ph sz="half" idx="2"/>
          </p:nvPr>
        </p:nvSpPr>
        <p:spPr>
          <a:xfrm>
            <a:off x="6197600" y="1219200"/>
            <a:ext cx="53848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Slide Number Placeholder 4"/>
          <p:cNvSpPr>
            <a:spLocks noGrp="1"/>
          </p:cNvSpPr>
          <p:nvPr>
            <p:ph type="sldNum" sz="quarter" idx="10"/>
          </p:nvPr>
        </p:nvSpPr>
        <p:spPr/>
        <p:txBody>
          <a:bodyPr/>
          <a:lstStyle>
            <a:lvl1pPr>
              <a:defRPr/>
            </a:lvl1pPr>
          </a:lstStyle>
          <a:p>
            <a:fld id="{C80D4CE2-6DBC-47F2-BC92-D26F595DC398}"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1250029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GB"/>
              <a:t>Click to edit Master title style</a:t>
            </a:r>
            <a:endParaRPr lang="en-SG"/>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Slide Number Placeholder 6"/>
          <p:cNvSpPr>
            <a:spLocks noGrp="1"/>
          </p:cNvSpPr>
          <p:nvPr>
            <p:ph type="sldNum" sz="quarter" idx="10"/>
          </p:nvPr>
        </p:nvSpPr>
        <p:spPr/>
        <p:txBody>
          <a:bodyPr/>
          <a:lstStyle>
            <a:lvl1pPr>
              <a:defRPr/>
            </a:lvl1pPr>
          </a:lstStyle>
          <a:p>
            <a:fld id="{A094941A-1381-426D-8678-8110645A465C}" type="slidenum">
              <a:rPr lang="en-US" altLang="en-US"/>
              <a:pPr/>
              <a:t>‹#›</a:t>
            </a:fld>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2146674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9FB037F2-F589-6C47-BEEA-57FDCEB8E470}"/>
              </a:ext>
            </a:extLst>
          </p:cNvPr>
          <p:cNvSpPr>
            <a:spLocks noGrp="1" noChangeArrowheads="1"/>
          </p:cNvSpPr>
          <p:nvPr>
            <p:ph type="sldNum" sz="quarter" idx="4"/>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800" b="1" i="1">
                <a:solidFill>
                  <a:srgbClr val="C00000"/>
                </a:solidFill>
                <a:latin typeface="+mn-lt"/>
              </a:defRPr>
            </a:lvl1pPr>
          </a:lstStyle>
          <a:p>
            <a:fld id="{375F0208-B501-1940-A7C0-92DF3AA3486D}" type="slidenum">
              <a:rPr lang="en-US" smtClean="0"/>
              <a:t>‹#›</a:t>
            </a:fld>
            <a:endParaRPr lang="en-US"/>
          </a:p>
        </p:txBody>
      </p:sp>
    </p:spTree>
    <p:extLst>
      <p:ext uri="{BB962C8B-B14F-4D97-AF65-F5344CB8AC3E}">
        <p14:creationId xmlns:p14="http://schemas.microsoft.com/office/powerpoint/2010/main" val="764744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31B1802-8301-4F2A-8DDB-CE880733FF80}" type="slidenum">
              <a:rPr lang="en-US" altLang="en-US"/>
              <a:pPr/>
              <a:t>‹#›</a:t>
            </a:fld>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11651488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GB"/>
              <a:t>Click to edit Master title style</a:t>
            </a:r>
            <a:endParaRPr lang="en-SG"/>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E1C0C41C-3BFF-4F00-9103-6A74971BCA1A}"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24875949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SG"/>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Click icon to add picture</a:t>
            </a:r>
            <a:endParaRPr lang="en-SG"/>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Slide Number Placeholder 4"/>
          <p:cNvSpPr>
            <a:spLocks noGrp="1"/>
          </p:cNvSpPr>
          <p:nvPr>
            <p:ph type="sldNum" sz="quarter" idx="10"/>
          </p:nvPr>
        </p:nvSpPr>
        <p:spPr/>
        <p:txBody>
          <a:bodyPr/>
          <a:lstStyle>
            <a:lvl1pPr>
              <a:defRPr/>
            </a:lvl1pPr>
          </a:lstStyle>
          <a:p>
            <a:fld id="{4E13FA90-484E-4DE3-B424-C392F04A17A7}"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1914368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353736A7-1CF8-489E-892E-251703C596F5}"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3542503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28600"/>
            <a:ext cx="2743200" cy="6324600"/>
          </a:xfrm>
        </p:spPr>
        <p:txBody>
          <a:bodyPr vert="eaVert"/>
          <a:lstStyle/>
          <a:p>
            <a:r>
              <a:rPr lang="en-GB"/>
              <a:t>Click to edit Master title style</a:t>
            </a:r>
            <a:endParaRPr lang="en-SG"/>
          </a:p>
        </p:txBody>
      </p:sp>
      <p:sp>
        <p:nvSpPr>
          <p:cNvPr id="3" name="Vertical Text Placeholder 2"/>
          <p:cNvSpPr>
            <a:spLocks noGrp="1"/>
          </p:cNvSpPr>
          <p:nvPr>
            <p:ph type="body" orient="vert" idx="1"/>
          </p:nvPr>
        </p:nvSpPr>
        <p:spPr>
          <a:xfrm>
            <a:off x="609600" y="228600"/>
            <a:ext cx="8026400" cy="63246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Slide Number Placeholder 3"/>
          <p:cNvSpPr>
            <a:spLocks noGrp="1"/>
          </p:cNvSpPr>
          <p:nvPr>
            <p:ph type="sldNum" sz="quarter" idx="10"/>
          </p:nvPr>
        </p:nvSpPr>
        <p:spPr/>
        <p:txBody>
          <a:bodyPr/>
          <a:lstStyle>
            <a:lvl1pPr>
              <a:defRPr/>
            </a:lvl1pPr>
          </a:lstStyle>
          <a:p>
            <a:fld id="{98DB63F7-3E41-4A34-957B-2A3C4747AE5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Tree>
    <p:extLst>
      <p:ext uri="{BB962C8B-B14F-4D97-AF65-F5344CB8AC3E}">
        <p14:creationId xmlns:p14="http://schemas.microsoft.com/office/powerpoint/2010/main" val="5994881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defRPr>
            </a:lvl1pPr>
            <a:lvl2pPr marL="342891" indent="0" algn="ctr">
              <a:buNone/>
              <a:defRPr sz="2100"/>
            </a:lvl2pPr>
            <a:lvl3pPr marL="685783" indent="0" algn="ctr">
              <a:buNone/>
              <a:defRPr sz="1800"/>
            </a:lvl3pPr>
            <a:lvl4pPr marL="1028674" indent="0" algn="ctr">
              <a:buNone/>
              <a:defRPr sz="1500"/>
            </a:lvl4pPr>
            <a:lvl5pPr marL="1371566" indent="0" algn="ctr">
              <a:buNone/>
              <a:defRPr sz="1500"/>
            </a:lvl5pPr>
            <a:lvl6pPr marL="1714457" indent="0" algn="ctr">
              <a:buNone/>
              <a:defRPr sz="1500"/>
            </a:lvl6pPr>
            <a:lvl7pPr marL="2057349" indent="0" algn="ctr">
              <a:buNone/>
              <a:defRPr sz="1500"/>
            </a:lvl7pPr>
            <a:lvl8pPr marL="2400240" indent="0" algn="ctr">
              <a:buNone/>
              <a:defRPr sz="1500"/>
            </a:lvl8pPr>
            <a:lvl9pPr marL="2743131" indent="0" algn="ctr">
              <a:buNone/>
              <a:defRPr sz="15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68242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00911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12423"/>
            <a:ext cx="10515600" cy="2851208"/>
          </a:xfrm>
        </p:spPr>
        <p:txBody>
          <a:bodyPr anchor="b">
            <a:normAutofit/>
          </a:bodyPr>
          <a:lstStyle>
            <a:lvl1pPr>
              <a:defRPr sz="4500" b="0"/>
            </a:lvl1pPr>
          </a:lstStyle>
          <a:p>
            <a:r>
              <a:rPr lang="en-GB"/>
              <a:t>Click to edit Master title style</a:t>
            </a:r>
            <a:endParaRPr lang="en-US" dirty="0"/>
          </a:p>
        </p:txBody>
      </p:sp>
      <p:sp>
        <p:nvSpPr>
          <p:cNvPr id="3" name="Text Placeholder 2"/>
          <p:cNvSpPr>
            <a:spLocks noGrp="1"/>
          </p:cNvSpPr>
          <p:nvPr>
            <p:ph type="body" idx="1"/>
          </p:nvPr>
        </p:nvSpPr>
        <p:spPr>
          <a:xfrm>
            <a:off x="831851" y="4552637"/>
            <a:ext cx="10515600" cy="1500187"/>
          </a:xfrm>
        </p:spPr>
        <p:txBody>
          <a:bodyPr anchor="t">
            <a:normAutofit/>
          </a:bodyPr>
          <a:lstStyle>
            <a:lvl1pPr marL="0" indent="0">
              <a:buNone/>
              <a:defRPr sz="1800">
                <a:solidFill>
                  <a:schemeClr val="tx1">
                    <a:lumMod val="75000"/>
                    <a:lumOff val="25000"/>
                  </a:schemeClr>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07880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45127" y="1828803"/>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8803"/>
            <a:ext cx="5181600" cy="435133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1850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2"/>
            <a:ext cx="5156200" cy="825699"/>
          </a:xfrm>
        </p:spPr>
        <p:txBody>
          <a:bodyPr anchor="b">
            <a:normAutofit/>
          </a:bodyPr>
          <a:lstStyle>
            <a:lvl1pPr marL="0" indent="0">
              <a:spcBef>
                <a:spcPts val="0"/>
              </a:spcBef>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GB"/>
              <a:t>Click to edit Master text styles</a:t>
            </a:r>
          </a:p>
        </p:txBody>
      </p:sp>
      <p:sp>
        <p:nvSpPr>
          <p:cNvPr id="4" name="Content Placeholder 3"/>
          <p:cNvSpPr>
            <a:spLocks noGrp="1"/>
          </p:cNvSpPr>
          <p:nvPr>
            <p:ph sz="half" idx="2"/>
          </p:nvPr>
        </p:nvSpPr>
        <p:spPr>
          <a:xfrm>
            <a:off x="845127" y="2507554"/>
            <a:ext cx="5156200" cy="3680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2" y="1681851"/>
            <a:ext cx="5181601" cy="825698"/>
          </a:xfrm>
        </p:spPr>
        <p:txBody>
          <a:bodyPr anchor="b"/>
          <a:lstStyle>
            <a:lvl1pPr marL="0" indent="0">
              <a:spcBef>
                <a:spcPts val="0"/>
              </a:spcBef>
              <a:buNone/>
              <a:defRPr sz="18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GB"/>
              <a:t>Click to edit Master text styles</a:t>
            </a:r>
          </a:p>
        </p:txBody>
      </p:sp>
      <p:sp>
        <p:nvSpPr>
          <p:cNvPr id="6" name="Content Placeholder 5"/>
          <p:cNvSpPr>
            <a:spLocks noGrp="1"/>
          </p:cNvSpPr>
          <p:nvPr>
            <p:ph sz="quarter" idx="4"/>
          </p:nvPr>
        </p:nvSpPr>
        <p:spPr>
          <a:xfrm>
            <a:off x="6172202" y="2507554"/>
            <a:ext cx="5181601" cy="36805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5909756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4754157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621735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4"/>
            <a:ext cx="3931920" cy="1600197"/>
          </a:xfrm>
        </p:spPr>
        <p:txBody>
          <a:bodyPr anchor="b">
            <a:normAutofit/>
          </a:bodyPr>
          <a:lstStyle>
            <a:lvl1pPr>
              <a:defRPr sz="2400" b="0"/>
            </a:lvl1pPr>
          </a:lstStyle>
          <a:p>
            <a:r>
              <a:rPr lang="en-GB"/>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200"/>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66191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2400" b="0"/>
            </a:lvl1pPr>
          </a:lstStyle>
          <a:p>
            <a:r>
              <a:rPr lang="en-GB"/>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200"/>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38199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676166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0362"/>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2" y="360366"/>
            <a:ext cx="7734300" cy="581183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9901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609600" y="277816"/>
            <a:ext cx="10972800"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endParaRPr lang="en-US" altLang="en-US"/>
          </a:p>
        </p:txBody>
      </p:sp>
      <p:sp>
        <p:nvSpPr>
          <p:cNvPr id="7171" name="Rectangle 3"/>
          <p:cNvSpPr>
            <a:spLocks noGrp="1" noChangeArrowheads="1"/>
          </p:cNvSpPr>
          <p:nvPr>
            <p:ph type="body" idx="1"/>
          </p:nvPr>
        </p:nvSpPr>
        <p:spPr bwMode="auto">
          <a:xfrm>
            <a:off x="609600" y="990600"/>
            <a:ext cx="109728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7172" name="Rectangle 4"/>
          <p:cNvSpPr>
            <a:spLocks noGrp="1" noChangeArrowheads="1"/>
          </p:cNvSpPr>
          <p:nvPr>
            <p:ph type="sldNum" sz="quarter" idx="4"/>
          </p:nvPr>
        </p:nvSpPr>
        <p:spPr bwMode="auto">
          <a:xfrm>
            <a:off x="11480800" y="6400800"/>
            <a:ext cx="71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800" b="1" i="1">
                <a:solidFill>
                  <a:srgbClr val="C00000"/>
                </a:solidFill>
                <a:latin typeface="+mn-lt"/>
              </a:defRPr>
            </a:lvl1pPr>
          </a:lstStyle>
          <a:p>
            <a:fld id="{375F0208-B501-1940-A7C0-92DF3AA3486D}" type="slidenum">
              <a:rPr lang="en-US" smtClean="0"/>
              <a:t>‹#›</a:t>
            </a:fld>
            <a:endParaRPr lang="en-US"/>
          </a:p>
        </p:txBody>
      </p:sp>
      <p:sp>
        <p:nvSpPr>
          <p:cNvPr id="7173" name="Freeform 5"/>
          <p:cNvSpPr>
            <a:spLocks noChangeArrowheads="1"/>
          </p:cNvSpPr>
          <p:nvPr/>
        </p:nvSpPr>
        <p:spPr bwMode="auto">
          <a:xfrm>
            <a:off x="508000" y="228600"/>
            <a:ext cx="109728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sz="1800"/>
          </a:p>
        </p:txBody>
      </p:sp>
      <p:sp>
        <p:nvSpPr>
          <p:cNvPr id="7174" name="Line 6"/>
          <p:cNvSpPr>
            <a:spLocks noChangeShapeType="1"/>
          </p:cNvSpPr>
          <p:nvPr/>
        </p:nvSpPr>
        <p:spPr bwMode="auto">
          <a:xfrm>
            <a:off x="609600" y="66294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sz="1800"/>
          </a:p>
        </p:txBody>
      </p:sp>
      <p:sp>
        <p:nvSpPr>
          <p:cNvPr id="7175" name="Rectangle 7"/>
          <p:cNvSpPr>
            <a:spLocks noGrp="1" noChangeArrowheads="1"/>
          </p:cNvSpPr>
          <p:nvPr>
            <p:ph type="ftr" sz="quarter" idx="3"/>
          </p:nvPr>
        </p:nvSpPr>
        <p:spPr bwMode="auto">
          <a:xfrm>
            <a:off x="812800" y="6521450"/>
            <a:ext cx="2946400" cy="228600"/>
          </a:xfrm>
          <a:prstGeom prst="rect">
            <a:avLst/>
          </a:prstGeom>
          <a:solidFill>
            <a:schemeClr val="bg1">
              <a:alpha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mj-lt"/>
              </a:defRPr>
            </a:lvl1pPr>
          </a:lstStyle>
          <a:p>
            <a:endParaRPr lang="en-US" dirty="0"/>
          </a:p>
        </p:txBody>
      </p:sp>
    </p:spTree>
    <p:extLst>
      <p:ext uri="{BB962C8B-B14F-4D97-AF65-F5344CB8AC3E}">
        <p14:creationId xmlns:p14="http://schemas.microsoft.com/office/powerpoint/2010/main" val="17219965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defRPr>
      </a:lvl2pPr>
      <a:lvl3pPr algn="l" rtl="0" eaLnBrk="1" fontAlgn="base" hangingPunct="1">
        <a:spcBef>
          <a:spcPct val="0"/>
        </a:spcBef>
        <a:spcAft>
          <a:spcPct val="0"/>
        </a:spcAft>
        <a:defRPr sz="4200">
          <a:solidFill>
            <a:schemeClr val="tx2"/>
          </a:solidFill>
          <a:latin typeface="Garamond" pitchFamily="18" charset="0"/>
        </a:defRPr>
      </a:lvl3pPr>
      <a:lvl4pPr algn="l" rtl="0" eaLnBrk="1" fontAlgn="base" hangingPunct="1">
        <a:spcBef>
          <a:spcPct val="0"/>
        </a:spcBef>
        <a:spcAft>
          <a:spcPct val="0"/>
        </a:spcAft>
        <a:defRPr sz="4200">
          <a:solidFill>
            <a:schemeClr val="tx2"/>
          </a:solidFill>
          <a:latin typeface="Garamond" pitchFamily="18" charset="0"/>
        </a:defRPr>
      </a:lvl4pPr>
      <a:lvl5pPr algn="l" rtl="0" eaLnBrk="1" fontAlgn="base" hangingPunct="1">
        <a:spcBef>
          <a:spcPct val="0"/>
        </a:spcBef>
        <a:spcAft>
          <a:spcPct val="0"/>
        </a:spcAft>
        <a:defRPr sz="4200">
          <a:solidFill>
            <a:schemeClr val="tx2"/>
          </a:solidFill>
          <a:latin typeface="Garamond" pitchFamily="18" charset="0"/>
        </a:defRPr>
      </a:lvl5pPr>
      <a:lvl6pPr marL="457189" algn="l" rtl="0" eaLnBrk="1" fontAlgn="base" hangingPunct="1">
        <a:spcBef>
          <a:spcPct val="0"/>
        </a:spcBef>
        <a:spcAft>
          <a:spcPct val="0"/>
        </a:spcAft>
        <a:defRPr sz="4200">
          <a:solidFill>
            <a:schemeClr val="tx2"/>
          </a:solidFill>
          <a:latin typeface="Garamond" pitchFamily="18" charset="0"/>
        </a:defRPr>
      </a:lvl6pPr>
      <a:lvl7pPr marL="914377" algn="l" rtl="0" eaLnBrk="1" fontAlgn="base" hangingPunct="1">
        <a:spcBef>
          <a:spcPct val="0"/>
        </a:spcBef>
        <a:spcAft>
          <a:spcPct val="0"/>
        </a:spcAft>
        <a:defRPr sz="4200">
          <a:solidFill>
            <a:schemeClr val="tx2"/>
          </a:solidFill>
          <a:latin typeface="Garamond" pitchFamily="18" charset="0"/>
        </a:defRPr>
      </a:lvl7pPr>
      <a:lvl8pPr marL="1371566" algn="l" rtl="0" eaLnBrk="1" fontAlgn="base" hangingPunct="1">
        <a:spcBef>
          <a:spcPct val="0"/>
        </a:spcBef>
        <a:spcAft>
          <a:spcPct val="0"/>
        </a:spcAft>
        <a:defRPr sz="4200">
          <a:solidFill>
            <a:schemeClr val="tx2"/>
          </a:solidFill>
          <a:latin typeface="Garamond" pitchFamily="18" charset="0"/>
        </a:defRPr>
      </a:lvl8pPr>
      <a:lvl9pPr marL="1828754" algn="l" rtl="0" eaLnBrk="1" fontAlgn="base" hangingPunct="1">
        <a:spcBef>
          <a:spcPct val="0"/>
        </a:spcBef>
        <a:spcAft>
          <a:spcPct val="0"/>
        </a:spcAft>
        <a:defRPr sz="4200">
          <a:solidFill>
            <a:schemeClr val="tx2"/>
          </a:solidFill>
          <a:latin typeface="Garamond" pitchFamily="18" charset="0"/>
        </a:defRPr>
      </a:lvl9pPr>
    </p:titleStyle>
    <p:bodyStyle>
      <a:lvl1pPr marL="342891" indent="-342891"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09" indent="-325431"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25" indent="-350830"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17" indent="-315905"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21"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09"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498"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686"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875"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609600" y="228600"/>
            <a:ext cx="109728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title style</a:t>
            </a:r>
            <a:endParaRPr lang="en-US" altLang="en-US"/>
          </a:p>
        </p:txBody>
      </p:sp>
      <p:sp>
        <p:nvSpPr>
          <p:cNvPr id="35843" name="Rectangle 3"/>
          <p:cNvSpPr>
            <a:spLocks noGrp="1" noChangeArrowheads="1"/>
          </p:cNvSpPr>
          <p:nvPr>
            <p:ph type="body" idx="1"/>
          </p:nvPr>
        </p:nvSpPr>
        <p:spPr bwMode="auto">
          <a:xfrm>
            <a:off x="609600" y="1219200"/>
            <a:ext cx="10972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35844" name="Freeform 4"/>
          <p:cNvSpPr>
            <a:spLocks noChangeArrowheads="1"/>
          </p:cNvSpPr>
          <p:nvPr/>
        </p:nvSpPr>
        <p:spPr bwMode="auto">
          <a:xfrm>
            <a:off x="508000" y="152400"/>
            <a:ext cx="109728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5845" name="Line 5"/>
          <p:cNvSpPr>
            <a:spLocks noChangeShapeType="1"/>
          </p:cNvSpPr>
          <p:nvPr/>
        </p:nvSpPr>
        <p:spPr bwMode="auto">
          <a:xfrm>
            <a:off x="609600" y="6629400"/>
            <a:ext cx="109728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35846" name="Rectangle 6"/>
          <p:cNvSpPr>
            <a:spLocks noGrp="1" noChangeArrowheads="1"/>
          </p:cNvSpPr>
          <p:nvPr>
            <p:ph type="sldNum" sz="quarter" idx="4"/>
          </p:nvPr>
        </p:nvSpPr>
        <p:spPr bwMode="auto">
          <a:xfrm>
            <a:off x="11582400" y="6629400"/>
            <a:ext cx="609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50000"/>
              </a:lnSpc>
              <a:defRPr sz="1400"/>
            </a:lvl1pPr>
          </a:lstStyle>
          <a:p>
            <a:fld id="{340BAAAD-52D6-4FB3-AB55-71C64A1E2A0A}" type="slidenum">
              <a:rPr lang="en-US" altLang="en-US"/>
              <a:pPr/>
              <a:t>‹#›</a:t>
            </a:fld>
            <a:endParaRPr lang="en-US" altLang="en-US"/>
          </a:p>
        </p:txBody>
      </p:sp>
      <p:sp>
        <p:nvSpPr>
          <p:cNvPr id="35847" name="Rectangle 7"/>
          <p:cNvSpPr>
            <a:spLocks noGrp="1" noChangeArrowheads="1"/>
          </p:cNvSpPr>
          <p:nvPr>
            <p:ph type="ftr" sz="quarter" idx="3"/>
          </p:nvPr>
        </p:nvSpPr>
        <p:spPr bwMode="auto">
          <a:xfrm>
            <a:off x="711200" y="6553200"/>
            <a:ext cx="2540000" cy="15240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defRPr sz="800">
                <a:solidFill>
                  <a:schemeClr val="tx2"/>
                </a:solidFill>
                <a:latin typeface="Arial Black" pitchFamily="34" charset="0"/>
              </a:defRPr>
            </a:lvl1pPr>
          </a:lstStyle>
          <a:p>
            <a:endParaRPr lang="en-US" altLang="en-US"/>
          </a:p>
        </p:txBody>
      </p:sp>
    </p:spTree>
    <p:extLst>
      <p:ext uri="{BB962C8B-B14F-4D97-AF65-F5344CB8AC3E}">
        <p14:creationId xmlns:p14="http://schemas.microsoft.com/office/powerpoint/2010/main" val="42201964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cs typeface="Arial" charset="0"/>
        </a:defRPr>
      </a:lvl2pPr>
      <a:lvl3pPr algn="l" rtl="0" eaLnBrk="1" fontAlgn="base" hangingPunct="1">
        <a:spcBef>
          <a:spcPct val="0"/>
        </a:spcBef>
        <a:spcAft>
          <a:spcPct val="0"/>
        </a:spcAft>
        <a:defRPr sz="4200">
          <a:solidFill>
            <a:schemeClr val="tx2"/>
          </a:solidFill>
          <a:latin typeface="Garamond" pitchFamily="18" charset="0"/>
          <a:cs typeface="Arial" charset="0"/>
        </a:defRPr>
      </a:lvl3pPr>
      <a:lvl4pPr algn="l" rtl="0" eaLnBrk="1" fontAlgn="base" hangingPunct="1">
        <a:spcBef>
          <a:spcPct val="0"/>
        </a:spcBef>
        <a:spcAft>
          <a:spcPct val="0"/>
        </a:spcAft>
        <a:defRPr sz="4200">
          <a:solidFill>
            <a:schemeClr val="tx2"/>
          </a:solidFill>
          <a:latin typeface="Garamond" pitchFamily="18" charset="0"/>
          <a:cs typeface="Arial" charset="0"/>
        </a:defRPr>
      </a:lvl4pPr>
      <a:lvl5pPr algn="l" rtl="0" eaLnBrk="1" fontAlgn="base" hangingPunct="1">
        <a:spcBef>
          <a:spcPct val="0"/>
        </a:spcBef>
        <a:spcAft>
          <a:spcPct val="0"/>
        </a:spcAft>
        <a:defRPr sz="4200">
          <a:solidFill>
            <a:schemeClr val="tx2"/>
          </a:solidFill>
          <a:latin typeface="Garamond" pitchFamily="18" charset="0"/>
          <a:cs typeface="Arial" charset="0"/>
        </a:defRPr>
      </a:lvl5pPr>
      <a:lvl6pPr marL="457189" algn="l" rtl="0" eaLnBrk="1" fontAlgn="base" hangingPunct="1">
        <a:spcBef>
          <a:spcPct val="0"/>
        </a:spcBef>
        <a:spcAft>
          <a:spcPct val="0"/>
        </a:spcAft>
        <a:defRPr sz="4200">
          <a:solidFill>
            <a:schemeClr val="tx2"/>
          </a:solidFill>
          <a:latin typeface="Garamond" pitchFamily="18" charset="0"/>
          <a:cs typeface="Arial" charset="0"/>
        </a:defRPr>
      </a:lvl6pPr>
      <a:lvl7pPr marL="914377" algn="l" rtl="0" eaLnBrk="1" fontAlgn="base" hangingPunct="1">
        <a:spcBef>
          <a:spcPct val="0"/>
        </a:spcBef>
        <a:spcAft>
          <a:spcPct val="0"/>
        </a:spcAft>
        <a:defRPr sz="4200">
          <a:solidFill>
            <a:schemeClr val="tx2"/>
          </a:solidFill>
          <a:latin typeface="Garamond" pitchFamily="18" charset="0"/>
          <a:cs typeface="Arial" charset="0"/>
        </a:defRPr>
      </a:lvl7pPr>
      <a:lvl8pPr marL="1371566" algn="l" rtl="0" eaLnBrk="1" fontAlgn="base" hangingPunct="1">
        <a:spcBef>
          <a:spcPct val="0"/>
        </a:spcBef>
        <a:spcAft>
          <a:spcPct val="0"/>
        </a:spcAft>
        <a:defRPr sz="4200">
          <a:solidFill>
            <a:schemeClr val="tx2"/>
          </a:solidFill>
          <a:latin typeface="Garamond" pitchFamily="18" charset="0"/>
          <a:cs typeface="Arial" charset="0"/>
        </a:defRPr>
      </a:lvl8pPr>
      <a:lvl9pPr marL="1828754" algn="l" rtl="0" eaLnBrk="1" fontAlgn="base" hangingPunct="1">
        <a:spcBef>
          <a:spcPct val="0"/>
        </a:spcBef>
        <a:spcAft>
          <a:spcPct val="0"/>
        </a:spcAft>
        <a:defRPr sz="4200">
          <a:solidFill>
            <a:schemeClr val="tx2"/>
          </a:solidFill>
          <a:latin typeface="Garamond" pitchFamily="18" charset="0"/>
          <a:cs typeface="Arial" charset="0"/>
        </a:defRPr>
      </a:lvl9pPr>
    </p:titleStyle>
    <p:bodyStyle>
      <a:lvl1pPr marL="342891" indent="-342891"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09" indent="-325431"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cs typeface="+mn-cs"/>
        </a:defRPr>
      </a:lvl2pPr>
      <a:lvl3pPr marL="1022325" indent="-350830"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cs typeface="+mn-cs"/>
        </a:defRPr>
      </a:lvl3pPr>
      <a:lvl4pPr marL="1339817" indent="-315905"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cs typeface="+mn-cs"/>
        </a:defRPr>
      </a:lvl4pPr>
      <a:lvl5pPr marL="1681121"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5pPr>
      <a:lvl6pPr marL="2138309"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498"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686"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875" indent="-339717"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45127" y="1828803"/>
            <a:ext cx="1051560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4"/>
            <a:ext cx="27432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35404291"/>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1"/>
        </a:spcBef>
        <a:buFont typeface="Wingdings 2" pitchFamily="18" charset="2"/>
        <a:buChar char=""/>
        <a:defRPr sz="2100" kern="1200">
          <a:solidFill>
            <a:schemeClr val="tx1"/>
          </a:solidFill>
          <a:latin typeface="+mn-lt"/>
          <a:ea typeface="+mn-ea"/>
          <a:cs typeface="+mn-cs"/>
        </a:defRPr>
      </a:lvl1pPr>
      <a:lvl2pPr marL="514338" indent="-171446" algn="l" defTabSz="685783"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29" indent="-171446" algn="l" defTabSz="685783"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21" indent="-171446" algn="l" defTabSz="685783" rtl="0" eaLnBrk="1" latinLnBrk="0" hangingPunct="1">
        <a:lnSpc>
          <a:spcPct val="90000"/>
        </a:lnSpc>
        <a:spcBef>
          <a:spcPts val="375"/>
        </a:spcBef>
        <a:buFont typeface="Wingdings 2" pitchFamily="18" charset="2"/>
        <a:buChar char=""/>
        <a:defRPr sz="1351" kern="1200">
          <a:solidFill>
            <a:schemeClr val="tx1"/>
          </a:solidFill>
          <a:latin typeface="+mn-lt"/>
          <a:ea typeface="+mn-ea"/>
          <a:cs typeface="+mn-cs"/>
        </a:defRPr>
      </a:lvl4pPr>
      <a:lvl5pPr marL="1543012" indent="-171446" algn="l" defTabSz="685783" rtl="0" eaLnBrk="1" latinLnBrk="0" hangingPunct="1">
        <a:lnSpc>
          <a:spcPct val="90000"/>
        </a:lnSpc>
        <a:spcBef>
          <a:spcPts val="375"/>
        </a:spcBef>
        <a:buFont typeface="Wingdings 2" pitchFamily="18" charset="2"/>
        <a:buChar char=""/>
        <a:defRPr sz="1351" kern="1200">
          <a:solidFill>
            <a:schemeClr val="tx1"/>
          </a:solidFill>
          <a:latin typeface="+mn-lt"/>
          <a:ea typeface="+mn-ea"/>
          <a:cs typeface="+mn-cs"/>
        </a:defRPr>
      </a:lvl5pPr>
      <a:lvl6pPr marL="1885904"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6pPr>
      <a:lvl7pPr marL="2228795"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7pPr>
      <a:lvl8pPr marL="2571686"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8pPr>
      <a:lvl9pPr marL="2914578" indent="-171446" algn="l" defTabSz="685783" rtl="0" eaLnBrk="1" latinLnBrk="0" hangingPunct="1">
        <a:spcBef>
          <a:spcPct val="20000"/>
        </a:spcBef>
        <a:buFont typeface="Wingdings 2" pitchFamily="18" charset="2"/>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6.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 Id="rId1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notesSlide" Target="../notesSlides/notesSlide31.xml"/><Relationship Id="rId16" Type="http://schemas.openxmlformats.org/officeDocument/2006/relationships/image" Target="../media/image87.png"/><Relationship Id="rId20" Type="http://schemas.openxmlformats.org/officeDocument/2006/relationships/image" Target="../media/image91.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6.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4.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90.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9.png"/><Relationship Id="rId2" Type="http://schemas.openxmlformats.org/officeDocument/2006/relationships/notesSlide" Target="../notesSlides/notesSlide32.xml"/><Relationship Id="rId16" Type="http://schemas.openxmlformats.org/officeDocument/2006/relationships/image" Target="../media/image88.png"/><Relationship Id="rId20"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7.png"/><Relationship Id="rId10" Type="http://schemas.openxmlformats.org/officeDocument/2006/relationships/image" Target="../media/image81.png"/><Relationship Id="rId19" Type="http://schemas.openxmlformats.org/officeDocument/2006/relationships/image" Target="../media/image9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5.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91.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90.png"/><Relationship Id="rId2" Type="http://schemas.openxmlformats.org/officeDocument/2006/relationships/notesSlide" Target="../notesSlides/notesSlide33.xml"/><Relationship Id="rId16"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8.png"/><Relationship Id="rId10" Type="http://schemas.openxmlformats.org/officeDocument/2006/relationships/image" Target="../media/image81.png"/><Relationship Id="rId19" Type="http://schemas.openxmlformats.org/officeDocument/2006/relationships/image" Target="../media/image92.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93.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91.png"/><Relationship Id="rId2" Type="http://schemas.openxmlformats.org/officeDocument/2006/relationships/notesSlide" Target="../notesSlides/notesSlide34.xml"/><Relationship Id="rId16"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9.png"/><Relationship Id="rId10" Type="http://schemas.openxmlformats.org/officeDocument/2006/relationships/image" Target="../media/image81.png"/><Relationship Id="rId19" Type="http://schemas.openxmlformats.org/officeDocument/2006/relationships/image" Target="../media/image94.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7.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93.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91.png"/><Relationship Id="rId2" Type="http://schemas.openxmlformats.org/officeDocument/2006/relationships/notesSlide" Target="../notesSlides/notesSlide35.xml"/><Relationship Id="rId16" Type="http://schemas.openxmlformats.org/officeDocument/2006/relationships/image" Target="../media/image89.png"/><Relationship Id="rId20"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90.png"/><Relationship Id="rId10" Type="http://schemas.openxmlformats.org/officeDocument/2006/relationships/image" Target="../media/image81.png"/><Relationship Id="rId19" Type="http://schemas.openxmlformats.org/officeDocument/2006/relationships/image" Target="../media/image94.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8.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93.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91.png"/><Relationship Id="rId2" Type="http://schemas.openxmlformats.org/officeDocument/2006/relationships/notesSlide" Target="../notesSlides/notesSlide36.xml"/><Relationship Id="rId16" Type="http://schemas.openxmlformats.org/officeDocument/2006/relationships/image" Target="../media/image90.png"/><Relationship Id="rId20"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9.png"/><Relationship Id="rId10" Type="http://schemas.openxmlformats.org/officeDocument/2006/relationships/image" Target="../media/image81.png"/><Relationship Id="rId19" Type="http://schemas.openxmlformats.org/officeDocument/2006/relationships/image" Target="../media/image96.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39.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96.png"/><Relationship Id="rId3" Type="http://schemas.openxmlformats.org/officeDocument/2006/relationships/image" Target="../media/image74.png"/><Relationship Id="rId21" Type="http://schemas.openxmlformats.org/officeDocument/2006/relationships/image" Target="../media/image99.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93.png"/><Relationship Id="rId2" Type="http://schemas.openxmlformats.org/officeDocument/2006/relationships/notesSlide" Target="../notesSlides/notesSlide37.xml"/><Relationship Id="rId16" Type="http://schemas.openxmlformats.org/officeDocument/2006/relationships/image" Target="../media/image91.png"/><Relationship Id="rId20"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90.png"/><Relationship Id="rId10" Type="http://schemas.openxmlformats.org/officeDocument/2006/relationships/image" Target="../media/image81.png"/><Relationship Id="rId19" Type="http://schemas.openxmlformats.org/officeDocument/2006/relationships/image" Target="../media/image97.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40.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4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4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emf"/></Relationships>
</file>

<file path=ppt/slides/_rels/slide4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47.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4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5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9.png"/><Relationship Id="rId10" Type="http://schemas.openxmlformats.org/officeDocument/2006/relationships/image" Target="../media/image134.png"/><Relationship Id="rId4" Type="http://schemas.openxmlformats.org/officeDocument/2006/relationships/image" Target="../media/image128.png"/><Relationship Id="rId9" Type="http://schemas.openxmlformats.org/officeDocument/2006/relationships/image" Target="../media/image133.png"/></Relationships>
</file>

<file path=ppt/slides/_rels/slide5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3" Type="http://schemas.openxmlformats.org/officeDocument/2006/relationships/image" Target="../media/image136.png"/><Relationship Id="rId7" Type="http://schemas.openxmlformats.org/officeDocument/2006/relationships/image" Target="../media/image140.png"/><Relationship Id="rId12" Type="http://schemas.openxmlformats.org/officeDocument/2006/relationships/image" Target="../media/image145.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44.png"/><Relationship Id="rId5" Type="http://schemas.openxmlformats.org/officeDocument/2006/relationships/image" Target="../media/image190.png"/><Relationship Id="rId15" Type="http://schemas.openxmlformats.org/officeDocument/2006/relationships/image" Target="../media/image148.png"/><Relationship Id="rId10" Type="http://schemas.openxmlformats.org/officeDocument/2006/relationships/image" Target="../media/image143.png"/><Relationship Id="rId4" Type="http://schemas.openxmlformats.org/officeDocument/2006/relationships/image" Target="../media/image137.png"/><Relationship Id="rId9" Type="http://schemas.openxmlformats.org/officeDocument/2006/relationships/image" Target="../media/image142.png"/><Relationship Id="rId14" Type="http://schemas.openxmlformats.org/officeDocument/2006/relationships/image" Target="../media/image147.png"/></Relationships>
</file>

<file path=ppt/slides/_rels/slide5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99B68-287C-FA4D-B67F-91369F86E564}"/>
              </a:ext>
            </a:extLst>
          </p:cNvPr>
          <p:cNvSpPr>
            <a:spLocks noGrp="1"/>
          </p:cNvSpPr>
          <p:nvPr>
            <p:ph type="ctrTitle"/>
          </p:nvPr>
        </p:nvSpPr>
        <p:spPr/>
        <p:txBody>
          <a:bodyPr/>
          <a:lstStyle/>
          <a:p>
            <a:r>
              <a:rPr lang="en-US" altLang="en-US" b="1" dirty="0">
                <a:solidFill>
                  <a:srgbClr val="C00000"/>
                </a:solidFill>
              </a:rPr>
              <a:t>IT5005</a:t>
            </a:r>
            <a:br>
              <a:rPr lang="en-US" altLang="en-US" b="1" dirty="0">
                <a:solidFill>
                  <a:srgbClr val="C00000"/>
                </a:solidFill>
              </a:rPr>
            </a:br>
            <a:r>
              <a:rPr lang="en-US" altLang="en-US" b="1" dirty="0">
                <a:solidFill>
                  <a:srgbClr val="C00000"/>
                </a:solidFill>
              </a:rPr>
              <a:t>Artificial Intelligence</a:t>
            </a:r>
            <a:endParaRPr lang="en-US" dirty="0"/>
          </a:p>
        </p:txBody>
      </p:sp>
      <p:sp>
        <p:nvSpPr>
          <p:cNvPr id="3" name="Subtitle 2">
            <a:extLst>
              <a:ext uri="{FF2B5EF4-FFF2-40B4-BE49-F238E27FC236}">
                <a16:creationId xmlns:a16="http://schemas.microsoft.com/office/drawing/2014/main" id="{067CED21-3B30-7E45-9162-7839221A6468}"/>
              </a:ext>
            </a:extLst>
          </p:cNvPr>
          <p:cNvSpPr>
            <a:spLocks noGrp="1"/>
          </p:cNvSpPr>
          <p:nvPr>
            <p:ph type="subTitle" idx="1"/>
          </p:nvPr>
        </p:nvSpPr>
        <p:spPr/>
        <p:txBody>
          <a:bodyPr/>
          <a:lstStyle/>
          <a:p>
            <a:r>
              <a:rPr lang="en-US" altLang="en-US" dirty="0"/>
              <a:t>Lecture 6: Adversarial Search</a:t>
            </a:r>
            <a:endParaRPr lang="en-US" dirty="0"/>
          </a:p>
        </p:txBody>
      </p:sp>
    </p:spTree>
    <p:extLst>
      <p:ext uri="{BB962C8B-B14F-4D97-AF65-F5344CB8AC3E}">
        <p14:creationId xmlns:p14="http://schemas.microsoft.com/office/powerpoint/2010/main" val="22719401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ctrTitle"/>
          </p:nvPr>
        </p:nvSpPr>
        <p:spPr/>
        <p:txBody>
          <a:bodyPr/>
          <a:lstStyle/>
          <a:p>
            <a:r>
              <a:rPr lang="en-US" dirty="0"/>
              <a:t>LOCAL SEARCH</a:t>
            </a:r>
          </a:p>
        </p:txBody>
      </p:sp>
      <p:sp>
        <p:nvSpPr>
          <p:cNvPr id="3075" name="Rectangle 3"/>
          <p:cNvSpPr>
            <a:spLocks noGrp="1" noChangeArrowheads="1"/>
          </p:cNvSpPr>
          <p:nvPr>
            <p:ph type="subTitle" idx="1"/>
          </p:nvPr>
        </p:nvSpPr>
        <p:spPr/>
        <p:txBody>
          <a:bodyPr/>
          <a:lstStyle/>
          <a:p>
            <a:r>
              <a:rPr lang="en-US" dirty="0"/>
              <a:t>AIMA Chapter 4.1</a:t>
            </a:r>
          </a:p>
        </p:txBody>
      </p:sp>
    </p:spTree>
    <p:extLst>
      <p:ext uri="{BB962C8B-B14F-4D97-AF65-F5344CB8AC3E}">
        <p14:creationId xmlns:p14="http://schemas.microsoft.com/office/powerpoint/2010/main" val="1271641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2696716" y="221589"/>
            <a:ext cx="7704667" cy="990599"/>
          </a:xfrm>
        </p:spPr>
        <p:txBody>
          <a:bodyPr/>
          <a:lstStyle/>
          <a:p>
            <a:r>
              <a:rPr lang="en-US" altLang="zh-CN" dirty="0">
                <a:ea typeface="SimSun" pitchFamily="2" charset="-122"/>
                <a:cs typeface="SimSun" pitchFamily="2" charset="-122"/>
              </a:rPr>
              <a:t>Local Search Algorithms</a:t>
            </a:r>
          </a:p>
        </p:txBody>
      </p:sp>
      <mc:AlternateContent xmlns:mc="http://schemas.openxmlformats.org/markup-compatibility/2006">
        <mc:Choice xmlns:a14="http://schemas.microsoft.com/office/drawing/2010/main" Requires="a14">
          <p:sp>
            <p:nvSpPr>
              <p:cNvPr id="294915" name="Rectangle 3"/>
              <p:cNvSpPr>
                <a:spLocks noGrp="1" noChangeArrowheads="1"/>
              </p:cNvSpPr>
              <p:nvPr>
                <p:ph idx="1"/>
              </p:nvPr>
            </p:nvSpPr>
            <p:spPr>
              <a:xfrm>
                <a:off x="579550" y="1215499"/>
                <a:ext cx="9930375" cy="5257800"/>
              </a:xfrm>
            </p:spPr>
            <p:txBody>
              <a:bodyPr>
                <a:normAutofit lnSpcReduction="10000"/>
              </a:bodyPr>
              <a:lstStyle/>
              <a:p>
                <a:pPr>
                  <a:spcBef>
                    <a:spcPts val="1200"/>
                  </a:spcBef>
                </a:pPr>
                <a:r>
                  <a:rPr lang="en-US" altLang="zh-CN" sz="2800" dirty="0">
                    <a:latin typeface="Corbel Regular" charset="0"/>
                    <a:ea typeface="SimSun" pitchFamily="2" charset="-122"/>
                    <a:cs typeface="Corbel Regular" charset="0"/>
                  </a:rPr>
                  <a:t>The </a:t>
                </a:r>
                <a:r>
                  <a:rPr lang="en-US" altLang="zh-CN" sz="2800" dirty="0">
                    <a:solidFill>
                      <a:srgbClr val="FF0000"/>
                    </a:solidFill>
                    <a:latin typeface="Corbel Regular" charset="0"/>
                    <a:ea typeface="SimSun" pitchFamily="2" charset="-122"/>
                    <a:cs typeface="Corbel Regular" charset="0"/>
                  </a:rPr>
                  <a:t>path</a:t>
                </a:r>
                <a:r>
                  <a:rPr lang="en-US" altLang="zh-CN" sz="2800" dirty="0">
                    <a:latin typeface="Corbel Regular" charset="0"/>
                    <a:ea typeface="SimSun" pitchFamily="2" charset="-122"/>
                    <a:cs typeface="Corbel Regular" charset="0"/>
                  </a:rPr>
                  <a:t> to goal is irrelevant; the goal state itself is the solution</a:t>
                </a:r>
              </a:p>
              <a:p>
                <a:pPr>
                  <a:spcBef>
                    <a:spcPts val="1200"/>
                  </a:spcBef>
                </a:pPr>
                <a:r>
                  <a:rPr lang="en-US" altLang="zh-CN" sz="2800" dirty="0">
                    <a:latin typeface="Corbel Regular" charset="0"/>
                    <a:ea typeface="SimSun" pitchFamily="2" charset="-122"/>
                    <a:cs typeface="Corbel Regular" charset="0"/>
                  </a:rPr>
                  <a:t>State space = set of “complete” configurations</a:t>
                </a:r>
              </a:p>
              <a:p>
                <a:pPr>
                  <a:spcBef>
                    <a:spcPts val="1200"/>
                  </a:spcBef>
                </a:pPr>
                <a:r>
                  <a:rPr lang="en-US" altLang="zh-CN" sz="2800" dirty="0">
                    <a:latin typeface="Corbel Regular" charset="0"/>
                    <a:ea typeface="SimSun" pitchFamily="2" charset="-122"/>
                    <a:cs typeface="Corbel Regular" charset="0"/>
                  </a:rPr>
                  <a:t>Find final configuration satisfying constraints, e.g., </a:t>
                </a:r>
                <a14:m>
                  <m:oMath xmlns:m="http://schemas.openxmlformats.org/officeDocument/2006/math">
                    <m:r>
                      <a:rPr lang="en-US" altLang="zh-CN" sz="2800" i="1" dirty="0">
                        <a:latin typeface="Cambria Math" panose="02040503050406030204" pitchFamily="18" charset="0"/>
                        <a:ea typeface="SimSun" pitchFamily="2" charset="-122"/>
                        <a:cs typeface="Corbel Regular" charset="0"/>
                      </a:rPr>
                      <m:t>𝑛</m:t>
                    </m:r>
                  </m:oMath>
                </a14:m>
                <a:r>
                  <a:rPr lang="en-US" altLang="zh-CN" sz="2800" dirty="0">
                    <a:latin typeface="Corbel Regular" charset="0"/>
                    <a:ea typeface="SimSun" pitchFamily="2" charset="-122"/>
                    <a:cs typeface="Corbel Regular" charset="0"/>
                  </a:rPr>
                  <a:t>-queens</a:t>
                </a:r>
              </a:p>
              <a:p>
                <a:pPr>
                  <a:spcBef>
                    <a:spcPts val="1200"/>
                  </a:spcBef>
                </a:pPr>
                <a:r>
                  <a:rPr lang="en-US" altLang="zh-CN" sz="2800" dirty="0">
                    <a:solidFill>
                      <a:srgbClr val="FF0000"/>
                    </a:solidFill>
                    <a:latin typeface="Corbel Regular" charset="0"/>
                    <a:ea typeface="SimSun" pitchFamily="2" charset="-122"/>
                    <a:cs typeface="Corbel Regular" charset="0"/>
                  </a:rPr>
                  <a:t>Local search algorithms:</a:t>
                </a:r>
                <a:r>
                  <a:rPr lang="en-US" altLang="zh-CN" sz="2800" dirty="0">
                    <a:latin typeface="Corbel Regular" charset="0"/>
                    <a:ea typeface="SimSun" pitchFamily="2" charset="-122"/>
                    <a:cs typeface="Corbel Regular" charset="0"/>
                  </a:rPr>
                  <a:t> maintain single “current best” state and try to improve it</a:t>
                </a:r>
              </a:p>
              <a:p>
                <a:pPr>
                  <a:spcBef>
                    <a:spcPts val="1200"/>
                  </a:spcBef>
                </a:pPr>
                <a:r>
                  <a:rPr lang="en-US" altLang="zh-CN" sz="2800" dirty="0">
                    <a:latin typeface="Corbel Regular" charset="0"/>
                    <a:ea typeface="SimSun" pitchFamily="2" charset="-122"/>
                    <a:cs typeface="Corbel Regular" charset="0"/>
                  </a:rPr>
                  <a:t>Advantages: </a:t>
                </a:r>
              </a:p>
              <a:p>
                <a:pPr lvl="1">
                  <a:spcBef>
                    <a:spcPts val="1200"/>
                  </a:spcBef>
                </a:pPr>
                <a:r>
                  <a:rPr lang="en-US" altLang="zh-CN" sz="2800" dirty="0">
                    <a:latin typeface="Corbel Regular" charset="0"/>
                    <a:ea typeface="SimSun" pitchFamily="2" charset="-122"/>
                    <a:cs typeface="Corbel Regular" charset="0"/>
                  </a:rPr>
                  <a:t>very little/constant memory </a:t>
                </a:r>
              </a:p>
              <a:p>
                <a:pPr lvl="1">
                  <a:spcBef>
                    <a:spcPts val="1200"/>
                  </a:spcBef>
                </a:pPr>
                <a:r>
                  <a:rPr lang="en-US" altLang="zh-CN" sz="2800" dirty="0">
                    <a:latin typeface="Corbel Regular" charset="0"/>
                    <a:ea typeface="SimSun" pitchFamily="2" charset="-122"/>
                    <a:cs typeface="Corbel Regular" charset="0"/>
                  </a:rPr>
                  <a:t>find reasonable solutions in large state space</a:t>
                </a:r>
              </a:p>
            </p:txBody>
          </p:sp>
        </mc:Choice>
        <mc:Fallback>
          <p:sp>
            <p:nvSpPr>
              <p:cNvPr id="294915" name="Rectangle 3"/>
              <p:cNvSpPr>
                <a:spLocks noGrp="1" noRot="1" noChangeAspect="1" noMove="1" noResize="1" noEditPoints="1" noAdjustHandles="1" noChangeArrowheads="1" noChangeShapeType="1" noTextEdit="1"/>
              </p:cNvSpPr>
              <p:nvPr>
                <p:ph idx="1"/>
              </p:nvPr>
            </p:nvSpPr>
            <p:spPr>
              <a:xfrm>
                <a:off x="579550" y="1215499"/>
                <a:ext cx="9930375" cy="5257800"/>
              </a:xfrm>
              <a:blipFill>
                <a:blip r:embed="rId3"/>
                <a:stretch>
                  <a:fillRect l="-368" t="-1970"/>
                </a:stretch>
              </a:blipFill>
            </p:spPr>
            <p:txBody>
              <a:bodyPr/>
              <a:lstStyle/>
              <a:p>
                <a:r>
                  <a:rPr lang="en-US">
                    <a:noFill/>
                  </a:rPr>
                  <a:t> </a:t>
                </a:r>
              </a:p>
            </p:txBody>
          </p:sp>
        </mc:Fallback>
      </mc:AlternateContent>
    </p:spTree>
    <p:extLst>
      <p:ext uri="{BB962C8B-B14F-4D97-AF65-F5344CB8AC3E}">
        <p14:creationId xmlns:p14="http://schemas.microsoft.com/office/powerpoint/2010/main" val="17814330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5938" name="Rectangle 2"/>
              <p:cNvSpPr>
                <a:spLocks noGrp="1" noChangeArrowheads="1"/>
              </p:cNvSpPr>
              <p:nvPr>
                <p:ph type="title"/>
              </p:nvPr>
            </p:nvSpPr>
            <p:spPr>
              <a:xfrm>
                <a:off x="2601497" y="363662"/>
                <a:ext cx="7704667" cy="914399"/>
              </a:xfrm>
            </p:spPr>
            <p:txBody>
              <a:bodyPr/>
              <a:lstStyle/>
              <a:p>
                <a:r>
                  <a:rPr lang="en-US" altLang="zh-CN" dirty="0">
                    <a:ea typeface="SimSun" pitchFamily="2" charset="-122"/>
                    <a:cs typeface="SimSun" pitchFamily="2" charset="-122"/>
                  </a:rPr>
                  <a:t>Example: </a:t>
                </a:r>
                <a14:m>
                  <m:oMath xmlns:m="http://schemas.openxmlformats.org/officeDocument/2006/math">
                    <m:r>
                      <a:rPr lang="en-US" altLang="zh-CN" i="1" dirty="0" smtClean="0">
                        <a:latin typeface="Cambria Math" panose="02040503050406030204" pitchFamily="18" charset="0"/>
                        <a:ea typeface="SimSun" pitchFamily="2" charset="-122"/>
                        <a:cs typeface="SimSun" pitchFamily="2" charset="-122"/>
                      </a:rPr>
                      <m:t>𝑛</m:t>
                    </m:r>
                  </m:oMath>
                </a14:m>
                <a:r>
                  <a:rPr lang="en-US" altLang="zh-CN" dirty="0">
                    <a:ea typeface="SimSun" pitchFamily="2" charset="-122"/>
                    <a:cs typeface="SimSun" pitchFamily="2" charset="-122"/>
                  </a:rPr>
                  <a:t>-queens</a:t>
                </a:r>
              </a:p>
            </p:txBody>
          </p:sp>
        </mc:Choice>
        <mc:Fallback xmlns="">
          <p:sp>
            <p:nvSpPr>
              <p:cNvPr id="295938" name="Rectangle 2"/>
              <p:cNvSpPr>
                <a:spLocks noGrp="1" noRot="1" noChangeAspect="1" noMove="1" noResize="1" noEditPoints="1" noAdjustHandles="1" noChangeArrowheads="1" noChangeShapeType="1" noTextEdit="1"/>
              </p:cNvSpPr>
              <p:nvPr>
                <p:ph type="title"/>
              </p:nvPr>
            </p:nvSpPr>
            <p:spPr>
              <a:xfrm>
                <a:off x="2601497" y="363662"/>
                <a:ext cx="7704667" cy="914399"/>
              </a:xfrm>
              <a:blipFill>
                <a:blip r:embed="rId3"/>
                <a:stretch>
                  <a:fillRect l="-2961" t="-12329" b="-1095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5939" name="Rectangle 3"/>
              <p:cNvSpPr>
                <a:spLocks noGrp="1" noChangeArrowheads="1"/>
              </p:cNvSpPr>
              <p:nvPr>
                <p:ph idx="1"/>
              </p:nvPr>
            </p:nvSpPr>
            <p:spPr>
              <a:xfrm>
                <a:off x="334853" y="1396798"/>
                <a:ext cx="9875951" cy="2072868"/>
              </a:xfrm>
            </p:spPr>
            <p:txBody>
              <a:bodyPr>
                <a:normAutofit/>
              </a:bodyPr>
              <a:lstStyle/>
              <a:p>
                <a:pPr>
                  <a:spcBef>
                    <a:spcPts val="1200"/>
                  </a:spcBef>
                </a:pPr>
                <a:r>
                  <a:rPr lang="en-US" altLang="zh-CN" sz="3200" dirty="0">
                    <a:latin typeface="Corbel Regular" charset="0"/>
                    <a:ea typeface="SimSun" pitchFamily="2" charset="-122"/>
                    <a:cs typeface="Corbel Regular" charset="0"/>
                  </a:rPr>
                  <a:t>Put </a:t>
                </a:r>
                <a14:m>
                  <m:oMath xmlns:m="http://schemas.openxmlformats.org/officeDocument/2006/math">
                    <m:r>
                      <a:rPr lang="en-US" altLang="zh-CN" sz="3200" i="1" dirty="0">
                        <a:latin typeface="Cambria Math" panose="02040503050406030204" pitchFamily="18" charset="0"/>
                        <a:ea typeface="SimSun" pitchFamily="2" charset="-122"/>
                        <a:cs typeface="Corbel Regular" charset="0"/>
                      </a:rPr>
                      <m:t>𝑛</m:t>
                    </m:r>
                  </m:oMath>
                </a14:m>
                <a:r>
                  <a:rPr lang="en-US" altLang="zh-CN" sz="3200" dirty="0">
                    <a:latin typeface="Corbel Regular" charset="0"/>
                    <a:ea typeface="SimSun" pitchFamily="2" charset="-122"/>
                    <a:cs typeface="Corbel Regular" charset="0"/>
                  </a:rPr>
                  <a:t> queens on an </a:t>
                </a:r>
                <a14:m>
                  <m:oMath xmlns:m="http://schemas.openxmlformats.org/officeDocument/2006/math">
                    <m:r>
                      <a:rPr lang="en-US" altLang="zh-CN" sz="3200" i="1">
                        <a:latin typeface="Cambria Math" panose="02040503050406030204" pitchFamily="18" charset="0"/>
                        <a:ea typeface="SimSun" pitchFamily="2" charset="-122"/>
                        <a:cs typeface="Corbel Regular" charset="0"/>
                      </a:rPr>
                      <m:t>𝑛</m:t>
                    </m:r>
                    <m:r>
                      <a:rPr lang="en-US" altLang="zh-CN" sz="3200" i="1">
                        <a:latin typeface="Cambria Math" panose="02040503050406030204" pitchFamily="18" charset="0"/>
                        <a:ea typeface="SimSun" pitchFamily="2" charset="-122"/>
                        <a:cs typeface="Corbel Regular" charset="0"/>
                      </a:rPr>
                      <m:t>×</m:t>
                    </m:r>
                    <m:r>
                      <a:rPr lang="en-US" altLang="zh-CN" sz="3200" i="1">
                        <a:latin typeface="Cambria Math" panose="02040503050406030204" pitchFamily="18" charset="0"/>
                        <a:ea typeface="SimSun" pitchFamily="2" charset="-122"/>
                        <a:cs typeface="Corbel Regular" charset="0"/>
                      </a:rPr>
                      <m:t>𝑛</m:t>
                    </m:r>
                  </m:oMath>
                </a14:m>
                <a:r>
                  <a:rPr lang="en-US" altLang="zh-CN" sz="3200" dirty="0">
                    <a:latin typeface="Corbel Regular" charset="0"/>
                    <a:ea typeface="SimSun" pitchFamily="2" charset="-122"/>
                    <a:cs typeface="Corbel Regular" charset="0"/>
                  </a:rPr>
                  <a:t> board with no two queens on the same row, column, or diagonal</a:t>
                </a:r>
              </a:p>
            </p:txBody>
          </p:sp>
        </mc:Choice>
        <mc:Fallback xmlns="">
          <p:sp>
            <p:nvSpPr>
              <p:cNvPr id="295939" name="Rectangle 3"/>
              <p:cNvSpPr>
                <a:spLocks noGrp="1" noRot="1" noChangeAspect="1" noMove="1" noResize="1" noEditPoints="1" noAdjustHandles="1" noChangeArrowheads="1" noChangeShapeType="1" noTextEdit="1"/>
              </p:cNvSpPr>
              <p:nvPr>
                <p:ph idx="1"/>
              </p:nvPr>
            </p:nvSpPr>
            <p:spPr>
              <a:xfrm>
                <a:off x="334853" y="1396798"/>
                <a:ext cx="9875951" cy="2072868"/>
              </a:xfrm>
              <a:blipFill>
                <a:blip r:embed="rId4"/>
                <a:stretch>
                  <a:fillRect l="-642" t="-3636"/>
                </a:stretch>
              </a:blipFill>
            </p:spPr>
            <p:txBody>
              <a:bodyPr/>
              <a:lstStyle/>
              <a:p>
                <a:r>
                  <a:rPr lang="en-GB">
                    <a:noFill/>
                  </a:rPr>
                  <a:t> </a:t>
                </a:r>
              </a:p>
            </p:txBody>
          </p:sp>
        </mc:Fallback>
      </mc:AlternateContent>
      <p:pic>
        <p:nvPicPr>
          <p:cNvPr id="295940" name="Picture 4" descr="4queens-sequence"/>
          <p:cNvPicPr>
            <a:picLocks noChangeAspect="1" noChangeArrowheads="1"/>
          </p:cNvPicPr>
          <p:nvPr/>
        </p:nvPicPr>
        <p:blipFill>
          <a:blip r:embed="rId5"/>
          <a:srcRect/>
          <a:stretch>
            <a:fillRect/>
          </a:stretch>
        </p:blipFill>
        <p:spPr bwMode="auto">
          <a:xfrm>
            <a:off x="2568367" y="3588405"/>
            <a:ext cx="7467600" cy="1860551"/>
          </a:xfrm>
          <a:prstGeom prst="rect">
            <a:avLst/>
          </a:prstGeom>
          <a:noFill/>
        </p:spPr>
      </p:pic>
    </p:spTree>
    <p:extLst>
      <p:ext uri="{BB962C8B-B14F-4D97-AF65-F5344CB8AC3E}">
        <p14:creationId xmlns:p14="http://schemas.microsoft.com/office/powerpoint/2010/main" val="14886394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850005" y="609600"/>
          <a:ext cx="10753859"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38909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r>
              <a:rPr lang="en-US" altLang="zh-CN" dirty="0">
                <a:ea typeface="SimSun" pitchFamily="2" charset="-122"/>
                <a:cs typeface="SimSun" pitchFamily="2" charset="-122"/>
              </a:rPr>
              <a:t>Hill-Climbing Search</a:t>
            </a:r>
          </a:p>
        </p:txBody>
      </p:sp>
      <p:sp>
        <p:nvSpPr>
          <p:cNvPr id="296963" name="Rectangle 3"/>
          <p:cNvSpPr>
            <a:spLocks noGrp="1" noChangeArrowheads="1"/>
          </p:cNvSpPr>
          <p:nvPr>
            <p:ph idx="1"/>
          </p:nvPr>
        </p:nvSpPr>
        <p:spPr>
          <a:xfrm>
            <a:off x="1028910" y="4182426"/>
            <a:ext cx="8950091" cy="2549916"/>
          </a:xfrm>
        </p:spPr>
        <p:txBody>
          <a:bodyPr>
            <a:normAutofit/>
          </a:bodyPr>
          <a:lstStyle/>
          <a:p>
            <a:pPr marL="0" indent="0">
              <a:buNone/>
            </a:pPr>
            <a:r>
              <a:rPr lang="en-US" altLang="zh-CN" sz="3200" dirty="0">
                <a:latin typeface="Corbel Regular" charset="0"/>
                <a:ea typeface="SimSun" pitchFamily="2" charset="-122"/>
                <a:cs typeface="Corbel Regular" charset="0"/>
              </a:rPr>
              <a:t>“Like climbing Mt. Everest in thick fog with amnesia”</a:t>
            </a:r>
          </a:p>
        </p:txBody>
      </p:sp>
      <p:pic>
        <p:nvPicPr>
          <p:cNvPr id="5" name="Picture 4" descr="Picture 1.png"/>
          <p:cNvPicPr>
            <a:picLocks noChangeAspect="1"/>
          </p:cNvPicPr>
          <p:nvPr/>
        </p:nvPicPr>
        <p:blipFill>
          <a:blip r:embed="rId3"/>
          <a:stretch>
            <a:fillRect/>
          </a:stretch>
        </p:blipFill>
        <p:spPr>
          <a:xfrm>
            <a:off x="497897" y="1203089"/>
            <a:ext cx="11196209" cy="2896243"/>
          </a:xfrm>
          <a:prstGeom prst="rect">
            <a:avLst/>
          </a:prstGeom>
          <a:ln>
            <a:solidFill>
              <a:schemeClr val="tx1"/>
            </a:solidFill>
          </a:ln>
        </p:spPr>
      </p:pic>
    </p:spTree>
    <p:extLst>
      <p:ext uri="{BB962C8B-B14F-4D97-AF65-F5344CB8AC3E}">
        <p14:creationId xmlns:p14="http://schemas.microsoft.com/office/powerpoint/2010/main" val="2982741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2529325" y="129751"/>
            <a:ext cx="7704667" cy="860851"/>
          </a:xfrm>
        </p:spPr>
        <p:txBody>
          <a:bodyPr>
            <a:noAutofit/>
          </a:bodyPr>
          <a:lstStyle/>
          <a:p>
            <a:r>
              <a:rPr lang="en-US" altLang="zh-CN" dirty="0">
                <a:ea typeface="SimSun" pitchFamily="2" charset="-122"/>
                <a:cs typeface="SimSun" pitchFamily="2" charset="-122"/>
              </a:rPr>
              <a:t>Hill-Climbing Search: 8-Queens</a:t>
            </a:r>
          </a:p>
        </p:txBody>
      </p:sp>
      <mc:AlternateContent xmlns:mc="http://schemas.openxmlformats.org/markup-compatibility/2006">
        <mc:Choice xmlns:a14="http://schemas.microsoft.com/office/drawing/2010/main" Requires="a14">
          <p:sp>
            <p:nvSpPr>
              <p:cNvPr id="299011" name="Rectangle 3"/>
              <p:cNvSpPr>
                <a:spLocks noGrp="1" noChangeArrowheads="1"/>
              </p:cNvSpPr>
              <p:nvPr>
                <p:ph idx="1"/>
              </p:nvPr>
            </p:nvSpPr>
            <p:spPr>
              <a:xfrm>
                <a:off x="4827012" y="937800"/>
                <a:ext cx="6844829" cy="5231181"/>
              </a:xfrm>
            </p:spPr>
            <p:txBody>
              <a:bodyPr>
                <a:normAutofit fontScale="92500"/>
              </a:bodyPr>
              <a:lstStyle/>
              <a:p>
                <a:pPr>
                  <a:spcBef>
                    <a:spcPts val="1200"/>
                  </a:spcBef>
                </a:pPr>
                <a14:m>
                  <m:oMath xmlns:m="http://schemas.openxmlformats.org/officeDocument/2006/math">
                    <m:r>
                      <a:rPr lang="en-US" altLang="zh-CN" i="1" dirty="0" smtClean="0">
                        <a:latin typeface="Cambria Math" panose="02040503050406030204" pitchFamily="18" charset="0"/>
                        <a:ea typeface="SimSun" pitchFamily="2" charset="-122"/>
                        <a:cs typeface="Corbel Regular" charset="0"/>
                      </a:rPr>
                      <m:t>h</m:t>
                    </m:r>
                    <m:r>
                      <a:rPr lang="en-US" altLang="zh-CN" i="1" dirty="0" smtClean="0">
                        <a:latin typeface="Cambria Math" panose="02040503050406030204" pitchFamily="18" charset="0"/>
                        <a:ea typeface="SimSun" pitchFamily="2" charset="-122"/>
                        <a:cs typeface="Corbel Regular" charset="0"/>
                      </a:rPr>
                      <m:t>=</m:t>
                    </m:r>
                  </m:oMath>
                </a14:m>
                <a:r>
                  <a:rPr lang="en-US" altLang="zh-CN" dirty="0">
                    <a:latin typeface="Corbel Regular" charset="0"/>
                    <a:ea typeface="SimSun" pitchFamily="2" charset="-122"/>
                    <a:cs typeface="Corbel Regular" charset="0"/>
                  </a:rPr>
                  <a:t> number of pairs of queens that are attacking each other, either directly or indirectly</a:t>
                </a:r>
              </a:p>
              <a:p>
                <a:pPr>
                  <a:spcBef>
                    <a:spcPts val="1200"/>
                  </a:spcBef>
                </a:pPr>
                <a14:m>
                  <m:oMath xmlns:m="http://schemas.openxmlformats.org/officeDocument/2006/math">
                    <m:r>
                      <a:rPr lang="en-US" altLang="zh-CN" i="1" dirty="0" smtClean="0">
                        <a:latin typeface="Cambria Math" panose="02040503050406030204" pitchFamily="18" charset="0"/>
                        <a:ea typeface="SimSun" pitchFamily="2" charset="-122"/>
                        <a:cs typeface="Corbel Regular" charset="0"/>
                      </a:rPr>
                      <m:t>h</m:t>
                    </m:r>
                    <m:r>
                      <a:rPr lang="en-US" altLang="zh-CN" i="1" dirty="0">
                        <a:latin typeface="Cambria Math" panose="02040503050406030204" pitchFamily="18" charset="0"/>
                        <a:ea typeface="SimSun" pitchFamily="2" charset="-122"/>
                        <a:cs typeface="Corbel Regular" charset="0"/>
                      </a:rPr>
                      <m:t>=17</m:t>
                    </m:r>
                  </m:oMath>
                </a14:m>
                <a:r>
                  <a:rPr lang="en-US" altLang="zh-CN" dirty="0">
                    <a:latin typeface="Corbel Regular" charset="0"/>
                    <a:ea typeface="SimSun" pitchFamily="2" charset="-122"/>
                    <a:cs typeface="Corbel Regular" charset="0"/>
                  </a:rPr>
                  <a:t> for the above state.</a:t>
                </a:r>
              </a:p>
              <a:p>
                <a:pPr lvl="1">
                  <a:spcBef>
                    <a:spcPts val="1200"/>
                  </a:spcBef>
                </a:pPr>
                <a:r>
                  <a:rPr lang="en-US" altLang="zh-CN" dirty="0">
                    <a:latin typeface="Corbel Regular" charset="0"/>
                    <a:ea typeface="SimSun" pitchFamily="2" charset="-122"/>
                    <a:cs typeface="Corbel Regular" charset="0"/>
                  </a:rPr>
                  <a:t>Queens can move within the same column.</a:t>
                </a:r>
              </a:p>
              <a:p>
                <a:pPr lvl="1">
                  <a:spcBef>
                    <a:spcPts val="1200"/>
                  </a:spcBef>
                </a:pPr>
                <a:r>
                  <a:rPr lang="en-US" altLang="zh-CN" dirty="0">
                    <a:latin typeface="Corbel Regular" charset="0"/>
                    <a:ea typeface="SimSun" pitchFamily="2" charset="-122"/>
                    <a:cs typeface="Corbel Regular" charset="0"/>
                  </a:rPr>
                  <a:t>Squares show heuristics for each possible move.</a:t>
                </a:r>
              </a:p>
              <a:p>
                <a:pPr lvl="1">
                  <a:spcBef>
                    <a:spcPts val="1200"/>
                  </a:spcBef>
                </a:pPr>
                <a:r>
                  <a:rPr lang="en-US" altLang="zh-CN" dirty="0">
                    <a:latin typeface="Corbel Regular" charset="0"/>
                    <a:ea typeface="SimSun" pitchFamily="2" charset="-122"/>
                    <a:cs typeface="Corbel Regular" charset="0"/>
                  </a:rPr>
                  <a:t>Five moves have the same lowest heuristic.</a:t>
                </a:r>
              </a:p>
              <a:p>
                <a:pPr lvl="1">
                  <a:spcBef>
                    <a:spcPts val="1200"/>
                  </a:spcBef>
                </a:pPr>
                <a:r>
                  <a:rPr lang="en-US" altLang="zh-CN" dirty="0">
                    <a:latin typeface="Corbel Regular" charset="0"/>
                    <a:ea typeface="SimSun" pitchFamily="2" charset="-122"/>
                    <a:cs typeface="Corbel Regular" charset="0"/>
                  </a:rPr>
                  <a:t>Hill-climbing will choose any of them as the next move.</a:t>
                </a:r>
              </a:p>
              <a:p>
                <a:pPr>
                  <a:spcBef>
                    <a:spcPts val="1200"/>
                  </a:spcBef>
                </a:pPr>
                <a:endParaRPr lang="en-US" altLang="zh-CN" dirty="0">
                  <a:latin typeface="Corbel Regular" charset="0"/>
                  <a:ea typeface="SimSun" pitchFamily="2" charset="-122"/>
                  <a:cs typeface="Corbel Regular" charset="0"/>
                </a:endParaRPr>
              </a:p>
            </p:txBody>
          </p:sp>
        </mc:Choice>
        <mc:Fallback>
          <p:sp>
            <p:nvSpPr>
              <p:cNvPr id="299011" name="Rectangle 3"/>
              <p:cNvSpPr>
                <a:spLocks noGrp="1" noRot="1" noChangeAspect="1" noMove="1" noResize="1" noEditPoints="1" noAdjustHandles="1" noChangeArrowheads="1" noChangeShapeType="1" noTextEdit="1"/>
              </p:cNvSpPr>
              <p:nvPr>
                <p:ph idx="1"/>
              </p:nvPr>
            </p:nvSpPr>
            <p:spPr>
              <a:xfrm>
                <a:off x="4827012" y="937800"/>
                <a:ext cx="6844829" cy="5231181"/>
              </a:xfrm>
              <a:blipFill>
                <a:blip r:embed="rId3"/>
                <a:stretch>
                  <a:fillRect t="-1282" r="-1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331242039"/>
                  </p:ext>
                </p:extLst>
              </p:nvPr>
            </p:nvGraphicFramePr>
            <p:xfrm>
              <a:off x="697395" y="937800"/>
              <a:ext cx="4091400" cy="4091400"/>
            </p:xfrm>
            <a:graphic>
              <a:graphicData uri="http://schemas.openxmlformats.org/drawingml/2006/table">
                <a:tbl>
                  <a:tblPr firstRow="1" bandRow="1">
                    <a:tableStyleId>{5940675A-B579-460E-94D1-54222C63F5DA}</a:tableStyleId>
                  </a:tblPr>
                  <a:tblGrid>
                    <a:gridCol w="511425">
                      <a:extLst>
                        <a:ext uri="{9D8B030D-6E8A-4147-A177-3AD203B41FA5}">
                          <a16:colId xmlns:a16="http://schemas.microsoft.com/office/drawing/2014/main" val="20000"/>
                        </a:ext>
                      </a:extLst>
                    </a:gridCol>
                    <a:gridCol w="511425">
                      <a:extLst>
                        <a:ext uri="{9D8B030D-6E8A-4147-A177-3AD203B41FA5}">
                          <a16:colId xmlns:a16="http://schemas.microsoft.com/office/drawing/2014/main" val="20001"/>
                        </a:ext>
                      </a:extLst>
                    </a:gridCol>
                    <a:gridCol w="511425">
                      <a:extLst>
                        <a:ext uri="{9D8B030D-6E8A-4147-A177-3AD203B41FA5}">
                          <a16:colId xmlns:a16="http://schemas.microsoft.com/office/drawing/2014/main" val="20002"/>
                        </a:ext>
                      </a:extLst>
                    </a:gridCol>
                    <a:gridCol w="511425">
                      <a:extLst>
                        <a:ext uri="{9D8B030D-6E8A-4147-A177-3AD203B41FA5}">
                          <a16:colId xmlns:a16="http://schemas.microsoft.com/office/drawing/2014/main" val="20003"/>
                        </a:ext>
                      </a:extLst>
                    </a:gridCol>
                    <a:gridCol w="511425">
                      <a:extLst>
                        <a:ext uri="{9D8B030D-6E8A-4147-A177-3AD203B41FA5}">
                          <a16:colId xmlns:a16="http://schemas.microsoft.com/office/drawing/2014/main" val="20004"/>
                        </a:ext>
                      </a:extLst>
                    </a:gridCol>
                    <a:gridCol w="511425">
                      <a:extLst>
                        <a:ext uri="{9D8B030D-6E8A-4147-A177-3AD203B41FA5}">
                          <a16:colId xmlns:a16="http://schemas.microsoft.com/office/drawing/2014/main" val="20005"/>
                        </a:ext>
                      </a:extLst>
                    </a:gridCol>
                    <a:gridCol w="511425">
                      <a:extLst>
                        <a:ext uri="{9D8B030D-6E8A-4147-A177-3AD203B41FA5}">
                          <a16:colId xmlns:a16="http://schemas.microsoft.com/office/drawing/2014/main" val="20006"/>
                        </a:ext>
                      </a:extLst>
                    </a:gridCol>
                    <a:gridCol w="511425">
                      <a:extLst>
                        <a:ext uri="{9D8B030D-6E8A-4147-A177-3AD203B41FA5}">
                          <a16:colId xmlns:a16="http://schemas.microsoft.com/office/drawing/2014/main" val="20007"/>
                        </a:ext>
                      </a:extLst>
                    </a:gridCol>
                  </a:tblGrid>
                  <a:tr h="511425">
                    <a:tc>
                      <a:txBody>
                        <a:bodyPr/>
                        <a:lstStyle/>
                        <a:p>
                          <a:pPr algn="ctr"/>
                          <a14:m>
                            <m:oMathPara xmlns:m="http://schemas.openxmlformats.org/officeDocument/2006/math">
                              <m:oMathParaPr>
                                <m:jc m:val="centerGroup"/>
                              </m:oMathParaPr>
                              <m:oMath xmlns:m="http://schemas.openxmlformats.org/officeDocument/2006/math">
                                <m:r>
                                  <a:rPr lang="en-US" sz="1700" i="1" smtClean="0">
                                    <a:latin typeface="Cambria Math" panose="02040503050406030204" pitchFamily="18" charset="0"/>
                                  </a:rPr>
                                  <m:t>18</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lnT w="762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n-US" sz="1700" i="1" smtClean="0">
                                    <a:latin typeface="Cambria Math" panose="02040503050406030204" pitchFamily="18" charset="0"/>
                                  </a:rPr>
                                  <m:t>12</m:t>
                                </m:r>
                              </m:oMath>
                            </m:oMathPara>
                          </a14:m>
                          <a:endParaRPr lang="en-US" sz="1700" dirty="0"/>
                        </a:p>
                      </a:txBody>
                      <a:tcPr marL="86601" marR="86601" marT="43301" marB="43301" anchor="ctr">
                        <a:lnT w="76200" cap="flat" cmpd="sng" algn="ctr">
                          <a:solidFill>
                            <a:schemeClr val="tx1"/>
                          </a:solidFill>
                          <a:prstDash val="solid"/>
                          <a:round/>
                          <a:headEnd type="none" w="med" len="med"/>
                          <a:tailEnd type="none" w="med" len="med"/>
                        </a:lnT>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smtClean="0">
                                    <a:latin typeface="Cambria Math" panose="02040503050406030204" pitchFamily="18" charset="0"/>
                                  </a:rPr>
                                  <m:t>14</m:t>
                                </m:r>
                              </m:oMath>
                            </m:oMathPara>
                          </a14:m>
                          <a:endParaRPr lang="en-US" sz="1700" dirty="0"/>
                        </a:p>
                      </a:txBody>
                      <a:tcPr marL="86601" marR="86601" marT="43301" marB="43301" anchor="ctr">
                        <a:lnT w="762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lnT w="76200" cap="flat" cmpd="sng" algn="ctr">
                          <a:solidFill>
                            <a:schemeClr val="tx1"/>
                          </a:solidFill>
                          <a:prstDash val="solid"/>
                          <a:round/>
                          <a:headEnd type="none" w="med" len="med"/>
                          <a:tailEnd type="none" w="med" len="med"/>
                        </a:lnT>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lnT w="762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lnT w="76200" cap="flat" cmpd="sng" algn="ctr">
                          <a:solidFill>
                            <a:schemeClr val="tx1"/>
                          </a:solidFill>
                          <a:prstDash val="solid"/>
                          <a:round/>
                          <a:headEnd type="none" w="med" len="med"/>
                          <a:tailEnd type="none" w="med" len="med"/>
                        </a:lnT>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T w="76200"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511425">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11425">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18</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511425">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17</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511425">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17</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solidFill>
                          <a:schemeClr val="bg2"/>
                        </a:solidFill>
                      </a:tcPr>
                    </a:tc>
                    <a:tc>
                      <a:txBody>
                        <a:bodyPr/>
                        <a:lstStyle/>
                        <a:p>
                          <a:pPr algn="ctr"/>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18</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511425">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18</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15</m:t>
                                </m:r>
                              </m:oMath>
                            </m:oMathPara>
                          </a14:m>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16</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511425">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L w="76200" cap="flat" cmpd="sng" algn="ctr">
                          <a:solidFill>
                            <a:schemeClr val="tx1"/>
                          </a:solidFill>
                          <a:prstDash val="solid"/>
                          <a:round/>
                          <a:headEnd type="none" w="med" len="med"/>
                          <a:tailEnd type="none" w="med" len="med"/>
                        </a:lnL>
                        <a:lnB w="762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B w="762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13</m:t>
                                </m:r>
                              </m:oMath>
                            </m:oMathPara>
                          </a14:m>
                          <a:endParaRPr lang="en-US" sz="1700" dirty="0"/>
                        </a:p>
                      </a:txBody>
                      <a:tcPr marL="86601" marR="86601" marT="43301" marB="43301" anchor="ctr">
                        <a:lnB w="762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17</m:t>
                                </m:r>
                              </m:oMath>
                            </m:oMathPara>
                          </a14:m>
                          <a:endParaRPr lang="en-US" sz="1700" dirty="0"/>
                        </a:p>
                      </a:txBody>
                      <a:tcPr marL="86601" marR="86601" marT="43301" marB="43301" anchor="ctr">
                        <a:lnB w="762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lnB w="762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14</m:t>
                                </m:r>
                              </m:oMath>
                            </m:oMathPara>
                          </a14:m>
                          <a:endParaRPr lang="en-US" sz="1700" dirty="0"/>
                        </a:p>
                      </a:txBody>
                      <a:tcPr marL="86601" marR="86601" marT="43301" marB="43301" anchor="ctr">
                        <a:lnB w="762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12</m:t>
                                </m:r>
                              </m:oMath>
                            </m:oMathPara>
                          </a14:m>
                          <a:endParaRPr lang="en-US" sz="1700" dirty="0"/>
                        </a:p>
                      </a:txBody>
                      <a:tcPr marL="86601" marR="86601" marT="43301" marB="43301" anchor="ctr">
                        <a:lnB w="762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sz="1700" i="1" dirty="0" smtClean="0">
                                    <a:latin typeface="Cambria Math" panose="02040503050406030204" pitchFamily="18" charset="0"/>
                                  </a:rPr>
                                  <m:t>18</m:t>
                                </m:r>
                              </m:oMath>
                            </m:oMathPara>
                          </a14:m>
                          <a:endParaRPr lang="en-US" sz="1700" dirty="0"/>
                        </a:p>
                      </a:txBody>
                      <a:tcPr marL="86601" marR="86601" marT="43301" marB="43301" anchor="ctr">
                        <a:lnR w="76200" cap="flat" cmpd="sng" algn="ctr">
                          <a:solidFill>
                            <a:schemeClr val="tx1"/>
                          </a:solidFill>
                          <a:prstDash val="solid"/>
                          <a:round/>
                          <a:headEnd type="none" w="med" len="med"/>
                          <a:tailEnd type="none" w="med" len="med"/>
                        </a:lnR>
                        <a:lnB w="762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331242039"/>
                  </p:ext>
                </p:extLst>
              </p:nvPr>
            </p:nvGraphicFramePr>
            <p:xfrm>
              <a:off x="697395" y="937800"/>
              <a:ext cx="4091400" cy="4091400"/>
            </p:xfrm>
            <a:graphic>
              <a:graphicData uri="http://schemas.openxmlformats.org/drawingml/2006/table">
                <a:tbl>
                  <a:tblPr firstRow="1" bandRow="1">
                    <a:tableStyleId>{5940675A-B579-460E-94D1-54222C63F5DA}</a:tableStyleId>
                  </a:tblPr>
                  <a:tblGrid>
                    <a:gridCol w="511425">
                      <a:extLst>
                        <a:ext uri="{9D8B030D-6E8A-4147-A177-3AD203B41FA5}">
                          <a16:colId xmlns:a16="http://schemas.microsoft.com/office/drawing/2014/main" val="20000"/>
                        </a:ext>
                      </a:extLst>
                    </a:gridCol>
                    <a:gridCol w="511425">
                      <a:extLst>
                        <a:ext uri="{9D8B030D-6E8A-4147-A177-3AD203B41FA5}">
                          <a16:colId xmlns:a16="http://schemas.microsoft.com/office/drawing/2014/main" val="20001"/>
                        </a:ext>
                      </a:extLst>
                    </a:gridCol>
                    <a:gridCol w="511425">
                      <a:extLst>
                        <a:ext uri="{9D8B030D-6E8A-4147-A177-3AD203B41FA5}">
                          <a16:colId xmlns:a16="http://schemas.microsoft.com/office/drawing/2014/main" val="20002"/>
                        </a:ext>
                      </a:extLst>
                    </a:gridCol>
                    <a:gridCol w="511425">
                      <a:extLst>
                        <a:ext uri="{9D8B030D-6E8A-4147-A177-3AD203B41FA5}">
                          <a16:colId xmlns:a16="http://schemas.microsoft.com/office/drawing/2014/main" val="20003"/>
                        </a:ext>
                      </a:extLst>
                    </a:gridCol>
                    <a:gridCol w="511425">
                      <a:extLst>
                        <a:ext uri="{9D8B030D-6E8A-4147-A177-3AD203B41FA5}">
                          <a16:colId xmlns:a16="http://schemas.microsoft.com/office/drawing/2014/main" val="20004"/>
                        </a:ext>
                      </a:extLst>
                    </a:gridCol>
                    <a:gridCol w="511425">
                      <a:extLst>
                        <a:ext uri="{9D8B030D-6E8A-4147-A177-3AD203B41FA5}">
                          <a16:colId xmlns:a16="http://schemas.microsoft.com/office/drawing/2014/main" val="20005"/>
                        </a:ext>
                      </a:extLst>
                    </a:gridCol>
                    <a:gridCol w="511425">
                      <a:extLst>
                        <a:ext uri="{9D8B030D-6E8A-4147-A177-3AD203B41FA5}">
                          <a16:colId xmlns:a16="http://schemas.microsoft.com/office/drawing/2014/main" val="20006"/>
                        </a:ext>
                      </a:extLst>
                    </a:gridCol>
                    <a:gridCol w="511425">
                      <a:extLst>
                        <a:ext uri="{9D8B030D-6E8A-4147-A177-3AD203B41FA5}">
                          <a16:colId xmlns:a16="http://schemas.microsoft.com/office/drawing/2014/main" val="20007"/>
                        </a:ext>
                      </a:extLst>
                    </a:gridCol>
                  </a:tblGrid>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lnT w="76200" cap="flat" cmpd="sng" algn="ctr">
                          <a:solidFill>
                            <a:schemeClr val="tx1"/>
                          </a:solidFill>
                          <a:prstDash val="solid"/>
                          <a:round/>
                          <a:headEnd type="none" w="med" len="med"/>
                          <a:tailEnd type="none" w="med" len="med"/>
                        </a:lnT>
                        <a:blipFill>
                          <a:blip r:embed="rId4"/>
                          <a:stretch>
                            <a:fillRect l="-7317" t="-7500" r="-704878" b="-725000"/>
                          </a:stretch>
                        </a:blipFill>
                      </a:tcPr>
                    </a:tc>
                    <a:tc>
                      <a:txBody>
                        <a:bodyPr/>
                        <a:lstStyle/>
                        <a:p>
                          <a:endParaRPr lang="en-US"/>
                        </a:p>
                      </a:txBody>
                      <a:tcPr marL="86601" marR="86601" marT="43301" marB="43301" anchor="ctr">
                        <a:lnT w="76200" cap="flat" cmpd="sng" algn="ctr">
                          <a:solidFill>
                            <a:schemeClr val="tx1"/>
                          </a:solidFill>
                          <a:prstDash val="solid"/>
                          <a:round/>
                          <a:headEnd type="none" w="med" len="med"/>
                          <a:tailEnd type="none" w="med" len="med"/>
                        </a:lnT>
                        <a:blipFill>
                          <a:blip r:embed="rId4"/>
                          <a:stretch>
                            <a:fillRect l="-110000" t="-7500" r="-622500" b="-725000"/>
                          </a:stretch>
                        </a:blipFill>
                      </a:tcPr>
                    </a:tc>
                    <a:tc>
                      <a:txBody>
                        <a:bodyPr/>
                        <a:lstStyle/>
                        <a:p>
                          <a:endParaRPr lang="en-US"/>
                        </a:p>
                      </a:txBody>
                      <a:tcPr marL="86601" marR="86601" marT="43301" marB="43301" anchor="ctr">
                        <a:lnT w="76200" cap="flat" cmpd="sng" algn="ctr">
                          <a:solidFill>
                            <a:schemeClr val="tx1"/>
                          </a:solidFill>
                          <a:prstDash val="solid"/>
                          <a:round/>
                          <a:headEnd type="none" w="med" len="med"/>
                          <a:tailEnd type="none" w="med" len="med"/>
                        </a:lnT>
                        <a:blipFill>
                          <a:blip r:embed="rId4"/>
                          <a:stretch>
                            <a:fillRect l="-204878" t="-7500" r="-507317" b="-725000"/>
                          </a:stretch>
                        </a:blipFill>
                      </a:tcPr>
                    </a:tc>
                    <a:tc>
                      <a:txBody>
                        <a:bodyPr/>
                        <a:lstStyle/>
                        <a:p>
                          <a:endParaRPr lang="en-US"/>
                        </a:p>
                      </a:txBody>
                      <a:tcPr marL="86601" marR="86601" marT="43301" marB="43301" anchor="ctr">
                        <a:lnT w="76200" cap="flat" cmpd="sng" algn="ctr">
                          <a:solidFill>
                            <a:schemeClr val="tx1"/>
                          </a:solidFill>
                          <a:prstDash val="solid"/>
                          <a:round/>
                          <a:headEnd type="none" w="med" len="med"/>
                          <a:tailEnd type="none" w="med" len="med"/>
                        </a:lnT>
                        <a:blipFill>
                          <a:blip r:embed="rId4"/>
                          <a:stretch>
                            <a:fillRect l="-312500" t="-7500" r="-420000" b="-725000"/>
                          </a:stretch>
                        </a:blipFill>
                      </a:tcPr>
                    </a:tc>
                    <a:tc>
                      <a:txBody>
                        <a:bodyPr/>
                        <a:lstStyle/>
                        <a:p>
                          <a:endParaRPr lang="en-US"/>
                        </a:p>
                      </a:txBody>
                      <a:tcPr marL="86601" marR="86601" marT="43301" marB="43301" anchor="ctr">
                        <a:lnT w="76200" cap="flat" cmpd="sng" algn="ctr">
                          <a:solidFill>
                            <a:schemeClr val="tx1"/>
                          </a:solidFill>
                          <a:prstDash val="solid"/>
                          <a:round/>
                          <a:headEnd type="none" w="med" len="med"/>
                          <a:tailEnd type="none" w="med" len="med"/>
                        </a:lnT>
                        <a:blipFill>
                          <a:blip r:embed="rId4"/>
                          <a:stretch>
                            <a:fillRect l="-402439" t="-7500" r="-309756" b="-725000"/>
                          </a:stretch>
                        </a:blipFill>
                      </a:tcPr>
                    </a:tc>
                    <a:tc>
                      <a:txBody>
                        <a:bodyPr/>
                        <a:lstStyle/>
                        <a:p>
                          <a:endParaRPr lang="en-US"/>
                        </a:p>
                      </a:txBody>
                      <a:tcPr marL="86601" marR="86601" marT="43301" marB="43301" anchor="ctr">
                        <a:lnT w="76200" cap="flat" cmpd="sng" algn="ctr">
                          <a:solidFill>
                            <a:schemeClr val="tx1"/>
                          </a:solidFill>
                          <a:prstDash val="solid"/>
                          <a:round/>
                          <a:headEnd type="none" w="med" len="med"/>
                          <a:tailEnd type="none" w="med" len="med"/>
                        </a:lnT>
                        <a:blipFill>
                          <a:blip r:embed="rId4"/>
                          <a:stretch>
                            <a:fillRect l="-515000" t="-7500" r="-217500" b="-725000"/>
                          </a:stretch>
                        </a:blipFill>
                      </a:tcPr>
                    </a:tc>
                    <a:tc>
                      <a:txBody>
                        <a:bodyPr/>
                        <a:lstStyle/>
                        <a:p>
                          <a:endParaRPr lang="en-US"/>
                        </a:p>
                      </a:txBody>
                      <a:tcPr marL="86601" marR="86601" marT="43301" marB="43301" anchor="ctr">
                        <a:lnT w="76200" cap="flat" cmpd="sng" algn="ctr">
                          <a:solidFill>
                            <a:schemeClr val="tx1"/>
                          </a:solidFill>
                          <a:prstDash val="solid"/>
                          <a:round/>
                          <a:headEnd type="none" w="med" len="med"/>
                          <a:tailEnd type="none" w="med" len="med"/>
                        </a:lnT>
                        <a:blipFill>
                          <a:blip r:embed="rId4"/>
                          <a:stretch>
                            <a:fillRect l="-600000" t="-7500" r="-112195" b="-725000"/>
                          </a:stretch>
                        </a:blipFill>
                      </a:tcP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blipFill>
                          <a:blip r:embed="rId4"/>
                          <a:stretch>
                            <a:fillRect l="-717500" t="-7500" r="-15000" b="-725000"/>
                          </a:stretch>
                        </a:blipFill>
                      </a:tcPr>
                    </a:tc>
                    <a:extLst>
                      <a:ext uri="{0D108BD9-81ED-4DB2-BD59-A6C34878D82A}">
                        <a16:rowId xmlns:a16="http://schemas.microsoft.com/office/drawing/2014/main" val="10000"/>
                      </a:ext>
                    </a:extLst>
                  </a:tr>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blipFill>
                          <a:blip r:embed="rId4"/>
                          <a:stretch>
                            <a:fillRect l="-7317" t="-104878" r="-704878" b="-607317"/>
                          </a:stretch>
                        </a:blipFill>
                      </a:tcPr>
                    </a:tc>
                    <a:tc>
                      <a:txBody>
                        <a:bodyPr/>
                        <a:lstStyle/>
                        <a:p>
                          <a:endParaRPr lang="en-US"/>
                        </a:p>
                      </a:txBody>
                      <a:tcPr marL="86601" marR="86601" marT="43301" marB="43301" anchor="ctr">
                        <a:blipFill>
                          <a:blip r:embed="rId4"/>
                          <a:stretch>
                            <a:fillRect l="-110000" t="-104878" r="-622500" b="-607317"/>
                          </a:stretch>
                        </a:blipFill>
                      </a:tcPr>
                    </a:tc>
                    <a:tc>
                      <a:txBody>
                        <a:bodyPr/>
                        <a:lstStyle/>
                        <a:p>
                          <a:endParaRPr lang="en-US"/>
                        </a:p>
                      </a:txBody>
                      <a:tcPr marL="86601" marR="86601" marT="43301" marB="43301" anchor="ctr">
                        <a:blipFill>
                          <a:blip r:embed="rId4"/>
                          <a:stretch>
                            <a:fillRect l="-204878" t="-104878" r="-507317" b="-607317"/>
                          </a:stretch>
                        </a:blipFill>
                      </a:tcPr>
                    </a:tc>
                    <a:tc>
                      <a:txBody>
                        <a:bodyPr/>
                        <a:lstStyle/>
                        <a:p>
                          <a:endParaRPr lang="en-US"/>
                        </a:p>
                      </a:txBody>
                      <a:tcPr marL="86601" marR="86601" marT="43301" marB="43301" anchor="ctr">
                        <a:blipFill>
                          <a:blip r:embed="rId4"/>
                          <a:stretch>
                            <a:fillRect l="-312500" t="-104878" r="-420000" b="-607317"/>
                          </a:stretch>
                        </a:blipFill>
                      </a:tcPr>
                    </a:tc>
                    <a:tc>
                      <a:txBody>
                        <a:bodyPr/>
                        <a:lstStyle/>
                        <a:p>
                          <a:endParaRPr lang="en-US"/>
                        </a:p>
                      </a:txBody>
                      <a:tcPr marL="86601" marR="86601" marT="43301" marB="43301" anchor="ctr">
                        <a:blipFill>
                          <a:blip r:embed="rId4"/>
                          <a:stretch>
                            <a:fillRect l="-402439" t="-104878" r="-309756" b="-607317"/>
                          </a:stretch>
                        </a:blipFill>
                      </a:tcPr>
                    </a:tc>
                    <a:tc>
                      <a:txBody>
                        <a:bodyPr/>
                        <a:lstStyle/>
                        <a:p>
                          <a:endParaRPr lang="en-US"/>
                        </a:p>
                      </a:txBody>
                      <a:tcPr marL="86601" marR="86601" marT="43301" marB="43301" anchor="ctr">
                        <a:blipFill>
                          <a:blip r:embed="rId4"/>
                          <a:stretch>
                            <a:fillRect l="-515000" t="-104878" r="-217500" b="-607317"/>
                          </a:stretch>
                        </a:blipFill>
                      </a:tcPr>
                    </a:tc>
                    <a:tc>
                      <a:txBody>
                        <a:bodyPr/>
                        <a:lstStyle/>
                        <a:p>
                          <a:endParaRPr lang="en-US"/>
                        </a:p>
                      </a:txBody>
                      <a:tcPr marL="86601" marR="86601" marT="43301" marB="43301" anchor="ctr">
                        <a:blipFill>
                          <a:blip r:embed="rId4"/>
                          <a:stretch>
                            <a:fillRect l="-600000" t="-104878" r="-112195" b="-607317"/>
                          </a:stretch>
                        </a:blipFill>
                      </a:tcP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blipFill>
                          <a:blip r:embed="rId4"/>
                          <a:stretch>
                            <a:fillRect l="-717500" t="-104878" r="-15000" b="-607317"/>
                          </a:stretch>
                        </a:blipFill>
                      </a:tcPr>
                    </a:tc>
                    <a:extLst>
                      <a:ext uri="{0D108BD9-81ED-4DB2-BD59-A6C34878D82A}">
                        <a16:rowId xmlns:a16="http://schemas.microsoft.com/office/drawing/2014/main" val="10001"/>
                      </a:ext>
                    </a:extLst>
                  </a:tr>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blipFill>
                          <a:blip r:embed="rId4"/>
                          <a:stretch>
                            <a:fillRect l="-7317" t="-210000" r="-704878" b="-522500"/>
                          </a:stretch>
                        </a:blipFill>
                      </a:tcPr>
                    </a:tc>
                    <a:tc>
                      <a:txBody>
                        <a:bodyPr/>
                        <a:lstStyle/>
                        <a:p>
                          <a:endParaRPr lang="en-US"/>
                        </a:p>
                      </a:txBody>
                      <a:tcPr marL="86601" marR="86601" marT="43301" marB="43301" anchor="ctr">
                        <a:blipFill>
                          <a:blip r:embed="rId4"/>
                          <a:stretch>
                            <a:fillRect l="-110000" t="-210000" r="-622500" b="-522500"/>
                          </a:stretch>
                        </a:blipFill>
                      </a:tcPr>
                    </a:tc>
                    <a:tc>
                      <a:txBody>
                        <a:bodyPr/>
                        <a:lstStyle/>
                        <a:p>
                          <a:endParaRPr lang="en-US"/>
                        </a:p>
                      </a:txBody>
                      <a:tcPr marL="86601" marR="86601" marT="43301" marB="43301" anchor="ctr">
                        <a:blipFill>
                          <a:blip r:embed="rId4"/>
                          <a:stretch>
                            <a:fillRect l="-204878" t="-210000" r="-507317" b="-522500"/>
                          </a:stretch>
                        </a:blipFill>
                      </a:tcPr>
                    </a:tc>
                    <a:tc>
                      <a:txBody>
                        <a:bodyPr/>
                        <a:lstStyle/>
                        <a:p>
                          <a:endParaRPr lang="en-US"/>
                        </a:p>
                      </a:txBody>
                      <a:tcPr marL="86601" marR="86601" marT="43301" marB="43301" anchor="ctr">
                        <a:blipFill>
                          <a:blip r:embed="rId4"/>
                          <a:stretch>
                            <a:fillRect l="-312500" t="-210000" r="-420000" b="-522500"/>
                          </a:stretch>
                        </a:blipFill>
                      </a:tcPr>
                    </a:tc>
                    <a:tc>
                      <a:txBody>
                        <a:bodyPr/>
                        <a:lstStyle/>
                        <a:p>
                          <a:endParaRPr lang="en-US"/>
                        </a:p>
                      </a:txBody>
                      <a:tcPr marL="86601" marR="86601" marT="43301" marB="43301" anchor="ctr">
                        <a:blipFill>
                          <a:blip r:embed="rId4"/>
                          <a:stretch>
                            <a:fillRect l="-402439" t="-210000" r="-309756" b="-522500"/>
                          </a:stretch>
                        </a:blipFill>
                      </a:tcPr>
                    </a:tc>
                    <a:tc>
                      <a:txBody>
                        <a:bodyPr/>
                        <a:lstStyle/>
                        <a:p>
                          <a:endParaRPr lang="en-US"/>
                        </a:p>
                      </a:txBody>
                      <a:tcPr marL="86601" marR="86601" marT="43301" marB="43301" anchor="ctr">
                        <a:blipFill>
                          <a:blip r:embed="rId4"/>
                          <a:stretch>
                            <a:fillRect l="-515000" t="-210000" r="-217500" b="-522500"/>
                          </a:stretch>
                        </a:blipFill>
                      </a:tcPr>
                    </a:tc>
                    <a:tc>
                      <a:txBody>
                        <a:bodyPr/>
                        <a:lstStyle/>
                        <a:p>
                          <a:endParaRPr lang="en-US"/>
                        </a:p>
                      </a:txBody>
                      <a:tcPr marL="86601" marR="86601" marT="43301" marB="43301" anchor="ctr">
                        <a:blipFill>
                          <a:blip r:embed="rId4"/>
                          <a:stretch>
                            <a:fillRect l="-600000" t="-210000" r="-112195" b="-522500"/>
                          </a:stretch>
                        </a:blipFill>
                      </a:tcP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blipFill>
                          <a:blip r:embed="rId4"/>
                          <a:stretch>
                            <a:fillRect l="-717500" t="-210000" r="-15000" b="-522500"/>
                          </a:stretch>
                        </a:blipFill>
                      </a:tcPr>
                    </a:tc>
                    <a:extLst>
                      <a:ext uri="{0D108BD9-81ED-4DB2-BD59-A6C34878D82A}">
                        <a16:rowId xmlns:a16="http://schemas.microsoft.com/office/drawing/2014/main" val="10002"/>
                      </a:ext>
                    </a:extLst>
                  </a:tr>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blipFill>
                          <a:blip r:embed="rId4"/>
                          <a:stretch>
                            <a:fillRect l="-7317" t="-302439" r="-704878" b="-409756"/>
                          </a:stretch>
                        </a:blipFill>
                      </a:tcPr>
                    </a:tc>
                    <a:tc>
                      <a:txBody>
                        <a:bodyPr/>
                        <a:lstStyle/>
                        <a:p>
                          <a:endParaRPr lang="en-US"/>
                        </a:p>
                      </a:txBody>
                      <a:tcPr marL="86601" marR="86601" marT="43301" marB="43301" anchor="ctr">
                        <a:blipFill>
                          <a:blip r:embed="rId4"/>
                          <a:stretch>
                            <a:fillRect l="-110000" t="-302439" r="-622500" b="-409756"/>
                          </a:stretch>
                        </a:blipFill>
                      </a:tcPr>
                    </a:tc>
                    <a:tc>
                      <a:txBody>
                        <a:bodyPr/>
                        <a:lstStyle/>
                        <a:p>
                          <a:endParaRPr lang="en-US"/>
                        </a:p>
                      </a:txBody>
                      <a:tcPr marL="86601" marR="86601" marT="43301" marB="43301" anchor="ctr">
                        <a:blipFill>
                          <a:blip r:embed="rId4"/>
                          <a:stretch>
                            <a:fillRect l="-204878" t="-302439" r="-507317" b="-409756"/>
                          </a:stretch>
                        </a:blipFill>
                      </a:tcPr>
                    </a:tc>
                    <a:tc>
                      <a:txBody>
                        <a:bodyPr/>
                        <a:lstStyle/>
                        <a:p>
                          <a:pPr algn="ctr"/>
                          <a:endParaRPr lang="en-US" sz="1700" dirty="0"/>
                        </a:p>
                      </a:txBody>
                      <a:tcPr marL="86601" marR="86601" marT="43301" marB="43301" anchor="ctr"/>
                    </a:tc>
                    <a:tc>
                      <a:txBody>
                        <a:bodyPr/>
                        <a:lstStyle/>
                        <a:p>
                          <a:endParaRPr lang="en-US"/>
                        </a:p>
                      </a:txBody>
                      <a:tcPr marL="86601" marR="86601" marT="43301" marB="43301" anchor="ctr">
                        <a:blipFill>
                          <a:blip r:embed="rId4"/>
                          <a:stretch>
                            <a:fillRect l="-402439" t="-302439" r="-309756" b="-409756"/>
                          </a:stretch>
                        </a:blipFill>
                      </a:tcPr>
                    </a:tc>
                    <a:tc>
                      <a:txBody>
                        <a:bodyPr/>
                        <a:lstStyle/>
                        <a:p>
                          <a:endParaRPr lang="en-US"/>
                        </a:p>
                      </a:txBody>
                      <a:tcPr marL="86601" marR="86601" marT="43301" marB="43301" anchor="ctr">
                        <a:blipFill>
                          <a:blip r:embed="rId4"/>
                          <a:stretch>
                            <a:fillRect l="-515000" t="-302439" r="-217500" b="-409756"/>
                          </a:stretch>
                        </a:blipFill>
                      </a:tcPr>
                    </a:tc>
                    <a:tc>
                      <a:txBody>
                        <a:bodyPr/>
                        <a:lstStyle/>
                        <a:p>
                          <a:endParaRPr lang="en-US"/>
                        </a:p>
                      </a:txBody>
                      <a:tcPr marL="86601" marR="86601" marT="43301" marB="43301" anchor="ctr">
                        <a:blipFill>
                          <a:blip r:embed="rId4"/>
                          <a:stretch>
                            <a:fillRect l="-600000" t="-302439" r="-112195" b="-409756"/>
                          </a:stretch>
                        </a:blipFill>
                      </a:tcP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blipFill>
                          <a:blip r:embed="rId4"/>
                          <a:stretch>
                            <a:fillRect l="-717500" t="-302439" r="-15000" b="-409756"/>
                          </a:stretch>
                        </a:blipFill>
                      </a:tcPr>
                    </a:tc>
                    <a:extLst>
                      <a:ext uri="{0D108BD9-81ED-4DB2-BD59-A6C34878D82A}">
                        <a16:rowId xmlns:a16="http://schemas.microsoft.com/office/drawing/2014/main" val="10003"/>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endParaRPr lang="en-US"/>
                        </a:p>
                      </a:txBody>
                      <a:tcPr marL="86601" marR="86601" marT="43301" marB="43301" anchor="ctr">
                        <a:blipFill>
                          <a:blip r:embed="rId4"/>
                          <a:stretch>
                            <a:fillRect l="-110000" t="-412500" r="-622500" b="-320000"/>
                          </a:stretch>
                        </a:blipFill>
                      </a:tcPr>
                    </a:tc>
                    <a:tc>
                      <a:txBody>
                        <a:bodyPr/>
                        <a:lstStyle/>
                        <a:p>
                          <a:endParaRPr lang="en-US"/>
                        </a:p>
                      </a:txBody>
                      <a:tcPr marL="86601" marR="86601" marT="43301" marB="43301" anchor="ctr">
                        <a:blipFill>
                          <a:blip r:embed="rId4"/>
                          <a:stretch>
                            <a:fillRect l="-204878" t="-412500" r="-507317" b="-320000"/>
                          </a:stretch>
                        </a:blipFill>
                      </a:tcPr>
                    </a:tc>
                    <a:tc>
                      <a:txBody>
                        <a:bodyPr/>
                        <a:lstStyle/>
                        <a:p>
                          <a:endParaRPr lang="en-US"/>
                        </a:p>
                      </a:txBody>
                      <a:tcPr marL="86601" marR="86601" marT="43301" marB="43301" anchor="ctr">
                        <a:blipFill>
                          <a:blip r:embed="rId4"/>
                          <a:stretch>
                            <a:fillRect l="-312500" t="-412500" r="-420000" b="-320000"/>
                          </a:stretch>
                        </a:blipFill>
                      </a:tcPr>
                    </a:tc>
                    <a:tc>
                      <a:txBody>
                        <a:bodyPr/>
                        <a:lstStyle/>
                        <a:p>
                          <a:pPr algn="ctr"/>
                          <a:endParaRPr lang="en-US" sz="1700" dirty="0"/>
                        </a:p>
                      </a:txBody>
                      <a:tcPr marL="86601" marR="86601" marT="43301" marB="43301" anchor="ctr"/>
                    </a:tc>
                    <a:tc>
                      <a:txBody>
                        <a:bodyPr/>
                        <a:lstStyle/>
                        <a:p>
                          <a:endParaRPr lang="en-US"/>
                        </a:p>
                      </a:txBody>
                      <a:tcPr marL="86601" marR="86601" marT="43301" marB="43301" anchor="ctr">
                        <a:blipFill>
                          <a:blip r:embed="rId4"/>
                          <a:stretch>
                            <a:fillRect l="-515000" t="-412500" r="-217500" b="-320000"/>
                          </a:stretch>
                        </a:blipFill>
                      </a:tcPr>
                    </a:tc>
                    <a:tc>
                      <a:txBody>
                        <a:bodyPr/>
                        <a:lstStyle/>
                        <a:p>
                          <a:endParaRPr lang="en-US"/>
                        </a:p>
                      </a:txBody>
                      <a:tcPr marL="86601" marR="86601" marT="43301" marB="43301" anchor="ctr">
                        <a:blipFill>
                          <a:blip r:embed="rId4"/>
                          <a:stretch>
                            <a:fillRect l="-600000" t="-412500" r="-112195" b="-320000"/>
                          </a:stretch>
                        </a:blipFill>
                      </a:tcP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blipFill>
                          <a:blip r:embed="rId4"/>
                          <a:stretch>
                            <a:fillRect l="-717500" t="-412500" r="-15000" b="-320000"/>
                          </a:stretch>
                        </a:blipFill>
                      </a:tcPr>
                    </a:tc>
                    <a:extLst>
                      <a:ext uri="{0D108BD9-81ED-4DB2-BD59-A6C34878D82A}">
                        <a16:rowId xmlns:a16="http://schemas.microsoft.com/office/drawing/2014/main" val="10004"/>
                      </a:ext>
                    </a:extLst>
                  </a:tr>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blipFill>
                          <a:blip r:embed="rId4"/>
                          <a:stretch>
                            <a:fillRect l="-7317" t="-512500" r="-704878" b="-220000"/>
                          </a:stretch>
                        </a:blipFill>
                      </a:tcPr>
                    </a:tc>
                    <a:tc>
                      <a:txBody>
                        <a:bodyPr/>
                        <a:lstStyle/>
                        <a:p>
                          <a:pPr algn="ctr"/>
                          <a:endParaRPr lang="en-US" sz="1700" dirty="0"/>
                        </a:p>
                      </a:txBody>
                      <a:tcPr marL="86601" marR="86601" marT="43301" marB="43301" anchor="ctr"/>
                    </a:tc>
                    <a:tc>
                      <a:txBody>
                        <a:bodyPr/>
                        <a:lstStyle/>
                        <a:p>
                          <a:endParaRPr lang="en-US"/>
                        </a:p>
                      </a:txBody>
                      <a:tcPr marL="86601" marR="86601" marT="43301" marB="43301" anchor="ctr">
                        <a:blipFill>
                          <a:blip r:embed="rId4"/>
                          <a:stretch>
                            <a:fillRect l="-204878" t="-512500" r="-507317" b="-220000"/>
                          </a:stretch>
                        </a:blipFill>
                      </a:tcPr>
                    </a:tc>
                    <a:tc>
                      <a:txBody>
                        <a:bodyPr/>
                        <a:lstStyle/>
                        <a:p>
                          <a:endParaRPr lang="en-US"/>
                        </a:p>
                      </a:txBody>
                      <a:tcPr marL="86601" marR="86601" marT="43301" marB="43301" anchor="ctr">
                        <a:blipFill>
                          <a:blip r:embed="rId4"/>
                          <a:stretch>
                            <a:fillRect l="-312500" t="-512500" r="-420000" b="-220000"/>
                          </a:stretch>
                        </a:blipFill>
                      </a:tcPr>
                    </a:tc>
                    <a:tc>
                      <a:txBody>
                        <a:bodyPr/>
                        <a:lstStyle/>
                        <a:p>
                          <a:endParaRPr lang="en-US"/>
                        </a:p>
                      </a:txBody>
                      <a:tcPr marL="86601" marR="86601" marT="43301" marB="43301" anchor="ctr">
                        <a:blipFill>
                          <a:blip r:embed="rId4"/>
                          <a:stretch>
                            <a:fillRect l="-402439" t="-512500" r="-309756" b="-220000"/>
                          </a:stretch>
                        </a:blipFill>
                      </a:tcPr>
                    </a:tc>
                    <a:tc>
                      <a:txBody>
                        <a:bodyPr/>
                        <a:lstStyle/>
                        <a:p>
                          <a:pPr algn="ctr"/>
                          <a:endParaRPr lang="en-US" sz="1700" dirty="0"/>
                        </a:p>
                      </a:txBody>
                      <a:tcPr marL="86601" marR="86601" marT="43301" marB="43301" anchor="ctr"/>
                    </a:tc>
                    <a:tc>
                      <a:txBody>
                        <a:bodyPr/>
                        <a:lstStyle/>
                        <a:p>
                          <a:endParaRPr lang="en-US"/>
                        </a:p>
                      </a:txBody>
                      <a:tcPr marL="86601" marR="86601" marT="43301" marB="43301" anchor="ctr">
                        <a:blipFill>
                          <a:blip r:embed="rId4"/>
                          <a:stretch>
                            <a:fillRect l="-600000" t="-512500" r="-112195" b="-220000"/>
                          </a:stretch>
                        </a:blipFill>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blipFill>
                          <a:blip r:embed="rId4"/>
                          <a:stretch>
                            <a:fillRect l="-7317" t="-597561" r="-704878" b="-114634"/>
                          </a:stretch>
                        </a:blipFill>
                      </a:tcPr>
                    </a:tc>
                    <a:tc>
                      <a:txBody>
                        <a:bodyPr/>
                        <a:lstStyle/>
                        <a:p>
                          <a:endParaRPr lang="en-US"/>
                        </a:p>
                      </a:txBody>
                      <a:tcPr marL="86601" marR="86601" marT="43301" marB="43301" anchor="ctr">
                        <a:blipFill>
                          <a:blip r:embed="rId4"/>
                          <a:stretch>
                            <a:fillRect l="-110000" t="-597561" r="-622500" b="-114634"/>
                          </a:stretch>
                        </a:blipFill>
                      </a:tcPr>
                    </a:tc>
                    <a:tc>
                      <a:txBody>
                        <a:bodyPr/>
                        <a:lstStyle/>
                        <a:p>
                          <a:pPr algn="ctr"/>
                          <a:endParaRPr lang="en-US" sz="1700" dirty="0"/>
                        </a:p>
                      </a:txBody>
                      <a:tcPr marL="86601" marR="86601" marT="43301" marB="43301" anchor="ctr"/>
                    </a:tc>
                    <a:tc>
                      <a:txBody>
                        <a:bodyPr/>
                        <a:lstStyle/>
                        <a:p>
                          <a:endParaRPr lang="en-US"/>
                        </a:p>
                      </a:txBody>
                      <a:tcPr marL="86601" marR="86601" marT="43301" marB="43301" anchor="ctr">
                        <a:blipFill>
                          <a:blip r:embed="rId4"/>
                          <a:stretch>
                            <a:fillRect l="-312500" t="-597561" r="-420000" b="-114634"/>
                          </a:stretch>
                        </a:blipFill>
                      </a:tcPr>
                    </a:tc>
                    <a:tc>
                      <a:txBody>
                        <a:bodyPr/>
                        <a:lstStyle/>
                        <a:p>
                          <a:endParaRPr lang="en-US"/>
                        </a:p>
                      </a:txBody>
                      <a:tcPr marL="86601" marR="86601" marT="43301" marB="43301" anchor="ctr">
                        <a:blipFill>
                          <a:blip r:embed="rId4"/>
                          <a:stretch>
                            <a:fillRect l="-402439" t="-597561" r="-309756" b="-114634"/>
                          </a:stretch>
                        </a:blipFill>
                      </a:tcPr>
                    </a:tc>
                    <a:tc>
                      <a:txBody>
                        <a:bodyPr/>
                        <a:lstStyle/>
                        <a:p>
                          <a:endParaRPr lang="en-US"/>
                        </a:p>
                      </a:txBody>
                      <a:tcPr marL="86601" marR="86601" marT="43301" marB="43301" anchor="ctr">
                        <a:blipFill>
                          <a:blip r:embed="rId4"/>
                          <a:stretch>
                            <a:fillRect l="-515000" t="-597561" r="-217500" b="-114634"/>
                          </a:stretch>
                        </a:blipFill>
                      </a:tcPr>
                    </a:tc>
                    <a:tc>
                      <a:txBody>
                        <a:bodyPr/>
                        <a:lstStyle/>
                        <a:p>
                          <a:pPr algn="ctr"/>
                          <a:endParaRPr lang="en-US" sz="1700" dirty="0"/>
                        </a:p>
                      </a:txBody>
                      <a:tcPr marL="86601" marR="86601" marT="43301" marB="43301" anchor="ct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blipFill>
                          <a:blip r:embed="rId4"/>
                          <a:stretch>
                            <a:fillRect l="-717500" t="-597561" r="-15000" b="-114634"/>
                          </a:stretch>
                        </a:blipFill>
                      </a:tcPr>
                    </a:tc>
                    <a:extLst>
                      <a:ext uri="{0D108BD9-81ED-4DB2-BD59-A6C34878D82A}">
                        <a16:rowId xmlns:a16="http://schemas.microsoft.com/office/drawing/2014/main" val="10006"/>
                      </a:ext>
                    </a:extLst>
                  </a:tr>
                  <a:tr h="511425">
                    <a:tc>
                      <a:txBody>
                        <a:bodyPr/>
                        <a:lstStyle/>
                        <a:p>
                          <a:endParaRPr lang="en-US"/>
                        </a:p>
                      </a:txBody>
                      <a:tcPr marL="86601" marR="86601" marT="43301" marB="43301" anchor="ctr">
                        <a:lnL w="76200" cap="flat" cmpd="sng" algn="ctr">
                          <a:solidFill>
                            <a:schemeClr val="tx1"/>
                          </a:solidFill>
                          <a:prstDash val="solid"/>
                          <a:round/>
                          <a:headEnd type="none" w="med" len="med"/>
                          <a:tailEnd type="none" w="med" len="med"/>
                        </a:lnL>
                        <a:lnB w="76200" cap="flat" cmpd="sng" algn="ctr">
                          <a:solidFill>
                            <a:schemeClr val="tx1"/>
                          </a:solidFill>
                          <a:prstDash val="solid"/>
                          <a:round/>
                          <a:headEnd type="none" w="med" len="med"/>
                          <a:tailEnd type="none" w="med" len="med"/>
                        </a:lnB>
                        <a:blipFill>
                          <a:blip r:embed="rId4"/>
                          <a:stretch>
                            <a:fillRect l="-7317" t="-715000" r="-704878" b="-17500"/>
                          </a:stretch>
                        </a:blipFill>
                      </a:tcPr>
                    </a:tc>
                    <a:tc>
                      <a:txBody>
                        <a:bodyPr/>
                        <a:lstStyle/>
                        <a:p>
                          <a:endParaRPr lang="en-US"/>
                        </a:p>
                      </a:txBody>
                      <a:tcPr marL="86601" marR="86601" marT="43301" marB="43301" anchor="ctr">
                        <a:lnB w="76200" cap="flat" cmpd="sng" algn="ctr">
                          <a:solidFill>
                            <a:schemeClr val="tx1"/>
                          </a:solidFill>
                          <a:prstDash val="solid"/>
                          <a:round/>
                          <a:headEnd type="none" w="med" len="med"/>
                          <a:tailEnd type="none" w="med" len="med"/>
                        </a:lnB>
                        <a:blipFill>
                          <a:blip r:embed="rId4"/>
                          <a:stretch>
                            <a:fillRect l="-110000" t="-715000" r="-622500" b="-17500"/>
                          </a:stretch>
                        </a:blipFill>
                      </a:tcPr>
                    </a:tc>
                    <a:tc>
                      <a:txBody>
                        <a:bodyPr/>
                        <a:lstStyle/>
                        <a:p>
                          <a:endParaRPr lang="en-US"/>
                        </a:p>
                      </a:txBody>
                      <a:tcPr marL="86601" marR="86601" marT="43301" marB="43301" anchor="ctr">
                        <a:lnB w="76200" cap="flat" cmpd="sng" algn="ctr">
                          <a:solidFill>
                            <a:schemeClr val="tx1"/>
                          </a:solidFill>
                          <a:prstDash val="solid"/>
                          <a:round/>
                          <a:headEnd type="none" w="med" len="med"/>
                          <a:tailEnd type="none" w="med" len="med"/>
                        </a:lnB>
                        <a:blipFill>
                          <a:blip r:embed="rId4"/>
                          <a:stretch>
                            <a:fillRect l="-204878" t="-715000" r="-507317" b="-17500"/>
                          </a:stretch>
                        </a:blipFill>
                      </a:tcPr>
                    </a:tc>
                    <a:tc>
                      <a:txBody>
                        <a:bodyPr/>
                        <a:lstStyle/>
                        <a:p>
                          <a:endParaRPr lang="en-US"/>
                        </a:p>
                      </a:txBody>
                      <a:tcPr marL="86601" marR="86601" marT="43301" marB="43301" anchor="ctr">
                        <a:lnB w="76200" cap="flat" cmpd="sng" algn="ctr">
                          <a:solidFill>
                            <a:schemeClr val="tx1"/>
                          </a:solidFill>
                          <a:prstDash val="solid"/>
                          <a:round/>
                          <a:headEnd type="none" w="med" len="med"/>
                          <a:tailEnd type="none" w="med" len="med"/>
                        </a:lnB>
                        <a:blipFill>
                          <a:blip r:embed="rId4"/>
                          <a:stretch>
                            <a:fillRect l="-312500" t="-715000" r="-420000" b="-17500"/>
                          </a:stretch>
                        </a:blipFill>
                      </a:tcPr>
                    </a:tc>
                    <a:tc>
                      <a:txBody>
                        <a:bodyPr/>
                        <a:lstStyle/>
                        <a:p>
                          <a:endParaRPr lang="en-US"/>
                        </a:p>
                      </a:txBody>
                      <a:tcPr marL="86601" marR="86601" marT="43301" marB="43301" anchor="ctr">
                        <a:lnB w="76200" cap="flat" cmpd="sng" algn="ctr">
                          <a:solidFill>
                            <a:schemeClr val="tx1"/>
                          </a:solidFill>
                          <a:prstDash val="solid"/>
                          <a:round/>
                          <a:headEnd type="none" w="med" len="med"/>
                          <a:tailEnd type="none" w="med" len="med"/>
                        </a:lnB>
                        <a:blipFill>
                          <a:blip r:embed="rId4"/>
                          <a:stretch>
                            <a:fillRect l="-402439" t="-715000" r="-309756" b="-17500"/>
                          </a:stretch>
                        </a:blipFill>
                      </a:tcPr>
                    </a:tc>
                    <a:tc>
                      <a:txBody>
                        <a:bodyPr/>
                        <a:lstStyle/>
                        <a:p>
                          <a:endParaRPr lang="en-US"/>
                        </a:p>
                      </a:txBody>
                      <a:tcPr marL="86601" marR="86601" marT="43301" marB="43301" anchor="ctr">
                        <a:lnB w="76200" cap="flat" cmpd="sng" algn="ctr">
                          <a:solidFill>
                            <a:schemeClr val="tx1"/>
                          </a:solidFill>
                          <a:prstDash val="solid"/>
                          <a:round/>
                          <a:headEnd type="none" w="med" len="med"/>
                          <a:tailEnd type="none" w="med" len="med"/>
                        </a:lnB>
                        <a:blipFill>
                          <a:blip r:embed="rId4"/>
                          <a:stretch>
                            <a:fillRect l="-515000" t="-715000" r="-217500" b="-17500"/>
                          </a:stretch>
                        </a:blipFill>
                      </a:tcPr>
                    </a:tc>
                    <a:tc>
                      <a:txBody>
                        <a:bodyPr/>
                        <a:lstStyle/>
                        <a:p>
                          <a:endParaRPr lang="en-US"/>
                        </a:p>
                      </a:txBody>
                      <a:tcPr marL="86601" marR="86601" marT="43301" marB="43301" anchor="ctr">
                        <a:lnB w="76200" cap="flat" cmpd="sng" algn="ctr">
                          <a:solidFill>
                            <a:schemeClr val="tx1"/>
                          </a:solidFill>
                          <a:prstDash val="solid"/>
                          <a:round/>
                          <a:headEnd type="none" w="med" len="med"/>
                          <a:tailEnd type="none" w="med" len="med"/>
                        </a:lnB>
                        <a:blipFill>
                          <a:blip r:embed="rId4"/>
                          <a:stretch>
                            <a:fillRect l="-600000" t="-715000" r="-112195" b="-17500"/>
                          </a:stretch>
                        </a:blipFill>
                      </a:tcPr>
                    </a:tc>
                    <a:tc>
                      <a:txBody>
                        <a:bodyPr/>
                        <a:lstStyle/>
                        <a:p>
                          <a:endParaRPr lang="en-US"/>
                        </a:p>
                      </a:txBody>
                      <a:tcPr marL="86601" marR="86601" marT="43301" marB="43301" anchor="ctr">
                        <a:lnR w="76200" cap="flat" cmpd="sng" algn="ctr">
                          <a:solidFill>
                            <a:schemeClr val="tx1"/>
                          </a:solidFill>
                          <a:prstDash val="solid"/>
                          <a:round/>
                          <a:headEnd type="none" w="med" len="med"/>
                          <a:tailEnd type="none" w="med" len="med"/>
                        </a:lnR>
                        <a:lnB w="76200" cap="flat" cmpd="sng" algn="ctr">
                          <a:solidFill>
                            <a:schemeClr val="tx1"/>
                          </a:solidFill>
                          <a:prstDash val="solid"/>
                          <a:round/>
                          <a:headEnd type="none" w="med" len="med"/>
                          <a:tailEnd type="none" w="med" len="med"/>
                        </a:lnB>
                        <a:blipFill>
                          <a:blip r:embed="rId4"/>
                          <a:stretch>
                            <a:fillRect l="-717500" t="-715000" r="-15000" b="-17500"/>
                          </a:stretch>
                        </a:blipFill>
                      </a:tcPr>
                    </a:tc>
                    <a:extLst>
                      <a:ext uri="{0D108BD9-81ED-4DB2-BD59-A6C34878D82A}">
                        <a16:rowId xmlns:a16="http://schemas.microsoft.com/office/drawing/2014/main" val="10007"/>
                      </a:ext>
                    </a:extLst>
                  </a:tr>
                </a:tbl>
              </a:graphicData>
            </a:graphic>
          </p:graphicFrame>
        </mc:Fallback>
      </mc:AlternateContent>
      <p:sp>
        <p:nvSpPr>
          <p:cNvPr id="22" name="Freeform 21"/>
          <p:cNvSpPr/>
          <p:nvPr/>
        </p:nvSpPr>
        <p:spPr>
          <a:xfrm>
            <a:off x="2285896" y="2501558"/>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p:nvSpPr>
        <p:spPr>
          <a:xfrm>
            <a:off x="2787052" y="3008242"/>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3288208" y="3514927"/>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3835514" y="4037258"/>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4311378" y="3517886"/>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761230" y="3005562"/>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p:cNvSpPr/>
          <p:nvPr/>
        </p:nvSpPr>
        <p:spPr>
          <a:xfrm>
            <a:off x="1262386" y="3512246"/>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763542" y="4018931"/>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162995" y="937800"/>
            <a:ext cx="600547" cy="5100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p:cNvSpPr/>
          <p:nvPr/>
        </p:nvSpPr>
        <p:spPr>
          <a:xfrm>
            <a:off x="3201391" y="944427"/>
            <a:ext cx="600547" cy="5100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p:cNvSpPr/>
          <p:nvPr/>
        </p:nvSpPr>
        <p:spPr>
          <a:xfrm>
            <a:off x="3718004" y="1458157"/>
            <a:ext cx="600547" cy="5100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32"/>
          <p:cNvSpPr/>
          <p:nvPr/>
        </p:nvSpPr>
        <p:spPr>
          <a:xfrm>
            <a:off x="1162995" y="1968367"/>
            <a:ext cx="600547" cy="5100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p:cNvSpPr/>
          <p:nvPr/>
        </p:nvSpPr>
        <p:spPr>
          <a:xfrm>
            <a:off x="2687661" y="4517437"/>
            <a:ext cx="600547" cy="5100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340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1" grpId="0" animBg="1"/>
      <p:bldP spid="32" grpId="0" animBg="1"/>
      <p:bldP spid="33"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2667001" y="152402"/>
            <a:ext cx="7704667" cy="758297"/>
          </a:xfrm>
        </p:spPr>
        <p:txBody>
          <a:bodyPr/>
          <a:lstStyle/>
          <a:p>
            <a:r>
              <a:rPr lang="en-US" altLang="zh-CN" dirty="0">
                <a:ea typeface="SimSun" pitchFamily="2" charset="-122"/>
                <a:cs typeface="SimSun" pitchFamily="2" charset="-122"/>
              </a:rPr>
              <a:t>Hill-Climbing Search</a:t>
            </a:r>
          </a:p>
        </p:txBody>
      </p:sp>
      <p:sp>
        <p:nvSpPr>
          <p:cNvPr id="297987" name="Rectangle 3"/>
          <p:cNvSpPr>
            <a:spLocks noGrp="1" noChangeArrowheads="1"/>
          </p:cNvSpPr>
          <p:nvPr>
            <p:ph idx="1"/>
          </p:nvPr>
        </p:nvSpPr>
        <p:spPr>
          <a:xfrm>
            <a:off x="553792" y="1198933"/>
            <a:ext cx="9964517" cy="5257800"/>
          </a:xfrm>
        </p:spPr>
        <p:txBody>
          <a:bodyPr>
            <a:normAutofit lnSpcReduction="10000"/>
          </a:bodyPr>
          <a:lstStyle/>
          <a:p>
            <a:r>
              <a:rPr lang="en-US" altLang="zh-CN" sz="3200" dirty="0">
                <a:latin typeface="Corbel Regular" charset="0"/>
                <a:ea typeface="SimSun" pitchFamily="2" charset="-122"/>
                <a:cs typeface="Corbel Regular" charset="0"/>
              </a:rPr>
              <a:t>Problem: depending on initial state, can get stuck in local maxima</a:t>
            </a:r>
          </a:p>
          <a:p>
            <a:endParaRPr lang="en-US" altLang="zh-CN" sz="3200" dirty="0">
              <a:latin typeface="Corbel Regular" charset="0"/>
              <a:ea typeface="SimSun" pitchFamily="2" charset="-122"/>
              <a:cs typeface="Corbel Regular" charset="0"/>
            </a:endParaRPr>
          </a:p>
          <a:p>
            <a:endParaRPr lang="en-US" altLang="zh-CN" sz="3200" dirty="0">
              <a:latin typeface="Corbel Regular" charset="0"/>
              <a:ea typeface="SimSun" pitchFamily="2" charset="-122"/>
              <a:cs typeface="Corbel Regular" charset="0"/>
            </a:endParaRPr>
          </a:p>
          <a:p>
            <a:pPr>
              <a:buNone/>
            </a:pPr>
            <a:endParaRPr lang="en-US" altLang="zh-CN" sz="3200" dirty="0">
              <a:latin typeface="Corbel Regular" charset="0"/>
              <a:ea typeface="SimSun" pitchFamily="2" charset="-122"/>
              <a:cs typeface="Corbel Regular" charset="0"/>
            </a:endParaRPr>
          </a:p>
          <a:p>
            <a:pPr>
              <a:buNone/>
            </a:pPr>
            <a:endParaRPr lang="en-US" altLang="zh-CN" sz="3200" dirty="0">
              <a:latin typeface="Corbel Regular" charset="0"/>
              <a:ea typeface="SimSun" pitchFamily="2" charset="-122"/>
              <a:cs typeface="Corbel Regular" charset="0"/>
            </a:endParaRPr>
          </a:p>
          <a:p>
            <a:pPr>
              <a:buNone/>
            </a:pPr>
            <a:endParaRPr lang="en-US" altLang="zh-CN" sz="6000" dirty="0">
              <a:latin typeface="Corbel Regular" charset="0"/>
              <a:ea typeface="SimSun" pitchFamily="2" charset="-122"/>
              <a:cs typeface="Corbel Regular" charset="0"/>
            </a:endParaRPr>
          </a:p>
          <a:p>
            <a:r>
              <a:rPr lang="en-US" altLang="zh-CN" sz="3200" dirty="0">
                <a:latin typeface="Corbel Regular" charset="0"/>
                <a:ea typeface="SimSun" pitchFamily="2" charset="-122"/>
                <a:cs typeface="Corbel Regular" charset="0"/>
              </a:rPr>
              <a:t>Non-guaranteed fixes: sideway moves, random restarts</a:t>
            </a:r>
          </a:p>
          <a:p>
            <a:endParaRPr lang="zh-CN" altLang="en-US" sz="3200" dirty="0">
              <a:latin typeface="Corbel Regular" charset="0"/>
              <a:ea typeface="SimSun" pitchFamily="2" charset="-122"/>
              <a:cs typeface="Corbel Regular" charset="0"/>
            </a:endParaRPr>
          </a:p>
        </p:txBody>
      </p:sp>
      <p:pic>
        <p:nvPicPr>
          <p:cNvPr id="297988" name="Picture 4" descr="hill-climbing"/>
          <p:cNvPicPr>
            <a:picLocks noChangeAspect="1" noChangeArrowheads="1"/>
          </p:cNvPicPr>
          <p:nvPr/>
        </p:nvPicPr>
        <p:blipFill>
          <a:blip r:embed="rId3"/>
          <a:srcRect/>
          <a:stretch>
            <a:fillRect/>
          </a:stretch>
        </p:blipFill>
        <p:spPr bwMode="auto">
          <a:xfrm>
            <a:off x="3657601" y="2235916"/>
            <a:ext cx="4983127" cy="2819400"/>
          </a:xfrm>
          <a:prstGeom prst="rect">
            <a:avLst/>
          </a:prstGeom>
          <a:noFill/>
        </p:spPr>
      </p:pic>
    </p:spTree>
    <p:extLst>
      <p:ext uri="{BB962C8B-B14F-4D97-AF65-F5344CB8AC3E}">
        <p14:creationId xmlns:p14="http://schemas.microsoft.com/office/powerpoint/2010/main" val="1028055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2529325" y="129751"/>
            <a:ext cx="7704667" cy="860851"/>
          </a:xfrm>
        </p:spPr>
        <p:txBody>
          <a:bodyPr>
            <a:noAutofit/>
          </a:bodyPr>
          <a:lstStyle/>
          <a:p>
            <a:r>
              <a:rPr lang="en-US" altLang="zh-CN" dirty="0">
                <a:ea typeface="SimSun" pitchFamily="2" charset="-122"/>
                <a:cs typeface="SimSun" pitchFamily="2" charset="-122"/>
              </a:rPr>
              <a:t>Hill-Climbing Search: 8-Queens</a:t>
            </a:r>
          </a:p>
        </p:txBody>
      </p:sp>
      <mc:AlternateContent xmlns:mc="http://schemas.openxmlformats.org/markup-compatibility/2006" xmlns:a14="http://schemas.microsoft.com/office/drawing/2010/main">
        <mc:Choice Requires="a14">
          <p:sp>
            <p:nvSpPr>
              <p:cNvPr id="299011" name="Rectangle 3"/>
              <p:cNvSpPr>
                <a:spLocks noGrp="1" noChangeArrowheads="1"/>
              </p:cNvSpPr>
              <p:nvPr>
                <p:ph idx="1"/>
              </p:nvPr>
            </p:nvSpPr>
            <p:spPr>
              <a:xfrm>
                <a:off x="3124201" y="5395395"/>
                <a:ext cx="6837235" cy="685800"/>
              </a:xfrm>
            </p:spPr>
            <p:txBody>
              <a:bodyPr>
                <a:normAutofit/>
              </a:bodyPr>
              <a:lstStyle/>
              <a:p>
                <a:pPr marL="0" indent="0" algn="ctr">
                  <a:spcBef>
                    <a:spcPts val="1200"/>
                  </a:spcBef>
                  <a:buNone/>
                </a:pPr>
                <a:r>
                  <a:rPr lang="en-US" altLang="zh-CN" sz="2800" dirty="0">
                    <a:latin typeface="Corbel Regular" charset="0"/>
                    <a:ea typeface="SimSun" pitchFamily="2" charset="-122"/>
                    <a:cs typeface="Corbel Regular" charset="0"/>
                  </a:rPr>
                  <a:t>Local Minimum with </a:t>
                </a:r>
                <a14:m>
                  <m:oMath xmlns:m="http://schemas.openxmlformats.org/officeDocument/2006/math">
                    <m:r>
                      <a:rPr lang="en-US" altLang="zh-CN" sz="2800" i="1">
                        <a:latin typeface="Cambria Math" panose="02040503050406030204" pitchFamily="18" charset="0"/>
                        <a:ea typeface="SimSun" pitchFamily="2" charset="-122"/>
                        <a:cs typeface="Corbel Regular" charset="0"/>
                      </a:rPr>
                      <m:t>h</m:t>
                    </m:r>
                    <m:r>
                      <a:rPr lang="en-US" altLang="zh-CN" sz="2800" i="1">
                        <a:latin typeface="Cambria Math" panose="02040503050406030204" pitchFamily="18" charset="0"/>
                        <a:ea typeface="SimSun" pitchFamily="2" charset="-122"/>
                        <a:cs typeface="Corbel Regular" charset="0"/>
                      </a:rPr>
                      <m:t>=1</m:t>
                    </m:r>
                  </m:oMath>
                </a14:m>
                <a:endParaRPr lang="en-US" altLang="zh-CN" sz="2800" dirty="0">
                  <a:latin typeface="Corbel Regular" charset="0"/>
                  <a:ea typeface="SimSun" pitchFamily="2" charset="-122"/>
                  <a:cs typeface="Corbel Regular" charset="0"/>
                </a:endParaRPr>
              </a:p>
            </p:txBody>
          </p:sp>
        </mc:Choice>
        <mc:Fallback xmlns="">
          <p:sp>
            <p:nvSpPr>
              <p:cNvPr id="299011" name="Rectangle 3"/>
              <p:cNvSpPr>
                <a:spLocks noGrp="1" noRot="1" noChangeAspect="1" noMove="1" noResize="1" noEditPoints="1" noAdjustHandles="1" noChangeArrowheads="1" noChangeShapeType="1" noTextEdit="1"/>
              </p:cNvSpPr>
              <p:nvPr>
                <p:ph idx="1"/>
              </p:nvPr>
            </p:nvSpPr>
            <p:spPr>
              <a:xfrm>
                <a:off x="3124201" y="5395395"/>
                <a:ext cx="6837235" cy="685800"/>
              </a:xfrm>
              <a:blipFill>
                <a:blip r:embed="rId3"/>
                <a:stretch>
                  <a:fillRect t="-8929"/>
                </a:stretch>
              </a:blipFill>
            </p:spPr>
            <p:txBody>
              <a:bodyPr/>
              <a:lstStyle/>
              <a:p>
                <a:r>
                  <a:rPr lang="en-GB">
                    <a:noFill/>
                  </a:rPr>
                  <a:t> </a:t>
                </a:r>
              </a:p>
            </p:txBody>
          </p:sp>
        </mc:Fallback>
      </mc:AlternateContent>
      <p:graphicFrame>
        <p:nvGraphicFramePr>
          <p:cNvPr id="2" name="Table 1"/>
          <p:cNvGraphicFramePr>
            <a:graphicFrameLocks noGrp="1"/>
          </p:cNvGraphicFramePr>
          <p:nvPr/>
        </p:nvGraphicFramePr>
        <p:xfrm>
          <a:off x="4290600" y="1014000"/>
          <a:ext cx="4091400" cy="4091400"/>
        </p:xfrm>
        <a:graphic>
          <a:graphicData uri="http://schemas.openxmlformats.org/drawingml/2006/table">
            <a:tbl>
              <a:tblPr firstRow="1" bandRow="1">
                <a:tableStyleId>{5940675A-B579-460E-94D1-54222C63F5DA}</a:tableStyleId>
              </a:tblPr>
              <a:tblGrid>
                <a:gridCol w="511425">
                  <a:extLst>
                    <a:ext uri="{9D8B030D-6E8A-4147-A177-3AD203B41FA5}">
                      <a16:colId xmlns:a16="http://schemas.microsoft.com/office/drawing/2014/main" val="20000"/>
                    </a:ext>
                  </a:extLst>
                </a:gridCol>
                <a:gridCol w="511425">
                  <a:extLst>
                    <a:ext uri="{9D8B030D-6E8A-4147-A177-3AD203B41FA5}">
                      <a16:colId xmlns:a16="http://schemas.microsoft.com/office/drawing/2014/main" val="20001"/>
                    </a:ext>
                  </a:extLst>
                </a:gridCol>
                <a:gridCol w="511425">
                  <a:extLst>
                    <a:ext uri="{9D8B030D-6E8A-4147-A177-3AD203B41FA5}">
                      <a16:colId xmlns:a16="http://schemas.microsoft.com/office/drawing/2014/main" val="20002"/>
                    </a:ext>
                  </a:extLst>
                </a:gridCol>
                <a:gridCol w="511425">
                  <a:extLst>
                    <a:ext uri="{9D8B030D-6E8A-4147-A177-3AD203B41FA5}">
                      <a16:colId xmlns:a16="http://schemas.microsoft.com/office/drawing/2014/main" val="20003"/>
                    </a:ext>
                  </a:extLst>
                </a:gridCol>
                <a:gridCol w="511425">
                  <a:extLst>
                    <a:ext uri="{9D8B030D-6E8A-4147-A177-3AD203B41FA5}">
                      <a16:colId xmlns:a16="http://schemas.microsoft.com/office/drawing/2014/main" val="20004"/>
                    </a:ext>
                  </a:extLst>
                </a:gridCol>
                <a:gridCol w="511425">
                  <a:extLst>
                    <a:ext uri="{9D8B030D-6E8A-4147-A177-3AD203B41FA5}">
                      <a16:colId xmlns:a16="http://schemas.microsoft.com/office/drawing/2014/main" val="20005"/>
                    </a:ext>
                  </a:extLst>
                </a:gridCol>
                <a:gridCol w="511425">
                  <a:extLst>
                    <a:ext uri="{9D8B030D-6E8A-4147-A177-3AD203B41FA5}">
                      <a16:colId xmlns:a16="http://schemas.microsoft.com/office/drawing/2014/main" val="20006"/>
                    </a:ext>
                  </a:extLst>
                </a:gridCol>
                <a:gridCol w="511425">
                  <a:extLst>
                    <a:ext uri="{9D8B030D-6E8A-4147-A177-3AD203B41FA5}">
                      <a16:colId xmlns:a16="http://schemas.microsoft.com/office/drawing/2014/main" val="20007"/>
                    </a:ext>
                  </a:extLst>
                </a:gridCol>
              </a:tblGrid>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lnT w="76200" cap="flat" cmpd="sng" algn="ctr">
                      <a:solidFill>
                        <a:schemeClr val="tx1"/>
                      </a:solidFill>
                      <a:prstDash val="solid"/>
                      <a:round/>
                      <a:headEnd type="none" w="med" len="med"/>
                      <a:tailEnd type="none" w="med" len="med"/>
                    </a:lnT>
                  </a:tcPr>
                </a:tc>
                <a:tc>
                  <a:txBody>
                    <a:bodyPr/>
                    <a:lstStyle/>
                    <a:p>
                      <a:pPr algn="ctr"/>
                      <a:endParaRPr lang="en-US" sz="1700" dirty="0"/>
                    </a:p>
                  </a:txBody>
                  <a:tcPr marL="86601" marR="86601" marT="43301" marB="43301" anchor="ctr">
                    <a:lnT w="76200" cap="flat" cmpd="sng" algn="ctr">
                      <a:solidFill>
                        <a:schemeClr val="tx1"/>
                      </a:solidFill>
                      <a:prstDash val="solid"/>
                      <a:round/>
                      <a:headEnd type="none" w="med" len="med"/>
                      <a:tailEnd type="none" w="med" len="med"/>
                    </a:lnT>
                    <a:solidFill>
                      <a:schemeClr val="bg2"/>
                    </a:solidFill>
                  </a:tcPr>
                </a:tc>
                <a:tc>
                  <a:txBody>
                    <a:bodyPr/>
                    <a:lstStyle/>
                    <a:p>
                      <a:pPr algn="ctr"/>
                      <a:endParaRPr lang="en-US" sz="1700" dirty="0"/>
                    </a:p>
                  </a:txBody>
                  <a:tcPr marL="86601" marR="86601" marT="43301" marB="43301" anchor="ctr">
                    <a:lnT w="76200" cap="flat" cmpd="sng" algn="ctr">
                      <a:solidFill>
                        <a:schemeClr val="tx1"/>
                      </a:solidFill>
                      <a:prstDash val="solid"/>
                      <a:round/>
                      <a:headEnd type="none" w="med" len="med"/>
                      <a:tailEnd type="none" w="med" len="med"/>
                    </a:lnT>
                  </a:tcPr>
                </a:tc>
                <a:tc>
                  <a:txBody>
                    <a:bodyPr/>
                    <a:lstStyle/>
                    <a:p>
                      <a:pPr algn="ctr"/>
                      <a:endParaRPr lang="en-US" sz="1700" dirty="0"/>
                    </a:p>
                  </a:txBody>
                  <a:tcPr marL="86601" marR="86601" marT="43301" marB="43301" anchor="ctr">
                    <a:lnT w="76200" cap="flat" cmpd="sng" algn="ctr">
                      <a:solidFill>
                        <a:schemeClr val="tx1"/>
                      </a:solidFill>
                      <a:prstDash val="solid"/>
                      <a:round/>
                      <a:headEnd type="none" w="med" len="med"/>
                      <a:tailEnd type="none" w="med" len="med"/>
                    </a:lnT>
                    <a:solidFill>
                      <a:schemeClr val="bg2"/>
                    </a:solidFill>
                  </a:tcPr>
                </a:tc>
                <a:tc>
                  <a:txBody>
                    <a:bodyPr/>
                    <a:lstStyle/>
                    <a:p>
                      <a:pPr algn="ctr"/>
                      <a:endParaRPr lang="en-US" sz="1700" dirty="0"/>
                    </a:p>
                  </a:txBody>
                  <a:tcPr marL="86601" marR="86601" marT="43301" marB="43301" anchor="ctr">
                    <a:lnT w="76200" cap="flat" cmpd="sng" algn="ctr">
                      <a:solidFill>
                        <a:schemeClr val="tx1"/>
                      </a:solidFill>
                      <a:prstDash val="solid"/>
                      <a:round/>
                      <a:headEnd type="none" w="med" len="med"/>
                      <a:tailEnd type="none" w="med" len="med"/>
                    </a:lnT>
                  </a:tcPr>
                </a:tc>
                <a:tc>
                  <a:txBody>
                    <a:bodyPr/>
                    <a:lstStyle/>
                    <a:p>
                      <a:pPr algn="ctr"/>
                      <a:endParaRPr lang="en-US" sz="1700" dirty="0"/>
                    </a:p>
                  </a:txBody>
                  <a:tcPr marL="86601" marR="86601" marT="43301" marB="43301" anchor="ctr">
                    <a:lnT w="76200" cap="flat" cmpd="sng" algn="ctr">
                      <a:solidFill>
                        <a:schemeClr val="tx1"/>
                      </a:solidFill>
                      <a:prstDash val="solid"/>
                      <a:round/>
                      <a:headEnd type="none" w="med" len="med"/>
                      <a:tailEnd type="none" w="med" len="med"/>
                    </a:lnT>
                    <a:solidFill>
                      <a:schemeClr val="bg2"/>
                    </a:solidFill>
                  </a:tcPr>
                </a:tc>
                <a:tc>
                  <a:txBody>
                    <a:bodyPr/>
                    <a:lstStyle/>
                    <a:p>
                      <a:pPr algn="ctr"/>
                      <a:endParaRPr lang="en-US" sz="1700" dirty="0"/>
                    </a:p>
                  </a:txBody>
                  <a:tcPr marL="86601" marR="86601" marT="43301" marB="43301" anchor="ctr">
                    <a:lnT w="76200" cap="flat" cmpd="sng" algn="ctr">
                      <a:solidFill>
                        <a:schemeClr val="tx1"/>
                      </a:solidFill>
                      <a:prstDash val="solid"/>
                      <a:round/>
                      <a:headEnd type="none" w="med" len="med"/>
                      <a:tailEnd type="none" w="med" len="med"/>
                    </a:lnT>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tcP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solidFill>
                      <a:schemeClr val="bg2"/>
                    </a:solidFill>
                  </a:tcPr>
                </a:tc>
                <a:tc>
                  <a:txBody>
                    <a:bodyPr/>
                    <a:lstStyle/>
                    <a:p>
                      <a:pPr algn="ctr"/>
                      <a:endParaRPr lang="en-US" sz="1700" dirty="0"/>
                    </a:p>
                  </a:txBody>
                  <a:tcPr marL="86601" marR="86601" marT="43301" marB="43301" anchor="ct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511425">
                <a:tc>
                  <a:txBody>
                    <a:bodyPr/>
                    <a:lstStyle/>
                    <a:p>
                      <a:pPr algn="ctr"/>
                      <a:endParaRPr lang="en-US" sz="1700" dirty="0"/>
                    </a:p>
                  </a:txBody>
                  <a:tcPr marL="86601" marR="86601" marT="43301" marB="43301" anchor="ctr">
                    <a:lnL w="76200" cap="flat" cmpd="sng" algn="ctr">
                      <a:solidFill>
                        <a:schemeClr val="tx1"/>
                      </a:solidFill>
                      <a:prstDash val="solid"/>
                      <a:round/>
                      <a:headEnd type="none" w="med" len="med"/>
                      <a:tailEnd type="none" w="med" len="med"/>
                    </a:lnL>
                    <a:lnB w="76200" cap="flat" cmpd="sng" algn="ctr">
                      <a:solidFill>
                        <a:schemeClr val="tx1"/>
                      </a:solidFill>
                      <a:prstDash val="solid"/>
                      <a:round/>
                      <a:headEnd type="none" w="med" len="med"/>
                      <a:tailEnd type="none" w="med" len="med"/>
                    </a:lnB>
                    <a:solidFill>
                      <a:schemeClr val="bg2"/>
                    </a:solidFill>
                  </a:tcPr>
                </a:tc>
                <a:tc>
                  <a:txBody>
                    <a:bodyPr/>
                    <a:lstStyle/>
                    <a:p>
                      <a:pPr algn="ctr"/>
                      <a:endParaRPr lang="en-US" sz="1700" dirty="0"/>
                    </a:p>
                  </a:txBody>
                  <a:tcPr marL="86601" marR="86601" marT="43301" marB="43301" anchor="ctr">
                    <a:lnB w="76200" cap="flat" cmpd="sng" algn="ctr">
                      <a:solidFill>
                        <a:schemeClr val="tx1"/>
                      </a:solidFill>
                      <a:prstDash val="solid"/>
                      <a:round/>
                      <a:headEnd type="none" w="med" len="med"/>
                      <a:tailEnd type="none" w="med" len="med"/>
                    </a:lnB>
                  </a:tcPr>
                </a:tc>
                <a:tc>
                  <a:txBody>
                    <a:bodyPr/>
                    <a:lstStyle/>
                    <a:p>
                      <a:pPr algn="ctr"/>
                      <a:endParaRPr lang="en-US" sz="1700" dirty="0"/>
                    </a:p>
                  </a:txBody>
                  <a:tcPr marL="86601" marR="86601" marT="43301" marB="43301" anchor="ctr">
                    <a:lnB w="76200" cap="flat" cmpd="sng" algn="ctr">
                      <a:solidFill>
                        <a:schemeClr val="tx1"/>
                      </a:solidFill>
                      <a:prstDash val="solid"/>
                      <a:round/>
                      <a:headEnd type="none" w="med" len="med"/>
                      <a:tailEnd type="none" w="med" len="med"/>
                    </a:lnB>
                    <a:solidFill>
                      <a:schemeClr val="bg2"/>
                    </a:solidFill>
                  </a:tcPr>
                </a:tc>
                <a:tc>
                  <a:txBody>
                    <a:bodyPr/>
                    <a:lstStyle/>
                    <a:p>
                      <a:pPr algn="ctr"/>
                      <a:endParaRPr lang="en-US" sz="1700" dirty="0"/>
                    </a:p>
                  </a:txBody>
                  <a:tcPr marL="86601" marR="86601" marT="43301" marB="43301" anchor="ctr">
                    <a:lnB w="76200" cap="flat" cmpd="sng" algn="ctr">
                      <a:solidFill>
                        <a:schemeClr val="tx1"/>
                      </a:solidFill>
                      <a:prstDash val="solid"/>
                      <a:round/>
                      <a:headEnd type="none" w="med" len="med"/>
                      <a:tailEnd type="none" w="med" len="med"/>
                    </a:lnB>
                  </a:tcPr>
                </a:tc>
                <a:tc>
                  <a:txBody>
                    <a:bodyPr/>
                    <a:lstStyle/>
                    <a:p>
                      <a:pPr algn="ctr"/>
                      <a:endParaRPr lang="en-US" sz="1700" dirty="0"/>
                    </a:p>
                  </a:txBody>
                  <a:tcPr marL="86601" marR="86601" marT="43301" marB="43301" anchor="ctr">
                    <a:lnB w="76200" cap="flat" cmpd="sng" algn="ctr">
                      <a:solidFill>
                        <a:schemeClr val="tx1"/>
                      </a:solidFill>
                      <a:prstDash val="solid"/>
                      <a:round/>
                      <a:headEnd type="none" w="med" len="med"/>
                      <a:tailEnd type="none" w="med" len="med"/>
                    </a:lnB>
                    <a:solidFill>
                      <a:schemeClr val="bg2"/>
                    </a:solidFill>
                  </a:tcPr>
                </a:tc>
                <a:tc>
                  <a:txBody>
                    <a:bodyPr/>
                    <a:lstStyle/>
                    <a:p>
                      <a:pPr algn="ctr"/>
                      <a:endParaRPr lang="en-US" sz="1700" dirty="0"/>
                    </a:p>
                  </a:txBody>
                  <a:tcPr marL="86601" marR="86601" marT="43301" marB="43301" anchor="ctr">
                    <a:lnB w="76200" cap="flat" cmpd="sng" algn="ctr">
                      <a:solidFill>
                        <a:schemeClr val="tx1"/>
                      </a:solidFill>
                      <a:prstDash val="solid"/>
                      <a:round/>
                      <a:headEnd type="none" w="med" len="med"/>
                      <a:tailEnd type="none" w="med" len="med"/>
                    </a:lnB>
                  </a:tcPr>
                </a:tc>
                <a:tc>
                  <a:txBody>
                    <a:bodyPr/>
                    <a:lstStyle/>
                    <a:p>
                      <a:pPr algn="ctr"/>
                      <a:endParaRPr lang="en-US" sz="1700" dirty="0"/>
                    </a:p>
                  </a:txBody>
                  <a:tcPr marL="86601" marR="86601" marT="43301" marB="43301" anchor="ctr">
                    <a:lnB w="76200" cap="flat" cmpd="sng" algn="ctr">
                      <a:solidFill>
                        <a:schemeClr val="tx1"/>
                      </a:solidFill>
                      <a:prstDash val="solid"/>
                      <a:round/>
                      <a:headEnd type="none" w="med" len="med"/>
                      <a:tailEnd type="none" w="med" len="med"/>
                    </a:lnB>
                    <a:solidFill>
                      <a:schemeClr val="bg2"/>
                    </a:solidFill>
                  </a:tcPr>
                </a:tc>
                <a:tc>
                  <a:txBody>
                    <a:bodyPr/>
                    <a:lstStyle/>
                    <a:p>
                      <a:pPr algn="ctr"/>
                      <a:endParaRPr lang="en-US" sz="1700" dirty="0"/>
                    </a:p>
                  </a:txBody>
                  <a:tcPr marL="86601" marR="86601" marT="43301" marB="43301" anchor="ctr">
                    <a:lnR w="76200" cap="flat" cmpd="sng" algn="ctr">
                      <a:solidFill>
                        <a:schemeClr val="tx1"/>
                      </a:solidFill>
                      <a:prstDash val="solid"/>
                      <a:round/>
                      <a:headEnd type="none" w="med" len="med"/>
                      <a:tailEnd type="none" w="med" len="med"/>
                    </a:lnR>
                    <a:lnB w="762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2" name="Freeform 21"/>
          <p:cNvSpPr/>
          <p:nvPr/>
        </p:nvSpPr>
        <p:spPr>
          <a:xfrm>
            <a:off x="5894780" y="2567819"/>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p:nvSpPr>
        <p:spPr>
          <a:xfrm>
            <a:off x="6381659" y="1557759"/>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6934202" y="3093949"/>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7924802" y="3587590"/>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7412155" y="1052877"/>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4855592" y="2061554"/>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p:cNvSpPr/>
          <p:nvPr/>
        </p:nvSpPr>
        <p:spPr>
          <a:xfrm>
            <a:off x="4343402" y="4590433"/>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5356748" y="4095131"/>
            <a:ext cx="401765" cy="455439"/>
          </a:xfrm>
          <a:custGeom>
            <a:avLst/>
            <a:gdLst>
              <a:gd name="connsiteX0" fmla="*/ 130061 w 787288"/>
              <a:gd name="connsiteY0" fmla="*/ 783328 h 902598"/>
              <a:gd name="connsiteX1" fmla="*/ 641927 w 787288"/>
              <a:gd name="connsiteY1" fmla="*/ 783328 h 902598"/>
              <a:gd name="connsiteX2" fmla="*/ 641927 w 787288"/>
              <a:gd name="connsiteY2" fmla="*/ 902598 h 902598"/>
              <a:gd name="connsiteX3" fmla="*/ 130061 w 787288"/>
              <a:gd name="connsiteY3" fmla="*/ 902598 h 902598"/>
              <a:gd name="connsiteX4" fmla="*/ 206431 w 787288"/>
              <a:gd name="connsiteY4" fmla="*/ 46281 h 902598"/>
              <a:gd name="connsiteX5" fmla="*/ 234592 w 787288"/>
              <a:gd name="connsiteY5" fmla="*/ 74442 h 902598"/>
              <a:gd name="connsiteX6" fmla="*/ 226344 w 787288"/>
              <a:gd name="connsiteY6" fmla="*/ 94355 h 902598"/>
              <a:gd name="connsiteX7" fmla="*/ 214110 w 787288"/>
              <a:gd name="connsiteY7" fmla="*/ 99422 h 902598"/>
              <a:gd name="connsiteX8" fmla="*/ 339256 w 787288"/>
              <a:gd name="connsiteY8" fmla="*/ 375167 h 902598"/>
              <a:gd name="connsiteX9" fmla="*/ 392155 w 787288"/>
              <a:gd name="connsiteY9" fmla="*/ 57772 h 902598"/>
              <a:gd name="connsiteX10" fmla="*/ 445054 w 787288"/>
              <a:gd name="connsiteY10" fmla="*/ 375167 h 902598"/>
              <a:gd name="connsiteX11" fmla="*/ 571060 w 787288"/>
              <a:gd name="connsiteY11" fmla="*/ 97528 h 902598"/>
              <a:gd name="connsiteX12" fmla="*/ 535913 w 787288"/>
              <a:gd name="connsiteY12" fmla="*/ 449000 h 902598"/>
              <a:gd name="connsiteX13" fmla="*/ 742286 w 787288"/>
              <a:gd name="connsiteY13" fmla="*/ 223075 h 902598"/>
              <a:gd name="connsiteX14" fmla="*/ 739214 w 787288"/>
              <a:gd name="connsiteY14" fmla="*/ 221803 h 902598"/>
              <a:gd name="connsiteX15" fmla="*/ 730966 w 787288"/>
              <a:gd name="connsiteY15" fmla="*/ 201890 h 902598"/>
              <a:gd name="connsiteX16" fmla="*/ 759127 w 787288"/>
              <a:gd name="connsiteY16" fmla="*/ 173729 h 902598"/>
              <a:gd name="connsiteX17" fmla="*/ 787288 w 787288"/>
              <a:gd name="connsiteY17" fmla="*/ 201890 h 902598"/>
              <a:gd name="connsiteX18" fmla="*/ 759127 w 787288"/>
              <a:gd name="connsiteY18" fmla="*/ 230051 h 902598"/>
              <a:gd name="connsiteX19" fmla="*/ 743383 w 787288"/>
              <a:gd name="connsiteY19" fmla="*/ 223530 h 902598"/>
              <a:gd name="connsiteX20" fmla="*/ 508635 w 787288"/>
              <a:gd name="connsiteY20" fmla="*/ 721770 h 902598"/>
              <a:gd name="connsiteX21" fmla="*/ 507449 w 787288"/>
              <a:gd name="connsiteY21" fmla="*/ 733633 h 902598"/>
              <a:gd name="connsiteX22" fmla="*/ 602613 w 787288"/>
              <a:gd name="connsiteY22" fmla="*/ 733633 h 902598"/>
              <a:gd name="connsiteX23" fmla="*/ 602613 w 787288"/>
              <a:gd name="connsiteY23" fmla="*/ 780015 h 902598"/>
              <a:gd name="connsiteX24" fmla="*/ 173521 w 787288"/>
              <a:gd name="connsiteY24" fmla="*/ 780015 h 902598"/>
              <a:gd name="connsiteX25" fmla="*/ 173521 w 787288"/>
              <a:gd name="connsiteY25" fmla="*/ 733633 h 902598"/>
              <a:gd name="connsiteX26" fmla="*/ 275911 w 787288"/>
              <a:gd name="connsiteY26" fmla="*/ 733633 h 902598"/>
              <a:gd name="connsiteX27" fmla="*/ 276101 w 787288"/>
              <a:gd name="connsiteY27" fmla="*/ 733425 h 902598"/>
              <a:gd name="connsiteX28" fmla="*/ 34563 w 787288"/>
              <a:gd name="connsiteY28" fmla="*/ 220773 h 902598"/>
              <a:gd name="connsiteX29" fmla="*/ 28161 w 787288"/>
              <a:gd name="connsiteY29" fmla="*/ 223425 h 902598"/>
              <a:gd name="connsiteX30" fmla="*/ 0 w 787288"/>
              <a:gd name="connsiteY30" fmla="*/ 195264 h 902598"/>
              <a:gd name="connsiteX31" fmla="*/ 28161 w 787288"/>
              <a:gd name="connsiteY31" fmla="*/ 167103 h 902598"/>
              <a:gd name="connsiteX32" fmla="*/ 56322 w 787288"/>
              <a:gd name="connsiteY32" fmla="*/ 195264 h 902598"/>
              <a:gd name="connsiteX33" fmla="*/ 48074 w 787288"/>
              <a:gd name="connsiteY33" fmla="*/ 215177 h 902598"/>
              <a:gd name="connsiteX34" fmla="*/ 35839 w 787288"/>
              <a:gd name="connsiteY34" fmla="*/ 220245 h 902598"/>
              <a:gd name="connsiteX35" fmla="*/ 248840 w 787288"/>
              <a:gd name="connsiteY35" fmla="*/ 453425 h 902598"/>
              <a:gd name="connsiteX36" fmla="*/ 213466 w 787288"/>
              <a:gd name="connsiteY36" fmla="*/ 99689 h 902598"/>
              <a:gd name="connsiteX37" fmla="*/ 206431 w 787288"/>
              <a:gd name="connsiteY37" fmla="*/ 102603 h 902598"/>
              <a:gd name="connsiteX38" fmla="*/ 178270 w 787288"/>
              <a:gd name="connsiteY38" fmla="*/ 74442 h 902598"/>
              <a:gd name="connsiteX39" fmla="*/ 206431 w 787288"/>
              <a:gd name="connsiteY39" fmla="*/ 46281 h 902598"/>
              <a:gd name="connsiteX40" fmla="*/ 574452 w 787288"/>
              <a:gd name="connsiteY40" fmla="*/ 41206 h 902598"/>
              <a:gd name="connsiteX41" fmla="*/ 602613 w 787288"/>
              <a:gd name="connsiteY41" fmla="*/ 69367 h 902598"/>
              <a:gd name="connsiteX42" fmla="*/ 574452 w 787288"/>
              <a:gd name="connsiteY42" fmla="*/ 97528 h 902598"/>
              <a:gd name="connsiteX43" fmla="*/ 546291 w 787288"/>
              <a:gd name="connsiteY43" fmla="*/ 69367 h 902598"/>
              <a:gd name="connsiteX44" fmla="*/ 574452 w 787288"/>
              <a:gd name="connsiteY44" fmla="*/ 41206 h 902598"/>
              <a:gd name="connsiteX45" fmla="*/ 393048 w 787288"/>
              <a:gd name="connsiteY45" fmla="*/ 0 h 902598"/>
              <a:gd name="connsiteX46" fmla="*/ 421209 w 787288"/>
              <a:gd name="connsiteY46" fmla="*/ 28161 h 902598"/>
              <a:gd name="connsiteX47" fmla="*/ 393048 w 787288"/>
              <a:gd name="connsiteY47" fmla="*/ 56322 h 902598"/>
              <a:gd name="connsiteX48" fmla="*/ 364887 w 787288"/>
              <a:gd name="connsiteY48" fmla="*/ 28161 h 902598"/>
              <a:gd name="connsiteX49" fmla="*/ 393048 w 787288"/>
              <a:gd name="connsiteY49" fmla="*/ 0 h 902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87288" h="902598">
                <a:moveTo>
                  <a:pt x="130061" y="783328"/>
                </a:moveTo>
                <a:lnTo>
                  <a:pt x="641927" y="783328"/>
                </a:lnTo>
                <a:lnTo>
                  <a:pt x="641927" y="902598"/>
                </a:lnTo>
                <a:lnTo>
                  <a:pt x="130061" y="902598"/>
                </a:lnTo>
                <a:close/>
                <a:moveTo>
                  <a:pt x="206431" y="46281"/>
                </a:moveTo>
                <a:cubicBezTo>
                  <a:pt x="221984" y="46281"/>
                  <a:pt x="234592" y="58889"/>
                  <a:pt x="234592" y="74442"/>
                </a:cubicBezTo>
                <a:cubicBezTo>
                  <a:pt x="234592" y="82219"/>
                  <a:pt x="231440" y="89259"/>
                  <a:pt x="226344" y="94355"/>
                </a:cubicBezTo>
                <a:lnTo>
                  <a:pt x="214110" y="99422"/>
                </a:lnTo>
                <a:lnTo>
                  <a:pt x="339256" y="375167"/>
                </a:lnTo>
                <a:lnTo>
                  <a:pt x="392155" y="57772"/>
                </a:lnTo>
                <a:lnTo>
                  <a:pt x="445054" y="375167"/>
                </a:lnTo>
                <a:lnTo>
                  <a:pt x="571060" y="97528"/>
                </a:lnTo>
                <a:lnTo>
                  <a:pt x="535913" y="449000"/>
                </a:lnTo>
                <a:lnTo>
                  <a:pt x="742286" y="223075"/>
                </a:lnTo>
                <a:lnTo>
                  <a:pt x="739214" y="221803"/>
                </a:lnTo>
                <a:cubicBezTo>
                  <a:pt x="734118" y="216707"/>
                  <a:pt x="730966" y="209667"/>
                  <a:pt x="730966" y="201890"/>
                </a:cubicBezTo>
                <a:cubicBezTo>
                  <a:pt x="730966" y="186337"/>
                  <a:pt x="743574" y="173729"/>
                  <a:pt x="759127" y="173729"/>
                </a:cubicBezTo>
                <a:cubicBezTo>
                  <a:pt x="774680" y="173729"/>
                  <a:pt x="787288" y="186337"/>
                  <a:pt x="787288" y="201890"/>
                </a:cubicBezTo>
                <a:cubicBezTo>
                  <a:pt x="787288" y="217443"/>
                  <a:pt x="774680" y="230051"/>
                  <a:pt x="759127" y="230051"/>
                </a:cubicBezTo>
                <a:lnTo>
                  <a:pt x="743383" y="223530"/>
                </a:lnTo>
                <a:lnTo>
                  <a:pt x="508635" y="721770"/>
                </a:lnTo>
                <a:lnTo>
                  <a:pt x="507449" y="733633"/>
                </a:lnTo>
                <a:lnTo>
                  <a:pt x="602613" y="733633"/>
                </a:lnTo>
                <a:lnTo>
                  <a:pt x="602613" y="780015"/>
                </a:lnTo>
                <a:lnTo>
                  <a:pt x="173521" y="780015"/>
                </a:lnTo>
                <a:lnTo>
                  <a:pt x="173521" y="733633"/>
                </a:lnTo>
                <a:lnTo>
                  <a:pt x="275911" y="733633"/>
                </a:lnTo>
                <a:lnTo>
                  <a:pt x="276101" y="733425"/>
                </a:lnTo>
                <a:lnTo>
                  <a:pt x="34563" y="220773"/>
                </a:lnTo>
                <a:lnTo>
                  <a:pt x="28161" y="223425"/>
                </a:lnTo>
                <a:cubicBezTo>
                  <a:pt x="12608" y="223425"/>
                  <a:pt x="0" y="210817"/>
                  <a:pt x="0" y="195264"/>
                </a:cubicBezTo>
                <a:cubicBezTo>
                  <a:pt x="0" y="179711"/>
                  <a:pt x="12608" y="167103"/>
                  <a:pt x="28161" y="167103"/>
                </a:cubicBezTo>
                <a:cubicBezTo>
                  <a:pt x="43714" y="167103"/>
                  <a:pt x="56322" y="179711"/>
                  <a:pt x="56322" y="195264"/>
                </a:cubicBezTo>
                <a:cubicBezTo>
                  <a:pt x="56322" y="203041"/>
                  <a:pt x="53170" y="210081"/>
                  <a:pt x="48074" y="215177"/>
                </a:cubicBezTo>
                <a:lnTo>
                  <a:pt x="35839" y="220245"/>
                </a:lnTo>
                <a:lnTo>
                  <a:pt x="248840" y="453425"/>
                </a:lnTo>
                <a:lnTo>
                  <a:pt x="213466" y="99689"/>
                </a:lnTo>
                <a:lnTo>
                  <a:pt x="206431" y="102603"/>
                </a:lnTo>
                <a:cubicBezTo>
                  <a:pt x="190878" y="102603"/>
                  <a:pt x="178270" y="89995"/>
                  <a:pt x="178270" y="74442"/>
                </a:cubicBezTo>
                <a:cubicBezTo>
                  <a:pt x="178270" y="58889"/>
                  <a:pt x="190878" y="46281"/>
                  <a:pt x="206431" y="46281"/>
                </a:cubicBezTo>
                <a:close/>
                <a:moveTo>
                  <a:pt x="574452" y="41206"/>
                </a:moveTo>
                <a:cubicBezTo>
                  <a:pt x="590005" y="41206"/>
                  <a:pt x="602613" y="53814"/>
                  <a:pt x="602613" y="69367"/>
                </a:cubicBezTo>
                <a:cubicBezTo>
                  <a:pt x="602613" y="84920"/>
                  <a:pt x="590005" y="97528"/>
                  <a:pt x="574452" y="97528"/>
                </a:cubicBezTo>
                <a:cubicBezTo>
                  <a:pt x="558899" y="97528"/>
                  <a:pt x="546291" y="84920"/>
                  <a:pt x="546291" y="69367"/>
                </a:cubicBezTo>
                <a:cubicBezTo>
                  <a:pt x="546291" y="53814"/>
                  <a:pt x="558899" y="41206"/>
                  <a:pt x="574452" y="41206"/>
                </a:cubicBezTo>
                <a:close/>
                <a:moveTo>
                  <a:pt x="393048" y="0"/>
                </a:moveTo>
                <a:cubicBezTo>
                  <a:pt x="408601" y="0"/>
                  <a:pt x="421209" y="12608"/>
                  <a:pt x="421209" y="28161"/>
                </a:cubicBezTo>
                <a:cubicBezTo>
                  <a:pt x="421209" y="43714"/>
                  <a:pt x="408601" y="56322"/>
                  <a:pt x="393048" y="56322"/>
                </a:cubicBezTo>
                <a:cubicBezTo>
                  <a:pt x="377495" y="56322"/>
                  <a:pt x="364887" y="43714"/>
                  <a:pt x="364887" y="28161"/>
                </a:cubicBezTo>
                <a:cubicBezTo>
                  <a:pt x="364887" y="12608"/>
                  <a:pt x="377495" y="0"/>
                  <a:pt x="393048" y="0"/>
                </a:cubicBezTo>
                <a:close/>
              </a:path>
            </a:pathLst>
          </a:custGeom>
          <a:solidFill>
            <a:schemeClr val="tx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7239000" y="907881"/>
            <a:ext cx="762000" cy="768521"/>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714661" y="2424478"/>
            <a:ext cx="762000" cy="768521"/>
          </a:xfrm>
          <a:prstGeom prst="ellipse">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1551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Grp="1" noChangeArrowheads="1"/>
          </p:cNvSpPr>
          <p:nvPr>
            <p:ph type="ctrTitle"/>
          </p:nvPr>
        </p:nvSpPr>
        <p:spPr/>
        <p:txBody>
          <a:bodyPr/>
          <a:lstStyle/>
          <a:p>
            <a:r>
              <a:rPr lang="en-US" dirty="0"/>
              <a:t>Adversarial Search</a:t>
            </a:r>
          </a:p>
        </p:txBody>
      </p:sp>
      <p:sp>
        <p:nvSpPr>
          <p:cNvPr id="3075" name="Rectangle 3"/>
          <p:cNvSpPr>
            <a:spLocks noGrp="1" noChangeArrowheads="1"/>
          </p:cNvSpPr>
          <p:nvPr>
            <p:ph type="subTitle" idx="1"/>
          </p:nvPr>
        </p:nvSpPr>
        <p:spPr/>
        <p:txBody>
          <a:bodyPr/>
          <a:lstStyle/>
          <a:p>
            <a:r>
              <a:rPr lang="en-US" dirty="0"/>
              <a:t>AIMA </a:t>
            </a:r>
            <a:r>
              <a:rPr lang="en-US"/>
              <a:t>Chapter 5.1 – 5.5</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494412" y="228600"/>
            <a:ext cx="7704667" cy="1981200"/>
          </a:xfrm>
        </p:spPr>
        <p:txBody>
          <a:bodyPr/>
          <a:lstStyle/>
          <a:p>
            <a:r>
              <a:rPr lang="en-US" dirty="0"/>
              <a:t>AI vs. Human Players: the State of the Art</a:t>
            </a:r>
          </a:p>
        </p:txBody>
      </p:sp>
      <p:graphicFrame>
        <p:nvGraphicFramePr>
          <p:cNvPr id="7" name="Diagram 6"/>
          <p:cNvGraphicFramePr/>
          <p:nvPr/>
        </p:nvGraphicFramePr>
        <p:xfrm>
          <a:off x="2286000" y="1524002"/>
          <a:ext cx="8229600" cy="3581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Multiply 1"/>
          <p:cNvSpPr/>
          <p:nvPr/>
        </p:nvSpPr>
        <p:spPr>
          <a:xfrm>
            <a:off x="609600" y="533400"/>
            <a:ext cx="11353800" cy="5181600"/>
          </a:xfrm>
          <a:prstGeom prst="mathMultiply">
            <a:avLst>
              <a:gd name="adj1" fmla="val 1809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7218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494412" y="228600"/>
            <a:ext cx="7704667" cy="1981200"/>
          </a:xfrm>
        </p:spPr>
        <p:txBody>
          <a:bodyPr/>
          <a:lstStyle/>
          <a:p>
            <a:r>
              <a:rPr lang="en-US" dirty="0"/>
              <a:t>AI vs. Human Players: the State of the Art</a:t>
            </a:r>
          </a:p>
        </p:txBody>
      </p:sp>
      <p:graphicFrame>
        <p:nvGraphicFramePr>
          <p:cNvPr id="7" name="Diagram 6"/>
          <p:cNvGraphicFramePr/>
          <p:nvPr/>
        </p:nvGraphicFramePr>
        <p:xfrm>
          <a:off x="2286000" y="1524002"/>
          <a:ext cx="8229600" cy="3581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Multiply 5"/>
          <p:cNvSpPr/>
          <p:nvPr/>
        </p:nvSpPr>
        <p:spPr>
          <a:xfrm>
            <a:off x="609600" y="533400"/>
            <a:ext cx="11353800" cy="5181600"/>
          </a:xfrm>
          <a:prstGeom prst="mathMultiply">
            <a:avLst>
              <a:gd name="adj1" fmla="val 18090"/>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947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494412" y="228600"/>
            <a:ext cx="7704667" cy="1981200"/>
          </a:xfrm>
        </p:spPr>
        <p:txBody>
          <a:bodyPr/>
          <a:lstStyle/>
          <a:p>
            <a:r>
              <a:rPr lang="en-US" dirty="0"/>
              <a:t>AI vs. Human Players: the State of the Art</a:t>
            </a:r>
          </a:p>
        </p:txBody>
      </p:sp>
      <p:graphicFrame>
        <p:nvGraphicFramePr>
          <p:cNvPr id="7" name="Diagram 6"/>
          <p:cNvGraphicFramePr/>
          <p:nvPr/>
        </p:nvGraphicFramePr>
        <p:xfrm>
          <a:off x="2286000" y="1524002"/>
          <a:ext cx="8229600" cy="3581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ounded Rectangle 4"/>
          <p:cNvSpPr/>
          <p:nvPr/>
        </p:nvSpPr>
        <p:spPr>
          <a:xfrm rot="21084049">
            <a:off x="3905189" y="4855653"/>
            <a:ext cx="4666527" cy="1624068"/>
          </a:xfrm>
          <a:prstGeom prst="roundRect">
            <a:avLst/>
          </a:prstGeom>
          <a:solidFill>
            <a:schemeClr val="bg1"/>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accent2"/>
                </a:solidFill>
                <a:latin typeface="Stencil" panose="040409050D0802020404" pitchFamily="82" charset="0"/>
                <a:cs typeface="Aharoni" panose="02010803020104030203" pitchFamily="2" charset="-79"/>
              </a:rPr>
              <a:t>To Be Updated next year!</a:t>
            </a:r>
          </a:p>
        </p:txBody>
      </p:sp>
    </p:spTree>
    <p:extLst>
      <p:ext uri="{BB962C8B-B14F-4D97-AF65-F5344CB8AC3E}">
        <p14:creationId xmlns:p14="http://schemas.microsoft.com/office/powerpoint/2010/main" val="18083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a:xfrm>
            <a:off x="2819401" y="301102"/>
            <a:ext cx="7704667" cy="914399"/>
          </a:xfrm>
        </p:spPr>
        <p:txBody>
          <a:bodyPr/>
          <a:lstStyle/>
          <a:p>
            <a:r>
              <a:rPr lang="en-US" dirty="0"/>
              <a:t>Deterministic Games in Practice</a:t>
            </a:r>
          </a:p>
        </p:txBody>
      </p:sp>
      <mc:AlternateContent xmlns:mc="http://schemas.openxmlformats.org/markup-compatibility/2006" xmlns:a14="http://schemas.microsoft.com/office/drawing/2010/main">
        <mc:Choice Requires="a14">
          <p:sp>
            <p:nvSpPr>
              <p:cNvPr id="361475" name="Rectangle 3"/>
              <p:cNvSpPr>
                <a:spLocks noGrp="1" noChangeArrowheads="1"/>
              </p:cNvSpPr>
              <p:nvPr>
                <p:ph idx="1"/>
              </p:nvPr>
            </p:nvSpPr>
            <p:spPr>
              <a:xfrm>
                <a:off x="2370667" y="1221360"/>
                <a:ext cx="8153400" cy="5257800"/>
              </a:xfrm>
            </p:spPr>
            <p:txBody>
              <a:bodyPr/>
              <a:lstStyle/>
              <a:p>
                <a:pPr>
                  <a:spcBef>
                    <a:spcPts val="1200"/>
                  </a:spcBef>
                </a:pPr>
                <a:r>
                  <a:rPr lang="en-US" sz="2000" dirty="0">
                    <a:solidFill>
                      <a:srgbClr val="0000CC"/>
                    </a:solidFill>
                    <a:latin typeface="Corbel" panose="020B0503020204020204" pitchFamily="34" charset="0"/>
                    <a:cs typeface="Times"/>
                  </a:rPr>
                  <a:t>Chinook (Checkers, 1994)</a:t>
                </a:r>
                <a:r>
                  <a:rPr lang="en-US" sz="2000" dirty="0">
                    <a:latin typeface="Corbel" panose="020B0503020204020204" pitchFamily="34" charset="0"/>
                    <a:cs typeface="Times"/>
                  </a:rPr>
                  <a:t>. Precomputed endgame database </a:t>
                </a:r>
                <a14:m>
                  <m:oMath xmlns:m="http://schemas.openxmlformats.org/officeDocument/2006/math">
                    <m:r>
                      <a:rPr lang="en-US" sz="2000" i="1">
                        <a:latin typeface="Cambria Math" panose="02040503050406030204" pitchFamily="18" charset="0"/>
                        <a:cs typeface="Times"/>
                      </a:rPr>
                      <m:t>⇒</m:t>
                    </m:r>
                  </m:oMath>
                </a14:m>
                <a:r>
                  <a:rPr lang="en-US" sz="2000" dirty="0">
                    <a:latin typeface="Corbel" panose="020B0503020204020204" pitchFamily="34" charset="0"/>
                    <a:cs typeface="Times"/>
                  </a:rPr>
                  <a:t> perfect play for all positions with </a:t>
                </a:r>
                <a14:m>
                  <m:oMath xmlns:m="http://schemas.openxmlformats.org/officeDocument/2006/math">
                    <m:r>
                      <a:rPr lang="en-US" sz="2000" i="1">
                        <a:latin typeface="Cambria Math" panose="02040503050406030204" pitchFamily="18" charset="0"/>
                        <a:cs typeface="Times"/>
                      </a:rPr>
                      <m:t>≤8</m:t>
                    </m:r>
                  </m:oMath>
                </a14:m>
                <a:r>
                  <a:rPr lang="en-US" sz="2000" dirty="0">
                    <a:latin typeface="Corbel" panose="020B0503020204020204" pitchFamily="34" charset="0"/>
                    <a:cs typeface="Times"/>
                  </a:rPr>
                  <a:t> pieces on the board (total of 444 billion positions).</a:t>
                </a:r>
              </a:p>
              <a:p>
                <a:pPr>
                  <a:spcBef>
                    <a:spcPts val="1200"/>
                  </a:spcBef>
                </a:pPr>
                <a:r>
                  <a:rPr lang="en-US" sz="2000" dirty="0">
                    <a:solidFill>
                      <a:srgbClr val="0000CC"/>
                    </a:solidFill>
                    <a:latin typeface="Corbel" panose="020B0503020204020204" pitchFamily="34" charset="0"/>
                    <a:cs typeface="Times"/>
                  </a:rPr>
                  <a:t>Deep Blue (Chess, 1997)</a:t>
                </a:r>
                <a:r>
                  <a:rPr lang="en-US" sz="2000" dirty="0">
                    <a:latin typeface="Corbel" panose="020B0503020204020204" pitchFamily="34" charset="0"/>
                    <a:cs typeface="Times"/>
                  </a:rPr>
                  <a:t>. Searches 200 million positions/sec + evaluation functions + secret sauce.</a:t>
                </a:r>
              </a:p>
              <a:p>
                <a:pPr>
                  <a:spcBef>
                    <a:spcPts val="1200"/>
                  </a:spcBef>
                </a:pPr>
                <a:r>
                  <a:rPr lang="en-US" sz="2000" dirty="0" err="1">
                    <a:solidFill>
                      <a:srgbClr val="0000CC"/>
                    </a:solidFill>
                  </a:rPr>
                  <a:t>Logistello</a:t>
                </a:r>
                <a:r>
                  <a:rPr lang="en-US" sz="2000" dirty="0">
                    <a:solidFill>
                      <a:srgbClr val="0000CC"/>
                    </a:solidFill>
                  </a:rPr>
                  <a:t> (</a:t>
                </a:r>
                <a:r>
                  <a:rPr lang="en-US" sz="2000" dirty="0">
                    <a:solidFill>
                      <a:srgbClr val="0000CC"/>
                    </a:solidFill>
                    <a:latin typeface="Corbel" panose="020B0503020204020204" pitchFamily="34" charset="0"/>
                    <a:cs typeface="Times"/>
                  </a:rPr>
                  <a:t>Othello, 1997)</a:t>
                </a:r>
                <a:r>
                  <a:rPr lang="en-US" sz="2000" dirty="0">
                    <a:latin typeface="Corbel" panose="020B0503020204020204" pitchFamily="34" charset="0"/>
                    <a:cs typeface="Times"/>
                  </a:rPr>
                  <a:t>. Human champions refuse to play against AI. </a:t>
                </a:r>
              </a:p>
              <a:p>
                <a:pPr>
                  <a:spcBef>
                    <a:spcPts val="1200"/>
                  </a:spcBef>
                </a:pPr>
                <a:r>
                  <a:rPr lang="en-US" sz="2000" dirty="0" err="1">
                    <a:solidFill>
                      <a:srgbClr val="0000CC"/>
                    </a:solidFill>
                    <a:latin typeface="Corbel" panose="020B0503020204020204" pitchFamily="34" charset="0"/>
                    <a:cs typeface="Times"/>
                  </a:rPr>
                  <a:t>AlphaGo</a:t>
                </a:r>
                <a:r>
                  <a:rPr lang="en-US" sz="2000" dirty="0">
                    <a:solidFill>
                      <a:srgbClr val="0000CC"/>
                    </a:solidFill>
                    <a:latin typeface="Corbel" panose="020B0503020204020204" pitchFamily="34" charset="0"/>
                    <a:cs typeface="Times"/>
                  </a:rPr>
                  <a:t> + </a:t>
                </a:r>
                <a:r>
                  <a:rPr lang="en-US" sz="2000" dirty="0" err="1">
                    <a:solidFill>
                      <a:srgbClr val="0000CC"/>
                    </a:solidFill>
                    <a:latin typeface="Corbel" panose="020B0503020204020204" pitchFamily="34" charset="0"/>
                    <a:cs typeface="Times"/>
                  </a:rPr>
                  <a:t>Alphazero</a:t>
                </a:r>
                <a:r>
                  <a:rPr lang="en-US" sz="2000" dirty="0">
                    <a:solidFill>
                      <a:srgbClr val="0000CC"/>
                    </a:solidFill>
                    <a:latin typeface="Corbel" panose="020B0503020204020204" pitchFamily="34" charset="0"/>
                    <a:cs typeface="Times"/>
                  </a:rPr>
                  <a:t> (Go/everything above, 2016-2017)</a:t>
                </a:r>
                <a:r>
                  <a:rPr lang="en-US" sz="2000" dirty="0">
                    <a:latin typeface="Corbel" panose="020B0503020204020204" pitchFamily="34" charset="0"/>
                    <a:cs typeface="Times"/>
                  </a:rPr>
                  <a:t>. Learning for evaluation functions + database and efficient search + secret sauce.</a:t>
                </a:r>
              </a:p>
            </p:txBody>
          </p:sp>
        </mc:Choice>
        <mc:Fallback xmlns="">
          <p:sp>
            <p:nvSpPr>
              <p:cNvPr id="361475" name="Rectangle 3"/>
              <p:cNvSpPr>
                <a:spLocks noGrp="1" noRot="1" noChangeAspect="1" noMove="1" noResize="1" noEditPoints="1" noAdjustHandles="1" noChangeArrowheads="1" noChangeShapeType="1" noTextEdit="1"/>
              </p:cNvSpPr>
              <p:nvPr>
                <p:ph idx="1"/>
              </p:nvPr>
            </p:nvSpPr>
            <p:spPr>
              <a:xfrm>
                <a:off x="2370667" y="1221360"/>
                <a:ext cx="8153400" cy="5257800"/>
              </a:xfrm>
              <a:blipFill>
                <a:blip r:embed="rId3"/>
                <a:stretch>
                  <a:fillRect t="-723" r="-156"/>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lstStyle/>
          <a:p>
            <a:r>
              <a:rPr lang="en-US" dirty="0"/>
              <a:t>Outline</a:t>
            </a:r>
          </a:p>
        </p:txBody>
      </p:sp>
      <mc:AlternateContent xmlns:mc="http://schemas.openxmlformats.org/markup-compatibility/2006" xmlns:a14="http://schemas.microsoft.com/office/drawing/2010/main">
        <mc:Choice Requires="a14">
          <p:sp>
            <p:nvSpPr>
              <p:cNvPr id="329731" name="Rectangle 3"/>
              <p:cNvSpPr>
                <a:spLocks noGrp="1" noChangeArrowheads="1"/>
              </p:cNvSpPr>
              <p:nvPr>
                <p:ph idx="1"/>
              </p:nvPr>
            </p:nvSpPr>
            <p:spPr>
              <a:xfrm>
                <a:off x="746976" y="2133600"/>
                <a:ext cx="9498995" cy="3332816"/>
              </a:xfrm>
            </p:spPr>
            <p:txBody>
              <a:bodyPr>
                <a:normAutofit/>
              </a:bodyPr>
              <a:lstStyle/>
              <a:p>
                <a:pPr>
                  <a:spcBef>
                    <a:spcPts val="1200"/>
                  </a:spcBef>
                </a:pPr>
                <a:r>
                  <a:rPr lang="en-US" sz="3200" dirty="0">
                    <a:latin typeface="Corbel" panose="020B0503020204020204" pitchFamily="34" charset="0"/>
                    <a:cs typeface="Times"/>
                  </a:rPr>
                  <a:t>Adversarial search problems (aka games)</a:t>
                </a:r>
              </a:p>
              <a:p>
                <a:pPr>
                  <a:spcBef>
                    <a:spcPts val="1200"/>
                  </a:spcBef>
                </a:pPr>
                <a:r>
                  <a:rPr lang="en-US" sz="3200" dirty="0">
                    <a:latin typeface="Corbel" panose="020B0503020204020204" pitchFamily="34" charset="0"/>
                    <a:cs typeface="Times"/>
                  </a:rPr>
                  <a:t>Optimal (i.e., </a:t>
                </a:r>
                <a:r>
                  <a:rPr lang="en-US" sz="3200" dirty="0" err="1">
                    <a:latin typeface="Corbel" panose="020B0503020204020204" pitchFamily="34" charset="0"/>
                    <a:cs typeface="Times"/>
                  </a:rPr>
                  <a:t>Minimax</a:t>
                </a:r>
                <a:r>
                  <a:rPr lang="en-US" sz="3200" dirty="0">
                    <a:latin typeface="Corbel" panose="020B0503020204020204" pitchFamily="34" charset="0"/>
                    <a:cs typeface="Times"/>
                  </a:rPr>
                  <a:t>) decisions</a:t>
                </a:r>
              </a:p>
              <a:p>
                <a:pPr>
                  <a:spcBef>
                    <a:spcPts val="1200"/>
                  </a:spcBef>
                </a:pPr>
                <a14:m>
                  <m:oMath xmlns:m="http://schemas.openxmlformats.org/officeDocument/2006/math">
                    <m:r>
                      <a:rPr lang="en-US" sz="3200" i="1" dirty="0">
                        <a:latin typeface="Cambria Math" panose="02040503050406030204" pitchFamily="18" charset="0"/>
                        <a:cs typeface="Times"/>
                      </a:rPr>
                      <m:t>𝛼</m:t>
                    </m:r>
                  </m:oMath>
                </a14:m>
                <a:r>
                  <a:rPr lang="en-US" sz="3200" dirty="0">
                    <a:latin typeface="Corbel" panose="020B0503020204020204" pitchFamily="34" charset="0"/>
                    <a:cs typeface="Times"/>
                  </a:rPr>
                  <a:t>-</a:t>
                </a:r>
                <a14:m>
                  <m:oMath xmlns:m="http://schemas.openxmlformats.org/officeDocument/2006/math">
                    <m:r>
                      <a:rPr lang="en-US" sz="3200" i="1" dirty="0">
                        <a:latin typeface="Cambria Math" panose="02040503050406030204" pitchFamily="18" charset="0"/>
                        <a:cs typeface="Times"/>
                      </a:rPr>
                      <m:t>𝛽</m:t>
                    </m:r>
                  </m:oMath>
                </a14:m>
                <a:r>
                  <a:rPr lang="en-US" sz="3200" dirty="0">
                    <a:latin typeface="Corbel" panose="020B0503020204020204" pitchFamily="34" charset="0"/>
                    <a:cs typeface="Times"/>
                  </a:rPr>
                  <a:t> pruning</a:t>
                </a:r>
              </a:p>
              <a:p>
                <a:pPr>
                  <a:spcBef>
                    <a:spcPts val="1200"/>
                  </a:spcBef>
                </a:pPr>
                <a:r>
                  <a:rPr lang="en-US" sz="3200" dirty="0">
                    <a:latin typeface="Corbel" panose="020B0503020204020204" pitchFamily="34" charset="0"/>
                    <a:cs typeface="Times"/>
                  </a:rPr>
                  <a:t>Imperfect, real-time decisions</a:t>
                </a:r>
              </a:p>
            </p:txBody>
          </p:sp>
        </mc:Choice>
        <mc:Fallback xmlns="">
          <p:sp>
            <p:nvSpPr>
              <p:cNvPr id="329731" name="Rectangle 3"/>
              <p:cNvSpPr>
                <a:spLocks noGrp="1" noRot="1" noChangeAspect="1" noMove="1" noResize="1" noEditPoints="1" noAdjustHandles="1" noChangeArrowheads="1" noChangeShapeType="1" noTextEdit="1"/>
              </p:cNvSpPr>
              <p:nvPr>
                <p:ph idx="1"/>
              </p:nvPr>
            </p:nvSpPr>
            <p:spPr>
              <a:xfrm>
                <a:off x="746976" y="2133600"/>
                <a:ext cx="9498995" cy="3332816"/>
              </a:xfrm>
              <a:blipFill>
                <a:blip r:embed="rId3"/>
                <a:stretch>
                  <a:fillRect l="-668" t="-2662"/>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dirty="0"/>
              <a:t>Games vs. Search Problems</a:t>
            </a:r>
          </a:p>
        </p:txBody>
      </p:sp>
      <p:graphicFrame>
        <p:nvGraphicFramePr>
          <p:cNvPr id="2" name="Content Placeholder 1"/>
          <p:cNvGraphicFramePr>
            <a:graphicFrameLocks noGrp="1"/>
          </p:cNvGraphicFramePr>
          <p:nvPr>
            <p:ph idx="1"/>
            <p:extLst>
              <p:ext uri="{D42A27DB-BD31-4B8C-83A1-F6EECF244321}">
                <p14:modId xmlns:p14="http://schemas.microsoft.com/office/powerpoint/2010/main" val="2591954782"/>
              </p:ext>
            </p:extLst>
          </p:nvPr>
        </p:nvGraphicFramePr>
        <p:xfrm>
          <a:off x="476519" y="1905000"/>
          <a:ext cx="10015844"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9" name="Rectangle 3"/>
          <p:cNvSpPr>
            <a:spLocks noGrp="1" noChangeArrowheads="1"/>
          </p:cNvSpPr>
          <p:nvPr>
            <p:ph type="title"/>
          </p:nvPr>
        </p:nvSpPr>
        <p:spPr>
          <a:xfrm>
            <a:off x="753535" y="457201"/>
            <a:ext cx="9457268" cy="870296"/>
          </a:xfrm>
        </p:spPr>
        <p:txBody>
          <a:bodyPr/>
          <a:lstStyle/>
          <a:p>
            <a:r>
              <a:rPr lang="en-US" dirty="0"/>
              <a:t>Let’s Play!</a:t>
            </a:r>
          </a:p>
        </p:txBody>
      </p:sp>
      <p:sp>
        <p:nvSpPr>
          <p:cNvPr id="331780" name="Rectangle 4"/>
          <p:cNvSpPr>
            <a:spLocks noGrp="1" noChangeArrowheads="1"/>
          </p:cNvSpPr>
          <p:nvPr>
            <p:ph idx="1"/>
          </p:nvPr>
        </p:nvSpPr>
        <p:spPr>
          <a:xfrm>
            <a:off x="914402" y="1447800"/>
            <a:ext cx="9457268" cy="2936307"/>
          </a:xfrm>
        </p:spPr>
        <p:txBody>
          <a:bodyPr>
            <a:normAutofit lnSpcReduction="10000"/>
          </a:bodyPr>
          <a:lstStyle/>
          <a:p>
            <a:r>
              <a:rPr lang="en-US" sz="3200" dirty="0">
                <a:latin typeface="Corbel" panose="020B0503020204020204" pitchFamily="34" charset="0"/>
                <a:cs typeface="Times"/>
              </a:rPr>
              <a:t>Two players in a </a:t>
            </a:r>
            <a:r>
              <a:rPr lang="en-US" sz="3200" b="1" dirty="0">
                <a:latin typeface="Corbel" panose="020B0503020204020204" pitchFamily="34" charset="0"/>
                <a:cs typeface="Times"/>
              </a:rPr>
              <a:t>zero-sum game</a:t>
            </a:r>
            <a:r>
              <a:rPr lang="en-US" sz="3200" dirty="0">
                <a:latin typeface="Corbel" panose="020B0503020204020204" pitchFamily="34" charset="0"/>
                <a:cs typeface="Times"/>
              </a:rPr>
              <a:t>:</a:t>
            </a:r>
          </a:p>
          <a:p>
            <a:pPr lvl="1"/>
            <a:r>
              <a:rPr lang="en-US" sz="2800" dirty="0">
                <a:latin typeface="Corbel" panose="020B0503020204020204" pitchFamily="34" charset="0"/>
                <a:cs typeface="Times"/>
              </a:rPr>
              <a:t>Winner gets paid and loser pays.</a:t>
            </a:r>
          </a:p>
          <a:p>
            <a:r>
              <a:rPr lang="en-US" sz="3200" dirty="0">
                <a:latin typeface="Corbel" panose="020B0503020204020204" pitchFamily="34" charset="0"/>
                <a:cs typeface="Times"/>
              </a:rPr>
              <a:t>Easy to think in terms of a </a:t>
            </a:r>
            <a:r>
              <a:rPr lang="en-US" sz="3200" b="1" dirty="0">
                <a:latin typeface="Corbel" panose="020B0503020204020204" pitchFamily="34" charset="0"/>
                <a:cs typeface="Times"/>
              </a:rPr>
              <a:t>max player</a:t>
            </a:r>
            <a:r>
              <a:rPr lang="en-US" sz="3200" dirty="0">
                <a:latin typeface="Corbel" panose="020B0503020204020204" pitchFamily="34" charset="0"/>
                <a:cs typeface="Times"/>
              </a:rPr>
              <a:t> and </a:t>
            </a:r>
            <a:r>
              <a:rPr lang="en-US" sz="3200" b="1" dirty="0">
                <a:latin typeface="Corbel" panose="020B0503020204020204" pitchFamily="34" charset="0"/>
                <a:cs typeface="Times"/>
              </a:rPr>
              <a:t>min player</a:t>
            </a:r>
          </a:p>
          <a:p>
            <a:pPr lvl="1"/>
            <a:r>
              <a:rPr lang="en-US" sz="2800" dirty="0">
                <a:latin typeface="Corbel" panose="020B0503020204020204" pitchFamily="34" charset="0"/>
                <a:cs typeface="Times"/>
              </a:rPr>
              <a:t>Player 1 wants to maximize value (MAX player)</a:t>
            </a:r>
          </a:p>
          <a:p>
            <a:pPr lvl="1"/>
            <a:r>
              <a:rPr lang="en-US" sz="2800" dirty="0">
                <a:latin typeface="Corbel" panose="020B0503020204020204" pitchFamily="34" charset="0"/>
                <a:cs typeface="Times"/>
              </a:rPr>
              <a:t>Player 2 wants to minimize value (MIN player)</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3643" y="4267200"/>
            <a:ext cx="3083240" cy="238308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02277" y="152402"/>
            <a:ext cx="9945592" cy="914399"/>
          </a:xfrm>
        </p:spPr>
        <p:txBody>
          <a:bodyPr/>
          <a:lstStyle/>
          <a:p>
            <a:r>
              <a:rPr lang="en-US" dirty="0"/>
              <a:t>Game: Problem Formulation</a:t>
            </a:r>
          </a:p>
        </p:txBody>
      </p:sp>
      <mc:AlternateContent xmlns:mc="http://schemas.openxmlformats.org/markup-compatibility/2006" xmlns:a14="http://schemas.microsoft.com/office/drawing/2010/main">
        <mc:Choice Requires="a14">
          <p:sp>
            <p:nvSpPr>
              <p:cNvPr id="13315" name="Rectangle 3"/>
              <p:cNvSpPr>
                <a:spLocks noGrp="1" noChangeArrowheads="1"/>
              </p:cNvSpPr>
              <p:nvPr>
                <p:ph idx="1"/>
              </p:nvPr>
            </p:nvSpPr>
            <p:spPr>
              <a:xfrm>
                <a:off x="682582" y="1066801"/>
                <a:ext cx="9765287" cy="5486401"/>
              </a:xfrm>
            </p:spPr>
            <p:txBody>
              <a:bodyPr anchor="t">
                <a:normAutofit/>
              </a:bodyPr>
              <a:lstStyle/>
              <a:p>
                <a:pPr marL="380990" indent="-380990">
                  <a:spcBef>
                    <a:spcPts val="1200"/>
                  </a:spcBef>
                  <a:buNone/>
                </a:pPr>
                <a:r>
                  <a:rPr lang="en-US" sz="3600" dirty="0">
                    <a:latin typeface="Corbel" panose="020B0503020204020204" pitchFamily="34" charset="0"/>
                    <a:cs typeface="Times"/>
                  </a:rPr>
                  <a:t>A </a:t>
                </a:r>
                <a:r>
                  <a:rPr lang="en-US" sz="3600" dirty="0">
                    <a:solidFill>
                      <a:schemeClr val="tx2"/>
                    </a:solidFill>
                    <a:latin typeface="Corbel" panose="020B0503020204020204" pitchFamily="34" charset="0"/>
                    <a:cs typeface="Times"/>
                  </a:rPr>
                  <a:t>game</a:t>
                </a:r>
                <a:r>
                  <a:rPr lang="en-US" sz="3600" dirty="0">
                    <a:latin typeface="Corbel" panose="020B0503020204020204" pitchFamily="34" charset="0"/>
                    <a:cs typeface="Times"/>
                  </a:rPr>
                  <a:t> is defined by 7 components:</a:t>
                </a:r>
              </a:p>
              <a:p>
                <a:pPr marL="344479" lvl="1" indent="-342891">
                  <a:spcBef>
                    <a:spcPts val="1200"/>
                  </a:spcBef>
                  <a:buClr>
                    <a:srgbClr val="0000CC"/>
                  </a:buClr>
                  <a:buSzPct val="90000"/>
                  <a:buFontTx/>
                  <a:buAutoNum type="arabicPeriod"/>
                </a:pPr>
                <a:r>
                  <a:rPr lang="en-US" sz="2400" dirty="0">
                    <a:solidFill>
                      <a:schemeClr val="tx2"/>
                    </a:solidFill>
                    <a:latin typeface="Corbel" panose="020B0503020204020204" pitchFamily="34" charset="0"/>
                    <a:cs typeface="Times"/>
                  </a:rPr>
                  <a:t>Initial state</a:t>
                </a:r>
                <a14:m>
                  <m:oMath xmlns:m="http://schemas.openxmlformats.org/officeDocument/2006/math">
                    <m:r>
                      <a:rPr lang="en-US" sz="2400">
                        <a:solidFill>
                          <a:schemeClr val="tx2"/>
                        </a:solidFill>
                        <a:latin typeface="Cambria Math" panose="02040503050406030204" pitchFamily="18" charset="0"/>
                        <a:cs typeface="Times"/>
                      </a:rPr>
                      <m:t> </m:t>
                    </m:r>
                    <m:sSub>
                      <m:sSubPr>
                        <m:ctrlPr>
                          <a:rPr lang="en-US" sz="2400" i="1">
                            <a:solidFill>
                              <a:schemeClr val="tx2"/>
                            </a:solidFill>
                            <a:latin typeface="Cambria Math" panose="02040503050406030204" pitchFamily="18" charset="0"/>
                            <a:cs typeface="Times"/>
                          </a:rPr>
                        </m:ctrlPr>
                      </m:sSubPr>
                      <m:e>
                        <m:r>
                          <a:rPr lang="en-US" sz="2400" i="1">
                            <a:solidFill>
                              <a:schemeClr val="tx2"/>
                            </a:solidFill>
                            <a:latin typeface="Cambria Math" panose="02040503050406030204" pitchFamily="18" charset="0"/>
                            <a:cs typeface="Times"/>
                          </a:rPr>
                          <m:t>𝑠</m:t>
                        </m:r>
                      </m:e>
                      <m:sub>
                        <m:r>
                          <a:rPr lang="en-US" sz="2400" i="1">
                            <a:solidFill>
                              <a:schemeClr val="tx2"/>
                            </a:solidFill>
                            <a:latin typeface="Cambria Math" panose="02040503050406030204" pitchFamily="18" charset="0"/>
                            <a:cs typeface="Times"/>
                          </a:rPr>
                          <m:t>0</m:t>
                        </m:r>
                      </m:sub>
                    </m:sSub>
                  </m:oMath>
                </a14:m>
                <a:r>
                  <a:rPr lang="en-US" sz="2400" dirty="0">
                    <a:latin typeface="Corbel" panose="020B0503020204020204" pitchFamily="34" charset="0"/>
                    <a:cs typeface="Times"/>
                  </a:rPr>
                  <a:t> </a:t>
                </a:r>
              </a:p>
              <a:p>
                <a:pPr marL="344479" lvl="1" indent="-342891">
                  <a:spcBef>
                    <a:spcPts val="1200"/>
                  </a:spcBef>
                  <a:buClr>
                    <a:srgbClr val="0000CC"/>
                  </a:buClr>
                  <a:buSzPct val="90000"/>
                  <a:buFontTx/>
                  <a:buAutoNum type="arabicPeriod"/>
                </a:pPr>
                <a:endParaRPr lang="en-US" sz="2400" dirty="0">
                  <a:latin typeface="Corbel" panose="020B0503020204020204" pitchFamily="34" charset="0"/>
                  <a:cs typeface="Times"/>
                </a:endParaRPr>
              </a:p>
              <a:p>
                <a:pPr marL="344479" lvl="1" indent="-342891">
                  <a:spcBef>
                    <a:spcPts val="1200"/>
                  </a:spcBef>
                  <a:buClr>
                    <a:srgbClr val="0000CC"/>
                  </a:buClr>
                  <a:buSzPct val="90000"/>
                  <a:buFontTx/>
                  <a:buAutoNum type="arabicPeriod"/>
                </a:pPr>
                <a:endParaRPr lang="en-US" sz="2400" dirty="0">
                  <a:solidFill>
                    <a:schemeClr val="tx2"/>
                  </a:solidFill>
                  <a:latin typeface="Corbel" panose="020B0503020204020204" pitchFamily="34" charset="0"/>
                  <a:cs typeface="Times"/>
                </a:endParaRPr>
              </a:p>
              <a:p>
                <a:pPr marL="344479" lvl="1" indent="-342891">
                  <a:spcBef>
                    <a:spcPts val="1200"/>
                  </a:spcBef>
                  <a:buClr>
                    <a:srgbClr val="0000CC"/>
                  </a:buClr>
                  <a:buSzPct val="90000"/>
                  <a:buFontTx/>
                  <a:buAutoNum type="arabicPeriod"/>
                </a:pPr>
                <a:r>
                  <a:rPr lang="en-US" sz="2400" dirty="0">
                    <a:solidFill>
                      <a:schemeClr val="tx2"/>
                    </a:solidFill>
                    <a:latin typeface="Corbel" panose="020B0503020204020204" pitchFamily="34" charset="0"/>
                    <a:cs typeface="Times"/>
                  </a:rPr>
                  <a:t>States</a:t>
                </a:r>
                <a:endParaRPr lang="en-US" sz="2400" dirty="0">
                  <a:latin typeface="Corbel" panose="020B0503020204020204" pitchFamily="34" charset="0"/>
                  <a:cs typeface="Times"/>
                </a:endParaRPr>
              </a:p>
              <a:p>
                <a:pPr marL="344479" lvl="1" indent="-342891">
                  <a:spcBef>
                    <a:spcPts val="1200"/>
                  </a:spcBef>
                  <a:buClr>
                    <a:srgbClr val="0000CC"/>
                  </a:buClr>
                  <a:buSzPct val="90000"/>
                  <a:buFontTx/>
                  <a:buAutoNum type="arabicPeriod"/>
                </a:pPr>
                <a:endParaRPr lang="en-US" sz="2400" dirty="0">
                  <a:solidFill>
                    <a:schemeClr val="tx2"/>
                  </a:solidFill>
                  <a:latin typeface="Corbel" panose="020B0503020204020204" pitchFamily="34" charset="0"/>
                  <a:cs typeface="Times"/>
                </a:endParaRPr>
              </a:p>
              <a:p>
                <a:pPr marL="344479" lvl="1" indent="-342891">
                  <a:spcBef>
                    <a:spcPts val="1200"/>
                  </a:spcBef>
                  <a:buClr>
                    <a:srgbClr val="0000CC"/>
                  </a:buClr>
                  <a:buSzPct val="90000"/>
                  <a:buFontTx/>
                  <a:buAutoNum type="arabicPeriod"/>
                </a:pPr>
                <a:endParaRPr lang="en-US" sz="2400" dirty="0">
                  <a:solidFill>
                    <a:schemeClr val="tx2"/>
                  </a:solidFill>
                  <a:latin typeface="Corbel" panose="020B0503020204020204" pitchFamily="34" charset="0"/>
                  <a:cs typeface="Times"/>
                </a:endParaRPr>
              </a:p>
              <a:p>
                <a:pPr marL="344479" lvl="1" indent="-342891">
                  <a:spcBef>
                    <a:spcPts val="1200"/>
                  </a:spcBef>
                  <a:buClr>
                    <a:srgbClr val="0000CC"/>
                  </a:buClr>
                  <a:buSzPct val="85000"/>
                  <a:buFontTx/>
                  <a:buAutoNum type="arabicPeriod"/>
                </a:pPr>
                <a:r>
                  <a:rPr lang="en-US" sz="2400" dirty="0">
                    <a:solidFill>
                      <a:schemeClr val="tx2"/>
                    </a:solidFill>
                    <a:latin typeface="Corbel" panose="020B0503020204020204" pitchFamily="34" charset="0"/>
                    <a:cs typeface="Times"/>
                  </a:rPr>
                  <a:t>Players</a:t>
                </a:r>
                <a:r>
                  <a:rPr lang="en-US" sz="2400" dirty="0">
                    <a:latin typeface="Corbel" panose="020B0503020204020204" pitchFamily="34" charset="0"/>
                    <a:cs typeface="Times"/>
                  </a:rPr>
                  <a:t>: </a:t>
                </a:r>
                <a14:m>
                  <m:oMath xmlns:m="http://schemas.openxmlformats.org/officeDocument/2006/math">
                    <m:r>
                      <a:rPr lang="en-US" sz="2400" i="1" dirty="0">
                        <a:latin typeface="Cambria Math" panose="02040503050406030204" pitchFamily="18" charset="0"/>
                        <a:cs typeface="Times"/>
                      </a:rPr>
                      <m:t>𝑃𝐿𝐴𝑌𝐸𝑅</m:t>
                    </m:r>
                    <m:r>
                      <a:rPr lang="en-US" sz="2400" i="1" dirty="0">
                        <a:latin typeface="Cambria Math" panose="02040503050406030204" pitchFamily="18" charset="0"/>
                        <a:cs typeface="Times"/>
                      </a:rPr>
                      <m:t>(</m:t>
                    </m:r>
                    <m:r>
                      <a:rPr lang="en-US" sz="2400" i="1" dirty="0">
                        <a:latin typeface="Cambria Math" panose="02040503050406030204" pitchFamily="18" charset="0"/>
                        <a:cs typeface="Times"/>
                      </a:rPr>
                      <m:t>𝑠</m:t>
                    </m:r>
                    <m:r>
                      <a:rPr lang="en-US" sz="2400" i="1" dirty="0">
                        <a:latin typeface="Cambria Math" panose="02040503050406030204" pitchFamily="18" charset="0"/>
                        <a:cs typeface="Times"/>
                      </a:rPr>
                      <m:t>)</m:t>
                    </m:r>
                  </m:oMath>
                </a14:m>
                <a:r>
                  <a:rPr lang="en-US" sz="2400" dirty="0">
                    <a:latin typeface="Corbel" panose="020B0503020204020204" pitchFamily="34" charset="0"/>
                    <a:cs typeface="Times"/>
                  </a:rPr>
                  <a:t> defines which player has the move in state </a:t>
                </a:r>
                <a14:m>
                  <m:oMath xmlns:m="http://schemas.openxmlformats.org/officeDocument/2006/math">
                    <m:r>
                      <a:rPr lang="en-US" sz="2400" i="1" dirty="0">
                        <a:latin typeface="Cambria Math" panose="02040503050406030204" pitchFamily="18" charset="0"/>
                        <a:cs typeface="Times"/>
                      </a:rPr>
                      <m:t>𝑠</m:t>
                    </m:r>
                    <m:r>
                      <a:rPr lang="en-US" sz="2400" i="1" dirty="0">
                        <a:latin typeface="Cambria Math" panose="02040503050406030204" pitchFamily="18" charset="0"/>
                        <a:cs typeface="Times"/>
                      </a:rPr>
                      <m:t>.</m:t>
                    </m:r>
                  </m:oMath>
                </a14:m>
                <a:endParaRPr lang="en-US" sz="2400" dirty="0">
                  <a:solidFill>
                    <a:schemeClr val="tx2"/>
                  </a:solidFill>
                  <a:latin typeface="Corbel" panose="020B0503020204020204" pitchFamily="34" charset="0"/>
                  <a:cs typeface="Times"/>
                </a:endParaRPr>
              </a:p>
            </p:txBody>
          </p:sp>
        </mc:Choice>
        <mc:Fallback xmlns="">
          <p:sp>
            <p:nvSpPr>
              <p:cNvPr id="13315" name="Rectangle 3"/>
              <p:cNvSpPr>
                <a:spLocks noGrp="1" noRot="1" noChangeAspect="1" noMove="1" noResize="1" noEditPoints="1" noAdjustHandles="1" noChangeArrowheads="1" noChangeShapeType="1" noTextEdit="1"/>
              </p:cNvSpPr>
              <p:nvPr>
                <p:ph idx="1"/>
              </p:nvPr>
            </p:nvSpPr>
            <p:spPr>
              <a:xfrm>
                <a:off x="682582" y="1066801"/>
                <a:ext cx="9765287" cy="5486401"/>
              </a:xfrm>
              <a:blipFill>
                <a:blip r:embed="rId3"/>
                <a:stretch>
                  <a:fillRect l="-1818" t="-1852"/>
                </a:stretch>
              </a:blipFill>
            </p:spPr>
            <p:txBody>
              <a:bodyPr/>
              <a:lstStyle/>
              <a:p>
                <a:r>
                  <a:rPr lang="en-GB">
                    <a:noFill/>
                  </a:rPr>
                  <a:t> </a:t>
                </a:r>
              </a:p>
            </p:txBody>
          </p:sp>
        </mc:Fallback>
      </mc:AlternateContent>
      <p:graphicFrame>
        <p:nvGraphicFramePr>
          <p:cNvPr id="17" name="Table 16">
            <a:extLst>
              <a:ext uri="{FF2B5EF4-FFF2-40B4-BE49-F238E27FC236}">
                <a16:creationId xmlns:a16="http://schemas.microsoft.com/office/drawing/2014/main" id="{A1B1FEF7-0C21-244D-BC65-2C956DC83B79}"/>
              </a:ext>
            </a:extLst>
          </p:cNvPr>
          <p:cNvGraphicFramePr>
            <a:graphicFrameLocks noGrp="1"/>
          </p:cNvGraphicFramePr>
          <p:nvPr>
            <p:extLst>
              <p:ext uri="{D42A27DB-BD31-4B8C-83A1-F6EECF244321}">
                <p14:modId xmlns:p14="http://schemas.microsoft.com/office/powerpoint/2010/main" val="2321666527"/>
              </p:ext>
            </p:extLst>
          </p:nvPr>
        </p:nvGraphicFramePr>
        <p:xfrm>
          <a:off x="4540876" y="16758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endParaRPr lang="en-US" sz="1300"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en-US" sz="1300" dirty="0"/>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endParaRPr lang="en-US" sz="1300"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3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3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endParaRPr lang="en-US" sz="130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endParaRPr lang="en-US" sz="13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endParaRPr lang="en-US" sz="13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6" name="Table 25">
            <a:extLst>
              <a:ext uri="{FF2B5EF4-FFF2-40B4-BE49-F238E27FC236}">
                <a16:creationId xmlns:a16="http://schemas.microsoft.com/office/drawing/2014/main" id="{7CCDF63B-F7C9-154C-BBD1-8628AB757AC6}"/>
              </a:ext>
            </a:extLst>
          </p:cNvPr>
          <p:cNvGraphicFramePr>
            <a:graphicFrameLocks noGrp="1"/>
          </p:cNvGraphicFramePr>
          <p:nvPr>
            <p:extLst>
              <p:ext uri="{D42A27DB-BD31-4B8C-83A1-F6EECF244321}">
                <p14:modId xmlns:p14="http://schemas.microsoft.com/office/powerpoint/2010/main" val="145648541"/>
              </p:ext>
            </p:extLst>
          </p:nvPr>
        </p:nvGraphicFramePr>
        <p:xfrm>
          <a:off x="4540876" y="33522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endParaRPr lang="en-US" sz="2000" b="1"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endParaRPr lang="en-US" sz="2000" b="1">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7" name="Table 26">
            <a:extLst>
              <a:ext uri="{FF2B5EF4-FFF2-40B4-BE49-F238E27FC236}">
                <a16:creationId xmlns:a16="http://schemas.microsoft.com/office/drawing/2014/main" id="{F0C4411E-97EE-404B-9B5D-C17ACE49F879}"/>
              </a:ext>
            </a:extLst>
          </p:cNvPr>
          <p:cNvGraphicFramePr>
            <a:graphicFrameLocks noGrp="1"/>
          </p:cNvGraphicFramePr>
          <p:nvPr>
            <p:extLst>
              <p:ext uri="{D42A27DB-BD31-4B8C-83A1-F6EECF244321}">
                <p14:modId xmlns:p14="http://schemas.microsoft.com/office/powerpoint/2010/main" val="426502071"/>
              </p:ext>
            </p:extLst>
          </p:nvPr>
        </p:nvGraphicFramePr>
        <p:xfrm>
          <a:off x="6341267" y="33522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endParaRPr lang="en-US" sz="2000" b="1" dirty="0">
                        <a:solidFill>
                          <a:schemeClr val="tx1"/>
                        </a:solidFill>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8" name="Table 27">
            <a:extLst>
              <a:ext uri="{FF2B5EF4-FFF2-40B4-BE49-F238E27FC236}">
                <a16:creationId xmlns:a16="http://schemas.microsoft.com/office/drawing/2014/main" id="{FC1F9AE6-35FE-BD48-9D4A-A898402DEF77}"/>
              </a:ext>
            </a:extLst>
          </p:cNvPr>
          <p:cNvGraphicFramePr>
            <a:graphicFrameLocks noGrp="1"/>
          </p:cNvGraphicFramePr>
          <p:nvPr>
            <p:extLst>
              <p:ext uri="{D42A27DB-BD31-4B8C-83A1-F6EECF244321}">
                <p14:modId xmlns:p14="http://schemas.microsoft.com/office/powerpoint/2010/main" val="2852590890"/>
              </p:ext>
            </p:extLst>
          </p:nvPr>
        </p:nvGraphicFramePr>
        <p:xfrm>
          <a:off x="8141659" y="33522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5309" y="152402"/>
            <a:ext cx="9842561" cy="914399"/>
          </a:xfrm>
        </p:spPr>
        <p:txBody>
          <a:bodyPr/>
          <a:lstStyle/>
          <a:p>
            <a:r>
              <a:rPr lang="en-US" dirty="0"/>
              <a:t>Game: Problem Formulation</a:t>
            </a:r>
          </a:p>
        </p:txBody>
      </p:sp>
      <mc:AlternateContent xmlns:mc="http://schemas.openxmlformats.org/markup-compatibility/2006" xmlns:a14="http://schemas.microsoft.com/office/drawing/2010/main">
        <mc:Choice Requires="a14">
          <p:sp>
            <p:nvSpPr>
              <p:cNvPr id="13315" name="Rectangle 3"/>
              <p:cNvSpPr>
                <a:spLocks noGrp="1" noChangeArrowheads="1"/>
              </p:cNvSpPr>
              <p:nvPr>
                <p:ph idx="1"/>
              </p:nvPr>
            </p:nvSpPr>
            <p:spPr>
              <a:xfrm>
                <a:off x="605307" y="1041399"/>
                <a:ext cx="9842560" cy="5257800"/>
              </a:xfrm>
            </p:spPr>
            <p:txBody>
              <a:bodyPr anchor="t">
                <a:normAutofit/>
              </a:bodyPr>
              <a:lstStyle/>
              <a:p>
                <a:pPr marL="380990" indent="-380990">
                  <a:spcBef>
                    <a:spcPts val="1200"/>
                  </a:spcBef>
                  <a:buNone/>
                </a:pPr>
                <a:r>
                  <a:rPr lang="en-US" sz="2800" dirty="0">
                    <a:latin typeface="Corbel" panose="020B0503020204020204" pitchFamily="34" charset="0"/>
                    <a:cs typeface="Times"/>
                  </a:rPr>
                  <a:t>A </a:t>
                </a:r>
                <a:r>
                  <a:rPr lang="en-US" sz="2800" dirty="0">
                    <a:solidFill>
                      <a:schemeClr val="tx2"/>
                    </a:solidFill>
                    <a:latin typeface="Corbel" panose="020B0503020204020204" pitchFamily="34" charset="0"/>
                    <a:cs typeface="Times"/>
                  </a:rPr>
                  <a:t>game</a:t>
                </a:r>
                <a:r>
                  <a:rPr lang="en-US" sz="2800" dirty="0">
                    <a:latin typeface="Corbel" panose="020B0503020204020204" pitchFamily="34" charset="0"/>
                    <a:cs typeface="Times"/>
                  </a:rPr>
                  <a:t> is defined by 7 components:</a:t>
                </a:r>
              </a:p>
              <a:p>
                <a:pPr marL="344479" lvl="1" indent="-342891">
                  <a:spcBef>
                    <a:spcPts val="1200"/>
                  </a:spcBef>
                  <a:buClr>
                    <a:srgbClr val="0000CC"/>
                  </a:buClr>
                  <a:buSzPct val="90000"/>
                  <a:buFont typeface="+mj-lt"/>
                  <a:buAutoNum type="arabicPeriod" startAt="4"/>
                </a:pPr>
                <a:r>
                  <a:rPr lang="en-US" sz="2400" dirty="0">
                    <a:solidFill>
                      <a:schemeClr val="tx2"/>
                    </a:solidFill>
                    <a:latin typeface="Corbel" panose="020B0503020204020204" pitchFamily="34" charset="0"/>
                    <a:cs typeface="Times"/>
                  </a:rPr>
                  <a:t>Actions</a:t>
                </a:r>
                <a:r>
                  <a:rPr lang="en-US" sz="2400" dirty="0">
                    <a:latin typeface="Corbel" panose="020B0503020204020204" pitchFamily="34" charset="0"/>
                    <a:cs typeface="Times"/>
                  </a:rPr>
                  <a:t> : </a:t>
                </a:r>
                <a14:m>
                  <m:oMath xmlns:m="http://schemas.openxmlformats.org/officeDocument/2006/math">
                    <m:r>
                      <a:rPr lang="en-US" sz="2400" i="1" dirty="0">
                        <a:latin typeface="Cambria Math" panose="02040503050406030204" pitchFamily="18" charset="0"/>
                        <a:cs typeface="Times"/>
                      </a:rPr>
                      <m:t>𝐴𝐶𝑇𝐼𝑂𝑁𝑆</m:t>
                    </m:r>
                    <m:r>
                      <a:rPr lang="en-US" sz="2400" i="1" dirty="0">
                        <a:latin typeface="Cambria Math" panose="02040503050406030204" pitchFamily="18" charset="0"/>
                        <a:cs typeface="Times"/>
                      </a:rPr>
                      <m:t>(</m:t>
                    </m:r>
                    <m:r>
                      <a:rPr lang="en-US" sz="2400" i="1" dirty="0">
                        <a:latin typeface="Cambria Math" panose="02040503050406030204" pitchFamily="18" charset="0"/>
                        <a:cs typeface="Times"/>
                      </a:rPr>
                      <m:t>𝑠</m:t>
                    </m:r>
                    <m:r>
                      <a:rPr lang="en-US" sz="2400" i="1" dirty="0">
                        <a:latin typeface="Cambria Math" panose="02040503050406030204" pitchFamily="18" charset="0"/>
                        <a:cs typeface="Times"/>
                      </a:rPr>
                      <m:t>)</m:t>
                    </m:r>
                  </m:oMath>
                </a14:m>
                <a:r>
                  <a:rPr lang="en-US" sz="2400" dirty="0">
                    <a:latin typeface="Corbel" panose="020B0503020204020204" pitchFamily="34" charset="0"/>
                    <a:cs typeface="Times"/>
                  </a:rPr>
                  <a:t> returns set of legal moves in       state </a:t>
                </a:r>
                <a14:m>
                  <m:oMath xmlns:m="http://schemas.openxmlformats.org/officeDocument/2006/math">
                    <m:r>
                      <a:rPr lang="en-US" sz="2400" i="1" dirty="0">
                        <a:latin typeface="Cambria Math" panose="02040503050406030204" pitchFamily="18" charset="0"/>
                        <a:cs typeface="Times"/>
                      </a:rPr>
                      <m:t>𝑠</m:t>
                    </m:r>
                  </m:oMath>
                </a14:m>
                <a:endParaRPr lang="en-US" sz="2400" dirty="0">
                  <a:latin typeface="Corbel" panose="020B0503020204020204" pitchFamily="34" charset="0"/>
                  <a:cs typeface="Times"/>
                </a:endParaRPr>
              </a:p>
              <a:p>
                <a:pPr marL="344479" lvl="1" indent="-342891">
                  <a:spcBef>
                    <a:spcPts val="1200"/>
                  </a:spcBef>
                  <a:buClr>
                    <a:srgbClr val="0000CC"/>
                  </a:buClr>
                  <a:buSzPct val="90000"/>
                  <a:buFontTx/>
                  <a:buAutoNum type="arabicPeriod" startAt="4"/>
                </a:pPr>
                <a:endParaRPr lang="en-US" sz="2800" dirty="0">
                  <a:latin typeface="Corbel" panose="020B0503020204020204" pitchFamily="34" charset="0"/>
                  <a:cs typeface="Times"/>
                </a:endParaRPr>
              </a:p>
              <a:p>
                <a:pPr marL="344479" lvl="1" indent="-342891">
                  <a:spcBef>
                    <a:spcPts val="1200"/>
                  </a:spcBef>
                  <a:buClr>
                    <a:srgbClr val="0000CC"/>
                  </a:buClr>
                  <a:buSzPct val="90000"/>
                  <a:buFontTx/>
                  <a:buAutoNum type="arabicPeriod" startAt="4"/>
                </a:pPr>
                <a:endParaRPr lang="en-US" sz="2800" dirty="0">
                  <a:solidFill>
                    <a:schemeClr val="tx2"/>
                  </a:solidFill>
                  <a:latin typeface="Corbel" panose="020B0503020204020204" pitchFamily="34" charset="0"/>
                  <a:cs typeface="Times"/>
                </a:endParaRPr>
              </a:p>
              <a:p>
                <a:pPr marL="344479" lvl="1" indent="-342891">
                  <a:spcBef>
                    <a:spcPts val="1200"/>
                  </a:spcBef>
                  <a:buClr>
                    <a:srgbClr val="0000CC"/>
                  </a:buClr>
                  <a:buSzPct val="90000"/>
                  <a:buFontTx/>
                  <a:buAutoNum type="arabicPeriod" startAt="4"/>
                </a:pPr>
                <a:r>
                  <a:rPr lang="en-US" sz="2400" dirty="0">
                    <a:solidFill>
                      <a:schemeClr val="tx2"/>
                    </a:solidFill>
                    <a:latin typeface="Corbel" panose="020B0503020204020204" pitchFamily="34" charset="0"/>
                    <a:cs typeface="Times"/>
                  </a:rPr>
                  <a:t>Transition model</a:t>
                </a:r>
                <a:r>
                  <a:rPr lang="en-US" sz="2400" dirty="0">
                    <a:latin typeface="Corbel" panose="020B0503020204020204" pitchFamily="34" charset="0"/>
                    <a:cs typeface="Times"/>
                  </a:rPr>
                  <a:t> : </a:t>
                </a:r>
                <a14:m>
                  <m:oMath xmlns:m="http://schemas.openxmlformats.org/officeDocument/2006/math">
                    <m:r>
                      <a:rPr lang="en-US" sz="2400" i="1" dirty="0">
                        <a:latin typeface="Cambria Math" panose="02040503050406030204" pitchFamily="18" charset="0"/>
                        <a:cs typeface="Times"/>
                      </a:rPr>
                      <m:t>𝑅𝐸𝑆𝑈𝐿𝑇</m:t>
                    </m:r>
                    <m:r>
                      <a:rPr lang="en-US" sz="2400" i="1" dirty="0">
                        <a:latin typeface="Cambria Math" panose="02040503050406030204" pitchFamily="18" charset="0"/>
                        <a:cs typeface="Times"/>
                      </a:rPr>
                      <m:t>(</m:t>
                    </m:r>
                    <m:r>
                      <a:rPr lang="en-US" sz="2400" i="1" dirty="0">
                        <a:latin typeface="Cambria Math" panose="02040503050406030204" pitchFamily="18" charset="0"/>
                        <a:cs typeface="Times"/>
                      </a:rPr>
                      <m:t>𝑠</m:t>
                    </m:r>
                    <m:r>
                      <a:rPr lang="en-US" sz="2400" i="1" dirty="0">
                        <a:latin typeface="Cambria Math" panose="02040503050406030204" pitchFamily="18" charset="0"/>
                        <a:cs typeface="Times"/>
                      </a:rPr>
                      <m:t>, </m:t>
                    </m:r>
                    <m:r>
                      <a:rPr lang="en-US" sz="2400" i="1" dirty="0">
                        <a:latin typeface="Cambria Math" panose="02040503050406030204" pitchFamily="18" charset="0"/>
                        <a:cs typeface="Times"/>
                      </a:rPr>
                      <m:t>𝑎</m:t>
                    </m:r>
                    <m:r>
                      <a:rPr lang="en-US" sz="2400" i="1" dirty="0">
                        <a:latin typeface="Cambria Math" panose="02040503050406030204" pitchFamily="18" charset="0"/>
                        <a:cs typeface="Times"/>
                      </a:rPr>
                      <m:t>)</m:t>
                    </m:r>
                  </m:oMath>
                </a14:m>
                <a:r>
                  <a:rPr lang="en-US" sz="2400" dirty="0">
                    <a:latin typeface="Corbel" panose="020B0503020204020204" pitchFamily="34" charset="0"/>
                    <a:cs typeface="Times"/>
                  </a:rPr>
                  <a:t> returns state that results from the move </a:t>
                </a:r>
                <a14:m>
                  <m:oMath xmlns:m="http://schemas.openxmlformats.org/officeDocument/2006/math">
                    <m:r>
                      <a:rPr lang="en-US" sz="2400" i="1" dirty="0">
                        <a:latin typeface="Cambria Math" panose="02040503050406030204" pitchFamily="18" charset="0"/>
                        <a:cs typeface="Times"/>
                      </a:rPr>
                      <m:t>𝑎</m:t>
                    </m:r>
                  </m:oMath>
                </a14:m>
                <a:r>
                  <a:rPr lang="en-US" sz="2400" dirty="0">
                    <a:latin typeface="Corbel" panose="020B0503020204020204" pitchFamily="34" charset="0"/>
                    <a:cs typeface="Times"/>
                  </a:rPr>
                  <a:t> in state </a:t>
                </a:r>
                <a14:m>
                  <m:oMath xmlns:m="http://schemas.openxmlformats.org/officeDocument/2006/math">
                    <m:r>
                      <a:rPr lang="en-US" sz="2400" i="1" dirty="0">
                        <a:latin typeface="Cambria Math" panose="02040503050406030204" pitchFamily="18" charset="0"/>
                        <a:cs typeface="Times"/>
                      </a:rPr>
                      <m:t>𝑠</m:t>
                    </m:r>
                  </m:oMath>
                </a14:m>
                <a:r>
                  <a:rPr lang="en-US" sz="2400" dirty="0">
                    <a:latin typeface="Corbel" panose="020B0503020204020204" pitchFamily="34" charset="0"/>
                    <a:cs typeface="Times"/>
                  </a:rPr>
                  <a:t>.</a:t>
                </a:r>
              </a:p>
            </p:txBody>
          </p:sp>
        </mc:Choice>
        <mc:Fallback xmlns="">
          <p:sp>
            <p:nvSpPr>
              <p:cNvPr id="13315" name="Rectangle 3"/>
              <p:cNvSpPr>
                <a:spLocks noGrp="1" noRot="1" noChangeAspect="1" noMove="1" noResize="1" noEditPoints="1" noAdjustHandles="1" noChangeArrowheads="1" noChangeShapeType="1" noTextEdit="1"/>
              </p:cNvSpPr>
              <p:nvPr>
                <p:ph idx="1"/>
              </p:nvPr>
            </p:nvSpPr>
            <p:spPr>
              <a:xfrm>
                <a:off x="605307" y="1041399"/>
                <a:ext cx="9842560" cy="5257800"/>
              </a:xfrm>
              <a:blipFill>
                <a:blip r:embed="rId3"/>
                <a:stretch>
                  <a:fillRect l="-1289" t="-1449" r="-515"/>
                </a:stretch>
              </a:blipFill>
            </p:spPr>
            <p:txBody>
              <a:bodyPr/>
              <a:lstStyle/>
              <a:p>
                <a:r>
                  <a:rPr lang="en-GB">
                    <a:noFill/>
                  </a:rPr>
                  <a:t> </a:t>
                </a:r>
              </a:p>
            </p:txBody>
          </p:sp>
        </mc:Fallback>
      </mc:AlternateContent>
      <p:graphicFrame>
        <p:nvGraphicFramePr>
          <p:cNvPr id="5" name="Table 4">
            <a:extLst>
              <a:ext uri="{FF2B5EF4-FFF2-40B4-BE49-F238E27FC236}">
                <a16:creationId xmlns:a16="http://schemas.microsoft.com/office/drawing/2014/main" id="{9E88D3CA-8D13-4946-BB0D-E2B023718EF4}"/>
              </a:ext>
            </a:extLst>
          </p:cNvPr>
          <p:cNvGraphicFramePr>
            <a:graphicFrameLocks noGrp="1"/>
          </p:cNvGraphicFramePr>
          <p:nvPr>
            <p:extLst>
              <p:ext uri="{D42A27DB-BD31-4B8C-83A1-F6EECF244321}">
                <p14:modId xmlns:p14="http://schemas.microsoft.com/office/powerpoint/2010/main" val="415304933"/>
              </p:ext>
            </p:extLst>
          </p:nvPr>
        </p:nvGraphicFramePr>
        <p:xfrm>
          <a:off x="4741183" y="2070483"/>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6" name="Table 5">
            <a:extLst>
              <a:ext uri="{FF2B5EF4-FFF2-40B4-BE49-F238E27FC236}">
                <a16:creationId xmlns:a16="http://schemas.microsoft.com/office/drawing/2014/main" id="{4AE17318-6691-5742-8390-229DDC53827C}"/>
              </a:ext>
            </a:extLst>
          </p:cNvPr>
          <p:cNvGraphicFramePr>
            <a:graphicFrameLocks noGrp="1"/>
          </p:cNvGraphicFramePr>
          <p:nvPr>
            <p:extLst>
              <p:ext uri="{D42A27DB-BD31-4B8C-83A1-F6EECF244321}">
                <p14:modId xmlns:p14="http://schemas.microsoft.com/office/powerpoint/2010/main" val="1109656993"/>
              </p:ext>
            </p:extLst>
          </p:nvPr>
        </p:nvGraphicFramePr>
        <p:xfrm>
          <a:off x="3962400" y="418484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7" name="Table 6">
            <a:extLst>
              <a:ext uri="{FF2B5EF4-FFF2-40B4-BE49-F238E27FC236}">
                <a16:creationId xmlns:a16="http://schemas.microsoft.com/office/drawing/2014/main" id="{59E0FE68-9632-D845-B126-828E955A82EA}"/>
              </a:ext>
            </a:extLst>
          </p:cNvPr>
          <p:cNvGraphicFramePr>
            <a:graphicFrameLocks noGrp="1"/>
          </p:cNvGraphicFramePr>
          <p:nvPr>
            <p:extLst>
              <p:ext uri="{D42A27DB-BD31-4B8C-83A1-F6EECF244321}">
                <p14:modId xmlns:p14="http://schemas.microsoft.com/office/powerpoint/2010/main" val="117005084"/>
              </p:ext>
            </p:extLst>
          </p:nvPr>
        </p:nvGraphicFramePr>
        <p:xfrm>
          <a:off x="8000400" y="418484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rgbClr val="FF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sp>
        <p:nvSpPr>
          <p:cNvPr id="2" name="Right Arrow 1">
            <a:extLst>
              <a:ext uri="{FF2B5EF4-FFF2-40B4-BE49-F238E27FC236}">
                <a16:creationId xmlns:a16="http://schemas.microsoft.com/office/drawing/2014/main" id="{2E52A158-B088-5F48-9872-4CEBC3CAFA2A}"/>
              </a:ext>
            </a:extLst>
          </p:cNvPr>
          <p:cNvSpPr/>
          <p:nvPr/>
        </p:nvSpPr>
        <p:spPr>
          <a:xfrm>
            <a:off x="5867400" y="4608245"/>
            <a:ext cx="1257000" cy="4358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57D244D-ED76-4C46-B8C2-8C27FD89E180}"/>
                  </a:ext>
                </a:extLst>
              </p:cNvPr>
              <p:cNvSpPr txBox="1"/>
              <p:nvPr/>
            </p:nvSpPr>
            <p:spPr>
              <a:xfrm>
                <a:off x="5624735" y="4201313"/>
                <a:ext cx="207146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1" i="0" smtClean="0">
                              <a:latin typeface="Cambria Math" panose="02040503050406030204" pitchFamily="18" charset="0"/>
                            </a:rPr>
                            <m:t>𝐎</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2,3</m:t>
                              </m:r>
                            </m:e>
                          </m:d>
                        </m:e>
                      </m:d>
                    </m:oMath>
                  </m:oMathPara>
                </a14:m>
                <a:endParaRPr lang="en-US" b="0" dirty="0"/>
              </a:p>
            </p:txBody>
          </p:sp>
        </mc:Choice>
        <mc:Fallback xmlns="">
          <p:sp>
            <p:nvSpPr>
              <p:cNvPr id="8" name="TextBox 7">
                <a:extLst>
                  <a:ext uri="{FF2B5EF4-FFF2-40B4-BE49-F238E27FC236}">
                    <a16:creationId xmlns:a16="http://schemas.microsoft.com/office/drawing/2014/main" id="{157D244D-ED76-4C46-B8C2-8C27FD89E180}"/>
                  </a:ext>
                </a:extLst>
              </p:cNvPr>
              <p:cNvSpPr txBox="1">
                <a:spLocks noRot="1" noChangeAspect="1" noMove="1" noResize="1" noEditPoints="1" noAdjustHandles="1" noChangeArrowheads="1" noChangeShapeType="1" noTextEdit="1"/>
              </p:cNvSpPr>
              <p:nvPr/>
            </p:nvSpPr>
            <p:spPr>
              <a:xfrm>
                <a:off x="5624735" y="4201313"/>
                <a:ext cx="2071467"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60640A5-EB3E-C845-881A-B08098E77376}"/>
                  </a:ext>
                </a:extLst>
              </p:cNvPr>
              <p:cNvSpPr txBox="1"/>
              <p:nvPr/>
            </p:nvSpPr>
            <p:spPr>
              <a:xfrm>
                <a:off x="6824434" y="2095883"/>
                <a:ext cx="2471967"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1" i="0" smtClean="0">
                              <a:latin typeface="Cambria Math" panose="02040503050406030204" pitchFamily="18" charset="0"/>
                            </a:rPr>
                            <m:t>𝐗</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1,3</m:t>
                              </m:r>
                            </m:e>
                          </m:d>
                        </m:e>
                      </m:d>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d>
                        <m:dPr>
                          <m:ctrlPr>
                            <a:rPr lang="en-US" b="0" i="1">
                              <a:latin typeface="Cambria Math" panose="02040503050406030204" pitchFamily="18" charset="0"/>
                            </a:rPr>
                          </m:ctrlPr>
                        </m:dPr>
                        <m:e>
                          <m:r>
                            <a:rPr lang="en-US">
                              <a:latin typeface="Cambria Math" panose="02040503050406030204" pitchFamily="18" charset="0"/>
                            </a:rPr>
                            <m:t>𝐗</m:t>
                          </m:r>
                          <m:r>
                            <a:rPr lang="en-US" b="0" i="1">
                              <a:latin typeface="Cambria Math" panose="02040503050406030204" pitchFamily="18" charset="0"/>
                            </a:rPr>
                            <m:t>,</m:t>
                          </m:r>
                          <m:d>
                            <m:dPr>
                              <m:begChr m:val="⟨"/>
                              <m:endChr m:val="⟩"/>
                              <m:ctrlPr>
                                <a:rPr lang="en-US" b="0" i="1">
                                  <a:latin typeface="Cambria Math" panose="02040503050406030204" pitchFamily="18" charset="0"/>
                                </a:rPr>
                              </m:ctrlPr>
                            </m:dPr>
                            <m:e>
                              <m:r>
                                <a:rPr lang="en-US" b="0" i="1" smtClean="0">
                                  <a:latin typeface="Cambria Math" panose="02040503050406030204" pitchFamily="18" charset="0"/>
                                </a:rPr>
                                <m:t>2</m:t>
                              </m:r>
                              <m:r>
                                <a:rPr lang="en-US" b="0" i="1">
                                  <a:latin typeface="Cambria Math" panose="02040503050406030204" pitchFamily="18" charset="0"/>
                                </a:rPr>
                                <m:t>,</m:t>
                              </m:r>
                              <m:r>
                                <a:rPr lang="en-US" b="0" i="1" smtClean="0">
                                  <a:latin typeface="Cambria Math" panose="02040503050406030204" pitchFamily="18" charset="0"/>
                                </a:rPr>
                                <m:t>1</m:t>
                              </m:r>
                            </m:e>
                          </m:d>
                        </m:e>
                      </m:d>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d>
                        <m:dPr>
                          <m:ctrlPr>
                            <a:rPr lang="en-US" b="0" i="1">
                              <a:latin typeface="Cambria Math" panose="02040503050406030204" pitchFamily="18" charset="0"/>
                            </a:rPr>
                          </m:ctrlPr>
                        </m:dPr>
                        <m:e>
                          <m:r>
                            <a:rPr lang="en-US">
                              <a:latin typeface="Cambria Math" panose="02040503050406030204" pitchFamily="18" charset="0"/>
                            </a:rPr>
                            <m:t>𝐗</m:t>
                          </m:r>
                          <m:r>
                            <a:rPr lang="en-US" b="0" i="1">
                              <a:latin typeface="Cambria Math" panose="02040503050406030204" pitchFamily="18" charset="0"/>
                            </a:rPr>
                            <m:t>,</m:t>
                          </m:r>
                          <m:d>
                            <m:dPr>
                              <m:begChr m:val="⟨"/>
                              <m:endChr m:val="⟩"/>
                              <m:ctrlPr>
                                <a:rPr lang="en-US" b="0" i="1">
                                  <a:latin typeface="Cambria Math" panose="02040503050406030204" pitchFamily="18" charset="0"/>
                                </a:rPr>
                              </m:ctrlPr>
                            </m:dPr>
                            <m:e>
                              <m:r>
                                <a:rPr lang="en-US" b="0" i="1" smtClean="0">
                                  <a:latin typeface="Cambria Math" panose="02040503050406030204" pitchFamily="18" charset="0"/>
                                </a:rPr>
                                <m:t>2</m:t>
                              </m:r>
                              <m:r>
                                <a:rPr lang="en-US" b="0" i="1">
                                  <a:latin typeface="Cambria Math" panose="02040503050406030204" pitchFamily="18" charset="0"/>
                                </a:rPr>
                                <m:t>,</m:t>
                              </m:r>
                              <m:r>
                                <a:rPr lang="en-US" b="0" i="1" smtClean="0">
                                  <a:latin typeface="Cambria Math" panose="02040503050406030204" pitchFamily="18" charset="0"/>
                                </a:rPr>
                                <m:t>3</m:t>
                              </m:r>
                            </m:e>
                          </m:d>
                        </m:e>
                      </m:d>
                    </m:oMath>
                  </m:oMathPara>
                </a14:m>
                <a:endParaRPr lang="en-US" b="0" dirty="0"/>
              </a:p>
            </p:txBody>
          </p:sp>
        </mc:Choice>
        <mc:Fallback xmlns="">
          <p:sp>
            <p:nvSpPr>
              <p:cNvPr id="11" name="TextBox 10">
                <a:extLst>
                  <a:ext uri="{FF2B5EF4-FFF2-40B4-BE49-F238E27FC236}">
                    <a16:creationId xmlns:a16="http://schemas.microsoft.com/office/drawing/2014/main" id="{360640A5-EB3E-C845-881A-B08098E77376}"/>
                  </a:ext>
                </a:extLst>
              </p:cNvPr>
              <p:cNvSpPr txBox="1">
                <a:spLocks noRot="1" noChangeAspect="1" noMove="1" noResize="1" noEditPoints="1" noAdjustHandles="1" noChangeArrowheads="1" noChangeShapeType="1" noTextEdit="1"/>
              </p:cNvSpPr>
              <p:nvPr/>
            </p:nvSpPr>
            <p:spPr>
              <a:xfrm>
                <a:off x="6824434" y="2095883"/>
                <a:ext cx="2471967" cy="923330"/>
              </a:xfrm>
              <a:prstGeom prst="rect">
                <a:avLst/>
              </a:prstGeom>
              <a:blipFill>
                <a:blip r:embed="rId5"/>
                <a:stretch>
                  <a:fillRect/>
                </a:stretch>
              </a:blipFill>
            </p:spPr>
            <p:txBody>
              <a:bodyPr/>
              <a:lstStyle/>
              <a:p>
                <a:r>
                  <a:rPr lang="en-GB">
                    <a:noFill/>
                  </a:rPr>
                  <a:t> </a:t>
                </a:r>
              </a:p>
            </p:txBody>
          </p:sp>
        </mc:Fallback>
      </mc:AlternateContent>
      <p:sp>
        <p:nvSpPr>
          <p:cNvPr id="9" name="Right Arrow 8">
            <a:extLst>
              <a:ext uri="{FF2B5EF4-FFF2-40B4-BE49-F238E27FC236}">
                <a16:creationId xmlns:a16="http://schemas.microsoft.com/office/drawing/2014/main" id="{1A229A72-1214-AB4F-B046-7821F3DEF0A9}"/>
              </a:ext>
            </a:extLst>
          </p:cNvPr>
          <p:cNvSpPr/>
          <p:nvPr/>
        </p:nvSpPr>
        <p:spPr>
          <a:xfrm>
            <a:off x="6225117" y="2484863"/>
            <a:ext cx="719667" cy="4223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82918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569048" y="152402"/>
            <a:ext cx="9878821" cy="914399"/>
          </a:xfrm>
        </p:spPr>
        <p:txBody>
          <a:bodyPr/>
          <a:lstStyle/>
          <a:p>
            <a:r>
              <a:rPr lang="en-US" dirty="0"/>
              <a:t>Game: Problem Formulation</a:t>
            </a:r>
          </a:p>
        </p:txBody>
      </p:sp>
      <mc:AlternateContent xmlns:mc="http://schemas.openxmlformats.org/markup-compatibility/2006" xmlns:a14="http://schemas.microsoft.com/office/drawing/2010/main">
        <mc:Choice Requires="a14">
          <p:sp>
            <p:nvSpPr>
              <p:cNvPr id="13315" name="Rectangle 3"/>
              <p:cNvSpPr>
                <a:spLocks noGrp="1" noChangeArrowheads="1"/>
              </p:cNvSpPr>
              <p:nvPr>
                <p:ph idx="1"/>
              </p:nvPr>
            </p:nvSpPr>
            <p:spPr>
              <a:xfrm>
                <a:off x="399246" y="958586"/>
                <a:ext cx="10157164" cy="5514713"/>
              </a:xfrm>
            </p:spPr>
            <p:txBody>
              <a:bodyPr anchor="t">
                <a:normAutofit/>
              </a:bodyPr>
              <a:lstStyle/>
              <a:p>
                <a:pPr marL="380990" indent="-380990">
                  <a:spcBef>
                    <a:spcPts val="1200"/>
                  </a:spcBef>
                  <a:buNone/>
                </a:pPr>
                <a:r>
                  <a:rPr lang="en-US" sz="2800" dirty="0">
                    <a:latin typeface="Corbel" panose="020B0503020204020204" pitchFamily="34" charset="0"/>
                    <a:cs typeface="Times"/>
                  </a:rPr>
                  <a:t>A </a:t>
                </a:r>
                <a:r>
                  <a:rPr lang="en-US" sz="2800" dirty="0">
                    <a:solidFill>
                      <a:schemeClr val="tx2"/>
                    </a:solidFill>
                    <a:latin typeface="Corbel" panose="020B0503020204020204" pitchFamily="34" charset="0"/>
                    <a:cs typeface="Times"/>
                  </a:rPr>
                  <a:t>game</a:t>
                </a:r>
                <a:r>
                  <a:rPr lang="en-US" sz="2800" dirty="0">
                    <a:latin typeface="Corbel" panose="020B0503020204020204" pitchFamily="34" charset="0"/>
                    <a:cs typeface="Times"/>
                  </a:rPr>
                  <a:t> is defined by 7 components:</a:t>
                </a:r>
              </a:p>
              <a:p>
                <a:pPr marL="342891" lvl="1" indent="-342891" defTabSz="912791">
                  <a:spcBef>
                    <a:spcPts val="1200"/>
                  </a:spcBef>
                  <a:buClr>
                    <a:srgbClr val="0000CC"/>
                  </a:buClr>
                  <a:buSzPct val="90000"/>
                  <a:buFont typeface="+mj-lt"/>
                  <a:buAutoNum type="arabicPeriod" startAt="6"/>
                </a:pPr>
                <a:r>
                  <a:rPr lang="en-US" sz="2400" dirty="0">
                    <a:solidFill>
                      <a:schemeClr val="tx2"/>
                    </a:solidFill>
                    <a:latin typeface="Corbel" panose="020B0503020204020204" pitchFamily="34" charset="0"/>
                    <a:cs typeface="Times"/>
                  </a:rPr>
                  <a:t>Terminal test</a:t>
                </a:r>
                <a:r>
                  <a:rPr lang="en-US" sz="2400" dirty="0">
                    <a:latin typeface="Corbel" panose="020B0503020204020204" pitchFamily="34" charset="0"/>
                    <a:cs typeface="Times"/>
                  </a:rPr>
                  <a:t> </a:t>
                </a:r>
                <a14:m>
                  <m:oMath xmlns:m="http://schemas.openxmlformats.org/officeDocument/2006/math">
                    <m:r>
                      <a:rPr lang="en-US" sz="2400" i="1" dirty="0">
                        <a:latin typeface="Cambria Math" panose="02040503050406030204" pitchFamily="18" charset="0"/>
                        <a:cs typeface="Times"/>
                      </a:rPr>
                      <m:t>𝑇𝐸𝑅𝑀𝐼𝑁𝐴𝐿</m:t>
                    </m:r>
                    <m:d>
                      <m:dPr>
                        <m:ctrlPr>
                          <a:rPr lang="en-US" sz="2400" i="1" dirty="0">
                            <a:latin typeface="Cambria Math" panose="02040503050406030204" pitchFamily="18" charset="0"/>
                            <a:cs typeface="Times"/>
                          </a:rPr>
                        </m:ctrlPr>
                      </m:dPr>
                      <m:e>
                        <m:r>
                          <a:rPr lang="en-US" sz="2400" i="1" dirty="0">
                            <a:latin typeface="Cambria Math" panose="02040503050406030204" pitchFamily="18" charset="0"/>
                            <a:cs typeface="Times"/>
                          </a:rPr>
                          <m:t>𝑠</m:t>
                        </m:r>
                      </m:e>
                    </m:d>
                    <m:r>
                      <a:rPr lang="en-US" sz="2400" i="1" dirty="0">
                        <a:latin typeface="Cambria Math" panose="02040503050406030204" pitchFamily="18" charset="0"/>
                        <a:cs typeface="Times"/>
                      </a:rPr>
                      <m:t>=</m:t>
                    </m:r>
                    <m:r>
                      <a:rPr lang="en-US" sz="2400" i="1" dirty="0">
                        <a:latin typeface="Cambria Math" panose="02040503050406030204" pitchFamily="18" charset="0"/>
                        <a:cs typeface="Times"/>
                      </a:rPr>
                      <m:t>𝑡𝑟𝑢𝑒</m:t>
                    </m:r>
                  </m:oMath>
                </a14:m>
                <a:r>
                  <a:rPr lang="en-US" sz="2400" dirty="0">
                    <a:latin typeface="Corbel" panose="020B0503020204020204" pitchFamily="34" charset="0"/>
                    <a:cs typeface="Times"/>
                  </a:rPr>
                  <a:t> iff game end </a:t>
                </a:r>
              </a:p>
              <a:p>
                <a:pPr marL="342891" lvl="1" indent="-342891" defTabSz="912791">
                  <a:spcBef>
                    <a:spcPts val="1200"/>
                  </a:spcBef>
                  <a:buClr>
                    <a:srgbClr val="0000CC"/>
                  </a:buClr>
                  <a:buSzPct val="90000"/>
                  <a:buFont typeface="+mj-lt"/>
                  <a:buAutoNum type="arabicPeriod" startAt="6"/>
                </a:pPr>
                <a:endParaRPr lang="en-US" sz="2400" dirty="0">
                  <a:solidFill>
                    <a:schemeClr val="tx2"/>
                  </a:solidFill>
                  <a:latin typeface="Corbel" panose="020B0503020204020204" pitchFamily="34" charset="0"/>
                  <a:cs typeface="Times"/>
                </a:endParaRPr>
              </a:p>
              <a:p>
                <a:pPr marL="342891" lvl="1" indent="-342891" defTabSz="912791">
                  <a:spcBef>
                    <a:spcPts val="1200"/>
                  </a:spcBef>
                  <a:buClr>
                    <a:srgbClr val="0000CC"/>
                  </a:buClr>
                  <a:buSzPct val="90000"/>
                  <a:buFont typeface="+mj-lt"/>
                  <a:buAutoNum type="arabicPeriod" startAt="6"/>
                </a:pPr>
                <a:endParaRPr lang="en-US" sz="2400" dirty="0">
                  <a:solidFill>
                    <a:schemeClr val="tx2"/>
                  </a:solidFill>
                  <a:latin typeface="Corbel" panose="020B0503020204020204" pitchFamily="34" charset="0"/>
                  <a:cs typeface="Times"/>
                </a:endParaRPr>
              </a:p>
              <a:p>
                <a:pPr marL="342891" lvl="1" indent="-342891" defTabSz="912791">
                  <a:spcBef>
                    <a:spcPts val="1200"/>
                  </a:spcBef>
                  <a:buClr>
                    <a:srgbClr val="0000CC"/>
                  </a:buClr>
                  <a:buSzPct val="90000"/>
                  <a:buFont typeface="+mj-lt"/>
                  <a:buAutoNum type="arabicPeriod" startAt="6"/>
                </a:pPr>
                <a:endParaRPr lang="en-US" sz="2400" dirty="0">
                  <a:solidFill>
                    <a:schemeClr val="tx2"/>
                  </a:solidFill>
                  <a:latin typeface="Corbel" panose="020B0503020204020204" pitchFamily="34" charset="0"/>
                  <a:cs typeface="Times"/>
                </a:endParaRPr>
              </a:p>
              <a:p>
                <a:pPr marL="342891" lvl="1" indent="-342891" defTabSz="912791">
                  <a:spcBef>
                    <a:spcPts val="1200"/>
                  </a:spcBef>
                  <a:buClr>
                    <a:srgbClr val="0000CC"/>
                  </a:buClr>
                  <a:buSzPct val="90000"/>
                  <a:buFont typeface="+mj-lt"/>
                  <a:buAutoNum type="arabicPeriod" startAt="6"/>
                </a:pPr>
                <a:r>
                  <a:rPr lang="en-US" sz="2400" dirty="0">
                    <a:solidFill>
                      <a:schemeClr val="tx2"/>
                    </a:solidFill>
                    <a:latin typeface="Corbel" panose="020B0503020204020204" pitchFamily="34" charset="0"/>
                    <a:cs typeface="Times"/>
                  </a:rPr>
                  <a:t>Utility function </a:t>
                </a:r>
                <a14:m>
                  <m:oMath xmlns:m="http://schemas.openxmlformats.org/officeDocument/2006/math">
                    <m:r>
                      <a:rPr lang="en-US" sz="2400" i="1" dirty="0">
                        <a:latin typeface="Cambria Math" panose="02040503050406030204" pitchFamily="18" charset="0"/>
                        <a:cs typeface="Times"/>
                      </a:rPr>
                      <m:t>𝑈𝑇𝐼𝐿𝐼𝑇𝑌</m:t>
                    </m:r>
                    <m:r>
                      <a:rPr lang="en-US" sz="2400" i="1" dirty="0">
                        <a:latin typeface="Cambria Math" panose="02040503050406030204" pitchFamily="18" charset="0"/>
                        <a:cs typeface="Times"/>
                      </a:rPr>
                      <m:t>(</m:t>
                    </m:r>
                    <m:r>
                      <a:rPr lang="en-US" sz="2400" i="1" dirty="0">
                        <a:latin typeface="Cambria Math" panose="02040503050406030204" pitchFamily="18" charset="0"/>
                        <a:cs typeface="Times"/>
                      </a:rPr>
                      <m:t>𝑠</m:t>
                    </m:r>
                    <m:r>
                      <a:rPr lang="en-US" sz="2400" i="1" dirty="0">
                        <a:latin typeface="Cambria Math" panose="02040503050406030204" pitchFamily="18" charset="0"/>
                        <a:cs typeface="Times"/>
                      </a:rPr>
                      <m:t>, </m:t>
                    </m:r>
                    <m:r>
                      <a:rPr lang="en-US" sz="2400" i="1" dirty="0">
                        <a:latin typeface="Cambria Math" panose="02040503050406030204" pitchFamily="18" charset="0"/>
                        <a:cs typeface="Times"/>
                      </a:rPr>
                      <m:t>𝑝</m:t>
                    </m:r>
                    <m:r>
                      <a:rPr lang="en-US" sz="2400" i="1" dirty="0">
                        <a:latin typeface="Cambria Math" panose="02040503050406030204" pitchFamily="18" charset="0"/>
                        <a:cs typeface="Times"/>
                      </a:rPr>
                      <m:t>)</m:t>
                    </m:r>
                  </m:oMath>
                </a14:m>
                <a:r>
                  <a:rPr lang="en-US" sz="2400" dirty="0">
                    <a:latin typeface="Corbel" panose="020B0503020204020204" pitchFamily="34" charset="0"/>
                    <a:cs typeface="Times"/>
                  </a:rPr>
                  <a:t>: final numeric value for a game that ends in terminal state </a:t>
                </a:r>
                <a14:m>
                  <m:oMath xmlns:m="http://schemas.openxmlformats.org/officeDocument/2006/math">
                    <m:r>
                      <a:rPr lang="en-US" sz="2400" i="1" dirty="0">
                        <a:latin typeface="Cambria Math" panose="02040503050406030204" pitchFamily="18" charset="0"/>
                        <a:cs typeface="Times"/>
                      </a:rPr>
                      <m:t>𝑠</m:t>
                    </m:r>
                  </m:oMath>
                </a14:m>
                <a:r>
                  <a:rPr lang="en-US" sz="2400" dirty="0">
                    <a:latin typeface="Corbel" panose="020B0503020204020204" pitchFamily="34" charset="0"/>
                    <a:cs typeface="Times"/>
                  </a:rPr>
                  <a:t> for a player </a:t>
                </a:r>
                <a14:m>
                  <m:oMath xmlns:m="http://schemas.openxmlformats.org/officeDocument/2006/math">
                    <m:r>
                      <a:rPr lang="en-US" sz="2400" i="1" dirty="0">
                        <a:latin typeface="Cambria Math" panose="02040503050406030204" pitchFamily="18" charset="0"/>
                        <a:cs typeface="Times"/>
                      </a:rPr>
                      <m:t>𝑝</m:t>
                    </m:r>
                  </m:oMath>
                </a14:m>
                <a:endParaRPr lang="en-US" sz="2400" dirty="0">
                  <a:latin typeface="Corbel" panose="020B0503020204020204" pitchFamily="34" charset="0"/>
                  <a:cs typeface="Times"/>
                </a:endParaRPr>
              </a:p>
              <a:p>
                <a:pPr marL="684196" lvl="2" indent="-342891" defTabSz="912791">
                  <a:spcBef>
                    <a:spcPts val="1200"/>
                  </a:spcBef>
                  <a:buClr>
                    <a:srgbClr val="0000CC"/>
                  </a:buClr>
                  <a:buSzPct val="90000"/>
                </a:pPr>
                <a:r>
                  <a:rPr lang="en-US" sz="2400" dirty="0">
                    <a:latin typeface="Corbel" panose="020B0503020204020204" pitchFamily="34" charset="0"/>
                    <a:cs typeface="Times"/>
                  </a:rPr>
                  <a:t>Tic-Tac-Toe: X wins </a:t>
                </a:r>
                <a14:m>
                  <m:oMath xmlns:m="http://schemas.openxmlformats.org/officeDocument/2006/math">
                    <m:r>
                      <a:rPr lang="en-US" sz="2400" i="1" dirty="0">
                        <a:latin typeface="Cambria Math" panose="02040503050406030204" pitchFamily="18" charset="0"/>
                        <a:cs typeface="Times"/>
                      </a:rPr>
                      <m:t>+1</m:t>
                    </m:r>
                  </m:oMath>
                </a14:m>
                <a:r>
                  <a:rPr lang="en-US" sz="2400" dirty="0">
                    <a:latin typeface="Corbel" panose="020B0503020204020204" pitchFamily="34" charset="0"/>
                    <a:cs typeface="Times"/>
                  </a:rPr>
                  <a:t>; O wins </a:t>
                </a:r>
                <a14:m>
                  <m:oMath xmlns:m="http://schemas.openxmlformats.org/officeDocument/2006/math">
                    <m:r>
                      <a:rPr lang="en-US" sz="2400" i="1" dirty="0">
                        <a:latin typeface="Cambria Math" panose="02040503050406030204" pitchFamily="18" charset="0"/>
                        <a:cs typeface="Times"/>
                      </a:rPr>
                      <m:t>−1</m:t>
                    </m:r>
                  </m:oMath>
                </a14:m>
                <a:r>
                  <a:rPr lang="en-US" sz="2400" dirty="0">
                    <a:latin typeface="Corbel" panose="020B0503020204020204" pitchFamily="34" charset="0"/>
                    <a:cs typeface="Times"/>
                  </a:rPr>
                  <a:t>; draw </a:t>
                </a:r>
                <a14:m>
                  <m:oMath xmlns:m="http://schemas.openxmlformats.org/officeDocument/2006/math">
                    <m:r>
                      <a:rPr lang="en-US" sz="2400" i="1" dirty="0">
                        <a:latin typeface="Cambria Math" panose="02040503050406030204" pitchFamily="18" charset="0"/>
                        <a:cs typeface="Times"/>
                      </a:rPr>
                      <m:t>0</m:t>
                    </m:r>
                  </m:oMath>
                </a14:m>
                <a:r>
                  <a:rPr lang="en-US" sz="2400" dirty="0">
                    <a:latin typeface="Corbel" panose="020B0503020204020204" pitchFamily="34" charset="0"/>
                    <a:cs typeface="Times"/>
                  </a:rPr>
                  <a:t>.</a:t>
                </a:r>
              </a:p>
            </p:txBody>
          </p:sp>
        </mc:Choice>
        <mc:Fallback xmlns="">
          <p:sp>
            <p:nvSpPr>
              <p:cNvPr id="13315" name="Rectangle 3"/>
              <p:cNvSpPr>
                <a:spLocks noGrp="1" noRot="1" noChangeAspect="1" noMove="1" noResize="1" noEditPoints="1" noAdjustHandles="1" noChangeArrowheads="1" noChangeShapeType="1" noTextEdit="1"/>
              </p:cNvSpPr>
              <p:nvPr>
                <p:ph idx="1"/>
              </p:nvPr>
            </p:nvSpPr>
            <p:spPr>
              <a:xfrm>
                <a:off x="399246" y="958586"/>
                <a:ext cx="10157164" cy="5514713"/>
              </a:xfrm>
              <a:blipFill>
                <a:blip r:embed="rId3"/>
                <a:stretch>
                  <a:fillRect l="-1248" t="-1149"/>
                </a:stretch>
              </a:blipFill>
            </p:spPr>
            <p:txBody>
              <a:bodyPr/>
              <a:lstStyle/>
              <a:p>
                <a:r>
                  <a:rPr lang="en-GB">
                    <a:noFill/>
                  </a:rPr>
                  <a:t> </a:t>
                </a:r>
              </a:p>
            </p:txBody>
          </p:sp>
        </mc:Fallback>
      </mc:AlternateContent>
      <p:graphicFrame>
        <p:nvGraphicFramePr>
          <p:cNvPr id="6" name="Table 5">
            <a:extLst>
              <a:ext uri="{FF2B5EF4-FFF2-40B4-BE49-F238E27FC236}">
                <a16:creationId xmlns:a16="http://schemas.microsoft.com/office/drawing/2014/main" id="{E4436AE3-9231-E94D-BC0F-AD4FFB3F8434}"/>
              </a:ext>
            </a:extLst>
          </p:cNvPr>
          <p:cNvGraphicFramePr>
            <a:graphicFrameLocks noGrp="1"/>
          </p:cNvGraphicFramePr>
          <p:nvPr/>
        </p:nvGraphicFramePr>
        <p:xfrm>
          <a:off x="3124200" y="22860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7" name="Table 6">
            <a:extLst>
              <a:ext uri="{FF2B5EF4-FFF2-40B4-BE49-F238E27FC236}">
                <a16:creationId xmlns:a16="http://schemas.microsoft.com/office/drawing/2014/main" id="{2A830E3B-A3AA-5040-B778-2E57686DF2B4}"/>
              </a:ext>
            </a:extLst>
          </p:cNvPr>
          <p:cNvGraphicFramePr>
            <a:graphicFrameLocks noGrp="1"/>
          </p:cNvGraphicFramePr>
          <p:nvPr/>
        </p:nvGraphicFramePr>
        <p:xfrm>
          <a:off x="4876800" y="22860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r>
                        <a:rPr lang="en-US" sz="2000" b="1" dirty="0">
                          <a:solidFill>
                            <a:schemeClr val="tx1"/>
                          </a:solidFill>
                        </a:rPr>
                        <a:t>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8" name="Table 7">
            <a:extLst>
              <a:ext uri="{FF2B5EF4-FFF2-40B4-BE49-F238E27FC236}">
                <a16:creationId xmlns:a16="http://schemas.microsoft.com/office/drawing/2014/main" id="{3423C8C8-9460-094E-AA9C-A52EAE30D117}"/>
              </a:ext>
            </a:extLst>
          </p:cNvPr>
          <p:cNvGraphicFramePr>
            <a:graphicFrameLocks noGrp="1"/>
          </p:cNvGraphicFramePr>
          <p:nvPr/>
        </p:nvGraphicFramePr>
        <p:xfrm>
          <a:off x="6629400" y="22860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X</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endParaRPr lang="en-US" sz="2000" b="1" dirty="0">
                        <a:solidFill>
                          <a:schemeClr val="tx1"/>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9" name="Table 8">
            <a:extLst>
              <a:ext uri="{FF2B5EF4-FFF2-40B4-BE49-F238E27FC236}">
                <a16:creationId xmlns:a16="http://schemas.microsoft.com/office/drawing/2014/main" id="{B56C2A2B-90AF-A149-95E0-A387C85D4EA0}"/>
              </a:ext>
            </a:extLst>
          </p:cNvPr>
          <p:cNvGraphicFramePr>
            <a:graphicFrameLocks noGrp="1"/>
          </p:cNvGraphicFramePr>
          <p:nvPr/>
        </p:nvGraphicFramePr>
        <p:xfrm>
          <a:off x="8382000" y="2286000"/>
          <a:ext cx="1296000" cy="129600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95685895"/>
                    </a:ext>
                  </a:extLst>
                </a:gridCol>
                <a:gridCol w="432000">
                  <a:extLst>
                    <a:ext uri="{9D8B030D-6E8A-4147-A177-3AD203B41FA5}">
                      <a16:colId xmlns:a16="http://schemas.microsoft.com/office/drawing/2014/main" val="183693953"/>
                    </a:ext>
                  </a:extLst>
                </a:gridCol>
                <a:gridCol w="432000">
                  <a:extLst>
                    <a:ext uri="{9D8B030D-6E8A-4147-A177-3AD203B41FA5}">
                      <a16:colId xmlns:a16="http://schemas.microsoft.com/office/drawing/2014/main" val="2379572643"/>
                    </a:ext>
                  </a:extLst>
                </a:gridCol>
              </a:tblGrid>
              <a:tr h="432000">
                <a:tc>
                  <a:txBody>
                    <a:bodyPr/>
                    <a:lstStyle/>
                    <a:p>
                      <a:pPr algn="ctr"/>
                      <a:r>
                        <a:rPr lang="en-US" sz="2000" b="1" dirty="0">
                          <a:solidFill>
                            <a:schemeClr val="tx1"/>
                          </a:solidFill>
                        </a:rPr>
                        <a:t>O</a:t>
                      </a: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432000">
                <a:tc>
                  <a:txBody>
                    <a:bodyPr/>
                    <a:lstStyle/>
                    <a:p>
                      <a:pPr algn="ctr"/>
                      <a:r>
                        <a:rPr lang="en-US" sz="2000" b="1" dirty="0">
                          <a:solidFill>
                            <a:schemeClr val="tx1"/>
                          </a:solidFill>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432000">
                <a:tc>
                  <a:txBody>
                    <a:bodyPr/>
                    <a:lstStyle/>
                    <a:p>
                      <a:pPr algn="ctr"/>
                      <a:r>
                        <a:rPr lang="en-US" sz="2000" b="1" dirty="0">
                          <a:solidFill>
                            <a:schemeClr val="tx1"/>
                          </a:solidFill>
                        </a:rPr>
                        <a:t>X</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2000" b="1" dirty="0">
                          <a:solidFill>
                            <a:schemeClr val="tx1"/>
                          </a:solidFill>
                        </a:rPr>
                        <a:t>O</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sp>
        <p:nvSpPr>
          <p:cNvPr id="10" name="Rounded Rectangle 9">
            <a:extLst>
              <a:ext uri="{FF2B5EF4-FFF2-40B4-BE49-F238E27FC236}">
                <a16:creationId xmlns:a16="http://schemas.microsoft.com/office/drawing/2014/main" id="{ECCD25E3-D069-364F-A10B-3A7ED1FA6D66}"/>
              </a:ext>
            </a:extLst>
          </p:cNvPr>
          <p:cNvSpPr/>
          <p:nvPr/>
        </p:nvSpPr>
        <p:spPr>
          <a:xfrm rot="2740147">
            <a:off x="4657151" y="2763476"/>
            <a:ext cx="1676400" cy="30480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EE360AD0-5FB3-9D4B-B354-18A485890EA0}"/>
              </a:ext>
            </a:extLst>
          </p:cNvPr>
          <p:cNvSpPr/>
          <p:nvPr/>
        </p:nvSpPr>
        <p:spPr>
          <a:xfrm rot="5400000">
            <a:off x="7061326" y="2732829"/>
            <a:ext cx="1296001" cy="3310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A7D9365-2E76-794F-83FC-E9A85E042B75}"/>
              </a:ext>
            </a:extLst>
          </p:cNvPr>
          <p:cNvSpPr/>
          <p:nvPr/>
        </p:nvSpPr>
        <p:spPr>
          <a:xfrm rot="5400000">
            <a:off x="8787677" y="2702181"/>
            <a:ext cx="1296001" cy="33104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2918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3" name="Rectangle 3"/>
          <p:cNvSpPr>
            <a:spLocks noGrp="1" noChangeArrowheads="1"/>
          </p:cNvSpPr>
          <p:nvPr>
            <p:ph type="title"/>
          </p:nvPr>
        </p:nvSpPr>
        <p:spPr>
          <a:xfrm>
            <a:off x="507973" y="156732"/>
            <a:ext cx="7704667" cy="1519317"/>
          </a:xfrm>
        </p:spPr>
        <p:txBody>
          <a:bodyPr>
            <a:noAutofit/>
          </a:bodyPr>
          <a:lstStyle/>
          <a:p>
            <a:r>
              <a:rPr lang="en-US" sz="3200" dirty="0"/>
              <a:t>Game Tree </a:t>
            </a:r>
            <a:br>
              <a:rPr lang="en-US" sz="3200" dirty="0"/>
            </a:br>
            <a:r>
              <a:rPr lang="en-US" sz="3200" dirty="0"/>
              <a:t>(2-Player, Deterministic, Turn-Taking)</a:t>
            </a:r>
          </a:p>
        </p:txBody>
      </p:sp>
      <p:graphicFrame>
        <p:nvGraphicFramePr>
          <p:cNvPr id="7" name="Table 6">
            <a:extLst>
              <a:ext uri="{FF2B5EF4-FFF2-40B4-BE49-F238E27FC236}">
                <a16:creationId xmlns:a16="http://schemas.microsoft.com/office/drawing/2014/main" id="{5F832183-2364-5247-940E-8A63FA214F80}"/>
              </a:ext>
            </a:extLst>
          </p:cNvPr>
          <p:cNvGraphicFramePr>
            <a:graphicFrameLocks noGrp="1"/>
          </p:cNvGraphicFramePr>
          <p:nvPr>
            <p:extLst>
              <p:ext uri="{D42A27DB-BD31-4B8C-83A1-F6EECF244321}">
                <p14:modId xmlns:p14="http://schemas.microsoft.com/office/powerpoint/2010/main" val="557890607"/>
              </p:ext>
            </p:extLst>
          </p:nvPr>
        </p:nvGraphicFramePr>
        <p:xfrm>
          <a:off x="478665" y="1278162"/>
          <a:ext cx="527913" cy="527913"/>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5971">
                <a:tc>
                  <a:txBody>
                    <a:bodyPr/>
                    <a:lstStyle/>
                    <a:p>
                      <a:endParaRPr lang="en-US" sz="700" dirty="0"/>
                    </a:p>
                  </a:txBody>
                  <a:tcPr marL="37247" marR="37247" marT="18624" marB="18624">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700" dirty="0"/>
                    </a:p>
                  </a:txBody>
                  <a:tcPr marL="37247" marR="37247" marT="18624" marB="186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endParaRPr lang="en-US" sz="700" dirty="0"/>
                    </a:p>
                  </a:txBody>
                  <a:tcPr marL="37247" marR="37247" marT="18624" marB="18624">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5971">
                <a:tc>
                  <a:txBody>
                    <a:bodyPr/>
                    <a:lstStyle/>
                    <a:p>
                      <a:endParaRPr lang="en-US" sz="700" dirty="0"/>
                    </a:p>
                  </a:txBody>
                  <a:tcPr marL="37247" marR="37247" marT="18624" marB="18624">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700"/>
                    </a:p>
                  </a:txBody>
                  <a:tcPr marL="37247" marR="37247" marT="18624" marB="186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700" dirty="0"/>
                    </a:p>
                  </a:txBody>
                  <a:tcPr marL="37247" marR="37247" marT="18624" marB="18624">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5971">
                <a:tc>
                  <a:txBody>
                    <a:bodyPr/>
                    <a:lstStyle/>
                    <a:p>
                      <a:endParaRPr lang="en-US" sz="700"/>
                    </a:p>
                  </a:txBody>
                  <a:tcPr marL="37247" marR="37247" marT="18624" marB="18624">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endParaRPr lang="en-US" sz="700" dirty="0"/>
                    </a:p>
                  </a:txBody>
                  <a:tcPr marL="37247" marR="37247" marT="18624" marB="186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endParaRPr lang="en-US" sz="700" dirty="0"/>
                    </a:p>
                  </a:txBody>
                  <a:tcPr marL="37247" marR="37247" marT="18624" marB="18624">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8" name="Table 7">
            <a:extLst>
              <a:ext uri="{FF2B5EF4-FFF2-40B4-BE49-F238E27FC236}">
                <a16:creationId xmlns:a16="http://schemas.microsoft.com/office/drawing/2014/main" id="{AAD48197-F0AE-3045-AF4F-9E80FF750C50}"/>
              </a:ext>
            </a:extLst>
          </p:cNvPr>
          <p:cNvGraphicFramePr>
            <a:graphicFrameLocks noGrp="1"/>
          </p:cNvGraphicFramePr>
          <p:nvPr>
            <p:extLst>
              <p:ext uri="{D42A27DB-BD31-4B8C-83A1-F6EECF244321}">
                <p14:modId xmlns:p14="http://schemas.microsoft.com/office/powerpoint/2010/main" val="1042303012"/>
              </p:ext>
            </p:extLst>
          </p:nvPr>
        </p:nvGraphicFramePr>
        <p:xfrm>
          <a:off x="493457" y="2430622"/>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9" name="Table 8">
            <a:extLst>
              <a:ext uri="{FF2B5EF4-FFF2-40B4-BE49-F238E27FC236}">
                <a16:creationId xmlns:a16="http://schemas.microsoft.com/office/drawing/2014/main" id="{784D9E65-F901-3B4A-9631-DB7CB02A175E}"/>
              </a:ext>
            </a:extLst>
          </p:cNvPr>
          <p:cNvGraphicFramePr>
            <a:graphicFrameLocks noGrp="1"/>
          </p:cNvGraphicFramePr>
          <p:nvPr>
            <p:extLst>
              <p:ext uri="{D42A27DB-BD31-4B8C-83A1-F6EECF244321}">
                <p14:modId xmlns:p14="http://schemas.microsoft.com/office/powerpoint/2010/main" val="1934477038"/>
              </p:ext>
            </p:extLst>
          </p:nvPr>
        </p:nvGraphicFramePr>
        <p:xfrm>
          <a:off x="1240665" y="2430621"/>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0" name="Table 9">
            <a:extLst>
              <a:ext uri="{FF2B5EF4-FFF2-40B4-BE49-F238E27FC236}">
                <a16:creationId xmlns:a16="http://schemas.microsoft.com/office/drawing/2014/main" id="{EC3CE1DF-E848-824F-8040-7D8CB3698AB9}"/>
              </a:ext>
            </a:extLst>
          </p:cNvPr>
          <p:cNvGraphicFramePr>
            <a:graphicFrameLocks noGrp="1"/>
          </p:cNvGraphicFramePr>
          <p:nvPr>
            <p:extLst>
              <p:ext uri="{D42A27DB-BD31-4B8C-83A1-F6EECF244321}">
                <p14:modId xmlns:p14="http://schemas.microsoft.com/office/powerpoint/2010/main" val="485372941"/>
              </p:ext>
            </p:extLst>
          </p:nvPr>
        </p:nvGraphicFramePr>
        <p:xfrm>
          <a:off x="1987873" y="2430620"/>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1" name="Table 10">
            <a:extLst>
              <a:ext uri="{FF2B5EF4-FFF2-40B4-BE49-F238E27FC236}">
                <a16:creationId xmlns:a16="http://schemas.microsoft.com/office/drawing/2014/main" id="{A41B62E6-A8A0-604B-A99F-8B94B82AB411}"/>
              </a:ext>
            </a:extLst>
          </p:cNvPr>
          <p:cNvGraphicFramePr>
            <a:graphicFrameLocks noGrp="1"/>
          </p:cNvGraphicFramePr>
          <p:nvPr>
            <p:extLst>
              <p:ext uri="{D42A27DB-BD31-4B8C-83A1-F6EECF244321}">
                <p14:modId xmlns:p14="http://schemas.microsoft.com/office/powerpoint/2010/main" val="1172419647"/>
              </p:ext>
            </p:extLst>
          </p:nvPr>
        </p:nvGraphicFramePr>
        <p:xfrm>
          <a:off x="2735081" y="2430619"/>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2" name="Table 11">
            <a:extLst>
              <a:ext uri="{FF2B5EF4-FFF2-40B4-BE49-F238E27FC236}">
                <a16:creationId xmlns:a16="http://schemas.microsoft.com/office/drawing/2014/main" id="{D8ECDF31-DACD-2D43-8100-CA3D0BA5A352}"/>
              </a:ext>
            </a:extLst>
          </p:cNvPr>
          <p:cNvGraphicFramePr>
            <a:graphicFrameLocks noGrp="1"/>
          </p:cNvGraphicFramePr>
          <p:nvPr>
            <p:extLst>
              <p:ext uri="{D42A27DB-BD31-4B8C-83A1-F6EECF244321}">
                <p14:modId xmlns:p14="http://schemas.microsoft.com/office/powerpoint/2010/main" val="202679494"/>
              </p:ext>
            </p:extLst>
          </p:nvPr>
        </p:nvGraphicFramePr>
        <p:xfrm>
          <a:off x="3482289" y="2430618"/>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3" name="Table 12">
            <a:extLst>
              <a:ext uri="{FF2B5EF4-FFF2-40B4-BE49-F238E27FC236}">
                <a16:creationId xmlns:a16="http://schemas.microsoft.com/office/drawing/2014/main" id="{37A0D255-25DA-9649-BA7C-3EED254E4E7F}"/>
              </a:ext>
            </a:extLst>
          </p:cNvPr>
          <p:cNvGraphicFramePr>
            <a:graphicFrameLocks noGrp="1"/>
          </p:cNvGraphicFramePr>
          <p:nvPr>
            <p:extLst>
              <p:ext uri="{D42A27DB-BD31-4B8C-83A1-F6EECF244321}">
                <p14:modId xmlns:p14="http://schemas.microsoft.com/office/powerpoint/2010/main" val="2874005565"/>
              </p:ext>
            </p:extLst>
          </p:nvPr>
        </p:nvGraphicFramePr>
        <p:xfrm>
          <a:off x="4229497" y="2430617"/>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4" name="Table 13">
            <a:extLst>
              <a:ext uri="{FF2B5EF4-FFF2-40B4-BE49-F238E27FC236}">
                <a16:creationId xmlns:a16="http://schemas.microsoft.com/office/drawing/2014/main" id="{3C27449D-F50C-694A-81EC-74319B5404E8}"/>
              </a:ext>
            </a:extLst>
          </p:cNvPr>
          <p:cNvGraphicFramePr>
            <a:graphicFrameLocks noGrp="1"/>
          </p:cNvGraphicFramePr>
          <p:nvPr>
            <p:extLst>
              <p:ext uri="{D42A27DB-BD31-4B8C-83A1-F6EECF244321}">
                <p14:modId xmlns:p14="http://schemas.microsoft.com/office/powerpoint/2010/main" val="158309775"/>
              </p:ext>
            </p:extLst>
          </p:nvPr>
        </p:nvGraphicFramePr>
        <p:xfrm>
          <a:off x="4976705" y="2430616"/>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5" name="Table 14">
            <a:extLst>
              <a:ext uri="{FF2B5EF4-FFF2-40B4-BE49-F238E27FC236}">
                <a16:creationId xmlns:a16="http://schemas.microsoft.com/office/drawing/2014/main" id="{8406E0E5-FFFF-114C-A995-A71A0C447D6F}"/>
              </a:ext>
            </a:extLst>
          </p:cNvPr>
          <p:cNvGraphicFramePr>
            <a:graphicFrameLocks noGrp="1"/>
          </p:cNvGraphicFramePr>
          <p:nvPr>
            <p:extLst>
              <p:ext uri="{D42A27DB-BD31-4B8C-83A1-F6EECF244321}">
                <p14:modId xmlns:p14="http://schemas.microsoft.com/office/powerpoint/2010/main" val="1454381609"/>
              </p:ext>
            </p:extLst>
          </p:nvPr>
        </p:nvGraphicFramePr>
        <p:xfrm>
          <a:off x="5723913" y="2430615"/>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6" name="Table 15">
            <a:extLst>
              <a:ext uri="{FF2B5EF4-FFF2-40B4-BE49-F238E27FC236}">
                <a16:creationId xmlns:a16="http://schemas.microsoft.com/office/drawing/2014/main" id="{08DBDC62-A347-9A4D-AD77-B91C6EF35967}"/>
              </a:ext>
            </a:extLst>
          </p:cNvPr>
          <p:cNvGraphicFramePr>
            <a:graphicFrameLocks noGrp="1"/>
          </p:cNvGraphicFramePr>
          <p:nvPr>
            <p:extLst>
              <p:ext uri="{D42A27DB-BD31-4B8C-83A1-F6EECF244321}">
                <p14:modId xmlns:p14="http://schemas.microsoft.com/office/powerpoint/2010/main" val="2806537029"/>
              </p:ext>
            </p:extLst>
          </p:nvPr>
        </p:nvGraphicFramePr>
        <p:xfrm>
          <a:off x="6471121" y="2430614"/>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endParaRPr lang="en-US" sz="900" b="1" dirty="0">
                        <a:solidFill>
                          <a:schemeClr val="tx1"/>
                        </a:solidFill>
                      </a:endParaRP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7" name="Table 16">
            <a:extLst>
              <a:ext uri="{FF2B5EF4-FFF2-40B4-BE49-F238E27FC236}">
                <a16:creationId xmlns:a16="http://schemas.microsoft.com/office/drawing/2014/main" id="{131629E6-4C1D-3C45-9681-64992763A153}"/>
              </a:ext>
            </a:extLst>
          </p:cNvPr>
          <p:cNvGraphicFramePr>
            <a:graphicFrameLocks noGrp="1"/>
          </p:cNvGraphicFramePr>
          <p:nvPr>
            <p:extLst>
              <p:ext uri="{D42A27DB-BD31-4B8C-83A1-F6EECF244321}">
                <p14:modId xmlns:p14="http://schemas.microsoft.com/office/powerpoint/2010/main" val="2164871713"/>
              </p:ext>
            </p:extLst>
          </p:nvPr>
        </p:nvGraphicFramePr>
        <p:xfrm>
          <a:off x="493456" y="3560708"/>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8" name="Table 17">
            <a:extLst>
              <a:ext uri="{FF2B5EF4-FFF2-40B4-BE49-F238E27FC236}">
                <a16:creationId xmlns:a16="http://schemas.microsoft.com/office/drawing/2014/main" id="{6FC9377C-C414-A64C-B077-3989122BA1ED}"/>
              </a:ext>
            </a:extLst>
          </p:cNvPr>
          <p:cNvGraphicFramePr>
            <a:graphicFrameLocks noGrp="1"/>
          </p:cNvGraphicFramePr>
          <p:nvPr>
            <p:extLst>
              <p:ext uri="{D42A27DB-BD31-4B8C-83A1-F6EECF244321}">
                <p14:modId xmlns:p14="http://schemas.microsoft.com/office/powerpoint/2010/main" val="467767248"/>
              </p:ext>
            </p:extLst>
          </p:nvPr>
        </p:nvGraphicFramePr>
        <p:xfrm>
          <a:off x="1240664" y="3560706"/>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19" name="Table 18">
            <a:extLst>
              <a:ext uri="{FF2B5EF4-FFF2-40B4-BE49-F238E27FC236}">
                <a16:creationId xmlns:a16="http://schemas.microsoft.com/office/drawing/2014/main" id="{B5DF46F1-39A1-F544-9483-1906AAA4B0F4}"/>
              </a:ext>
            </a:extLst>
          </p:cNvPr>
          <p:cNvGraphicFramePr>
            <a:graphicFrameLocks noGrp="1"/>
          </p:cNvGraphicFramePr>
          <p:nvPr>
            <p:extLst>
              <p:ext uri="{D42A27DB-BD31-4B8C-83A1-F6EECF244321}">
                <p14:modId xmlns:p14="http://schemas.microsoft.com/office/powerpoint/2010/main" val="290503253"/>
              </p:ext>
            </p:extLst>
          </p:nvPr>
        </p:nvGraphicFramePr>
        <p:xfrm>
          <a:off x="1987872" y="3560704"/>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r>
                        <a:rPr lang="en-US" sz="900" b="1" dirty="0">
                          <a:solidFill>
                            <a:schemeClr val="tx1"/>
                          </a:solidFill>
                        </a:rPr>
                        <a:t>O</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0" name="Table 19">
            <a:extLst>
              <a:ext uri="{FF2B5EF4-FFF2-40B4-BE49-F238E27FC236}">
                <a16:creationId xmlns:a16="http://schemas.microsoft.com/office/drawing/2014/main" id="{3977774F-D370-CC4A-8DC3-717F033D432E}"/>
              </a:ext>
            </a:extLst>
          </p:cNvPr>
          <p:cNvGraphicFramePr>
            <a:graphicFrameLocks noGrp="1"/>
          </p:cNvGraphicFramePr>
          <p:nvPr>
            <p:extLst>
              <p:ext uri="{D42A27DB-BD31-4B8C-83A1-F6EECF244321}">
                <p14:modId xmlns:p14="http://schemas.microsoft.com/office/powerpoint/2010/main" val="3447704499"/>
              </p:ext>
            </p:extLst>
          </p:nvPr>
        </p:nvGraphicFramePr>
        <p:xfrm>
          <a:off x="2735080" y="3560702"/>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1" name="Table 20">
            <a:extLst>
              <a:ext uri="{FF2B5EF4-FFF2-40B4-BE49-F238E27FC236}">
                <a16:creationId xmlns:a16="http://schemas.microsoft.com/office/drawing/2014/main" id="{69FE048A-E82A-694D-ACC0-D2FF2232D80A}"/>
              </a:ext>
            </a:extLst>
          </p:cNvPr>
          <p:cNvGraphicFramePr>
            <a:graphicFrameLocks noGrp="1"/>
          </p:cNvGraphicFramePr>
          <p:nvPr>
            <p:extLst>
              <p:ext uri="{D42A27DB-BD31-4B8C-83A1-F6EECF244321}">
                <p14:modId xmlns:p14="http://schemas.microsoft.com/office/powerpoint/2010/main" val="3019903124"/>
              </p:ext>
            </p:extLst>
          </p:nvPr>
        </p:nvGraphicFramePr>
        <p:xfrm>
          <a:off x="3482288" y="3560700"/>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2" name="Table 21">
            <a:extLst>
              <a:ext uri="{FF2B5EF4-FFF2-40B4-BE49-F238E27FC236}">
                <a16:creationId xmlns:a16="http://schemas.microsoft.com/office/drawing/2014/main" id="{FEFD69F0-11D5-F349-B2FA-848AA739CBBF}"/>
              </a:ext>
            </a:extLst>
          </p:cNvPr>
          <p:cNvGraphicFramePr>
            <a:graphicFrameLocks noGrp="1"/>
          </p:cNvGraphicFramePr>
          <p:nvPr>
            <p:extLst>
              <p:ext uri="{D42A27DB-BD31-4B8C-83A1-F6EECF244321}">
                <p14:modId xmlns:p14="http://schemas.microsoft.com/office/powerpoint/2010/main" val="3863740745"/>
              </p:ext>
            </p:extLst>
          </p:nvPr>
        </p:nvGraphicFramePr>
        <p:xfrm>
          <a:off x="507973" y="4690794"/>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3" name="Table 22">
            <a:extLst>
              <a:ext uri="{FF2B5EF4-FFF2-40B4-BE49-F238E27FC236}">
                <a16:creationId xmlns:a16="http://schemas.microsoft.com/office/drawing/2014/main" id="{8AACE410-87EB-FD4A-B5BA-A6B9F119C1E6}"/>
              </a:ext>
            </a:extLst>
          </p:cNvPr>
          <p:cNvGraphicFramePr>
            <a:graphicFrameLocks noGrp="1"/>
          </p:cNvGraphicFramePr>
          <p:nvPr>
            <p:extLst>
              <p:ext uri="{D42A27DB-BD31-4B8C-83A1-F6EECF244321}">
                <p14:modId xmlns:p14="http://schemas.microsoft.com/office/powerpoint/2010/main" val="2269346921"/>
              </p:ext>
            </p:extLst>
          </p:nvPr>
        </p:nvGraphicFramePr>
        <p:xfrm>
          <a:off x="1240663" y="4690791"/>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4" name="Table 23">
            <a:extLst>
              <a:ext uri="{FF2B5EF4-FFF2-40B4-BE49-F238E27FC236}">
                <a16:creationId xmlns:a16="http://schemas.microsoft.com/office/drawing/2014/main" id="{8705753B-ECA6-8141-98AE-C470E36BDA3F}"/>
              </a:ext>
            </a:extLst>
          </p:cNvPr>
          <p:cNvGraphicFramePr>
            <a:graphicFrameLocks noGrp="1"/>
          </p:cNvGraphicFramePr>
          <p:nvPr>
            <p:extLst>
              <p:ext uri="{D42A27DB-BD31-4B8C-83A1-F6EECF244321}">
                <p14:modId xmlns:p14="http://schemas.microsoft.com/office/powerpoint/2010/main" val="3378312627"/>
              </p:ext>
            </p:extLst>
          </p:nvPr>
        </p:nvGraphicFramePr>
        <p:xfrm>
          <a:off x="1973353" y="4690788"/>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5" name="Table 24">
            <a:extLst>
              <a:ext uri="{FF2B5EF4-FFF2-40B4-BE49-F238E27FC236}">
                <a16:creationId xmlns:a16="http://schemas.microsoft.com/office/drawing/2014/main" id="{C3DB11B4-6AB6-6B40-A0A1-608FE81AA53E}"/>
              </a:ext>
            </a:extLst>
          </p:cNvPr>
          <p:cNvGraphicFramePr>
            <a:graphicFrameLocks noGrp="1"/>
          </p:cNvGraphicFramePr>
          <p:nvPr>
            <p:extLst>
              <p:ext uri="{D42A27DB-BD31-4B8C-83A1-F6EECF244321}">
                <p14:modId xmlns:p14="http://schemas.microsoft.com/office/powerpoint/2010/main" val="1256543598"/>
              </p:ext>
            </p:extLst>
          </p:nvPr>
        </p:nvGraphicFramePr>
        <p:xfrm>
          <a:off x="2706043" y="4690785"/>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endParaRPr lang="en-US" sz="900" b="1">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26" name="Table 25">
            <a:extLst>
              <a:ext uri="{FF2B5EF4-FFF2-40B4-BE49-F238E27FC236}">
                <a16:creationId xmlns:a16="http://schemas.microsoft.com/office/drawing/2014/main" id="{271A96DA-2C10-6C44-9F20-2F590834A195}"/>
              </a:ext>
            </a:extLst>
          </p:cNvPr>
          <p:cNvGraphicFramePr>
            <a:graphicFrameLocks noGrp="1"/>
          </p:cNvGraphicFramePr>
          <p:nvPr>
            <p:extLst>
              <p:ext uri="{D42A27DB-BD31-4B8C-83A1-F6EECF244321}">
                <p14:modId xmlns:p14="http://schemas.microsoft.com/office/powerpoint/2010/main" val="1281294815"/>
              </p:ext>
            </p:extLst>
          </p:nvPr>
        </p:nvGraphicFramePr>
        <p:xfrm>
          <a:off x="3438733" y="4690782"/>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cxnSp>
        <p:nvCxnSpPr>
          <p:cNvPr id="4" name="Straight Arrow Connector 3">
            <a:extLst>
              <a:ext uri="{FF2B5EF4-FFF2-40B4-BE49-F238E27FC236}">
                <a16:creationId xmlns:a16="http://schemas.microsoft.com/office/drawing/2014/main" id="{929A6FF9-4BC1-A242-AD11-CBBEE78A7E32}"/>
              </a:ext>
            </a:extLst>
          </p:cNvPr>
          <p:cNvCxnSpPr>
            <a:cxnSpLocks/>
            <a:stCxn id="7" idx="2"/>
            <a:endCxn id="8" idx="0"/>
          </p:cNvCxnSpPr>
          <p:nvPr/>
        </p:nvCxnSpPr>
        <p:spPr>
          <a:xfrm>
            <a:off x="742621" y="1806075"/>
            <a:ext cx="14792" cy="6245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E7FAF23-A583-CE4C-8928-6DCBE922D194}"/>
              </a:ext>
            </a:extLst>
          </p:cNvPr>
          <p:cNvCxnSpPr>
            <a:cxnSpLocks/>
            <a:stCxn id="7" idx="2"/>
            <a:endCxn id="9" idx="0"/>
          </p:cNvCxnSpPr>
          <p:nvPr/>
        </p:nvCxnSpPr>
        <p:spPr>
          <a:xfrm>
            <a:off x="742621" y="1806075"/>
            <a:ext cx="762000" cy="6245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8CB3E1E-43A0-EE49-831E-77D37E312BAD}"/>
              </a:ext>
            </a:extLst>
          </p:cNvPr>
          <p:cNvCxnSpPr>
            <a:cxnSpLocks/>
            <a:stCxn id="7" idx="2"/>
            <a:endCxn id="10" idx="0"/>
          </p:cNvCxnSpPr>
          <p:nvPr/>
        </p:nvCxnSpPr>
        <p:spPr>
          <a:xfrm>
            <a:off x="742621" y="1806075"/>
            <a:ext cx="1509208" cy="62454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05F4423-B0D1-7542-81C8-547F485C7005}"/>
              </a:ext>
            </a:extLst>
          </p:cNvPr>
          <p:cNvCxnSpPr>
            <a:cxnSpLocks/>
            <a:stCxn id="7" idx="2"/>
            <a:endCxn id="11" idx="0"/>
          </p:cNvCxnSpPr>
          <p:nvPr/>
        </p:nvCxnSpPr>
        <p:spPr>
          <a:xfrm>
            <a:off x="742621" y="1806075"/>
            <a:ext cx="2256416" cy="6245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A3695520-97E3-B848-84A6-A396353F8235}"/>
              </a:ext>
            </a:extLst>
          </p:cNvPr>
          <p:cNvCxnSpPr>
            <a:cxnSpLocks/>
            <a:stCxn id="7" idx="2"/>
            <a:endCxn id="12" idx="0"/>
          </p:cNvCxnSpPr>
          <p:nvPr/>
        </p:nvCxnSpPr>
        <p:spPr>
          <a:xfrm>
            <a:off x="742621" y="1806075"/>
            <a:ext cx="3003624" cy="62454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A13DB50-C490-954E-A300-4494863B1EFC}"/>
              </a:ext>
            </a:extLst>
          </p:cNvPr>
          <p:cNvCxnSpPr>
            <a:cxnSpLocks/>
            <a:stCxn id="7" idx="2"/>
            <a:endCxn id="13" idx="0"/>
          </p:cNvCxnSpPr>
          <p:nvPr/>
        </p:nvCxnSpPr>
        <p:spPr>
          <a:xfrm>
            <a:off x="742621" y="1806075"/>
            <a:ext cx="3750832" cy="6245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9FADA7B-BCB2-5448-A5A6-508B25D031C8}"/>
              </a:ext>
            </a:extLst>
          </p:cNvPr>
          <p:cNvCxnSpPr>
            <a:cxnSpLocks/>
            <a:stCxn id="7" idx="2"/>
            <a:endCxn id="14" idx="0"/>
          </p:cNvCxnSpPr>
          <p:nvPr/>
        </p:nvCxnSpPr>
        <p:spPr>
          <a:xfrm>
            <a:off x="742621" y="1806075"/>
            <a:ext cx="4498040" cy="62454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A8F66DF-37D4-1C4A-A9CE-15C85B9F153D}"/>
              </a:ext>
            </a:extLst>
          </p:cNvPr>
          <p:cNvCxnSpPr>
            <a:cxnSpLocks/>
            <a:stCxn id="7" idx="2"/>
            <a:endCxn id="15" idx="0"/>
          </p:cNvCxnSpPr>
          <p:nvPr/>
        </p:nvCxnSpPr>
        <p:spPr>
          <a:xfrm>
            <a:off x="742621" y="1806075"/>
            <a:ext cx="5245248" cy="6245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B4993A5-0EF3-2845-ADE8-A80DB72A7D87}"/>
              </a:ext>
            </a:extLst>
          </p:cNvPr>
          <p:cNvCxnSpPr>
            <a:cxnSpLocks/>
            <a:stCxn id="7" idx="2"/>
            <a:endCxn id="16" idx="0"/>
          </p:cNvCxnSpPr>
          <p:nvPr/>
        </p:nvCxnSpPr>
        <p:spPr>
          <a:xfrm>
            <a:off x="742621" y="1806075"/>
            <a:ext cx="5992456" cy="62453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293F1CE-0E08-7840-BC84-E39E8540FA91}"/>
              </a:ext>
            </a:extLst>
          </p:cNvPr>
          <p:cNvCxnSpPr>
            <a:cxnSpLocks/>
            <a:stCxn id="8" idx="2"/>
            <a:endCxn id="17" idx="0"/>
          </p:cNvCxnSpPr>
          <p:nvPr/>
        </p:nvCxnSpPr>
        <p:spPr>
          <a:xfrm flipH="1">
            <a:off x="757412" y="2969086"/>
            <a:ext cx="1" cy="59162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61B4D368-8500-0F41-AF4A-B2B75AD72677}"/>
              </a:ext>
            </a:extLst>
          </p:cNvPr>
          <p:cNvCxnSpPr>
            <a:cxnSpLocks/>
            <a:stCxn id="8" idx="2"/>
            <a:endCxn id="18" idx="0"/>
          </p:cNvCxnSpPr>
          <p:nvPr/>
        </p:nvCxnSpPr>
        <p:spPr>
          <a:xfrm>
            <a:off x="757413" y="2969086"/>
            <a:ext cx="747207" cy="5916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D73D10A-564B-4F4F-8903-FD74FEB88C8D}"/>
              </a:ext>
            </a:extLst>
          </p:cNvPr>
          <p:cNvCxnSpPr>
            <a:cxnSpLocks/>
            <a:stCxn id="8" idx="2"/>
            <a:endCxn id="19" idx="0"/>
          </p:cNvCxnSpPr>
          <p:nvPr/>
        </p:nvCxnSpPr>
        <p:spPr>
          <a:xfrm>
            <a:off x="757413" y="2969086"/>
            <a:ext cx="1494415" cy="59161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BF3EC23-5043-4047-83D0-EE978FA6B52C}"/>
              </a:ext>
            </a:extLst>
          </p:cNvPr>
          <p:cNvCxnSpPr>
            <a:cxnSpLocks/>
            <a:stCxn id="8" idx="2"/>
            <a:endCxn id="20" idx="0"/>
          </p:cNvCxnSpPr>
          <p:nvPr/>
        </p:nvCxnSpPr>
        <p:spPr>
          <a:xfrm>
            <a:off x="757413" y="2969086"/>
            <a:ext cx="2241623" cy="59161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701FAD6-86B4-E743-8546-A36FAF9417FC}"/>
              </a:ext>
            </a:extLst>
          </p:cNvPr>
          <p:cNvCxnSpPr>
            <a:cxnSpLocks/>
            <a:stCxn id="8" idx="2"/>
            <a:endCxn id="21" idx="0"/>
          </p:cNvCxnSpPr>
          <p:nvPr/>
        </p:nvCxnSpPr>
        <p:spPr>
          <a:xfrm>
            <a:off x="757413" y="2969086"/>
            <a:ext cx="2988831" cy="59161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4A18B32F-0A5E-B143-BADD-FC3156060578}"/>
              </a:ext>
            </a:extLst>
          </p:cNvPr>
          <p:cNvCxnSpPr>
            <a:cxnSpLocks/>
          </p:cNvCxnSpPr>
          <p:nvPr/>
        </p:nvCxnSpPr>
        <p:spPr>
          <a:xfrm flipH="1">
            <a:off x="742620" y="4088613"/>
            <a:ext cx="1" cy="60217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181CD583-C2AE-B449-BCCC-1C967B0171DD}"/>
              </a:ext>
            </a:extLst>
          </p:cNvPr>
          <p:cNvCxnSpPr>
            <a:cxnSpLocks/>
          </p:cNvCxnSpPr>
          <p:nvPr/>
        </p:nvCxnSpPr>
        <p:spPr>
          <a:xfrm>
            <a:off x="742621" y="4088613"/>
            <a:ext cx="747207" cy="60217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91605AB-3141-EE49-BA03-F307719053C9}"/>
              </a:ext>
            </a:extLst>
          </p:cNvPr>
          <p:cNvCxnSpPr>
            <a:cxnSpLocks/>
          </p:cNvCxnSpPr>
          <p:nvPr/>
        </p:nvCxnSpPr>
        <p:spPr>
          <a:xfrm>
            <a:off x="742621" y="4088613"/>
            <a:ext cx="1494415" cy="60216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8829611-A962-4B46-8172-575DABF91306}"/>
              </a:ext>
            </a:extLst>
          </p:cNvPr>
          <p:cNvCxnSpPr>
            <a:cxnSpLocks/>
          </p:cNvCxnSpPr>
          <p:nvPr/>
        </p:nvCxnSpPr>
        <p:spPr>
          <a:xfrm>
            <a:off x="742621" y="4088613"/>
            <a:ext cx="2241623" cy="60216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90F3CA4-C528-EB4A-8FD3-E73A807CD44D}"/>
              </a:ext>
            </a:extLst>
          </p:cNvPr>
          <p:cNvCxnSpPr>
            <a:cxnSpLocks/>
          </p:cNvCxnSpPr>
          <p:nvPr/>
        </p:nvCxnSpPr>
        <p:spPr>
          <a:xfrm>
            <a:off x="742621" y="4088613"/>
            <a:ext cx="2988831" cy="60216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3F4F50C0-338F-2249-A584-C5A5F13D71FC}"/>
                  </a:ext>
                </a:extLst>
              </p:cNvPr>
              <p:cNvSpPr txBox="1"/>
              <p:nvPr/>
            </p:nvSpPr>
            <p:spPr>
              <a:xfrm>
                <a:off x="4010200" y="3560694"/>
                <a:ext cx="11259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68" name="TextBox 67">
                <a:extLst>
                  <a:ext uri="{FF2B5EF4-FFF2-40B4-BE49-F238E27FC236}">
                    <a16:creationId xmlns:a16="http://schemas.microsoft.com/office/drawing/2014/main" id="{3F4F50C0-338F-2249-A584-C5A5F13D71FC}"/>
                  </a:ext>
                </a:extLst>
              </p:cNvPr>
              <p:cNvSpPr txBox="1">
                <a:spLocks noRot="1" noChangeAspect="1" noMove="1" noResize="1" noEditPoints="1" noAdjustHandles="1" noChangeArrowheads="1" noChangeShapeType="1" noTextEdit="1"/>
              </p:cNvSpPr>
              <p:nvPr/>
            </p:nvSpPr>
            <p:spPr>
              <a:xfrm>
                <a:off x="4010200" y="3560694"/>
                <a:ext cx="1125968"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04ADE9C-391E-5B45-9DC1-9694A8BA09B7}"/>
                  </a:ext>
                </a:extLst>
              </p:cNvPr>
              <p:cNvSpPr txBox="1"/>
              <p:nvPr/>
            </p:nvSpPr>
            <p:spPr>
              <a:xfrm>
                <a:off x="4010200" y="4624522"/>
                <a:ext cx="11259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77" name="TextBox 76">
                <a:extLst>
                  <a:ext uri="{FF2B5EF4-FFF2-40B4-BE49-F238E27FC236}">
                    <a16:creationId xmlns:a16="http://schemas.microsoft.com/office/drawing/2014/main" id="{404ADE9C-391E-5B45-9DC1-9694A8BA09B7}"/>
                  </a:ext>
                </a:extLst>
              </p:cNvPr>
              <p:cNvSpPr txBox="1">
                <a:spLocks noRot="1" noChangeAspect="1" noMove="1" noResize="1" noEditPoints="1" noAdjustHandles="1" noChangeArrowheads="1" noChangeShapeType="1" noTextEdit="1"/>
              </p:cNvSpPr>
              <p:nvPr/>
            </p:nvSpPr>
            <p:spPr>
              <a:xfrm>
                <a:off x="4010200" y="4624522"/>
                <a:ext cx="1125968" cy="369332"/>
              </a:xfrm>
              <a:prstGeom prst="rect">
                <a:avLst/>
              </a:prstGeom>
              <a:blipFill>
                <a:blip r:embed="rId4"/>
                <a:stretch>
                  <a:fillRect/>
                </a:stretch>
              </a:blipFill>
            </p:spPr>
            <p:txBody>
              <a:bodyPr/>
              <a:lstStyle/>
              <a:p>
                <a:r>
                  <a:rPr lang="en-GB">
                    <a:noFill/>
                  </a:rPr>
                  <a:t> </a:t>
                </a:r>
              </a:p>
            </p:txBody>
          </p:sp>
        </mc:Fallback>
      </mc:AlternateContent>
      <p:graphicFrame>
        <p:nvGraphicFramePr>
          <p:cNvPr id="78" name="Table 77">
            <a:extLst>
              <a:ext uri="{FF2B5EF4-FFF2-40B4-BE49-F238E27FC236}">
                <a16:creationId xmlns:a16="http://schemas.microsoft.com/office/drawing/2014/main" id="{0199A532-B7C3-0245-9297-462A4163F342}"/>
              </a:ext>
            </a:extLst>
          </p:cNvPr>
          <p:cNvGraphicFramePr>
            <a:graphicFrameLocks noGrp="1"/>
          </p:cNvGraphicFramePr>
          <p:nvPr>
            <p:extLst>
              <p:ext uri="{D42A27DB-BD31-4B8C-83A1-F6EECF244321}">
                <p14:modId xmlns:p14="http://schemas.microsoft.com/office/powerpoint/2010/main" val="2493441770"/>
              </p:ext>
            </p:extLst>
          </p:nvPr>
        </p:nvGraphicFramePr>
        <p:xfrm>
          <a:off x="1268797" y="6043310"/>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endParaRPr lang="en-US" sz="900" b="1" dirty="0">
                        <a:solidFill>
                          <a:schemeClr val="tx1"/>
                        </a:solidFill>
                      </a:endParaRP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endParaRPr lang="en-US" sz="900" b="1" dirty="0">
                        <a:solidFill>
                          <a:schemeClr val="tx1"/>
                        </a:solidFill>
                      </a:endParaRP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p:graphicFrame>
        <p:nvGraphicFramePr>
          <p:cNvPr id="79" name="Table 78">
            <a:extLst>
              <a:ext uri="{FF2B5EF4-FFF2-40B4-BE49-F238E27FC236}">
                <a16:creationId xmlns:a16="http://schemas.microsoft.com/office/drawing/2014/main" id="{BD17BE9C-E382-EF4C-A656-224B16862228}"/>
              </a:ext>
            </a:extLst>
          </p:cNvPr>
          <p:cNvGraphicFramePr>
            <a:graphicFrameLocks noGrp="1"/>
          </p:cNvGraphicFramePr>
          <p:nvPr>
            <p:extLst>
              <p:ext uri="{D42A27DB-BD31-4B8C-83A1-F6EECF244321}">
                <p14:modId xmlns:p14="http://schemas.microsoft.com/office/powerpoint/2010/main" val="600683409"/>
              </p:ext>
            </p:extLst>
          </p:nvPr>
        </p:nvGraphicFramePr>
        <p:xfrm>
          <a:off x="3389389" y="6043309"/>
          <a:ext cx="527913" cy="538464"/>
        </p:xfrm>
        <a:graphic>
          <a:graphicData uri="http://schemas.openxmlformats.org/drawingml/2006/table">
            <a:tbl>
              <a:tblPr firstRow="1" bandRow="1">
                <a:tableStyleId>{5C22544A-7EE6-4342-B048-85BDC9FD1C3A}</a:tableStyleId>
              </a:tblPr>
              <a:tblGrid>
                <a:gridCol w="175971">
                  <a:extLst>
                    <a:ext uri="{9D8B030D-6E8A-4147-A177-3AD203B41FA5}">
                      <a16:colId xmlns:a16="http://schemas.microsoft.com/office/drawing/2014/main" val="95685895"/>
                    </a:ext>
                  </a:extLst>
                </a:gridCol>
                <a:gridCol w="175971">
                  <a:extLst>
                    <a:ext uri="{9D8B030D-6E8A-4147-A177-3AD203B41FA5}">
                      <a16:colId xmlns:a16="http://schemas.microsoft.com/office/drawing/2014/main" val="183693953"/>
                    </a:ext>
                  </a:extLst>
                </a:gridCol>
                <a:gridCol w="175971">
                  <a:extLst>
                    <a:ext uri="{9D8B030D-6E8A-4147-A177-3AD203B41FA5}">
                      <a16:colId xmlns:a16="http://schemas.microsoft.com/office/drawing/2014/main" val="2379572643"/>
                    </a:ext>
                  </a:extLst>
                </a:gridCol>
              </a:tblGrid>
              <a:tr h="179488">
                <a:tc>
                  <a:txBody>
                    <a:bodyPr/>
                    <a:lstStyle/>
                    <a:p>
                      <a:pPr algn="ctr"/>
                      <a:r>
                        <a:rPr lang="en-US" sz="900" b="1" dirty="0">
                          <a:solidFill>
                            <a:schemeClr val="tx1"/>
                          </a:solidFill>
                        </a:rPr>
                        <a:t>X</a:t>
                      </a:r>
                    </a:p>
                  </a:txBody>
                  <a:tcPr marL="37247" marR="37247" marT="18624" marB="18624"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179488">
                <a:tc>
                  <a:txBody>
                    <a:bodyPr/>
                    <a:lstStyle/>
                    <a:p>
                      <a:pPr algn="ctr"/>
                      <a:r>
                        <a:rPr lang="en-US" sz="900" b="1" dirty="0">
                          <a:solidFill>
                            <a:schemeClr val="tx1"/>
                          </a:solidFill>
                        </a:rPr>
                        <a:t>X</a:t>
                      </a:r>
                    </a:p>
                  </a:txBody>
                  <a:tcPr marL="37247" marR="37247" marT="18624" marB="18624"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900" b="1" dirty="0">
                          <a:solidFill>
                            <a:schemeClr val="tx1"/>
                          </a:solidFill>
                        </a:rPr>
                        <a:t>X</a:t>
                      </a:r>
                    </a:p>
                  </a:txBody>
                  <a:tcPr marL="37247" marR="37247" marT="18624" marB="186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ctr"/>
                      <a:r>
                        <a:rPr lang="en-US" sz="900" b="1" dirty="0">
                          <a:solidFill>
                            <a:schemeClr val="tx1"/>
                          </a:solidFill>
                        </a:rPr>
                        <a:t>O</a:t>
                      </a:r>
                    </a:p>
                  </a:txBody>
                  <a:tcPr marL="37247" marR="37247" marT="18624" marB="18624"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431722107"/>
                  </a:ext>
                </a:extLst>
              </a:tr>
            </a:tbl>
          </a:graphicData>
        </a:graphic>
      </p:graphicFrame>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BE7FF5C4-5809-9546-B9DD-DA0A932860C5}"/>
                  </a:ext>
                </a:extLst>
              </p:cNvPr>
              <p:cNvSpPr txBox="1"/>
              <p:nvPr/>
            </p:nvSpPr>
            <p:spPr>
              <a:xfrm>
                <a:off x="947856" y="5477619"/>
                <a:ext cx="11259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80" name="TextBox 79">
                <a:extLst>
                  <a:ext uri="{FF2B5EF4-FFF2-40B4-BE49-F238E27FC236}">
                    <a16:creationId xmlns:a16="http://schemas.microsoft.com/office/drawing/2014/main" id="{BE7FF5C4-5809-9546-B9DD-DA0A932860C5}"/>
                  </a:ext>
                </a:extLst>
              </p:cNvPr>
              <p:cNvSpPr txBox="1">
                <a:spLocks noRot="1" noChangeAspect="1" noMove="1" noResize="1" noEditPoints="1" noAdjustHandles="1" noChangeArrowheads="1" noChangeShapeType="1" noTextEdit="1"/>
              </p:cNvSpPr>
              <p:nvPr/>
            </p:nvSpPr>
            <p:spPr>
              <a:xfrm>
                <a:off x="947856" y="5477619"/>
                <a:ext cx="112596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82098C1-1AD2-244C-AE2F-9117E303D483}"/>
                  </a:ext>
                </a:extLst>
              </p:cNvPr>
              <p:cNvSpPr txBox="1"/>
              <p:nvPr/>
            </p:nvSpPr>
            <p:spPr>
              <a:xfrm>
                <a:off x="3077477" y="5499993"/>
                <a:ext cx="112596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81" name="TextBox 80">
                <a:extLst>
                  <a:ext uri="{FF2B5EF4-FFF2-40B4-BE49-F238E27FC236}">
                    <a16:creationId xmlns:a16="http://schemas.microsoft.com/office/drawing/2014/main" id="{982098C1-1AD2-244C-AE2F-9117E303D483}"/>
                  </a:ext>
                </a:extLst>
              </p:cNvPr>
              <p:cNvSpPr txBox="1">
                <a:spLocks noRot="1" noChangeAspect="1" noMove="1" noResize="1" noEditPoints="1" noAdjustHandles="1" noChangeArrowheads="1" noChangeShapeType="1" noTextEdit="1"/>
              </p:cNvSpPr>
              <p:nvPr/>
            </p:nvSpPr>
            <p:spPr>
              <a:xfrm>
                <a:off x="3077477" y="5499993"/>
                <a:ext cx="1125968" cy="369332"/>
              </a:xfrm>
              <a:prstGeom prst="rect">
                <a:avLst/>
              </a:prstGeom>
              <a:blipFill>
                <a:blip r:embed="rId6"/>
                <a:stretch>
                  <a:fillRect/>
                </a:stretch>
              </a:blipFill>
            </p:spPr>
            <p:txBody>
              <a:bodyPr/>
              <a:lstStyle/>
              <a:p>
                <a:r>
                  <a:rPr lang="en-GB">
                    <a:noFill/>
                  </a:rPr>
                  <a:t> </a:t>
                </a:r>
              </a:p>
            </p:txBody>
          </p:sp>
        </mc:Fallback>
      </mc:AlternateContent>
      <p:cxnSp>
        <p:nvCxnSpPr>
          <p:cNvPr id="82" name="Straight Arrow Connector 81">
            <a:extLst>
              <a:ext uri="{FF2B5EF4-FFF2-40B4-BE49-F238E27FC236}">
                <a16:creationId xmlns:a16="http://schemas.microsoft.com/office/drawing/2014/main" id="{4B500240-B951-4A4C-8D9B-4B8403C589DA}"/>
              </a:ext>
            </a:extLst>
          </p:cNvPr>
          <p:cNvCxnSpPr>
            <a:cxnSpLocks/>
            <a:stCxn id="22" idx="2"/>
            <a:endCxn id="80" idx="0"/>
          </p:cNvCxnSpPr>
          <p:nvPr/>
        </p:nvCxnSpPr>
        <p:spPr>
          <a:xfrm>
            <a:off x="771929" y="5229258"/>
            <a:ext cx="738911" cy="2483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42C23E58-577F-C545-B79E-94EE4EE759A3}"/>
              </a:ext>
            </a:extLst>
          </p:cNvPr>
          <p:cNvCxnSpPr>
            <a:cxnSpLocks/>
            <a:stCxn id="22" idx="2"/>
            <a:endCxn id="81" idx="0"/>
          </p:cNvCxnSpPr>
          <p:nvPr/>
        </p:nvCxnSpPr>
        <p:spPr>
          <a:xfrm>
            <a:off x="771929" y="5229258"/>
            <a:ext cx="2868532" cy="27073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235B06E3-4EA6-5044-B65E-481B66113FBD}"/>
                  </a:ext>
                </a:extLst>
              </p:cNvPr>
              <p:cNvSpPr txBox="1"/>
              <p:nvPr/>
            </p:nvSpPr>
            <p:spPr>
              <a:xfrm>
                <a:off x="1861809" y="6043308"/>
                <a:ext cx="1230461" cy="523220"/>
              </a:xfrm>
              <a:prstGeom prst="rect">
                <a:avLst/>
              </a:prstGeom>
              <a:noFill/>
            </p:spPr>
            <p:txBody>
              <a:bodyPr wrap="square" rtlCol="0">
                <a:spAutoFit/>
              </a:bodyPr>
              <a:lstStyle/>
              <a:p>
                <a:r>
                  <a:rPr lang="en-US" sz="1400" dirty="0"/>
                  <a:t>Terminal: utility </a:t>
                </a:r>
                <a14:m>
                  <m:oMath xmlns:m="http://schemas.openxmlformats.org/officeDocument/2006/math">
                    <m:r>
                      <a:rPr lang="en-US" sz="1400" i="1" dirty="0">
                        <a:latin typeface="Cambria Math" panose="02040503050406030204" pitchFamily="18" charset="0"/>
                      </a:rPr>
                      <m:t>−1</m:t>
                    </m:r>
                  </m:oMath>
                </a14:m>
                <a:r>
                  <a:rPr lang="en-US" sz="1400" dirty="0"/>
                  <a:t> </a:t>
                </a:r>
              </a:p>
            </p:txBody>
          </p:sp>
        </mc:Choice>
        <mc:Fallback xmlns="">
          <p:sp>
            <p:nvSpPr>
              <p:cNvPr id="84" name="TextBox 83">
                <a:extLst>
                  <a:ext uri="{FF2B5EF4-FFF2-40B4-BE49-F238E27FC236}">
                    <a16:creationId xmlns:a16="http://schemas.microsoft.com/office/drawing/2014/main" id="{235B06E3-4EA6-5044-B65E-481B66113FBD}"/>
                  </a:ext>
                </a:extLst>
              </p:cNvPr>
              <p:cNvSpPr txBox="1">
                <a:spLocks noRot="1" noChangeAspect="1" noMove="1" noResize="1" noEditPoints="1" noAdjustHandles="1" noChangeArrowheads="1" noChangeShapeType="1" noTextEdit="1"/>
              </p:cNvSpPr>
              <p:nvPr/>
            </p:nvSpPr>
            <p:spPr>
              <a:xfrm>
                <a:off x="1861809" y="6043308"/>
                <a:ext cx="1230461" cy="523220"/>
              </a:xfrm>
              <a:prstGeom prst="rect">
                <a:avLst/>
              </a:prstGeom>
              <a:blipFill>
                <a:blip r:embed="rId7"/>
                <a:stretch>
                  <a:fillRect l="-2041" b="-1190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FABE7FF-0520-2A41-834C-6F8B678ADF7D}"/>
                  </a:ext>
                </a:extLst>
              </p:cNvPr>
              <p:cNvSpPr txBox="1"/>
              <p:nvPr/>
            </p:nvSpPr>
            <p:spPr>
              <a:xfrm>
                <a:off x="3971455" y="6043308"/>
                <a:ext cx="1230461" cy="523220"/>
              </a:xfrm>
              <a:prstGeom prst="rect">
                <a:avLst/>
              </a:prstGeom>
              <a:noFill/>
            </p:spPr>
            <p:txBody>
              <a:bodyPr wrap="square" rtlCol="0">
                <a:spAutoFit/>
              </a:bodyPr>
              <a:lstStyle/>
              <a:p>
                <a:r>
                  <a:rPr lang="en-US" sz="1400" dirty="0"/>
                  <a:t>Terminal: utility </a:t>
                </a:r>
                <a14:m>
                  <m:oMath xmlns:m="http://schemas.openxmlformats.org/officeDocument/2006/math">
                    <m:r>
                      <a:rPr lang="en-US" sz="1400" i="1" dirty="0">
                        <a:latin typeface="Cambria Math" panose="02040503050406030204" pitchFamily="18" charset="0"/>
                      </a:rPr>
                      <m:t>+1</m:t>
                    </m:r>
                  </m:oMath>
                </a14:m>
                <a:r>
                  <a:rPr lang="en-US" sz="1400" dirty="0"/>
                  <a:t> </a:t>
                </a:r>
              </a:p>
            </p:txBody>
          </p:sp>
        </mc:Choice>
        <mc:Fallback xmlns="">
          <p:sp>
            <p:nvSpPr>
              <p:cNvPr id="89" name="TextBox 88">
                <a:extLst>
                  <a:ext uri="{FF2B5EF4-FFF2-40B4-BE49-F238E27FC236}">
                    <a16:creationId xmlns:a16="http://schemas.microsoft.com/office/drawing/2014/main" id="{7FABE7FF-0520-2A41-834C-6F8B678ADF7D}"/>
                  </a:ext>
                </a:extLst>
              </p:cNvPr>
              <p:cNvSpPr txBox="1">
                <a:spLocks noRot="1" noChangeAspect="1" noMove="1" noResize="1" noEditPoints="1" noAdjustHandles="1" noChangeArrowheads="1" noChangeShapeType="1" noTextEdit="1"/>
              </p:cNvSpPr>
              <p:nvPr/>
            </p:nvSpPr>
            <p:spPr>
              <a:xfrm>
                <a:off x="3971455" y="6043308"/>
                <a:ext cx="1230461" cy="523220"/>
              </a:xfrm>
              <a:prstGeom prst="rect">
                <a:avLst/>
              </a:prstGeom>
              <a:blipFill>
                <a:blip r:embed="rId8"/>
                <a:stretch>
                  <a:fillRect l="-1020" b="-11905"/>
                </a:stretch>
              </a:blipFill>
            </p:spPr>
            <p:txBody>
              <a:bodyPr/>
              <a:lstStyle/>
              <a:p>
                <a:r>
                  <a:rPr lang="en-GB">
                    <a:noFill/>
                  </a:rPr>
                  <a:t> </a:t>
                </a:r>
              </a:p>
            </p:txBody>
          </p:sp>
        </mc:Fallback>
      </mc:AlternateContent>
      <p:sp>
        <p:nvSpPr>
          <p:cNvPr id="86" name="Rounded Rectangle 85">
            <a:extLst>
              <a:ext uri="{FF2B5EF4-FFF2-40B4-BE49-F238E27FC236}">
                <a16:creationId xmlns:a16="http://schemas.microsoft.com/office/drawing/2014/main" id="{A6A39D8A-066A-3543-89CE-74012BBBEBA6}"/>
              </a:ext>
            </a:extLst>
          </p:cNvPr>
          <p:cNvSpPr/>
          <p:nvPr/>
        </p:nvSpPr>
        <p:spPr>
          <a:xfrm>
            <a:off x="5129190" y="3165315"/>
            <a:ext cx="3235309" cy="3113394"/>
          </a:xfrm>
          <a:prstGeom prst="roundRect">
            <a:avLst>
              <a:gd name="adj" fmla="val 9732"/>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dirty="0">
                <a:solidFill>
                  <a:prstClr val="black"/>
                </a:solidFill>
                <a:latin typeface="Corbel" panose="020B0503020204020204" pitchFamily="34" charset="0"/>
                <a:cs typeface="Times"/>
              </a:rPr>
              <a:t>Zero-sum games</a:t>
            </a:r>
          </a:p>
          <a:p>
            <a:pPr marL="119060" indent="-119060">
              <a:spcBef>
                <a:spcPts val="600"/>
              </a:spcBef>
              <a:buFont typeface="Arial"/>
              <a:buChar char="•"/>
            </a:pPr>
            <a:r>
              <a:rPr lang="en-US" dirty="0">
                <a:solidFill>
                  <a:prstClr val="black"/>
                </a:solidFill>
                <a:latin typeface="Corbel" panose="020B0503020204020204" pitchFamily="34" charset="0"/>
                <a:cs typeface="Times"/>
              </a:rPr>
              <a:t>A loser for every winner</a:t>
            </a:r>
          </a:p>
          <a:p>
            <a:pPr marL="119060" indent="-119060">
              <a:spcBef>
                <a:spcPts val="600"/>
              </a:spcBef>
              <a:buFont typeface="Arial"/>
              <a:buChar char="•"/>
            </a:pPr>
            <a:r>
              <a:rPr lang="en-US" dirty="0">
                <a:solidFill>
                  <a:prstClr val="black"/>
                </a:solidFill>
                <a:latin typeface="Corbel" panose="020B0503020204020204" pitchFamily="34" charset="0"/>
                <a:cs typeface="Times"/>
              </a:rPr>
              <a:t>Agent utilities sum to zero</a:t>
            </a:r>
          </a:p>
          <a:p>
            <a:pPr marL="119060" indent="-119060">
              <a:spcBef>
                <a:spcPts val="600"/>
              </a:spcBef>
              <a:buFont typeface="Arial"/>
              <a:buChar char="•"/>
            </a:pPr>
            <a:r>
              <a:rPr lang="en-US" dirty="0">
                <a:solidFill>
                  <a:prstClr val="black"/>
                </a:solidFill>
                <a:latin typeface="Corbel" panose="020B0503020204020204" pitchFamily="34" charset="0"/>
                <a:cs typeface="Times"/>
              </a:rPr>
              <a:t>Aka constant-sum game</a:t>
            </a:r>
          </a:p>
          <a:p>
            <a:pPr marL="119060" indent="-119060">
              <a:spcBef>
                <a:spcPts val="600"/>
              </a:spcBef>
              <a:buFont typeface="Arial"/>
              <a:buChar char="•"/>
            </a:pPr>
            <a:r>
              <a:rPr lang="en-US" dirty="0">
                <a:solidFill>
                  <a:prstClr val="black"/>
                </a:solidFill>
                <a:latin typeface="Corbel" panose="020B0503020204020204" pitchFamily="34" charset="0"/>
                <a:cs typeface="Times"/>
              </a:rPr>
              <a:t>Completely adversarial game</a:t>
            </a:r>
          </a:p>
          <a:p>
            <a:pPr>
              <a:spcBef>
                <a:spcPts val="600"/>
              </a:spcBef>
              <a:buFontTx/>
              <a:buChar char="•"/>
            </a:pPr>
            <a:endParaRPr lang="en-US" dirty="0">
              <a:solidFill>
                <a:prstClr val="black"/>
              </a:solidFill>
              <a:latin typeface="Corbel" panose="020B0503020204020204" pitchFamily="34" charset="0"/>
              <a:cs typeface="Times"/>
            </a:endParaRPr>
          </a:p>
          <a:p>
            <a:pPr>
              <a:spcBef>
                <a:spcPts val="600"/>
              </a:spcBef>
            </a:pPr>
            <a:r>
              <a:rPr lang="en-US" i="1" dirty="0">
                <a:solidFill>
                  <a:prstClr val="black"/>
                </a:solidFill>
                <a:latin typeface="Corbel" panose="020B0503020204020204" pitchFamily="34" charset="0"/>
                <a:cs typeface="Times"/>
              </a:rPr>
              <a:t>Non Zero-Sum Games?</a:t>
            </a:r>
            <a:endParaRPr lang="en-US" dirty="0">
              <a:solidFill>
                <a:prstClr val="black"/>
              </a:solidFill>
              <a:latin typeface="Corbel" panose="020B0503020204020204" pitchFamily="34" charset="0"/>
              <a:cs typeface="Time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nodeType="withEffect">
                                  <p:stCondLst>
                                    <p:cond delay="200"/>
                                  </p:stCondLst>
                                  <p:childTnLst>
                                    <p:set>
                                      <p:cBhvr>
                                        <p:cTn id="9" dur="1" fill="hold">
                                          <p:stCondLst>
                                            <p:cond delay="0"/>
                                          </p:stCondLst>
                                        </p:cTn>
                                        <p:tgtEl>
                                          <p:spTgt spid="30"/>
                                        </p:tgtEl>
                                        <p:attrNameLst>
                                          <p:attrName>style.visibility</p:attrName>
                                        </p:attrNameLst>
                                      </p:cBhvr>
                                      <p:to>
                                        <p:strVal val="visible"/>
                                      </p:to>
                                    </p:set>
                                    <p:animEffect transition="in" filter="wipe(up)">
                                      <p:cBhvr>
                                        <p:cTn id="10" dur="500"/>
                                        <p:tgtEl>
                                          <p:spTgt spid="30"/>
                                        </p:tgtEl>
                                      </p:cBhvr>
                                    </p:animEffect>
                                  </p:childTnLst>
                                </p:cTn>
                              </p:par>
                              <p:par>
                                <p:cTn id="11" presetID="10" presetClass="entr" presetSubtype="0" fill="hold" nodeType="withEffect">
                                  <p:stCondLst>
                                    <p:cond delay="2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22" presetClass="entr" presetSubtype="1" fill="hold" nodeType="withEffect">
                                  <p:stCondLst>
                                    <p:cond delay="400"/>
                                  </p:stCondLst>
                                  <p:childTnLst>
                                    <p:set>
                                      <p:cBhvr>
                                        <p:cTn id="15" dur="1" fill="hold">
                                          <p:stCondLst>
                                            <p:cond delay="0"/>
                                          </p:stCondLst>
                                        </p:cTn>
                                        <p:tgtEl>
                                          <p:spTgt spid="33"/>
                                        </p:tgtEl>
                                        <p:attrNameLst>
                                          <p:attrName>style.visibility</p:attrName>
                                        </p:attrNameLst>
                                      </p:cBhvr>
                                      <p:to>
                                        <p:strVal val="visible"/>
                                      </p:to>
                                    </p:set>
                                    <p:animEffect transition="in" filter="wipe(up)">
                                      <p:cBhvr>
                                        <p:cTn id="16" dur="500"/>
                                        <p:tgtEl>
                                          <p:spTgt spid="33"/>
                                        </p:tgtEl>
                                      </p:cBhvr>
                                    </p:animEffect>
                                  </p:childTnLst>
                                </p:cTn>
                              </p:par>
                              <p:par>
                                <p:cTn id="17" presetID="10" presetClass="entr" presetSubtype="0" fill="hold" nodeType="withEffect">
                                  <p:stCondLst>
                                    <p:cond delay="4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2" presetClass="entr" presetSubtype="1" fill="hold" nodeType="withEffect">
                                  <p:stCondLst>
                                    <p:cond delay="600"/>
                                  </p:stCondLst>
                                  <p:childTnLst>
                                    <p:set>
                                      <p:cBhvr>
                                        <p:cTn id="21" dur="1" fill="hold">
                                          <p:stCondLst>
                                            <p:cond delay="0"/>
                                          </p:stCondLst>
                                        </p:cTn>
                                        <p:tgtEl>
                                          <p:spTgt spid="36"/>
                                        </p:tgtEl>
                                        <p:attrNameLst>
                                          <p:attrName>style.visibility</p:attrName>
                                        </p:attrNameLst>
                                      </p:cBhvr>
                                      <p:to>
                                        <p:strVal val="visible"/>
                                      </p:to>
                                    </p:set>
                                    <p:animEffect transition="in" filter="wipe(up)">
                                      <p:cBhvr>
                                        <p:cTn id="22" dur="500"/>
                                        <p:tgtEl>
                                          <p:spTgt spid="36"/>
                                        </p:tgtEl>
                                      </p:cBhvr>
                                    </p:animEffect>
                                  </p:childTnLst>
                                </p:cTn>
                              </p:par>
                              <p:par>
                                <p:cTn id="23" presetID="10" presetClass="entr" presetSubtype="0" fill="hold" nodeType="withEffect">
                                  <p:stCondLst>
                                    <p:cond delay="6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1" fill="hold" nodeType="withEffect">
                                  <p:stCondLst>
                                    <p:cond delay="800"/>
                                  </p:stCondLst>
                                  <p:childTnLst>
                                    <p:set>
                                      <p:cBhvr>
                                        <p:cTn id="27" dur="1" fill="hold">
                                          <p:stCondLst>
                                            <p:cond delay="0"/>
                                          </p:stCondLst>
                                        </p:cTn>
                                        <p:tgtEl>
                                          <p:spTgt spid="39"/>
                                        </p:tgtEl>
                                        <p:attrNameLst>
                                          <p:attrName>style.visibility</p:attrName>
                                        </p:attrNameLst>
                                      </p:cBhvr>
                                      <p:to>
                                        <p:strVal val="visible"/>
                                      </p:to>
                                    </p:set>
                                    <p:animEffect transition="in" filter="wipe(up)">
                                      <p:cBhvr>
                                        <p:cTn id="28" dur="500"/>
                                        <p:tgtEl>
                                          <p:spTgt spid="39"/>
                                        </p:tgtEl>
                                      </p:cBhvr>
                                    </p:animEffect>
                                  </p:childTnLst>
                                </p:cTn>
                              </p:par>
                              <p:par>
                                <p:cTn id="29" presetID="10" presetClass="entr" presetSubtype="0" fill="hold" nodeType="withEffect">
                                  <p:stCondLst>
                                    <p:cond delay="8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22" presetClass="entr" presetSubtype="1" fill="hold" nodeType="withEffect">
                                  <p:stCondLst>
                                    <p:cond delay="1000"/>
                                  </p:stCondLst>
                                  <p:childTnLst>
                                    <p:set>
                                      <p:cBhvr>
                                        <p:cTn id="33" dur="1" fill="hold">
                                          <p:stCondLst>
                                            <p:cond delay="0"/>
                                          </p:stCondLst>
                                        </p:cTn>
                                        <p:tgtEl>
                                          <p:spTgt spid="42"/>
                                        </p:tgtEl>
                                        <p:attrNameLst>
                                          <p:attrName>style.visibility</p:attrName>
                                        </p:attrNameLst>
                                      </p:cBhvr>
                                      <p:to>
                                        <p:strVal val="visible"/>
                                      </p:to>
                                    </p:set>
                                    <p:animEffect transition="in" filter="wipe(up)">
                                      <p:cBhvr>
                                        <p:cTn id="34" dur="500"/>
                                        <p:tgtEl>
                                          <p:spTgt spid="42"/>
                                        </p:tgtEl>
                                      </p:cBhvr>
                                    </p:animEffect>
                                  </p:childTnLst>
                                </p:cTn>
                              </p:par>
                              <p:par>
                                <p:cTn id="35" presetID="10" presetClass="entr" presetSubtype="0" fill="hold" nodeType="withEffect">
                                  <p:stCondLst>
                                    <p:cond delay="10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22" presetClass="entr" presetSubtype="1" fill="hold" nodeType="withEffect">
                                  <p:stCondLst>
                                    <p:cond delay="120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par>
                                <p:cTn id="41" presetID="10" presetClass="entr" presetSubtype="0" fill="hold" nodeType="withEffect">
                                  <p:stCondLst>
                                    <p:cond delay="120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22" presetClass="entr" presetSubtype="1" fill="hold" nodeType="withEffect">
                                  <p:stCondLst>
                                    <p:cond delay="1400"/>
                                  </p:stCondLst>
                                  <p:childTnLst>
                                    <p:set>
                                      <p:cBhvr>
                                        <p:cTn id="45" dur="1" fill="hold">
                                          <p:stCondLst>
                                            <p:cond delay="0"/>
                                          </p:stCondLst>
                                        </p:cTn>
                                        <p:tgtEl>
                                          <p:spTgt spid="48"/>
                                        </p:tgtEl>
                                        <p:attrNameLst>
                                          <p:attrName>style.visibility</p:attrName>
                                        </p:attrNameLst>
                                      </p:cBhvr>
                                      <p:to>
                                        <p:strVal val="visible"/>
                                      </p:to>
                                    </p:set>
                                    <p:animEffect transition="in" filter="wipe(up)">
                                      <p:cBhvr>
                                        <p:cTn id="46" dur="500"/>
                                        <p:tgtEl>
                                          <p:spTgt spid="48"/>
                                        </p:tgtEl>
                                      </p:cBhvr>
                                    </p:animEffect>
                                  </p:childTnLst>
                                </p:cTn>
                              </p:par>
                              <p:par>
                                <p:cTn id="47" presetID="10" presetClass="entr" presetSubtype="0" fill="hold" nodeType="withEffect">
                                  <p:stCondLst>
                                    <p:cond delay="14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nodeType="withEffect">
                                  <p:stCondLst>
                                    <p:cond delay="160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par>
                                <p:cTn id="53" presetID="22" presetClass="entr" presetSubtype="1" fill="hold" nodeType="withEffect">
                                  <p:stCondLst>
                                    <p:cond delay="1800"/>
                                  </p:stCondLst>
                                  <p:childTnLst>
                                    <p:set>
                                      <p:cBhvr>
                                        <p:cTn id="54" dur="1" fill="hold">
                                          <p:stCondLst>
                                            <p:cond delay="0"/>
                                          </p:stCondLst>
                                        </p:cTn>
                                        <p:tgtEl>
                                          <p:spTgt spid="50"/>
                                        </p:tgtEl>
                                        <p:attrNameLst>
                                          <p:attrName>style.visibility</p:attrName>
                                        </p:attrNameLst>
                                      </p:cBhvr>
                                      <p:to>
                                        <p:strVal val="visible"/>
                                      </p:to>
                                    </p:set>
                                    <p:animEffect transition="in" filter="wipe(up)">
                                      <p:cBhvr>
                                        <p:cTn id="55" dur="500"/>
                                        <p:tgtEl>
                                          <p:spTgt spid="50"/>
                                        </p:tgtEl>
                                      </p:cBhvr>
                                    </p:animEffect>
                                  </p:childTnLst>
                                </p:cTn>
                              </p:par>
                              <p:par>
                                <p:cTn id="56" presetID="10" presetClass="entr" presetSubtype="0" fill="hold" nodeType="withEffect">
                                  <p:stCondLst>
                                    <p:cond delay="180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00"/>
                                        <p:tgtEl>
                                          <p:spTgt spid="1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52"/>
                                        </p:tgtEl>
                                        <p:attrNameLst>
                                          <p:attrName>style.visibility</p:attrName>
                                        </p:attrNameLst>
                                      </p:cBhvr>
                                      <p:to>
                                        <p:strVal val="visible"/>
                                      </p:to>
                                    </p:set>
                                    <p:animEffect transition="in" filter="wipe(up)">
                                      <p:cBhvr>
                                        <p:cTn id="63" dur="500"/>
                                        <p:tgtEl>
                                          <p:spTgt spid="52"/>
                                        </p:tgtEl>
                                      </p:cBhvr>
                                    </p:animEffect>
                                  </p:childTnLst>
                                </p:cTn>
                              </p:par>
                              <p:par>
                                <p:cTn id="64" presetID="10" presetClass="entr" presetSubtype="0" fill="hold"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par>
                                <p:cTn id="67" presetID="22" presetClass="entr" presetSubtype="1" fill="hold" nodeType="withEffect">
                                  <p:stCondLst>
                                    <p:cond delay="200"/>
                                  </p:stCondLst>
                                  <p:childTnLst>
                                    <p:set>
                                      <p:cBhvr>
                                        <p:cTn id="68" dur="1" fill="hold">
                                          <p:stCondLst>
                                            <p:cond delay="0"/>
                                          </p:stCondLst>
                                        </p:cTn>
                                        <p:tgtEl>
                                          <p:spTgt spid="55"/>
                                        </p:tgtEl>
                                        <p:attrNameLst>
                                          <p:attrName>style.visibility</p:attrName>
                                        </p:attrNameLst>
                                      </p:cBhvr>
                                      <p:to>
                                        <p:strVal val="visible"/>
                                      </p:to>
                                    </p:set>
                                    <p:animEffect transition="in" filter="wipe(up)">
                                      <p:cBhvr>
                                        <p:cTn id="69" dur="500"/>
                                        <p:tgtEl>
                                          <p:spTgt spid="55"/>
                                        </p:tgtEl>
                                      </p:cBhvr>
                                    </p:animEffect>
                                  </p:childTnLst>
                                </p:cTn>
                              </p:par>
                              <p:par>
                                <p:cTn id="70" presetID="10" presetClass="entr" presetSubtype="0" fill="hold"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fade">
                                      <p:cBhvr>
                                        <p:cTn id="72" dur="500"/>
                                        <p:tgtEl>
                                          <p:spTgt spid="18"/>
                                        </p:tgtEl>
                                      </p:cBhvr>
                                    </p:animEffect>
                                  </p:childTnLst>
                                </p:cTn>
                              </p:par>
                              <p:par>
                                <p:cTn id="73" presetID="22" presetClass="entr" presetSubtype="1" fill="hold" nodeType="withEffect">
                                  <p:stCondLst>
                                    <p:cond delay="400"/>
                                  </p:stCondLst>
                                  <p:childTnLst>
                                    <p:set>
                                      <p:cBhvr>
                                        <p:cTn id="74" dur="1" fill="hold">
                                          <p:stCondLst>
                                            <p:cond delay="0"/>
                                          </p:stCondLst>
                                        </p:cTn>
                                        <p:tgtEl>
                                          <p:spTgt spid="61"/>
                                        </p:tgtEl>
                                        <p:attrNameLst>
                                          <p:attrName>style.visibility</p:attrName>
                                        </p:attrNameLst>
                                      </p:cBhvr>
                                      <p:to>
                                        <p:strVal val="visible"/>
                                      </p:to>
                                    </p:set>
                                    <p:animEffect transition="in" filter="wipe(up)">
                                      <p:cBhvr>
                                        <p:cTn id="75" dur="500"/>
                                        <p:tgtEl>
                                          <p:spTgt spid="61"/>
                                        </p:tgtEl>
                                      </p:cBhvr>
                                    </p:animEffect>
                                  </p:childTnLst>
                                </p:cTn>
                              </p:par>
                              <p:par>
                                <p:cTn id="76" presetID="10" presetClass="entr" presetSubtype="0" fill="hold"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par>
                                <p:cTn id="79" presetID="22" presetClass="entr" presetSubtype="1" fill="hold" nodeType="withEffect">
                                  <p:stCondLst>
                                    <p:cond delay="600"/>
                                  </p:stCondLst>
                                  <p:childTnLst>
                                    <p:set>
                                      <p:cBhvr>
                                        <p:cTn id="80" dur="1" fill="hold">
                                          <p:stCondLst>
                                            <p:cond delay="0"/>
                                          </p:stCondLst>
                                        </p:cTn>
                                        <p:tgtEl>
                                          <p:spTgt spid="64"/>
                                        </p:tgtEl>
                                        <p:attrNameLst>
                                          <p:attrName>style.visibility</p:attrName>
                                        </p:attrNameLst>
                                      </p:cBhvr>
                                      <p:to>
                                        <p:strVal val="visible"/>
                                      </p:to>
                                    </p:set>
                                    <p:animEffect transition="in" filter="wipe(up)">
                                      <p:cBhvr>
                                        <p:cTn id="81" dur="500"/>
                                        <p:tgtEl>
                                          <p:spTgt spid="64"/>
                                        </p:tgtEl>
                                      </p:cBhvr>
                                    </p:animEffect>
                                  </p:childTnLst>
                                </p:cTn>
                              </p:par>
                              <p:par>
                                <p:cTn id="82" presetID="10" presetClass="entr" presetSubtype="0"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500"/>
                                        <p:tgtEl>
                                          <p:spTgt spid="20"/>
                                        </p:tgtEl>
                                      </p:cBhvr>
                                    </p:animEffect>
                                  </p:childTnLst>
                                </p:cTn>
                              </p:par>
                              <p:par>
                                <p:cTn id="85" presetID="22" presetClass="entr" presetSubtype="1" fill="hold" nodeType="withEffect">
                                  <p:stCondLst>
                                    <p:cond delay="800"/>
                                  </p:stCondLst>
                                  <p:childTnLst>
                                    <p:set>
                                      <p:cBhvr>
                                        <p:cTn id="86" dur="1" fill="hold">
                                          <p:stCondLst>
                                            <p:cond delay="0"/>
                                          </p:stCondLst>
                                        </p:cTn>
                                        <p:tgtEl>
                                          <p:spTgt spid="67"/>
                                        </p:tgtEl>
                                        <p:attrNameLst>
                                          <p:attrName>style.visibility</p:attrName>
                                        </p:attrNameLst>
                                      </p:cBhvr>
                                      <p:to>
                                        <p:strVal val="visible"/>
                                      </p:to>
                                    </p:set>
                                    <p:animEffect transition="in" filter="wipe(up)">
                                      <p:cBhvr>
                                        <p:cTn id="87" dur="500"/>
                                        <p:tgtEl>
                                          <p:spTgt spid="67"/>
                                        </p:tgtEl>
                                      </p:cBhvr>
                                    </p:animEffect>
                                  </p:childTnLst>
                                </p:cTn>
                              </p:par>
                              <p:par>
                                <p:cTn id="88" presetID="10" presetClass="entr" presetSubtype="0" fill="hold" nodeType="with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500"/>
                                        <p:tgtEl>
                                          <p:spTgt spid="2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68"/>
                                        </p:tgtEl>
                                        <p:attrNameLst>
                                          <p:attrName>style.visibility</p:attrName>
                                        </p:attrNameLst>
                                      </p:cBhvr>
                                      <p:to>
                                        <p:strVal val="visible"/>
                                      </p:to>
                                    </p:set>
                                    <p:animEffect transition="in" filter="fade">
                                      <p:cBhvr>
                                        <p:cTn id="93" dur="500"/>
                                        <p:tgtEl>
                                          <p:spTgt spid="68"/>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70"/>
                                        </p:tgtEl>
                                        <p:attrNameLst>
                                          <p:attrName>style.visibility</p:attrName>
                                        </p:attrNameLst>
                                      </p:cBhvr>
                                      <p:to>
                                        <p:strVal val="visible"/>
                                      </p:to>
                                    </p:set>
                                    <p:animEffect transition="in" filter="wipe(up)">
                                      <p:cBhvr>
                                        <p:cTn id="98" dur="500"/>
                                        <p:tgtEl>
                                          <p:spTgt spid="70"/>
                                        </p:tgtEl>
                                      </p:cBhvr>
                                    </p:animEffect>
                                  </p:childTnLst>
                                </p:cTn>
                              </p:par>
                              <p:par>
                                <p:cTn id="99" presetID="10" presetClass="entr" presetSubtype="0" fill="hold" nodeType="withEffect">
                                  <p:stCondLst>
                                    <p:cond delay="0"/>
                                  </p:stCondLst>
                                  <p:childTnLst>
                                    <p:set>
                                      <p:cBhvr>
                                        <p:cTn id="100" dur="1" fill="hold">
                                          <p:stCondLst>
                                            <p:cond delay="0"/>
                                          </p:stCondLst>
                                        </p:cTn>
                                        <p:tgtEl>
                                          <p:spTgt spid="22"/>
                                        </p:tgtEl>
                                        <p:attrNameLst>
                                          <p:attrName>style.visibility</p:attrName>
                                        </p:attrNameLst>
                                      </p:cBhvr>
                                      <p:to>
                                        <p:strVal val="visible"/>
                                      </p:to>
                                    </p:set>
                                    <p:animEffect transition="in" filter="fade">
                                      <p:cBhvr>
                                        <p:cTn id="101" dur="500"/>
                                        <p:tgtEl>
                                          <p:spTgt spid="22"/>
                                        </p:tgtEl>
                                      </p:cBhvr>
                                    </p:animEffect>
                                  </p:childTnLst>
                                </p:cTn>
                              </p:par>
                              <p:par>
                                <p:cTn id="102" presetID="22" presetClass="entr" presetSubtype="1" fill="hold" nodeType="withEffect">
                                  <p:stCondLst>
                                    <p:cond delay="200"/>
                                  </p:stCondLst>
                                  <p:childTnLst>
                                    <p:set>
                                      <p:cBhvr>
                                        <p:cTn id="103" dur="1" fill="hold">
                                          <p:stCondLst>
                                            <p:cond delay="0"/>
                                          </p:stCondLst>
                                        </p:cTn>
                                        <p:tgtEl>
                                          <p:spTgt spid="71"/>
                                        </p:tgtEl>
                                        <p:attrNameLst>
                                          <p:attrName>style.visibility</p:attrName>
                                        </p:attrNameLst>
                                      </p:cBhvr>
                                      <p:to>
                                        <p:strVal val="visible"/>
                                      </p:to>
                                    </p:set>
                                    <p:animEffect transition="in" filter="wipe(up)">
                                      <p:cBhvr>
                                        <p:cTn id="104" dur="500"/>
                                        <p:tgtEl>
                                          <p:spTgt spid="71"/>
                                        </p:tgtEl>
                                      </p:cBhvr>
                                    </p:animEffect>
                                  </p:childTnLst>
                                </p:cTn>
                              </p:par>
                              <p:par>
                                <p:cTn id="105" presetID="10" presetClass="entr" presetSubtype="0" fill="hold" nodeType="withEffect">
                                  <p:stCondLst>
                                    <p:cond delay="200"/>
                                  </p:stCondLst>
                                  <p:childTnLst>
                                    <p:set>
                                      <p:cBhvr>
                                        <p:cTn id="106" dur="1" fill="hold">
                                          <p:stCondLst>
                                            <p:cond delay="0"/>
                                          </p:stCondLst>
                                        </p:cTn>
                                        <p:tgtEl>
                                          <p:spTgt spid="23"/>
                                        </p:tgtEl>
                                        <p:attrNameLst>
                                          <p:attrName>style.visibility</p:attrName>
                                        </p:attrNameLst>
                                      </p:cBhvr>
                                      <p:to>
                                        <p:strVal val="visible"/>
                                      </p:to>
                                    </p:set>
                                    <p:animEffect transition="in" filter="fade">
                                      <p:cBhvr>
                                        <p:cTn id="107" dur="500"/>
                                        <p:tgtEl>
                                          <p:spTgt spid="23"/>
                                        </p:tgtEl>
                                      </p:cBhvr>
                                    </p:animEffect>
                                  </p:childTnLst>
                                </p:cTn>
                              </p:par>
                              <p:par>
                                <p:cTn id="108" presetID="22" presetClass="entr" presetSubtype="1" fill="hold" nodeType="withEffect">
                                  <p:stCondLst>
                                    <p:cond delay="400"/>
                                  </p:stCondLst>
                                  <p:childTnLst>
                                    <p:set>
                                      <p:cBhvr>
                                        <p:cTn id="109" dur="1" fill="hold">
                                          <p:stCondLst>
                                            <p:cond delay="0"/>
                                          </p:stCondLst>
                                        </p:cTn>
                                        <p:tgtEl>
                                          <p:spTgt spid="72"/>
                                        </p:tgtEl>
                                        <p:attrNameLst>
                                          <p:attrName>style.visibility</p:attrName>
                                        </p:attrNameLst>
                                      </p:cBhvr>
                                      <p:to>
                                        <p:strVal val="visible"/>
                                      </p:to>
                                    </p:set>
                                    <p:animEffect transition="in" filter="wipe(up)">
                                      <p:cBhvr>
                                        <p:cTn id="110" dur="500"/>
                                        <p:tgtEl>
                                          <p:spTgt spid="72"/>
                                        </p:tgtEl>
                                      </p:cBhvr>
                                    </p:animEffect>
                                  </p:childTnLst>
                                </p:cTn>
                              </p:par>
                              <p:par>
                                <p:cTn id="111" presetID="10" presetClass="entr" presetSubtype="0" fill="hold" nodeType="withEffect">
                                  <p:stCondLst>
                                    <p:cond delay="4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500"/>
                                        <p:tgtEl>
                                          <p:spTgt spid="24"/>
                                        </p:tgtEl>
                                      </p:cBhvr>
                                    </p:animEffect>
                                  </p:childTnLst>
                                </p:cTn>
                              </p:par>
                              <p:par>
                                <p:cTn id="114" presetID="22" presetClass="entr" presetSubtype="1" fill="hold" nodeType="withEffect">
                                  <p:stCondLst>
                                    <p:cond delay="600"/>
                                  </p:stCondLst>
                                  <p:childTnLst>
                                    <p:set>
                                      <p:cBhvr>
                                        <p:cTn id="115" dur="1" fill="hold">
                                          <p:stCondLst>
                                            <p:cond delay="0"/>
                                          </p:stCondLst>
                                        </p:cTn>
                                        <p:tgtEl>
                                          <p:spTgt spid="73"/>
                                        </p:tgtEl>
                                        <p:attrNameLst>
                                          <p:attrName>style.visibility</p:attrName>
                                        </p:attrNameLst>
                                      </p:cBhvr>
                                      <p:to>
                                        <p:strVal val="visible"/>
                                      </p:to>
                                    </p:set>
                                    <p:animEffect transition="in" filter="wipe(up)">
                                      <p:cBhvr>
                                        <p:cTn id="116" dur="500"/>
                                        <p:tgtEl>
                                          <p:spTgt spid="73"/>
                                        </p:tgtEl>
                                      </p:cBhvr>
                                    </p:animEffect>
                                  </p:childTnLst>
                                </p:cTn>
                              </p:par>
                              <p:par>
                                <p:cTn id="117" presetID="10" presetClass="entr" presetSubtype="0" fill="hold" nodeType="withEffect">
                                  <p:stCondLst>
                                    <p:cond delay="600"/>
                                  </p:stCondLst>
                                  <p:childTnLst>
                                    <p:set>
                                      <p:cBhvr>
                                        <p:cTn id="118" dur="1" fill="hold">
                                          <p:stCondLst>
                                            <p:cond delay="0"/>
                                          </p:stCondLst>
                                        </p:cTn>
                                        <p:tgtEl>
                                          <p:spTgt spid="25"/>
                                        </p:tgtEl>
                                        <p:attrNameLst>
                                          <p:attrName>style.visibility</p:attrName>
                                        </p:attrNameLst>
                                      </p:cBhvr>
                                      <p:to>
                                        <p:strVal val="visible"/>
                                      </p:to>
                                    </p:set>
                                    <p:animEffect transition="in" filter="fade">
                                      <p:cBhvr>
                                        <p:cTn id="119" dur="500"/>
                                        <p:tgtEl>
                                          <p:spTgt spid="25"/>
                                        </p:tgtEl>
                                      </p:cBhvr>
                                    </p:animEffect>
                                  </p:childTnLst>
                                </p:cTn>
                              </p:par>
                              <p:par>
                                <p:cTn id="120" presetID="22" presetClass="entr" presetSubtype="1" fill="hold" nodeType="withEffect">
                                  <p:stCondLst>
                                    <p:cond delay="800"/>
                                  </p:stCondLst>
                                  <p:childTnLst>
                                    <p:set>
                                      <p:cBhvr>
                                        <p:cTn id="121" dur="1" fill="hold">
                                          <p:stCondLst>
                                            <p:cond delay="0"/>
                                          </p:stCondLst>
                                        </p:cTn>
                                        <p:tgtEl>
                                          <p:spTgt spid="74"/>
                                        </p:tgtEl>
                                        <p:attrNameLst>
                                          <p:attrName>style.visibility</p:attrName>
                                        </p:attrNameLst>
                                      </p:cBhvr>
                                      <p:to>
                                        <p:strVal val="visible"/>
                                      </p:to>
                                    </p:set>
                                    <p:animEffect transition="in" filter="wipe(up)">
                                      <p:cBhvr>
                                        <p:cTn id="122" dur="500"/>
                                        <p:tgtEl>
                                          <p:spTgt spid="74"/>
                                        </p:tgtEl>
                                      </p:cBhvr>
                                    </p:animEffect>
                                  </p:childTnLst>
                                </p:cTn>
                              </p:par>
                              <p:par>
                                <p:cTn id="123" presetID="10" presetClass="entr" presetSubtype="0" fill="hold" nodeType="withEffect">
                                  <p:stCondLst>
                                    <p:cond delay="800"/>
                                  </p:stCondLst>
                                  <p:childTnLst>
                                    <p:set>
                                      <p:cBhvr>
                                        <p:cTn id="124" dur="1" fill="hold">
                                          <p:stCondLst>
                                            <p:cond delay="0"/>
                                          </p:stCondLst>
                                        </p:cTn>
                                        <p:tgtEl>
                                          <p:spTgt spid="26"/>
                                        </p:tgtEl>
                                        <p:attrNameLst>
                                          <p:attrName>style.visibility</p:attrName>
                                        </p:attrNameLst>
                                      </p:cBhvr>
                                      <p:to>
                                        <p:strVal val="visible"/>
                                      </p:to>
                                    </p:set>
                                    <p:animEffect transition="in" filter="fade">
                                      <p:cBhvr>
                                        <p:cTn id="125" dur="500"/>
                                        <p:tgtEl>
                                          <p:spTgt spid="26"/>
                                        </p:tgtEl>
                                      </p:cBhvr>
                                    </p:animEffect>
                                  </p:childTnLst>
                                </p:cTn>
                              </p:par>
                              <p:par>
                                <p:cTn id="126" presetID="10" presetClass="entr" presetSubtype="0" fill="hold" grpId="0" nodeType="withEffect">
                                  <p:stCondLst>
                                    <p:cond delay="800"/>
                                  </p:stCondLst>
                                  <p:childTnLst>
                                    <p:set>
                                      <p:cBhvr>
                                        <p:cTn id="127" dur="1" fill="hold">
                                          <p:stCondLst>
                                            <p:cond delay="0"/>
                                          </p:stCondLst>
                                        </p:cTn>
                                        <p:tgtEl>
                                          <p:spTgt spid="77"/>
                                        </p:tgtEl>
                                        <p:attrNameLst>
                                          <p:attrName>style.visibility</p:attrName>
                                        </p:attrNameLst>
                                      </p:cBhvr>
                                      <p:to>
                                        <p:strVal val="visible"/>
                                      </p:to>
                                    </p:set>
                                    <p:animEffect transition="in" filter="fade">
                                      <p:cBhvr>
                                        <p:cTn id="128" dur="500"/>
                                        <p:tgtEl>
                                          <p:spTgt spid="77"/>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82"/>
                                        </p:tgtEl>
                                        <p:attrNameLst>
                                          <p:attrName>style.visibility</p:attrName>
                                        </p:attrNameLst>
                                      </p:cBhvr>
                                      <p:to>
                                        <p:strVal val="visible"/>
                                      </p:to>
                                    </p:set>
                                    <p:animEffect transition="in" filter="fade">
                                      <p:cBhvr>
                                        <p:cTn id="133" dur="500"/>
                                        <p:tgtEl>
                                          <p:spTgt spid="82"/>
                                        </p:tgtEl>
                                      </p:cBhvr>
                                    </p:animEffect>
                                  </p:childTnLst>
                                </p:cTn>
                              </p:par>
                              <p:par>
                                <p:cTn id="134" presetID="10" presetClass="entr" presetSubtype="0" fill="hold" nodeType="withEffect">
                                  <p:stCondLst>
                                    <p:cond delay="0"/>
                                  </p:stCondLst>
                                  <p:childTnLst>
                                    <p:set>
                                      <p:cBhvr>
                                        <p:cTn id="135" dur="1" fill="hold">
                                          <p:stCondLst>
                                            <p:cond delay="0"/>
                                          </p:stCondLst>
                                        </p:cTn>
                                        <p:tgtEl>
                                          <p:spTgt spid="85"/>
                                        </p:tgtEl>
                                        <p:attrNameLst>
                                          <p:attrName>style.visibility</p:attrName>
                                        </p:attrNameLst>
                                      </p:cBhvr>
                                      <p:to>
                                        <p:strVal val="visible"/>
                                      </p:to>
                                    </p:set>
                                    <p:animEffect transition="in" filter="fade">
                                      <p:cBhvr>
                                        <p:cTn id="136" dur="500"/>
                                        <p:tgtEl>
                                          <p:spTgt spid="85"/>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80"/>
                                        </p:tgtEl>
                                        <p:attrNameLst>
                                          <p:attrName>style.visibility</p:attrName>
                                        </p:attrNameLst>
                                      </p:cBhvr>
                                      <p:to>
                                        <p:strVal val="visible"/>
                                      </p:to>
                                    </p:set>
                                    <p:animEffect transition="in" filter="fade">
                                      <p:cBhvr>
                                        <p:cTn id="139" dur="500"/>
                                        <p:tgtEl>
                                          <p:spTgt spid="8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500"/>
                                        <p:tgtEl>
                                          <p:spTgt spid="81"/>
                                        </p:tgtEl>
                                      </p:cBhvr>
                                    </p:animEffect>
                                  </p:childTnLst>
                                </p:cTn>
                              </p:par>
                              <p:par>
                                <p:cTn id="143" presetID="10" presetClass="entr" presetSubtype="0" fill="hold" nodeType="withEffect">
                                  <p:stCondLst>
                                    <p:cond delay="0"/>
                                  </p:stCondLst>
                                  <p:childTnLst>
                                    <p:set>
                                      <p:cBhvr>
                                        <p:cTn id="144" dur="1" fill="hold">
                                          <p:stCondLst>
                                            <p:cond delay="0"/>
                                          </p:stCondLst>
                                        </p:cTn>
                                        <p:tgtEl>
                                          <p:spTgt spid="78"/>
                                        </p:tgtEl>
                                        <p:attrNameLst>
                                          <p:attrName>style.visibility</p:attrName>
                                        </p:attrNameLst>
                                      </p:cBhvr>
                                      <p:to>
                                        <p:strVal val="visible"/>
                                      </p:to>
                                    </p:set>
                                    <p:animEffect transition="in" filter="fade">
                                      <p:cBhvr>
                                        <p:cTn id="145" dur="500"/>
                                        <p:tgtEl>
                                          <p:spTgt spid="78"/>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84"/>
                                        </p:tgtEl>
                                        <p:attrNameLst>
                                          <p:attrName>style.visibility</p:attrName>
                                        </p:attrNameLst>
                                      </p:cBhvr>
                                      <p:to>
                                        <p:strVal val="visible"/>
                                      </p:to>
                                    </p:set>
                                    <p:animEffect transition="in" filter="fade">
                                      <p:cBhvr>
                                        <p:cTn id="148" dur="500"/>
                                        <p:tgtEl>
                                          <p:spTgt spid="84"/>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89"/>
                                        </p:tgtEl>
                                        <p:attrNameLst>
                                          <p:attrName>style.visibility</p:attrName>
                                        </p:attrNameLst>
                                      </p:cBhvr>
                                      <p:to>
                                        <p:strVal val="visible"/>
                                      </p:to>
                                    </p:set>
                                    <p:animEffect transition="in" filter="fade">
                                      <p:cBhvr>
                                        <p:cTn id="151" dur="500"/>
                                        <p:tgtEl>
                                          <p:spTgt spid="89"/>
                                        </p:tgtEl>
                                      </p:cBhvr>
                                    </p:animEffect>
                                  </p:childTnLst>
                                </p:cTn>
                              </p:par>
                              <p:par>
                                <p:cTn id="152" presetID="10" presetClass="entr" presetSubtype="0" fill="hold" nodeType="withEffect">
                                  <p:stCondLst>
                                    <p:cond delay="0"/>
                                  </p:stCondLst>
                                  <p:childTnLst>
                                    <p:set>
                                      <p:cBhvr>
                                        <p:cTn id="153" dur="1" fill="hold">
                                          <p:stCondLst>
                                            <p:cond delay="0"/>
                                          </p:stCondLst>
                                        </p:cTn>
                                        <p:tgtEl>
                                          <p:spTgt spid="79"/>
                                        </p:tgtEl>
                                        <p:attrNameLst>
                                          <p:attrName>style.visibility</p:attrName>
                                        </p:attrNameLst>
                                      </p:cBhvr>
                                      <p:to>
                                        <p:strVal val="visible"/>
                                      </p:to>
                                    </p:set>
                                    <p:animEffect transition="in" filter="fade">
                                      <p:cBhvr>
                                        <p:cTn id="154"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77" grpId="0"/>
      <p:bldP spid="80" grpId="0"/>
      <p:bldP spid="81" grpId="0"/>
      <p:bldP spid="84" grpId="0"/>
      <p:bldP spid="8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896275" y="379930"/>
            <a:ext cx="7704667" cy="1066799"/>
          </a:xfrm>
        </p:spPr>
        <p:txBody>
          <a:bodyPr/>
          <a:lstStyle/>
          <a:p>
            <a:r>
              <a:rPr lang="en-US" dirty="0"/>
              <a:t>Example : Game of NIM</a:t>
            </a:r>
          </a:p>
        </p:txBody>
      </p:sp>
      <mc:AlternateContent xmlns:mc="http://schemas.openxmlformats.org/markup-compatibility/2006" xmlns:a14="http://schemas.microsoft.com/office/drawing/2010/main">
        <mc:Choice Requires="a14">
          <p:sp>
            <p:nvSpPr>
              <p:cNvPr id="333827" name="Rectangle 3"/>
              <p:cNvSpPr>
                <a:spLocks noGrp="1" noChangeArrowheads="1"/>
              </p:cNvSpPr>
              <p:nvPr>
                <p:ph idx="1"/>
              </p:nvPr>
            </p:nvSpPr>
            <p:spPr>
              <a:xfrm>
                <a:off x="679188" y="1294327"/>
                <a:ext cx="7921752" cy="2971800"/>
              </a:xfrm>
            </p:spPr>
            <p:txBody>
              <a:bodyPr/>
              <a:lstStyle/>
              <a:p>
                <a:pPr>
                  <a:buFont typeface="Wingdings" pitchFamily="-107" charset="2"/>
                  <a:buNone/>
                </a:pPr>
                <a:r>
                  <a:rPr lang="en-US" sz="1800" dirty="0">
                    <a:latin typeface="Corbel" panose="020B0503020204020204" pitchFamily="34" charset="0"/>
                    <a:cs typeface="Times"/>
                  </a:rPr>
                  <a:t>	</a:t>
                </a:r>
                <a:r>
                  <a:rPr lang="en-US" sz="2200" dirty="0">
                    <a:latin typeface="Corbel" panose="020B0503020204020204" pitchFamily="34" charset="0"/>
                    <a:cs typeface="Times"/>
                  </a:rPr>
                  <a:t>Several piles of sticks are given. We represent the configuration of the piles by a monotone sequence of integers, such as </a:t>
                </a:r>
                <a14:m>
                  <m:oMath xmlns:m="http://schemas.openxmlformats.org/officeDocument/2006/math">
                    <m:r>
                      <a:rPr lang="en-US" sz="2200" i="1" dirty="0">
                        <a:latin typeface="Cambria Math" panose="02040503050406030204" pitchFamily="18" charset="0"/>
                        <a:cs typeface="Times"/>
                      </a:rPr>
                      <m:t>(1,3,5)</m:t>
                    </m:r>
                  </m:oMath>
                </a14:m>
                <a:r>
                  <a:rPr lang="en-US" sz="2200" dirty="0">
                    <a:latin typeface="Corbel" panose="020B0503020204020204" pitchFamily="34" charset="0"/>
                    <a:cs typeface="Times"/>
                  </a:rPr>
                  <a:t>. A player may remove, in one turn, any number of sticks from one pile. Thus, </a:t>
                </a:r>
                <a14:m>
                  <m:oMath xmlns:m="http://schemas.openxmlformats.org/officeDocument/2006/math">
                    <m:r>
                      <a:rPr lang="en-US" sz="2200" i="1" dirty="0">
                        <a:latin typeface="Cambria Math" panose="02040503050406030204" pitchFamily="18" charset="0"/>
                        <a:cs typeface="Times"/>
                      </a:rPr>
                      <m:t>(1,3,5)</m:t>
                    </m:r>
                  </m:oMath>
                </a14:m>
                <a:r>
                  <a:rPr lang="en-US" sz="2200" dirty="0">
                    <a:latin typeface="Corbel" panose="020B0503020204020204" pitchFamily="34" charset="0"/>
                    <a:cs typeface="Times"/>
                  </a:rPr>
                  <a:t> would become </a:t>
                </a:r>
                <a14:m>
                  <m:oMath xmlns:m="http://schemas.openxmlformats.org/officeDocument/2006/math">
                    <m:r>
                      <a:rPr lang="en-US" sz="2200" i="1" dirty="0">
                        <a:latin typeface="Cambria Math" panose="02040503050406030204" pitchFamily="18" charset="0"/>
                        <a:cs typeface="Times"/>
                      </a:rPr>
                      <m:t>(1,1,3)</m:t>
                    </m:r>
                  </m:oMath>
                </a14:m>
                <a:r>
                  <a:rPr lang="en-US" sz="2200" dirty="0">
                    <a:latin typeface="Corbel" panose="020B0503020204020204" pitchFamily="34" charset="0"/>
                    <a:cs typeface="Times"/>
                  </a:rPr>
                  <a:t> if the player were to remove </a:t>
                </a:r>
                <a14:m>
                  <m:oMath xmlns:m="http://schemas.openxmlformats.org/officeDocument/2006/math">
                    <m:r>
                      <a:rPr lang="en-US" sz="2200" i="1" dirty="0">
                        <a:latin typeface="Cambria Math" panose="02040503050406030204" pitchFamily="18" charset="0"/>
                        <a:cs typeface="Times"/>
                      </a:rPr>
                      <m:t>4</m:t>
                    </m:r>
                  </m:oMath>
                </a14:m>
                <a:r>
                  <a:rPr lang="en-US" sz="2200" dirty="0">
                    <a:latin typeface="Corbel" panose="020B0503020204020204" pitchFamily="34" charset="0"/>
                    <a:cs typeface="Times"/>
                  </a:rPr>
                  <a:t> sticks from the last pile. The player who takes the last stick loses. </a:t>
                </a:r>
              </a:p>
              <a:p>
                <a:r>
                  <a:rPr lang="en-US" dirty="0">
                    <a:latin typeface="Corbel" panose="020B0503020204020204" pitchFamily="34" charset="0"/>
                    <a:cs typeface="Times"/>
                  </a:rPr>
                  <a:t>Represent the NIM game </a:t>
                </a:r>
                <a14:m>
                  <m:oMath xmlns:m="http://schemas.openxmlformats.org/officeDocument/2006/math">
                    <m:r>
                      <a:rPr lang="en-US" i="1" dirty="0" smtClean="0">
                        <a:latin typeface="Cambria Math" panose="02040503050406030204" pitchFamily="18" charset="0"/>
                        <a:cs typeface="Times"/>
                      </a:rPr>
                      <m:t>(1,2,2</m:t>
                    </m:r>
                    <m:r>
                      <a:rPr lang="en-US" i="1" dirty="0">
                        <a:latin typeface="Cambria Math" panose="02040503050406030204" pitchFamily="18" charset="0"/>
                        <a:cs typeface="Times"/>
                      </a:rPr>
                      <m:t>)</m:t>
                    </m:r>
                  </m:oMath>
                </a14:m>
                <a:r>
                  <a:rPr lang="en-US" dirty="0">
                    <a:latin typeface="Corbel" panose="020B0503020204020204" pitchFamily="34" charset="0"/>
                    <a:cs typeface="Times"/>
                  </a:rPr>
                  <a:t> as a game tree.</a:t>
                </a:r>
              </a:p>
            </p:txBody>
          </p:sp>
        </mc:Choice>
        <mc:Fallback xmlns="">
          <p:sp>
            <p:nvSpPr>
              <p:cNvPr id="333827" name="Rectangle 3"/>
              <p:cNvSpPr>
                <a:spLocks noGrp="1" noRot="1" noChangeAspect="1" noMove="1" noResize="1" noEditPoints="1" noAdjustHandles="1" noChangeArrowheads="1" noChangeShapeType="1" noTextEdit="1"/>
              </p:cNvSpPr>
              <p:nvPr>
                <p:ph idx="1"/>
              </p:nvPr>
            </p:nvSpPr>
            <p:spPr>
              <a:xfrm>
                <a:off x="679188" y="1294327"/>
                <a:ext cx="7921752" cy="2971800"/>
              </a:xfrm>
              <a:blipFill>
                <a:blip r:embed="rId3"/>
                <a:stretch>
                  <a:fillRect l="-640" t="-1277" r="-320" b="-11064"/>
                </a:stretch>
              </a:blipFill>
            </p:spPr>
            <p:txBody>
              <a:bodyPr/>
              <a:lstStyle/>
              <a:p>
                <a:r>
                  <a:rPr lang="en-GB">
                    <a:noFill/>
                  </a:rPr>
                  <a:t> </a:t>
                </a:r>
              </a:p>
            </p:txBody>
          </p:sp>
        </mc:Fallback>
      </mc:AlternateContent>
      <p:sp>
        <p:nvSpPr>
          <p:cNvPr id="333828" name="Line 4"/>
          <p:cNvSpPr>
            <a:spLocks noChangeShapeType="1"/>
          </p:cNvSpPr>
          <p:nvPr/>
        </p:nvSpPr>
        <p:spPr bwMode="auto">
          <a:xfrm>
            <a:off x="3343140" y="4799527"/>
            <a:ext cx="0" cy="685800"/>
          </a:xfrm>
          <a:prstGeom prst="line">
            <a:avLst/>
          </a:prstGeom>
          <a:noFill/>
          <a:ln w="76200">
            <a:solidFill>
              <a:srgbClr val="996600"/>
            </a:solidFill>
            <a:round/>
            <a:headEnd/>
            <a:tailEnd/>
          </a:ln>
          <a:effectLst/>
        </p:spPr>
        <p:txBody>
          <a:bodyPr>
            <a:prstTxWarp prst="textNoShape">
              <a:avLst/>
            </a:prstTxWarp>
          </a:bodyPr>
          <a:lstStyle/>
          <a:p>
            <a:endParaRPr lang="en-US" dirty="0">
              <a:latin typeface="Corbel" panose="020B0503020204020204" pitchFamily="34" charset="0"/>
            </a:endParaRPr>
          </a:p>
        </p:txBody>
      </p:sp>
      <p:sp>
        <p:nvSpPr>
          <p:cNvPr id="333829" name="Line 5"/>
          <p:cNvSpPr>
            <a:spLocks noChangeShapeType="1"/>
          </p:cNvSpPr>
          <p:nvPr/>
        </p:nvSpPr>
        <p:spPr bwMode="auto">
          <a:xfrm>
            <a:off x="4486140" y="4799527"/>
            <a:ext cx="0" cy="685800"/>
          </a:xfrm>
          <a:prstGeom prst="line">
            <a:avLst/>
          </a:prstGeom>
          <a:noFill/>
          <a:ln w="76200">
            <a:solidFill>
              <a:srgbClr val="996600"/>
            </a:solidFill>
            <a:round/>
            <a:headEnd/>
            <a:tailEnd/>
          </a:ln>
          <a:effectLst/>
        </p:spPr>
        <p:txBody>
          <a:bodyPr>
            <a:prstTxWarp prst="textNoShape">
              <a:avLst/>
            </a:prstTxWarp>
          </a:bodyPr>
          <a:lstStyle/>
          <a:p>
            <a:endParaRPr lang="en-US" dirty="0">
              <a:latin typeface="Corbel" panose="020B0503020204020204" pitchFamily="34" charset="0"/>
            </a:endParaRPr>
          </a:p>
        </p:txBody>
      </p:sp>
      <p:sp>
        <p:nvSpPr>
          <p:cNvPr id="333830" name="Line 6"/>
          <p:cNvSpPr>
            <a:spLocks noChangeShapeType="1"/>
          </p:cNvSpPr>
          <p:nvPr/>
        </p:nvSpPr>
        <p:spPr bwMode="auto">
          <a:xfrm>
            <a:off x="5705340" y="4799527"/>
            <a:ext cx="0" cy="685800"/>
          </a:xfrm>
          <a:prstGeom prst="line">
            <a:avLst/>
          </a:prstGeom>
          <a:noFill/>
          <a:ln w="76200">
            <a:solidFill>
              <a:srgbClr val="996600"/>
            </a:solidFill>
            <a:round/>
            <a:headEnd/>
            <a:tailEnd/>
          </a:ln>
          <a:effectLst/>
        </p:spPr>
        <p:txBody>
          <a:bodyPr>
            <a:prstTxWarp prst="textNoShape">
              <a:avLst/>
            </a:prstTxWarp>
          </a:bodyPr>
          <a:lstStyle/>
          <a:p>
            <a:endParaRPr lang="en-US" dirty="0">
              <a:latin typeface="Corbel" panose="020B0503020204020204" pitchFamily="34" charset="0"/>
            </a:endParaRPr>
          </a:p>
        </p:txBody>
      </p:sp>
      <p:sp>
        <p:nvSpPr>
          <p:cNvPr id="333831" name="Line 7"/>
          <p:cNvSpPr>
            <a:spLocks noChangeShapeType="1"/>
          </p:cNvSpPr>
          <p:nvPr/>
        </p:nvSpPr>
        <p:spPr bwMode="auto">
          <a:xfrm>
            <a:off x="5933940" y="4799527"/>
            <a:ext cx="0" cy="685800"/>
          </a:xfrm>
          <a:prstGeom prst="line">
            <a:avLst/>
          </a:prstGeom>
          <a:noFill/>
          <a:ln w="76200">
            <a:solidFill>
              <a:srgbClr val="996600"/>
            </a:solidFill>
            <a:round/>
            <a:headEnd/>
            <a:tailEnd/>
          </a:ln>
          <a:effectLst/>
        </p:spPr>
        <p:txBody>
          <a:bodyPr>
            <a:prstTxWarp prst="textNoShape">
              <a:avLst/>
            </a:prstTxWarp>
          </a:bodyPr>
          <a:lstStyle/>
          <a:p>
            <a:endParaRPr lang="en-US" dirty="0">
              <a:latin typeface="Corbel" panose="020B0503020204020204" pitchFamily="34" charset="0"/>
            </a:endParaRPr>
          </a:p>
        </p:txBody>
      </p:sp>
      <p:sp>
        <p:nvSpPr>
          <p:cNvPr id="333832" name="Line 8"/>
          <p:cNvSpPr>
            <a:spLocks noChangeShapeType="1"/>
          </p:cNvSpPr>
          <p:nvPr/>
        </p:nvSpPr>
        <p:spPr bwMode="auto">
          <a:xfrm>
            <a:off x="3114540" y="4799527"/>
            <a:ext cx="0" cy="685800"/>
          </a:xfrm>
          <a:prstGeom prst="line">
            <a:avLst/>
          </a:prstGeom>
          <a:noFill/>
          <a:ln w="76200">
            <a:solidFill>
              <a:srgbClr val="996600"/>
            </a:solidFill>
            <a:round/>
            <a:headEnd/>
            <a:tailEnd/>
          </a:ln>
          <a:effectLst/>
        </p:spPr>
        <p:txBody>
          <a:bodyPr>
            <a:prstTxWarp prst="textNoShape">
              <a:avLst/>
            </a:prstTxWarp>
          </a:bodyPr>
          <a:lstStyle/>
          <a:p>
            <a:endParaRPr lang="en-US" dirty="0">
              <a:latin typeface="Corbel" panose="020B050302020402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706785" y="457203"/>
            <a:ext cx="9504018" cy="1066799"/>
          </a:xfrm>
        </p:spPr>
        <p:txBody>
          <a:bodyPr/>
          <a:lstStyle/>
          <a:p>
            <a:r>
              <a:rPr lang="en-US" dirty="0"/>
              <a:t>Player Strategies</a:t>
            </a:r>
          </a:p>
        </p:txBody>
      </p:sp>
      <mc:AlternateContent xmlns:mc="http://schemas.openxmlformats.org/markup-compatibility/2006" xmlns:a14="http://schemas.microsoft.com/office/drawing/2010/main">
        <mc:Choice Requires="a14">
          <p:sp>
            <p:nvSpPr>
              <p:cNvPr id="2" name="Rectangle 1"/>
              <p:cNvSpPr/>
              <p:nvPr/>
            </p:nvSpPr>
            <p:spPr>
              <a:xfrm>
                <a:off x="708338" y="1524001"/>
                <a:ext cx="9681565" cy="3785652"/>
              </a:xfrm>
              <a:prstGeom prst="rect">
                <a:avLst/>
              </a:prstGeom>
            </p:spPr>
            <p:txBody>
              <a:bodyPr wrap="square">
                <a:spAutoFit/>
              </a:bodyPr>
              <a:lstStyle/>
              <a:p>
                <a:pPr>
                  <a:buFont typeface="Wingdings" pitchFamily="-107" charset="2"/>
                  <a:buNone/>
                </a:pPr>
                <a:r>
                  <a:rPr lang="en-US" sz="4000" dirty="0">
                    <a:latin typeface="+mn-lt"/>
                    <a:cs typeface="Times"/>
                  </a:rPr>
                  <a:t>A strategy </a:t>
                </a:r>
                <a14:m>
                  <m:oMath xmlns:m="http://schemas.openxmlformats.org/officeDocument/2006/math">
                    <m:r>
                      <a:rPr lang="en-US" sz="4000" i="1">
                        <a:latin typeface="Cambria Math" panose="02040503050406030204" pitchFamily="18" charset="0"/>
                        <a:cs typeface="Times"/>
                      </a:rPr>
                      <m:t>𝑠</m:t>
                    </m:r>
                  </m:oMath>
                </a14:m>
                <a:r>
                  <a:rPr lang="en-US" sz="4000" dirty="0">
                    <a:latin typeface="+mn-lt"/>
                    <a:cs typeface="Times"/>
                  </a:rPr>
                  <a:t> for player </a:t>
                </a:r>
                <a14:m>
                  <m:oMath xmlns:m="http://schemas.openxmlformats.org/officeDocument/2006/math">
                    <m:r>
                      <a:rPr lang="en-US" sz="4000" i="1">
                        <a:latin typeface="Cambria Math" panose="02040503050406030204" pitchFamily="18" charset="0"/>
                        <a:cs typeface="Times"/>
                      </a:rPr>
                      <m:t>𝑖</m:t>
                    </m:r>
                  </m:oMath>
                </a14:m>
                <a:r>
                  <a:rPr lang="en-US" sz="4000" dirty="0">
                    <a:latin typeface="+mn-lt"/>
                    <a:cs typeface="Times"/>
                  </a:rPr>
                  <a:t>: what will player </a:t>
                </a:r>
                <a14:m>
                  <m:oMath xmlns:m="http://schemas.openxmlformats.org/officeDocument/2006/math">
                    <m:r>
                      <a:rPr lang="en-US" sz="4000" i="1">
                        <a:latin typeface="Cambria Math" charset="0"/>
                        <a:cs typeface="Times"/>
                      </a:rPr>
                      <m:t>𝑖</m:t>
                    </m:r>
                  </m:oMath>
                </a14:m>
                <a:r>
                  <a:rPr lang="en-US" sz="4000" dirty="0">
                    <a:latin typeface="+mn-lt"/>
                    <a:cs typeface="Times"/>
                  </a:rPr>
                  <a:t> do at every node of the tree that they make a move in?</a:t>
                </a:r>
              </a:p>
              <a:p>
                <a:pPr>
                  <a:buFont typeface="Wingdings" pitchFamily="-107" charset="2"/>
                  <a:buNone/>
                </a:pPr>
                <a:endParaRPr lang="en-US" sz="4000" dirty="0">
                  <a:latin typeface="+mn-lt"/>
                  <a:cs typeface="Times"/>
                </a:endParaRPr>
              </a:p>
              <a:p>
                <a:pPr>
                  <a:buFont typeface="Wingdings" pitchFamily="-107" charset="2"/>
                  <a:buNone/>
                </a:pPr>
                <a:r>
                  <a:rPr lang="en-US" sz="4000" dirty="0">
                    <a:latin typeface="+mn-lt"/>
                    <a:cs typeface="Times"/>
                  </a:rPr>
                  <a:t>Need to specify behavior in states that will never be reached! </a:t>
                </a:r>
              </a:p>
            </p:txBody>
          </p:sp>
        </mc:Choice>
        <mc:Fallback xmlns="">
          <p:sp>
            <p:nvSpPr>
              <p:cNvPr id="2" name="Rectangle 1"/>
              <p:cNvSpPr>
                <a:spLocks noRot="1" noChangeAspect="1" noMove="1" noResize="1" noEditPoints="1" noAdjustHandles="1" noChangeArrowheads="1" noChangeShapeType="1" noTextEdit="1"/>
              </p:cNvSpPr>
              <p:nvPr/>
            </p:nvSpPr>
            <p:spPr>
              <a:xfrm>
                <a:off x="708338" y="1524001"/>
                <a:ext cx="9681565" cy="3785652"/>
              </a:xfrm>
              <a:prstGeom prst="rect">
                <a:avLst/>
              </a:prstGeom>
              <a:blipFill>
                <a:blip r:embed="rId3"/>
                <a:stretch>
                  <a:fillRect l="-2228" t="-3010" r="-3408" b="-5686"/>
                </a:stretch>
              </a:blipFill>
            </p:spPr>
            <p:txBody>
              <a:bodyPr/>
              <a:lstStyle/>
              <a:p>
                <a:r>
                  <a:rPr lang="en-GB">
                    <a:noFill/>
                  </a:rPr>
                  <a:t> </a:t>
                </a:r>
              </a:p>
            </p:txBody>
          </p:sp>
        </mc:Fallback>
      </mc:AlternateContent>
    </p:spTree>
    <p:extLst>
      <p:ext uri="{BB962C8B-B14F-4D97-AF65-F5344CB8AC3E}">
        <p14:creationId xmlns:p14="http://schemas.microsoft.com/office/powerpoint/2010/main" val="165738435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a:xfrm>
            <a:off x="589597" y="457203"/>
            <a:ext cx="9621205" cy="1066799"/>
          </a:xfrm>
        </p:spPr>
        <p:txBody>
          <a:bodyPr/>
          <a:lstStyle/>
          <a:p>
            <a:r>
              <a:rPr lang="en-US" dirty="0"/>
              <a:t>Winning Strategy</a:t>
            </a:r>
          </a:p>
        </p:txBody>
      </p:sp>
      <mc:AlternateContent xmlns:mc="http://schemas.openxmlformats.org/markup-compatibility/2006" xmlns:a14="http://schemas.microsoft.com/office/drawing/2010/main">
        <mc:Choice Requires="a14">
          <p:sp>
            <p:nvSpPr>
              <p:cNvPr id="333827" name="Rectangle 3"/>
              <p:cNvSpPr>
                <a:spLocks noGrp="1" noChangeArrowheads="1"/>
              </p:cNvSpPr>
              <p:nvPr>
                <p:ph idx="1"/>
              </p:nvPr>
            </p:nvSpPr>
            <p:spPr>
              <a:xfrm>
                <a:off x="1230449" y="3429000"/>
                <a:ext cx="9124284" cy="2895601"/>
              </a:xfrm>
            </p:spPr>
            <p:txBody>
              <a:bodyPr>
                <a:normAutofit/>
              </a:bodyPr>
              <a:lstStyle/>
              <a:p>
                <a:pPr>
                  <a:buFont typeface="Wingdings" pitchFamily="-107" charset="2"/>
                  <a:buNone/>
                </a:pPr>
                <a:r>
                  <a:rPr lang="en-US" b="1" dirty="0">
                    <a:latin typeface="Corbel" panose="020B0503020204020204" pitchFamily="34" charset="0"/>
                    <a:cs typeface="Times"/>
                  </a:rPr>
                  <a:t>Theorem (Von Neumann): </a:t>
                </a:r>
                <a:br>
                  <a:rPr lang="en-US" b="1" dirty="0">
                    <a:latin typeface="Corbel" panose="020B0503020204020204" pitchFamily="34" charset="0"/>
                    <a:cs typeface="Times"/>
                  </a:rPr>
                </a:br>
                <a:r>
                  <a:rPr lang="en-US" dirty="0">
                    <a:latin typeface="Corbel" panose="020B0503020204020204" pitchFamily="34" charset="0"/>
                    <a:cs typeface="Times"/>
                  </a:rPr>
                  <a:t>in the game of chess, only one of the following is true:</a:t>
                </a:r>
              </a:p>
              <a:p>
                <a:pPr marL="457189" indent="-457189">
                  <a:buClr>
                    <a:schemeClr val="tx1"/>
                  </a:buClr>
                  <a:buSzPct val="100000"/>
                  <a:buFont typeface="Wingdings" pitchFamily="-107" charset="2"/>
                  <a:buAutoNum type="arabicPeriod"/>
                </a:pPr>
                <a:r>
                  <a:rPr lang="en-US" dirty="0">
                    <a:latin typeface="Corbel" panose="020B0503020204020204" pitchFamily="34" charset="0"/>
                    <a:cs typeface="Times"/>
                  </a:rPr>
                  <a:t>White has a winning strategy </a:t>
                </a:r>
                <a14:m>
                  <m:oMath xmlns:m="http://schemas.openxmlformats.org/officeDocument/2006/math">
                    <m:sSubSup>
                      <m:sSubSupPr>
                        <m:ctrlPr>
                          <a:rPr lang="en-US" b="0" i="1" smtClean="0">
                            <a:latin typeface="Cambria Math" panose="02040503050406030204" pitchFamily="18" charset="0"/>
                            <a:cs typeface="Times"/>
                          </a:rPr>
                        </m:ctrlPr>
                      </m:sSubSupPr>
                      <m:e>
                        <m:r>
                          <a:rPr lang="en-US" b="0" i="1" smtClean="0">
                            <a:latin typeface="Cambria Math" panose="02040503050406030204" pitchFamily="18" charset="0"/>
                            <a:cs typeface="Times"/>
                          </a:rPr>
                          <m:t>𝑠</m:t>
                        </m:r>
                      </m:e>
                      <m:sub>
                        <m:r>
                          <a:rPr lang="en-US" b="0" i="1" smtClean="0">
                            <a:latin typeface="Cambria Math" panose="02040503050406030204" pitchFamily="18" charset="0"/>
                            <a:cs typeface="Times"/>
                          </a:rPr>
                          <m:t>𝑤</m:t>
                        </m:r>
                      </m:sub>
                      <m:sup>
                        <m:r>
                          <a:rPr lang="en-US" b="0" i="1" smtClean="0">
                            <a:latin typeface="Cambria Math" panose="02040503050406030204" pitchFamily="18" charset="0"/>
                            <a:cs typeface="Times"/>
                          </a:rPr>
                          <m:t>∗</m:t>
                        </m:r>
                      </m:sup>
                    </m:sSubSup>
                  </m:oMath>
                </a14:m>
                <a:endParaRPr lang="en-US" dirty="0">
                  <a:latin typeface="Corbel" panose="020B0503020204020204" pitchFamily="34" charset="0"/>
                  <a:cs typeface="Times"/>
                </a:endParaRPr>
              </a:p>
              <a:p>
                <a:pPr marL="457189" indent="-457189">
                  <a:buClr>
                    <a:schemeClr val="tx1"/>
                  </a:buClr>
                  <a:buSzPct val="100000"/>
                  <a:buFont typeface="Wingdings" pitchFamily="-107" charset="2"/>
                  <a:buAutoNum type="arabicPeriod"/>
                </a:pPr>
                <a:r>
                  <a:rPr lang="en-US" dirty="0">
                    <a:latin typeface="Corbel" panose="020B0503020204020204" pitchFamily="34" charset="0"/>
                    <a:cs typeface="Times"/>
                  </a:rPr>
                  <a:t>Black has a winning strategy </a:t>
                </a:r>
                <a14:m>
                  <m:oMath xmlns:m="http://schemas.openxmlformats.org/officeDocument/2006/math">
                    <m:sSubSup>
                      <m:sSubSupPr>
                        <m:ctrlPr>
                          <a:rPr lang="en-US" b="0" i="1" smtClean="0">
                            <a:latin typeface="Cambria Math" panose="02040503050406030204" pitchFamily="18" charset="0"/>
                            <a:cs typeface="Times"/>
                          </a:rPr>
                        </m:ctrlPr>
                      </m:sSubSupPr>
                      <m:e>
                        <m:r>
                          <a:rPr lang="en-US" b="0" i="1" smtClean="0">
                            <a:latin typeface="Cambria Math" panose="02040503050406030204" pitchFamily="18" charset="0"/>
                            <a:cs typeface="Times"/>
                          </a:rPr>
                          <m:t>𝑠</m:t>
                        </m:r>
                      </m:e>
                      <m:sub>
                        <m:r>
                          <a:rPr lang="en-US" b="0" i="1" smtClean="0">
                            <a:latin typeface="Cambria Math" panose="02040503050406030204" pitchFamily="18" charset="0"/>
                            <a:cs typeface="Times"/>
                          </a:rPr>
                          <m:t>𝑏</m:t>
                        </m:r>
                      </m:sub>
                      <m:sup>
                        <m:r>
                          <a:rPr lang="en-US" b="0" i="1" smtClean="0">
                            <a:latin typeface="Cambria Math" panose="02040503050406030204" pitchFamily="18" charset="0"/>
                            <a:cs typeface="Times"/>
                          </a:rPr>
                          <m:t>∗</m:t>
                        </m:r>
                      </m:sup>
                    </m:sSubSup>
                  </m:oMath>
                </a14:m>
                <a:endParaRPr lang="en-US" dirty="0">
                  <a:latin typeface="Corbel" panose="020B0503020204020204" pitchFamily="34" charset="0"/>
                  <a:cs typeface="Times"/>
                </a:endParaRPr>
              </a:p>
              <a:p>
                <a:pPr marL="457189" indent="-457189">
                  <a:buClr>
                    <a:schemeClr val="tx1"/>
                  </a:buClr>
                  <a:buSzPct val="100000"/>
                  <a:buFont typeface="Wingdings" pitchFamily="-107" charset="2"/>
                  <a:buAutoNum type="arabicPeriod"/>
                </a:pPr>
                <a:r>
                  <a:rPr lang="en-US" dirty="0">
                    <a:latin typeface="Corbel" panose="020B0503020204020204" pitchFamily="34" charset="0"/>
                    <a:cs typeface="Times"/>
                  </a:rPr>
                  <a:t>Each player has a non-losing strategy.</a:t>
                </a:r>
              </a:p>
            </p:txBody>
          </p:sp>
        </mc:Choice>
        <mc:Fallback xmlns="">
          <p:sp>
            <p:nvSpPr>
              <p:cNvPr id="333827" name="Rectangle 3"/>
              <p:cNvSpPr>
                <a:spLocks noGrp="1" noRot="1" noChangeAspect="1" noMove="1" noResize="1" noEditPoints="1" noAdjustHandles="1" noChangeArrowheads="1" noChangeShapeType="1" noTextEdit="1"/>
              </p:cNvSpPr>
              <p:nvPr>
                <p:ph idx="1"/>
              </p:nvPr>
            </p:nvSpPr>
            <p:spPr>
              <a:xfrm>
                <a:off x="1230449" y="3429000"/>
                <a:ext cx="9124284" cy="2895601"/>
              </a:xfrm>
              <a:blipFill>
                <a:blip r:embed="rId3"/>
                <a:stretch>
                  <a:fillRect l="-1528" t="-262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553792" y="1524001"/>
                <a:ext cx="9800941" cy="1477328"/>
              </a:xfrm>
              <a:prstGeom prst="rect">
                <a:avLst/>
              </a:prstGeom>
            </p:spPr>
            <p:txBody>
              <a:bodyPr wrap="square">
                <a:spAutoFit/>
              </a:bodyPr>
              <a:lstStyle/>
              <a:p>
                <a:pPr>
                  <a:buFont typeface="Wingdings" pitchFamily="-107" charset="2"/>
                  <a:buNone/>
                </a:pPr>
                <a:r>
                  <a:rPr lang="en-US" b="0" dirty="0">
                    <a:latin typeface="+mn-lt"/>
                    <a:cs typeface="Times"/>
                  </a:rPr>
                  <a:t>A strategy </a:t>
                </a:r>
                <a14:m>
                  <m:oMath xmlns:m="http://schemas.openxmlformats.org/officeDocument/2006/math">
                    <m:sSubSup>
                      <m:sSubSupPr>
                        <m:ctrlPr>
                          <a:rPr lang="en-US" b="0" i="1">
                            <a:latin typeface="Cambria Math" panose="02040503050406030204" pitchFamily="18" charset="0"/>
                            <a:cs typeface="Times"/>
                          </a:rPr>
                        </m:ctrlPr>
                      </m:sSubSupPr>
                      <m:e>
                        <m:r>
                          <a:rPr lang="en-US" b="0" i="1">
                            <a:latin typeface="Cambria Math" charset="0"/>
                            <a:cs typeface="Times"/>
                          </a:rPr>
                          <m:t>𝑠</m:t>
                        </m:r>
                      </m:e>
                      <m:sub>
                        <m:r>
                          <a:rPr lang="en-US" b="0" i="1" smtClean="0">
                            <a:latin typeface="Cambria Math" panose="02040503050406030204" pitchFamily="18" charset="0"/>
                            <a:cs typeface="Times"/>
                          </a:rPr>
                          <m:t>1</m:t>
                        </m:r>
                      </m:sub>
                      <m:sup>
                        <m:r>
                          <a:rPr lang="en-US" b="0" i="1">
                            <a:latin typeface="Cambria Math" charset="0"/>
                            <a:cs typeface="Times"/>
                          </a:rPr>
                          <m:t>∗</m:t>
                        </m:r>
                      </m:sup>
                    </m:sSubSup>
                  </m:oMath>
                </a14:m>
                <a:r>
                  <a:rPr lang="en-US" b="0" dirty="0">
                    <a:latin typeface="+mn-lt"/>
                    <a:cs typeface="Times"/>
                  </a:rPr>
                  <a:t> for player 1 is called </a:t>
                </a:r>
                <a:r>
                  <a:rPr lang="en-US" dirty="0">
                    <a:latin typeface="+mn-lt"/>
                    <a:cs typeface="Times"/>
                  </a:rPr>
                  <a:t>winning</a:t>
                </a:r>
                <a:r>
                  <a:rPr lang="en-US" b="0" dirty="0">
                    <a:latin typeface="+mn-lt"/>
                    <a:cs typeface="Times"/>
                  </a:rPr>
                  <a:t> if for any strategy </a:t>
                </a:r>
                <a14:m>
                  <m:oMath xmlns:m="http://schemas.openxmlformats.org/officeDocument/2006/math">
                    <m:sSub>
                      <m:sSubPr>
                        <m:ctrlPr>
                          <a:rPr lang="en-US" b="0" i="1">
                            <a:latin typeface="Cambria Math" panose="02040503050406030204" pitchFamily="18" charset="0"/>
                            <a:cs typeface="Times"/>
                          </a:rPr>
                        </m:ctrlPr>
                      </m:sSubPr>
                      <m:e>
                        <m:r>
                          <a:rPr lang="en-US" b="0" i="1">
                            <a:latin typeface="Cambria Math" charset="0"/>
                            <a:cs typeface="Times"/>
                          </a:rPr>
                          <m:t>𝑠</m:t>
                        </m:r>
                      </m:e>
                      <m:sub>
                        <m:r>
                          <a:rPr lang="en-US" b="0" i="1" smtClean="0">
                            <a:latin typeface="Cambria Math" panose="02040503050406030204" pitchFamily="18" charset="0"/>
                            <a:cs typeface="Times"/>
                          </a:rPr>
                          <m:t>2</m:t>
                        </m:r>
                      </m:sub>
                    </m:sSub>
                  </m:oMath>
                </a14:m>
                <a:r>
                  <a:rPr lang="en-US" b="0" dirty="0">
                    <a:latin typeface="+mn-lt"/>
                    <a:cs typeface="Times"/>
                  </a:rPr>
                  <a:t> by player 2, the game ends with player 1 as the winner.</a:t>
                </a:r>
              </a:p>
              <a:p>
                <a:pPr>
                  <a:buFont typeface="Wingdings" pitchFamily="-107" charset="2"/>
                  <a:buNone/>
                </a:pPr>
                <a:endParaRPr lang="en-US" b="0" dirty="0">
                  <a:latin typeface="+mn-lt"/>
                  <a:cs typeface="Times"/>
                </a:endParaRPr>
              </a:p>
              <a:p>
                <a:pPr>
                  <a:buFont typeface="Wingdings" pitchFamily="-107" charset="2"/>
                  <a:buNone/>
                </a:pPr>
                <a:r>
                  <a:rPr lang="en-US" b="0" dirty="0">
                    <a:latin typeface="+mn-lt"/>
                    <a:cs typeface="Times"/>
                  </a:rPr>
                  <a:t>A strategy </a:t>
                </a:r>
                <a14:m>
                  <m:oMath xmlns:m="http://schemas.openxmlformats.org/officeDocument/2006/math">
                    <m:sSubSup>
                      <m:sSubSupPr>
                        <m:ctrlPr>
                          <a:rPr lang="en-US" b="0" i="1" smtClean="0">
                            <a:latin typeface="Cambria Math" panose="02040503050406030204" pitchFamily="18" charset="0"/>
                            <a:cs typeface="Times"/>
                          </a:rPr>
                        </m:ctrlPr>
                      </m:sSubSupPr>
                      <m:e>
                        <m:r>
                          <a:rPr lang="en-US" b="0" i="1" smtClean="0">
                            <a:latin typeface="Cambria Math" panose="02040503050406030204" pitchFamily="18" charset="0"/>
                            <a:cs typeface="Times"/>
                          </a:rPr>
                          <m:t>𝑡</m:t>
                        </m:r>
                      </m:e>
                      <m:sub>
                        <m:r>
                          <a:rPr lang="en-US" b="0" i="1" smtClean="0">
                            <a:latin typeface="Cambria Math" panose="02040503050406030204" pitchFamily="18" charset="0"/>
                            <a:cs typeface="Times"/>
                          </a:rPr>
                          <m:t>1</m:t>
                        </m:r>
                      </m:sub>
                      <m:sup>
                        <m:r>
                          <a:rPr lang="en-US" b="0" i="1" smtClean="0">
                            <a:latin typeface="Cambria Math" panose="02040503050406030204" pitchFamily="18" charset="0"/>
                            <a:cs typeface="Times"/>
                          </a:rPr>
                          <m:t>∗</m:t>
                        </m:r>
                      </m:sup>
                    </m:sSubSup>
                  </m:oMath>
                </a14:m>
                <a:r>
                  <a:rPr lang="en-US" b="0" dirty="0">
                    <a:latin typeface="+mn-lt"/>
                    <a:cs typeface="Times"/>
                  </a:rPr>
                  <a:t> for player 1 is called </a:t>
                </a:r>
                <a:r>
                  <a:rPr lang="en-US" dirty="0">
                    <a:latin typeface="+mn-lt"/>
                    <a:cs typeface="Times"/>
                  </a:rPr>
                  <a:t>non-losing </a:t>
                </a:r>
                <a:r>
                  <a:rPr lang="en-US" b="0" dirty="0">
                    <a:latin typeface="+mn-lt"/>
                    <a:cs typeface="Times"/>
                  </a:rPr>
                  <a:t>if for any strategy </a:t>
                </a:r>
                <a14:m>
                  <m:oMath xmlns:m="http://schemas.openxmlformats.org/officeDocument/2006/math">
                    <m:sSub>
                      <m:sSubPr>
                        <m:ctrlPr>
                          <a:rPr lang="en-US" b="0" i="1" smtClean="0">
                            <a:latin typeface="Cambria Math" panose="02040503050406030204" pitchFamily="18" charset="0"/>
                            <a:cs typeface="Times"/>
                          </a:rPr>
                        </m:ctrlPr>
                      </m:sSubPr>
                      <m:e>
                        <m:r>
                          <a:rPr lang="en-US" b="0" i="1" smtClean="0">
                            <a:latin typeface="Cambria Math" panose="02040503050406030204" pitchFamily="18" charset="0"/>
                            <a:cs typeface="Times"/>
                          </a:rPr>
                          <m:t>𝑠</m:t>
                        </m:r>
                      </m:e>
                      <m:sub>
                        <m:r>
                          <a:rPr lang="en-US" b="0" i="1" smtClean="0">
                            <a:latin typeface="Cambria Math" panose="02040503050406030204" pitchFamily="18" charset="0"/>
                            <a:cs typeface="Times"/>
                          </a:rPr>
                          <m:t>2</m:t>
                        </m:r>
                      </m:sub>
                    </m:sSub>
                  </m:oMath>
                </a14:m>
                <a:r>
                  <a:rPr lang="en-US" b="0" dirty="0">
                    <a:latin typeface="+mn-lt"/>
                    <a:cs typeface="Times"/>
                  </a:rPr>
                  <a:t> by player 2, the game ends in either a tie or a win for player 1.</a:t>
                </a:r>
                <a:endParaRPr lang="en-US" dirty="0">
                  <a:latin typeface="+mn-lt"/>
                  <a:cs typeface="Times"/>
                </a:endParaRPr>
              </a:p>
            </p:txBody>
          </p:sp>
        </mc:Choice>
        <mc:Fallback xmlns="">
          <p:sp>
            <p:nvSpPr>
              <p:cNvPr id="2" name="Rectangle 1"/>
              <p:cNvSpPr>
                <a:spLocks noRot="1" noChangeAspect="1" noMove="1" noResize="1" noEditPoints="1" noAdjustHandles="1" noChangeArrowheads="1" noChangeShapeType="1" noTextEdit="1"/>
              </p:cNvSpPr>
              <p:nvPr/>
            </p:nvSpPr>
            <p:spPr>
              <a:xfrm>
                <a:off x="553792" y="1524001"/>
                <a:ext cx="9800941" cy="1477328"/>
              </a:xfrm>
              <a:prstGeom prst="rect">
                <a:avLst/>
              </a:prstGeom>
              <a:blipFill>
                <a:blip r:embed="rId4"/>
                <a:stretch>
                  <a:fillRect l="-517" t="-1709" r="-906" b="-5128"/>
                </a:stretch>
              </a:blipFill>
            </p:spPr>
            <p:txBody>
              <a:bodyPr/>
              <a:lstStyle/>
              <a:p>
                <a:r>
                  <a:rPr lang="en-GB">
                    <a:noFill/>
                  </a:rPr>
                  <a:t> </a:t>
                </a:r>
              </a:p>
            </p:txBody>
          </p:sp>
        </mc:Fallback>
      </mc:AlternateContent>
    </p:spTree>
    <p:extLst>
      <p:ext uri="{BB962C8B-B14F-4D97-AF65-F5344CB8AC3E}">
        <p14:creationId xmlns:p14="http://schemas.microsoft.com/office/powerpoint/2010/main" val="392508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569712" y="334853"/>
            <a:ext cx="9653611" cy="1142999"/>
          </a:xfrm>
        </p:spPr>
        <p:txBody>
          <a:bodyPr>
            <a:normAutofit/>
          </a:bodyPr>
          <a:lstStyle/>
          <a:p>
            <a:r>
              <a:rPr lang="en-US"/>
              <a:t>Optimal </a:t>
            </a:r>
            <a:r>
              <a:rPr lang="en-US" dirty="0"/>
              <a:t>Strategy at Node - Minimax</a:t>
            </a:r>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89397" y="1456156"/>
                <a:ext cx="9925609" cy="449580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2800" i="1">
                          <a:latin typeface="Cambria Math" charset="0"/>
                          <a:cs typeface="Times"/>
                        </a:rPr>
                        <m:t>𝑀𝑖𝑛𝑖𝑚𝑎𝑥</m:t>
                      </m:r>
                      <m:d>
                        <m:dPr>
                          <m:ctrlPr>
                            <a:rPr lang="en-US" sz="2800" i="1">
                              <a:latin typeface="Cambria Math" panose="02040503050406030204" pitchFamily="18" charset="0"/>
                              <a:cs typeface="Times"/>
                            </a:rPr>
                          </m:ctrlPr>
                        </m:dPr>
                        <m:e>
                          <m:r>
                            <a:rPr lang="en-US" sz="2800" i="1">
                              <a:latin typeface="Cambria Math" charset="0"/>
                              <a:cs typeface="Times"/>
                            </a:rPr>
                            <m:t>𝑠</m:t>
                          </m:r>
                        </m:e>
                      </m:d>
                      <m:r>
                        <a:rPr lang="en-US" sz="2800" i="1">
                          <a:latin typeface="Cambria Math" charset="0"/>
                          <a:cs typeface="Times"/>
                        </a:rPr>
                        <m:t>=</m:t>
                      </m:r>
                      <m:d>
                        <m:dPr>
                          <m:begChr m:val="{"/>
                          <m:endChr m:val=""/>
                          <m:ctrlPr>
                            <a:rPr lang="en-US" sz="2800" i="1">
                              <a:latin typeface="Cambria Math" panose="02040503050406030204" pitchFamily="18" charset="0"/>
                              <a:cs typeface="Times"/>
                            </a:rPr>
                          </m:ctrlPr>
                        </m:dPr>
                        <m:e>
                          <m:eqArr>
                            <m:eqArrPr>
                              <m:ctrlPr>
                                <a:rPr lang="en-US" sz="2800" i="1">
                                  <a:latin typeface="Cambria Math" panose="02040503050406030204" pitchFamily="18" charset="0"/>
                                  <a:cs typeface="Times"/>
                                </a:rPr>
                              </m:ctrlPr>
                            </m:eqArrPr>
                            <m:e>
                              <m:r>
                                <a:rPr lang="en-US" sz="2800" i="1">
                                  <a:latin typeface="Cambria Math" charset="0"/>
                                  <a:cs typeface="Times"/>
                                </a:rPr>
                                <m:t>𝑈𝑡𝑖𝑙𝑖𝑡𝑦</m:t>
                              </m:r>
                              <m:d>
                                <m:dPr>
                                  <m:ctrlPr>
                                    <a:rPr lang="en-US" sz="2800" i="1">
                                      <a:latin typeface="Cambria Math" panose="02040503050406030204" pitchFamily="18" charset="0"/>
                                      <a:cs typeface="Times"/>
                                    </a:rPr>
                                  </m:ctrlPr>
                                </m:dPr>
                                <m:e>
                                  <m:r>
                                    <a:rPr lang="en-US" sz="2800" i="1">
                                      <a:latin typeface="Cambria Math" charset="0"/>
                                      <a:cs typeface="Times"/>
                                    </a:rPr>
                                    <m:t>𝑠</m:t>
                                  </m:r>
                                </m:e>
                              </m:d>
                              <m:r>
                                <a:rPr lang="en-US" sz="2800" i="1">
                                  <a:latin typeface="Cambria Math" charset="0"/>
                                  <a:cs typeface="Times"/>
                                </a:rPr>
                                <m:t>&amp; </m:t>
                              </m:r>
                              <m:r>
                                <m:rPr>
                                  <m:sty m:val="p"/>
                                </m:rPr>
                                <a:rPr lang="en-US" sz="2800">
                                  <a:latin typeface="Cambria Math" charset="0"/>
                                  <a:cs typeface="Times"/>
                                </a:rPr>
                                <m:t>if</m:t>
                              </m:r>
                              <m:r>
                                <a:rPr lang="en-US" sz="2800">
                                  <a:latin typeface="Cambria Math" charset="0"/>
                                  <a:cs typeface="Times"/>
                                </a:rPr>
                                <m:t> </m:t>
                              </m:r>
                              <m:r>
                                <m:rPr>
                                  <m:sty m:val="p"/>
                                </m:rPr>
                                <a:rPr lang="en-US" sz="2800">
                                  <a:latin typeface="Cambria Math" charset="0"/>
                                  <a:cs typeface="Times"/>
                                </a:rPr>
                                <m:t>TerminalTest</m:t>
                              </m:r>
                              <m:d>
                                <m:dPr>
                                  <m:ctrlPr>
                                    <a:rPr lang="en-US" sz="2800" i="1">
                                      <a:latin typeface="Cambria Math" panose="02040503050406030204" pitchFamily="18" charset="0"/>
                                      <a:cs typeface="Times"/>
                                    </a:rPr>
                                  </m:ctrlPr>
                                </m:dPr>
                                <m:e>
                                  <m:r>
                                    <a:rPr lang="en-US" sz="2800" i="1">
                                      <a:latin typeface="Cambria Math" charset="0"/>
                                      <a:cs typeface="Times"/>
                                    </a:rPr>
                                    <m:t>𝑠</m:t>
                                  </m:r>
                                </m:e>
                              </m:d>
                            </m:e>
                            <m:e>
                              <m:func>
                                <m:funcPr>
                                  <m:ctrlPr>
                                    <a:rPr lang="en-US" sz="2800" i="1">
                                      <a:latin typeface="Cambria Math" panose="02040503050406030204" pitchFamily="18" charset="0"/>
                                      <a:cs typeface="Times"/>
                                    </a:rPr>
                                  </m:ctrlPr>
                                </m:funcPr>
                                <m:fName>
                                  <m:limLow>
                                    <m:limLowPr>
                                      <m:ctrlPr>
                                        <a:rPr lang="en-US" sz="2800" i="1">
                                          <a:latin typeface="Cambria Math" panose="02040503050406030204" pitchFamily="18" charset="0"/>
                                          <a:cs typeface="Times"/>
                                        </a:rPr>
                                      </m:ctrlPr>
                                    </m:limLowPr>
                                    <m:e>
                                      <m:r>
                                        <m:rPr>
                                          <m:sty m:val="p"/>
                                        </m:rPr>
                                        <a:rPr lang="en-US" sz="2800">
                                          <a:latin typeface="Cambria Math" charset="0"/>
                                          <a:cs typeface="Times"/>
                                        </a:rPr>
                                        <m:t>max</m:t>
                                      </m:r>
                                    </m:e>
                                    <m:lim>
                                      <m:r>
                                        <a:rPr lang="en-US" sz="2800" i="1">
                                          <a:latin typeface="Cambria Math" charset="0"/>
                                          <a:cs typeface="Times"/>
                                        </a:rPr>
                                        <m:t>𝑎</m:t>
                                      </m:r>
                                      <m:r>
                                        <a:rPr lang="en-US" sz="2800" i="1">
                                          <a:latin typeface="Cambria Math" charset="0"/>
                                          <a:cs typeface="Times"/>
                                        </a:rPr>
                                        <m:t>∈</m:t>
                                      </m:r>
                                      <m:r>
                                        <m:rPr>
                                          <m:sty m:val="p"/>
                                        </m:rPr>
                                        <a:rPr lang="en-US" sz="2800">
                                          <a:latin typeface="Cambria Math" charset="0"/>
                                          <a:cs typeface="Times"/>
                                        </a:rPr>
                                        <m:t>Actions</m:t>
                                      </m:r>
                                      <m:d>
                                        <m:dPr>
                                          <m:ctrlPr>
                                            <a:rPr lang="en-US" sz="2800" i="1">
                                              <a:latin typeface="Cambria Math" panose="02040503050406030204" pitchFamily="18" charset="0"/>
                                              <a:cs typeface="Times"/>
                                            </a:rPr>
                                          </m:ctrlPr>
                                        </m:dPr>
                                        <m:e>
                                          <m:r>
                                            <a:rPr lang="en-US" sz="2800" i="1">
                                              <a:latin typeface="Cambria Math" charset="0"/>
                                              <a:cs typeface="Times"/>
                                            </a:rPr>
                                            <m:t>𝑠</m:t>
                                          </m:r>
                                        </m:e>
                                      </m:d>
                                    </m:lim>
                                  </m:limLow>
                                </m:fName>
                                <m:e>
                                  <m:r>
                                    <m:rPr>
                                      <m:sty m:val="p"/>
                                    </m:rPr>
                                    <a:rPr lang="en-US" sz="2800">
                                      <a:latin typeface="Cambria Math" charset="0"/>
                                      <a:cs typeface="Times"/>
                                    </a:rPr>
                                    <m:t>Minimax</m:t>
                                  </m:r>
                                  <m:d>
                                    <m:dPr>
                                      <m:ctrlPr>
                                        <a:rPr lang="en-US" sz="2800" i="1">
                                          <a:latin typeface="Cambria Math" panose="02040503050406030204" pitchFamily="18" charset="0"/>
                                          <a:cs typeface="Times"/>
                                        </a:rPr>
                                      </m:ctrlPr>
                                    </m:dPr>
                                    <m:e>
                                      <m:r>
                                        <m:rPr>
                                          <m:sty m:val="p"/>
                                        </m:rPr>
                                        <a:rPr lang="en-US" sz="2800">
                                          <a:latin typeface="Cambria Math" charset="0"/>
                                          <a:cs typeface="Times"/>
                                        </a:rPr>
                                        <m:t>Result</m:t>
                                      </m:r>
                                      <m:d>
                                        <m:dPr>
                                          <m:ctrlPr>
                                            <a:rPr lang="en-US" sz="2800" i="1">
                                              <a:latin typeface="Cambria Math" panose="02040503050406030204" pitchFamily="18" charset="0"/>
                                              <a:cs typeface="Times"/>
                                            </a:rPr>
                                          </m:ctrlPr>
                                        </m:dPr>
                                        <m:e>
                                          <m:r>
                                            <a:rPr lang="en-US" sz="2800" i="1">
                                              <a:latin typeface="Cambria Math" charset="0"/>
                                              <a:cs typeface="Times"/>
                                            </a:rPr>
                                            <m:t>𝑠</m:t>
                                          </m:r>
                                          <m:r>
                                            <a:rPr lang="en-US" sz="2800" i="1">
                                              <a:latin typeface="Cambria Math" charset="0"/>
                                              <a:cs typeface="Times"/>
                                            </a:rPr>
                                            <m:t>,</m:t>
                                          </m:r>
                                          <m:r>
                                            <a:rPr lang="en-US" sz="2800" i="1">
                                              <a:latin typeface="Cambria Math" charset="0"/>
                                              <a:cs typeface="Times"/>
                                            </a:rPr>
                                            <m:t>𝑎</m:t>
                                          </m:r>
                                        </m:e>
                                      </m:d>
                                    </m:e>
                                  </m:d>
                                </m:e>
                              </m:func>
                              <m:r>
                                <a:rPr lang="en-US" sz="2800" i="1">
                                  <a:latin typeface="Cambria Math" charset="0"/>
                                  <a:cs typeface="Times"/>
                                </a:rPr>
                                <m:t>&amp; </m:t>
                              </m:r>
                              <m:r>
                                <m:rPr>
                                  <m:sty m:val="p"/>
                                </m:rPr>
                                <a:rPr lang="en-US" sz="2800">
                                  <a:latin typeface="Cambria Math" charset="0"/>
                                  <a:cs typeface="Times"/>
                                </a:rPr>
                                <m:t>if</m:t>
                              </m:r>
                              <m:r>
                                <a:rPr lang="en-US" sz="2800">
                                  <a:latin typeface="Cambria Math" charset="0"/>
                                  <a:cs typeface="Times"/>
                                </a:rPr>
                                <m:t> </m:t>
                              </m:r>
                              <m:r>
                                <m:rPr>
                                  <m:sty m:val="p"/>
                                </m:rPr>
                                <a:rPr lang="en-US" sz="2800">
                                  <a:latin typeface="Cambria Math" charset="0"/>
                                  <a:cs typeface="Times"/>
                                </a:rPr>
                                <m:t>Player</m:t>
                              </m:r>
                              <m:d>
                                <m:dPr>
                                  <m:ctrlPr>
                                    <a:rPr lang="en-US" sz="2800" i="1">
                                      <a:latin typeface="Cambria Math" panose="02040503050406030204" pitchFamily="18" charset="0"/>
                                      <a:cs typeface="Times"/>
                                    </a:rPr>
                                  </m:ctrlPr>
                                </m:dPr>
                                <m:e>
                                  <m:r>
                                    <a:rPr lang="en-US" sz="2800" i="1">
                                      <a:latin typeface="Cambria Math" charset="0"/>
                                      <a:cs typeface="Times"/>
                                    </a:rPr>
                                    <m:t>𝑠</m:t>
                                  </m:r>
                                </m:e>
                              </m:d>
                              <m:r>
                                <a:rPr lang="en-US" sz="2800" i="1">
                                  <a:latin typeface="Cambria Math" charset="0"/>
                                  <a:cs typeface="Times"/>
                                </a:rPr>
                                <m:t>=</m:t>
                              </m:r>
                              <m:r>
                                <m:rPr>
                                  <m:sty m:val="p"/>
                                </m:rPr>
                                <a:rPr lang="en-US" sz="2800">
                                  <a:latin typeface="Cambria Math" charset="0"/>
                                  <a:cs typeface="Times"/>
                                </a:rPr>
                                <m:t>MAX</m:t>
                              </m:r>
                            </m:e>
                            <m:e>
                              <m:limLow>
                                <m:limLowPr>
                                  <m:ctrlPr>
                                    <a:rPr lang="en-US" sz="2800" i="1">
                                      <a:latin typeface="Cambria Math" panose="02040503050406030204" pitchFamily="18" charset="0"/>
                                      <a:cs typeface="Times"/>
                                    </a:rPr>
                                  </m:ctrlPr>
                                </m:limLowPr>
                                <m:e>
                                  <m:r>
                                    <m:rPr>
                                      <m:sty m:val="p"/>
                                    </m:rPr>
                                    <a:rPr lang="en-US" sz="2800">
                                      <a:latin typeface="Cambria Math" charset="0"/>
                                      <a:cs typeface="Times"/>
                                    </a:rPr>
                                    <m:t>min</m:t>
                                  </m:r>
                                </m:e>
                                <m:lim>
                                  <m:r>
                                    <a:rPr lang="en-US" sz="2800" i="1">
                                      <a:latin typeface="Cambria Math" charset="0"/>
                                      <a:cs typeface="Times"/>
                                    </a:rPr>
                                    <m:t>𝑎</m:t>
                                  </m:r>
                                  <m:r>
                                    <a:rPr lang="en-US" sz="2800" i="1">
                                      <a:latin typeface="Cambria Math" charset="0"/>
                                      <a:cs typeface="Times"/>
                                    </a:rPr>
                                    <m:t>∈</m:t>
                                  </m:r>
                                  <m:r>
                                    <m:rPr>
                                      <m:sty m:val="p"/>
                                    </m:rPr>
                                    <a:rPr lang="en-US" sz="2800">
                                      <a:latin typeface="Cambria Math" charset="0"/>
                                      <a:cs typeface="Times"/>
                                    </a:rPr>
                                    <m:t>Actions</m:t>
                                  </m:r>
                                  <m:d>
                                    <m:dPr>
                                      <m:ctrlPr>
                                        <a:rPr lang="en-US" sz="2800" i="1">
                                          <a:latin typeface="Cambria Math" panose="02040503050406030204" pitchFamily="18" charset="0"/>
                                          <a:cs typeface="Times"/>
                                        </a:rPr>
                                      </m:ctrlPr>
                                    </m:dPr>
                                    <m:e>
                                      <m:r>
                                        <a:rPr lang="en-US" sz="2800" i="1">
                                          <a:latin typeface="Cambria Math" charset="0"/>
                                          <a:cs typeface="Times"/>
                                        </a:rPr>
                                        <m:t>𝑠</m:t>
                                      </m:r>
                                    </m:e>
                                  </m:d>
                                </m:lim>
                              </m:limLow>
                              <m:r>
                                <m:rPr>
                                  <m:sty m:val="p"/>
                                </m:rPr>
                                <a:rPr lang="en-US" sz="2800">
                                  <a:latin typeface="Cambria Math" charset="0"/>
                                  <a:cs typeface="Times"/>
                                </a:rPr>
                                <m:t>Minimax</m:t>
                              </m:r>
                              <m:d>
                                <m:dPr>
                                  <m:ctrlPr>
                                    <a:rPr lang="en-US" sz="2800" i="1">
                                      <a:latin typeface="Cambria Math" panose="02040503050406030204" pitchFamily="18" charset="0"/>
                                      <a:cs typeface="Times"/>
                                    </a:rPr>
                                  </m:ctrlPr>
                                </m:dPr>
                                <m:e>
                                  <m:r>
                                    <m:rPr>
                                      <m:sty m:val="p"/>
                                    </m:rPr>
                                    <a:rPr lang="en-US" sz="2800">
                                      <a:latin typeface="Cambria Math" charset="0"/>
                                      <a:cs typeface="Times"/>
                                    </a:rPr>
                                    <m:t>Result</m:t>
                                  </m:r>
                                  <m:d>
                                    <m:dPr>
                                      <m:ctrlPr>
                                        <a:rPr lang="en-US" sz="2800" i="1">
                                          <a:latin typeface="Cambria Math" panose="02040503050406030204" pitchFamily="18" charset="0"/>
                                          <a:cs typeface="Times"/>
                                        </a:rPr>
                                      </m:ctrlPr>
                                    </m:dPr>
                                    <m:e>
                                      <m:r>
                                        <a:rPr lang="en-US" sz="2800" i="1">
                                          <a:latin typeface="Cambria Math" charset="0"/>
                                          <a:cs typeface="Times"/>
                                        </a:rPr>
                                        <m:t>𝑠</m:t>
                                      </m:r>
                                      <m:r>
                                        <a:rPr lang="en-US" sz="2800" i="1">
                                          <a:latin typeface="Cambria Math" charset="0"/>
                                          <a:cs typeface="Times"/>
                                        </a:rPr>
                                        <m:t>,</m:t>
                                      </m:r>
                                      <m:r>
                                        <a:rPr lang="en-US" sz="2800" i="1">
                                          <a:latin typeface="Cambria Math" charset="0"/>
                                          <a:cs typeface="Times"/>
                                        </a:rPr>
                                        <m:t>𝑎</m:t>
                                      </m:r>
                                    </m:e>
                                  </m:d>
                                </m:e>
                              </m:d>
                              <m:r>
                                <a:rPr lang="en-US" sz="2800" i="1">
                                  <a:latin typeface="Cambria Math" charset="0"/>
                                  <a:cs typeface="Times"/>
                                </a:rPr>
                                <m:t>&amp; </m:t>
                              </m:r>
                              <m:r>
                                <m:rPr>
                                  <m:sty m:val="p"/>
                                </m:rPr>
                                <a:rPr lang="en-US" sz="2800">
                                  <a:latin typeface="Cambria Math" charset="0"/>
                                  <a:cs typeface="Times"/>
                                </a:rPr>
                                <m:t>if</m:t>
                              </m:r>
                              <m:r>
                                <a:rPr lang="en-US" sz="2800">
                                  <a:latin typeface="Cambria Math" charset="0"/>
                                  <a:cs typeface="Times"/>
                                </a:rPr>
                                <m:t> </m:t>
                              </m:r>
                              <m:r>
                                <m:rPr>
                                  <m:sty m:val="p"/>
                                </m:rPr>
                                <a:rPr lang="en-US" sz="2800">
                                  <a:latin typeface="Cambria Math" charset="0"/>
                                  <a:cs typeface="Times"/>
                                </a:rPr>
                                <m:t>Player</m:t>
                              </m:r>
                              <m:d>
                                <m:dPr>
                                  <m:ctrlPr>
                                    <a:rPr lang="en-US" sz="2800" i="1">
                                      <a:latin typeface="Cambria Math" panose="02040503050406030204" pitchFamily="18" charset="0"/>
                                      <a:cs typeface="Times"/>
                                    </a:rPr>
                                  </m:ctrlPr>
                                </m:dPr>
                                <m:e>
                                  <m:r>
                                    <a:rPr lang="en-US" sz="2800" i="1">
                                      <a:latin typeface="Cambria Math" charset="0"/>
                                      <a:cs typeface="Times"/>
                                    </a:rPr>
                                    <m:t>𝑠</m:t>
                                  </m:r>
                                </m:e>
                              </m:d>
                              <m:r>
                                <a:rPr lang="en-US" sz="2800">
                                  <a:latin typeface="Cambria Math" charset="0"/>
                                  <a:cs typeface="Times"/>
                                </a:rPr>
                                <m:t>=</m:t>
                              </m:r>
                              <m:r>
                                <m:rPr>
                                  <m:sty m:val="p"/>
                                </m:rPr>
                                <a:rPr lang="en-US" sz="2800">
                                  <a:latin typeface="Cambria Math" charset="0"/>
                                  <a:cs typeface="Times"/>
                                </a:rPr>
                                <m:t>MIN</m:t>
                              </m:r>
                            </m:e>
                          </m:eqArr>
                        </m:e>
                      </m:d>
                    </m:oMath>
                  </m:oMathPara>
                </a14:m>
                <a:endParaRPr lang="en-US" sz="2800" dirty="0">
                  <a:latin typeface="Corbel" panose="020B0503020204020204" pitchFamily="34" charset="0"/>
                  <a:cs typeface="Times"/>
                </a:endParaRPr>
              </a:p>
              <a:p>
                <a:endParaRPr lang="en-US" sz="2800" dirty="0">
                  <a:latin typeface="Corbel" panose="020B0503020204020204" pitchFamily="34" charset="0"/>
                  <a:cs typeface="Times"/>
                </a:endParaRPr>
              </a:p>
              <a:p>
                <a:pPr>
                  <a:buNone/>
                </a:pPr>
                <a:r>
                  <a:rPr lang="en-US" sz="2800" dirty="0">
                    <a:latin typeface="Corbel" panose="020B0503020204020204" pitchFamily="34" charset="0"/>
                    <a:cs typeface="Times"/>
                  </a:rPr>
                  <a:t>Intuitively,</a:t>
                </a:r>
              </a:p>
              <a:p>
                <a:r>
                  <a:rPr lang="en-US" sz="2800" dirty="0">
                    <a:latin typeface="Corbel" panose="020B0503020204020204" pitchFamily="34" charset="0"/>
                    <a:cs typeface="Times"/>
                  </a:rPr>
                  <a:t>MAX chooses move to maximize the minimum payoff</a:t>
                </a:r>
              </a:p>
              <a:p>
                <a:r>
                  <a:rPr lang="en-US" sz="2800" dirty="0">
                    <a:latin typeface="Corbel" panose="020B0503020204020204" pitchFamily="34" charset="0"/>
                    <a:cs typeface="Times"/>
                  </a:rPr>
                  <a:t>MIN chooses move to minimize the maximum payoff</a:t>
                </a:r>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89397" y="1456156"/>
                <a:ext cx="9925609" cy="4495800"/>
              </a:xfrm>
              <a:blipFill>
                <a:blip r:embed="rId3"/>
                <a:stretch>
                  <a:fillRect l="-1279" b="-3662"/>
                </a:stretch>
              </a:blipFill>
            </p:spPr>
            <p:txBody>
              <a:bodyPr/>
              <a:lstStyle/>
              <a:p>
                <a:r>
                  <a:rPr lang="en-GB">
                    <a:noFill/>
                  </a:rPr>
                  <a:t> </a:t>
                </a:r>
              </a:p>
            </p:txBody>
          </p:sp>
        </mc:Fallback>
      </mc:AlternateContent>
    </p:spTree>
    <p:extLst>
      <p:ext uri="{BB962C8B-B14F-4D97-AF65-F5344CB8AC3E}">
        <p14:creationId xmlns:p14="http://schemas.microsoft.com/office/powerpoint/2010/main" val="19069403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Freeform 5"/>
              <p:cNvSpPr/>
              <p:nvPr/>
            </p:nvSpPr>
            <p:spPr>
              <a:xfrm>
                <a:off x="3365739" y="283391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dirty="0"/>
              </a:p>
            </p:txBody>
          </p:sp>
        </mc:Choice>
        <mc:Fallback xmlns="">
          <p:sp>
            <p:nvSpPr>
              <p:cNvPr id="6" name="Freeform 5"/>
              <p:cNvSpPr>
                <a:spLocks noRot="1" noChangeAspect="1" noMove="1" noResize="1" noEditPoints="1" noAdjustHandles="1" noChangeArrowheads="1" noChangeShapeType="1" noTextEdit="1"/>
              </p:cNvSpPr>
              <p:nvPr/>
            </p:nvSpPr>
            <p:spPr>
              <a:xfrm>
                <a:off x="3365739" y="283391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Freeform 86"/>
              <p:cNvSpPr/>
              <p:nvPr/>
            </p:nvSpPr>
            <p:spPr>
              <a:xfrm>
                <a:off x="3367300" y="2828938"/>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−3,3</m:t>
                          </m:r>
                        </m:e>
                      </m:d>
                    </m:oMath>
                  </m:oMathPara>
                </a14:m>
                <a:endParaRPr lang="en-US" sz="2000" dirty="0"/>
              </a:p>
            </p:txBody>
          </p:sp>
        </mc:Choice>
        <mc:Fallback xmlns="">
          <p:sp>
            <p:nvSpPr>
              <p:cNvPr id="87" name="Freeform 86"/>
              <p:cNvSpPr>
                <a:spLocks noRot="1" noChangeAspect="1" noMove="1" noResize="1" noEditPoints="1" noAdjustHandles="1" noChangeArrowheads="1" noChangeShapeType="1" noTextEdit="1"/>
              </p:cNvSpPr>
              <p:nvPr/>
            </p:nvSpPr>
            <p:spPr>
              <a:xfrm>
                <a:off x="3367300" y="2828938"/>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p:sp>
        <p:nvSpPr>
          <p:cNvPr id="334850" name="Rectangle 2"/>
          <p:cNvSpPr>
            <a:spLocks noGrp="1" noChangeArrowheads="1"/>
          </p:cNvSpPr>
          <p:nvPr>
            <p:ph type="title"/>
          </p:nvPr>
        </p:nvSpPr>
        <p:spPr>
          <a:xfrm>
            <a:off x="530181" y="248473"/>
            <a:ext cx="7704667" cy="914399"/>
          </a:xfrm>
        </p:spPr>
        <p:txBody>
          <a:bodyPr>
            <a:normAutofit fontScale="90000"/>
          </a:bodyPr>
          <a:lstStyle/>
          <a:p>
            <a:r>
              <a:rPr lang="en-US" dirty="0"/>
              <a:t>Minimax Play</a:t>
            </a:r>
            <a:br>
              <a:rPr lang="en-US" dirty="0"/>
            </a:br>
            <a:r>
              <a:rPr lang="en-US" dirty="0"/>
              <a:t>(</a:t>
            </a:r>
            <a:r>
              <a:rPr lang="en-US" dirty="0" err="1"/>
              <a:t>Subperfect</a:t>
            </a:r>
            <a:r>
              <a:rPr lang="en-US" dirty="0"/>
              <a:t> Nash Equilibrium)</a:t>
            </a:r>
          </a:p>
        </p:txBody>
      </p:sp>
      <mc:AlternateContent xmlns:mc="http://schemas.openxmlformats.org/markup-compatibility/2006" xmlns:a14="http://schemas.microsoft.com/office/drawing/2010/main">
        <mc:Choice Requires="a14">
          <p:sp>
            <p:nvSpPr>
              <p:cNvPr id="4" name="Freeform 3"/>
              <p:cNvSpPr/>
              <p:nvPr/>
            </p:nvSpPr>
            <p:spPr>
              <a:xfrm>
                <a:off x="1318942" y="416502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1318942" y="416502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5852592" y="23014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11</m:t>
                          </m:r>
                        </m:sub>
                      </m:sSub>
                      <m:r>
                        <a:rPr lang="en-US" sz="2000" i="1">
                          <a:latin typeface="Cambria Math" charset="0"/>
                        </a:rPr>
                        <m:t> (1,−1)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5852592" y="23014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5852592" y="28339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12</m:t>
                          </m:r>
                        </m:sub>
                      </m:sSub>
                      <m:r>
                        <a:rPr lang="en-US" sz="2000" i="1">
                          <a:latin typeface="Cambria Math" charset="0"/>
                        </a:rPr>
                        <m:t> (2,−2)</m:t>
                      </m:r>
                    </m:oMath>
                  </m:oMathPara>
                </a14:m>
                <a:endParaRPr lang="en-US" sz="2000"/>
              </a:p>
            </p:txBody>
          </p:sp>
        </mc:Choice>
        <mc:Fallback xmlns="">
          <p:sp>
            <p:nvSpPr>
              <p:cNvPr id="10" name="Freeform 9"/>
              <p:cNvSpPr>
                <a:spLocks noRot="1" noChangeAspect="1" noMove="1" noResize="1" noEditPoints="1" noAdjustHandles="1" noChangeArrowheads="1" noChangeShapeType="1" noTextEdit="1"/>
              </p:cNvSpPr>
              <p:nvPr/>
            </p:nvSpPr>
            <p:spPr>
              <a:xfrm>
                <a:off x="5852592" y="28339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5852592" y="3366362"/>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13</m:t>
                          </m:r>
                        </m:sub>
                      </m:sSub>
                      <m:r>
                        <a:rPr lang="en-US" sz="2000" i="1">
                          <a:latin typeface="Cambria Math" charset="0"/>
                        </a:rPr>
                        <m:t> (−3,3)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5852592" y="3366362"/>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2198632" y="3250613"/>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2242152" y="4388455"/>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p:cNvCxnSpPr>
          <p:nvPr/>
        </p:nvCxnSpPr>
        <p:spPr>
          <a:xfrm>
            <a:off x="2244929" y="4581725"/>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4291729" y="2527293"/>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4291729" y="3065415"/>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4291729" y="3073446"/>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444580" y="3707821"/>
            <a:ext cx="685800" cy="369332"/>
          </a:xfrm>
          <a:prstGeom prst="rect">
            <a:avLst/>
          </a:prstGeom>
          <a:noFill/>
        </p:spPr>
        <p:txBody>
          <a:bodyPr wrap="square" rtlCol="0">
            <a:spAutoFit/>
          </a:bodyPr>
          <a:lstStyle/>
          <a:p>
            <a:pPr algn="ctr"/>
            <a:r>
              <a:rPr lang="en-US" b="0" dirty="0">
                <a:latin typeface="+mj-lt"/>
              </a:rPr>
              <a:t>P1</a:t>
            </a:r>
          </a:p>
        </p:txBody>
      </p:sp>
      <p:sp>
        <p:nvSpPr>
          <p:cNvPr id="81" name="TextBox 80"/>
          <p:cNvSpPr txBox="1"/>
          <p:nvPr/>
        </p:nvSpPr>
        <p:spPr>
          <a:xfrm>
            <a:off x="3485831" y="2351521"/>
            <a:ext cx="685800" cy="369332"/>
          </a:xfrm>
          <a:prstGeom prst="rect">
            <a:avLst/>
          </a:prstGeom>
          <a:noFill/>
        </p:spPr>
        <p:txBody>
          <a:bodyPr wrap="square" rtlCol="0">
            <a:spAutoFit/>
          </a:bodyPr>
          <a:lstStyle/>
          <a:p>
            <a:pPr algn="ctr"/>
            <a:r>
              <a:rPr lang="en-US" b="0" dirty="0">
                <a:latin typeface="+mj-lt"/>
              </a:rPr>
              <a:t>P2</a:t>
            </a:r>
          </a:p>
        </p:txBody>
      </p:sp>
      <p:sp>
        <p:nvSpPr>
          <p:cNvPr id="60" name="Rounded Rectangle 59"/>
          <p:cNvSpPr/>
          <p:nvPr/>
        </p:nvSpPr>
        <p:spPr>
          <a:xfrm rot="20851155">
            <a:off x="605173" y="1684955"/>
            <a:ext cx="1981200" cy="762447"/>
          </a:xfrm>
          <a:prstGeom prst="roundRect">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2"/>
                </a:solidFill>
              </a:rPr>
              <a:t>Backwards Induction</a:t>
            </a:r>
            <a:endParaRPr lang="en-US" dirty="0">
              <a:solidFill>
                <a:schemeClr val="accent2"/>
              </a:solidFill>
            </a:endParaRPr>
          </a:p>
        </p:txBody>
      </p:sp>
      <p:sp>
        <p:nvSpPr>
          <p:cNvPr id="62" name="Rounded Rectangle 61"/>
          <p:cNvSpPr/>
          <p:nvPr/>
        </p:nvSpPr>
        <p:spPr>
          <a:xfrm>
            <a:off x="3044781" y="2418636"/>
            <a:ext cx="1572455" cy="1066569"/>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064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fade">
                                      <p:cBhvr>
                                        <p:cTn id="12" dur="5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2"/>
                                        </p:tgtEl>
                                        <p:attrNameLst>
                                          <p:attrName>style.visibility</p:attrName>
                                        </p:attrNameLst>
                                      </p:cBhvr>
                                      <p:to>
                                        <p:strVal val="visible"/>
                                      </p:to>
                                    </p:set>
                                    <p:animEffect transition="in" filter="fade">
                                      <p:cBhvr>
                                        <p:cTn id="22" dur="500"/>
                                        <p:tgtEl>
                                          <p:spTgt spid="6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5"/>
                                        </p:tgtEl>
                                        <p:attrNameLst>
                                          <p:attrName>style.visibility</p:attrName>
                                        </p:attrNameLst>
                                      </p:cBhvr>
                                      <p:to>
                                        <p:strVal val="visible"/>
                                      </p:to>
                                    </p:set>
                                    <p:animEffect transition="in" filter="fade">
                                      <p:cBhvr>
                                        <p:cTn id="27" dur="500"/>
                                        <p:tgtEl>
                                          <p:spTgt spid="55"/>
                                        </p:tgtEl>
                                      </p:cBhvr>
                                    </p:animEffect>
                                  </p:childTnLst>
                                </p:cTn>
                              </p:par>
                              <p:par>
                                <p:cTn id="28" presetID="10" presetClass="entr" presetSubtype="0" fill="hold" nodeType="withEffect">
                                  <p:stCondLst>
                                    <p:cond delay="0"/>
                                  </p:stCondLst>
                                  <p:childTnLst>
                                    <p:set>
                                      <p:cBhvr>
                                        <p:cTn id="29" dur="1" fill="hold">
                                          <p:stCondLst>
                                            <p:cond delay="0"/>
                                          </p:stCondLst>
                                        </p:cTn>
                                        <p:tgtEl>
                                          <p:spTgt spid="58"/>
                                        </p:tgtEl>
                                        <p:attrNameLst>
                                          <p:attrName>style.visibility</p:attrName>
                                        </p:attrNameLst>
                                      </p:cBhvr>
                                      <p:to>
                                        <p:strVal val="visible"/>
                                      </p:to>
                                    </p:set>
                                    <p:animEffect transition="in" filter="fade">
                                      <p:cBhvr>
                                        <p:cTn id="30" dur="500"/>
                                        <p:tgtEl>
                                          <p:spTgt spid="58"/>
                                        </p:tgtEl>
                                      </p:cBhvr>
                                    </p:animEffect>
                                  </p:childTnLst>
                                </p:cTn>
                              </p:par>
                              <p:par>
                                <p:cTn id="31" presetID="10"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fade">
                                      <p:cBhvr>
                                        <p:cTn id="33" dur="500"/>
                                        <p:tgtEl>
                                          <p:spTgt spid="6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1"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1"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1"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mph" presetSubtype="2" fill="hold" nodeType="clickEffect">
                                  <p:stCondLst>
                                    <p:cond delay="0"/>
                                  </p:stCondLst>
                                  <p:childTnLst>
                                    <p:animClr clrSpc="rgb" dir="cw">
                                      <p:cBhvr>
                                        <p:cTn id="52" dur="500" fill="hold"/>
                                        <p:tgtEl>
                                          <p:spTgt spid="12"/>
                                        </p:tgtEl>
                                        <p:attrNameLst>
                                          <p:attrName>fillcolor</p:attrName>
                                        </p:attrNameLst>
                                      </p:cBhvr>
                                      <p:to>
                                        <a:srgbClr val="EFB0A2"/>
                                      </p:to>
                                    </p:animClr>
                                    <p:set>
                                      <p:cBhvr>
                                        <p:cTn id="53" dur="500" fill="hold"/>
                                        <p:tgtEl>
                                          <p:spTgt spid="12"/>
                                        </p:tgtEl>
                                        <p:attrNameLst>
                                          <p:attrName>fill.type</p:attrName>
                                        </p:attrNameLst>
                                      </p:cBhvr>
                                      <p:to>
                                        <p:strVal val="solid"/>
                                      </p:to>
                                    </p:set>
                                    <p:set>
                                      <p:cBhvr>
                                        <p:cTn id="54" dur="500" fill="hold"/>
                                        <p:tgtEl>
                                          <p:spTgt spid="12"/>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62"/>
                                        </p:tgtEl>
                                      </p:cBhvr>
                                    </p:animEffect>
                                    <p:set>
                                      <p:cBhvr>
                                        <p:cTn id="59" dur="1" fill="hold">
                                          <p:stCondLst>
                                            <p:cond delay="499"/>
                                          </p:stCondLst>
                                        </p:cTn>
                                        <p:tgtEl>
                                          <p:spTgt spid="62"/>
                                        </p:tgtEl>
                                        <p:attrNameLst>
                                          <p:attrName>style.visibility</p:attrName>
                                        </p:attrNameLst>
                                      </p:cBhvr>
                                      <p:to>
                                        <p:strVal val="hidden"/>
                                      </p:to>
                                    </p:set>
                                  </p:childTnLst>
                                </p:cTn>
                              </p:par>
                              <p:par>
                                <p:cTn id="60" presetID="10" presetClass="entr" presetSubtype="0" fill="hold" grpId="0" nodeType="withEffect">
                                  <p:stCondLst>
                                    <p:cond delay="0"/>
                                  </p:stCondLst>
                                  <p:childTnLst>
                                    <p:set>
                                      <p:cBhvr>
                                        <p:cTn id="61" dur="1" fill="hold">
                                          <p:stCondLst>
                                            <p:cond delay="0"/>
                                          </p:stCondLst>
                                        </p:cTn>
                                        <p:tgtEl>
                                          <p:spTgt spid="87"/>
                                        </p:tgtEl>
                                        <p:attrNameLst>
                                          <p:attrName>style.visibility</p:attrName>
                                        </p:attrNameLst>
                                      </p:cBhvr>
                                      <p:to>
                                        <p:strVal val="visible"/>
                                      </p:to>
                                    </p:set>
                                    <p:animEffect transition="in" filter="fade">
                                      <p:cBhvr>
                                        <p:cTn id="62" dur="500"/>
                                        <p:tgtEl>
                                          <p:spTgt spid="87"/>
                                        </p:tgtEl>
                                      </p:cBhvr>
                                    </p:animEffect>
                                  </p:childTnLst>
                                </p:cTn>
                              </p:par>
                              <p:par>
                                <p:cTn id="63" presetID="10" presetClass="exit" presetSubtype="0" fill="hold" grpId="0" nodeType="withEffect">
                                  <p:stCondLst>
                                    <p:cond delay="0"/>
                                  </p:stCondLst>
                                  <p:childTnLst>
                                    <p:animEffect transition="out" filter="fade">
                                      <p:cBhvr>
                                        <p:cTn id="64" dur="500"/>
                                        <p:tgtEl>
                                          <p:spTgt spid="12"/>
                                        </p:tgtEl>
                                      </p:cBhvr>
                                    </p:animEffect>
                                    <p:set>
                                      <p:cBhvr>
                                        <p:cTn id="65" dur="1" fill="hold">
                                          <p:stCondLst>
                                            <p:cond delay="499"/>
                                          </p:stCondLst>
                                        </p:cTn>
                                        <p:tgtEl>
                                          <p:spTgt spid="12"/>
                                        </p:tgtEl>
                                        <p:attrNameLst>
                                          <p:attrName>style.visibility</p:attrName>
                                        </p:attrNameLst>
                                      </p:cBhvr>
                                      <p:to>
                                        <p:strVal val="hidden"/>
                                      </p:to>
                                    </p:set>
                                  </p:childTnLst>
                                </p:cTn>
                              </p:par>
                              <p:par>
                                <p:cTn id="66" presetID="10" presetClass="exit" presetSubtype="0" fill="hold" grpId="0" nodeType="withEffect">
                                  <p:stCondLst>
                                    <p:cond delay="0"/>
                                  </p:stCondLst>
                                  <p:childTnLst>
                                    <p:animEffect transition="out" filter="fade">
                                      <p:cBhvr>
                                        <p:cTn id="67" dur="500"/>
                                        <p:tgtEl>
                                          <p:spTgt spid="6"/>
                                        </p:tgtEl>
                                      </p:cBhvr>
                                    </p:animEffect>
                                    <p:set>
                                      <p:cBhvr>
                                        <p:cTn id="68" dur="1" fill="hold">
                                          <p:stCondLst>
                                            <p:cond delay="499"/>
                                          </p:stCondLst>
                                        </p:cTn>
                                        <p:tgtEl>
                                          <p:spTgt spid="6"/>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500"/>
                                        <p:tgtEl>
                                          <p:spTgt spid="55"/>
                                        </p:tgtEl>
                                      </p:cBhvr>
                                    </p:animEffect>
                                    <p:set>
                                      <p:cBhvr>
                                        <p:cTn id="71" dur="1" fill="hold">
                                          <p:stCondLst>
                                            <p:cond delay="499"/>
                                          </p:stCondLst>
                                        </p:cTn>
                                        <p:tgtEl>
                                          <p:spTgt spid="55"/>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500"/>
                                        <p:tgtEl>
                                          <p:spTgt spid="58"/>
                                        </p:tgtEl>
                                      </p:cBhvr>
                                    </p:animEffect>
                                    <p:set>
                                      <p:cBhvr>
                                        <p:cTn id="74" dur="1" fill="hold">
                                          <p:stCondLst>
                                            <p:cond delay="499"/>
                                          </p:stCondLst>
                                        </p:cTn>
                                        <p:tgtEl>
                                          <p:spTgt spid="58"/>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500"/>
                                        <p:tgtEl>
                                          <p:spTgt spid="61"/>
                                        </p:tgtEl>
                                      </p:cBhvr>
                                    </p:animEffect>
                                    <p:set>
                                      <p:cBhvr>
                                        <p:cTn id="77" dur="1" fill="hold">
                                          <p:stCondLst>
                                            <p:cond delay="499"/>
                                          </p:stCondLst>
                                        </p:cTn>
                                        <p:tgtEl>
                                          <p:spTgt spid="61"/>
                                        </p:tgtEl>
                                        <p:attrNameLst>
                                          <p:attrName>style.visibility</p:attrName>
                                        </p:attrNameLst>
                                      </p:cBhvr>
                                      <p:to>
                                        <p:strVal val="hidden"/>
                                      </p:to>
                                    </p:set>
                                  </p:childTnLst>
                                </p:cTn>
                              </p:par>
                              <p:par>
                                <p:cTn id="78" presetID="10" presetClass="exit" presetSubtype="0" fill="hold" grpId="0" nodeType="withEffect">
                                  <p:stCondLst>
                                    <p:cond delay="0"/>
                                  </p:stCondLst>
                                  <p:childTnLst>
                                    <p:animEffect transition="out" filter="fade">
                                      <p:cBhvr>
                                        <p:cTn id="79" dur="500"/>
                                        <p:tgtEl>
                                          <p:spTgt spid="8"/>
                                        </p:tgtEl>
                                      </p:cBhvr>
                                    </p:animEffect>
                                    <p:set>
                                      <p:cBhvr>
                                        <p:cTn id="80" dur="1" fill="hold">
                                          <p:stCondLst>
                                            <p:cond delay="499"/>
                                          </p:stCondLst>
                                        </p:cTn>
                                        <p:tgtEl>
                                          <p:spTgt spid="8"/>
                                        </p:tgtEl>
                                        <p:attrNameLst>
                                          <p:attrName>style.visibility</p:attrName>
                                        </p:attrNameLst>
                                      </p:cBhvr>
                                      <p:to>
                                        <p:strVal val="hidden"/>
                                      </p:to>
                                    </p:set>
                                  </p:childTnLst>
                                </p:cTn>
                              </p:par>
                              <p:par>
                                <p:cTn id="81" presetID="10" presetClass="exit" presetSubtype="0" fill="hold" grpId="0" nodeType="withEffect">
                                  <p:stCondLst>
                                    <p:cond delay="0"/>
                                  </p:stCondLst>
                                  <p:childTnLst>
                                    <p:animEffect transition="out" filter="fade">
                                      <p:cBhvr>
                                        <p:cTn id="82" dur="500"/>
                                        <p:tgtEl>
                                          <p:spTgt spid="10"/>
                                        </p:tgtEl>
                                      </p:cBhvr>
                                    </p:animEffect>
                                    <p:set>
                                      <p:cBhvr>
                                        <p:cTn id="83"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7" grpId="0" animBg="1"/>
      <p:bldP spid="8" grpId="0" animBg="1"/>
      <p:bldP spid="8" grpId="1" animBg="1"/>
      <p:bldP spid="10" grpId="0" animBg="1"/>
      <p:bldP spid="10" grpId="1" animBg="1"/>
      <p:bldP spid="12" grpId="0" animBg="1"/>
      <p:bldP spid="12" grpId="1" animBg="1"/>
      <p:bldP spid="81" grpId="0"/>
      <p:bldP spid="60" grpId="0" animBg="1"/>
      <p:bldP spid="62" grpId="0" animBg="1"/>
      <p:bldP spid="62"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a:xfrm>
            <a:off x="504424" y="184078"/>
            <a:ext cx="7704667" cy="914399"/>
          </a:xfrm>
        </p:spPr>
        <p:txBody>
          <a:bodyPr>
            <a:normAutofit fontScale="90000"/>
          </a:bodyPr>
          <a:lstStyle/>
          <a:p>
            <a:r>
              <a:rPr lang="en-US" dirty="0"/>
              <a:t>Minimax Play</a:t>
            </a:r>
            <a:br>
              <a:rPr lang="en-US" dirty="0"/>
            </a:br>
            <a:r>
              <a:rPr lang="en-US" dirty="0"/>
              <a:t>(</a:t>
            </a:r>
            <a:r>
              <a:rPr lang="en-US" dirty="0" err="1"/>
              <a:t>Subperfect</a:t>
            </a:r>
            <a:r>
              <a:rPr lang="en-US" dirty="0"/>
              <a:t> Nash Equilibrium)</a:t>
            </a:r>
          </a:p>
        </p:txBody>
      </p:sp>
      <mc:AlternateContent xmlns:mc="http://schemas.openxmlformats.org/markup-compatibility/2006" xmlns:a14="http://schemas.microsoft.com/office/drawing/2010/main">
        <mc:Choice Requires="a14">
          <p:sp>
            <p:nvSpPr>
              <p:cNvPr id="4" name="Freeform 3"/>
              <p:cNvSpPr/>
              <p:nvPr/>
            </p:nvSpPr>
            <p:spPr>
              <a:xfrm>
                <a:off x="1293185" y="4100632"/>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1293185" y="4100632"/>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3339982" y="4100632"/>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3339982" y="4100632"/>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5826835" y="383441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21</m:t>
                        </m:r>
                      </m:sub>
                    </m:sSub>
                  </m:oMath>
                </a14:m>
                <a:r>
                  <a:rPr lang="en-US" sz="2000"/>
                  <a:t> </a:t>
                </a:r>
                <a14:m>
                  <m:oMath xmlns:m="http://schemas.openxmlformats.org/officeDocument/2006/math">
                    <m:r>
                      <a:rPr lang="en-US" sz="2000" i="1">
                        <a:latin typeface="Cambria Math" charset="0"/>
                      </a:rPr>
                      <m:t>(4,−4)</m:t>
                    </m:r>
                  </m:oMath>
                </a14:m>
                <a:endParaRPr lang="en-US" sz="2000"/>
              </a:p>
            </p:txBody>
          </p:sp>
        </mc:Choice>
        <mc:Fallback xmlns="">
          <p:sp>
            <p:nvSpPr>
              <p:cNvPr id="16" name="Freeform 15"/>
              <p:cNvSpPr>
                <a:spLocks noRot="1" noChangeAspect="1" noMove="1" noResize="1" noEditPoints="1" noAdjustHandles="1" noChangeArrowheads="1" noChangeShapeType="1" noTextEdit="1"/>
              </p:cNvSpPr>
              <p:nvPr/>
            </p:nvSpPr>
            <p:spPr>
              <a:xfrm>
                <a:off x="5826835" y="383441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5826835" y="436685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22</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−2,2</m:t>
                          </m:r>
                        </m:e>
                      </m:d>
                    </m:oMath>
                  </m:oMathPara>
                </a14:m>
                <a:endParaRPr lang="en-US" sz="2000"/>
              </a:p>
            </p:txBody>
          </p:sp>
        </mc:Choice>
        <mc:Fallback xmlns="">
          <p:sp>
            <p:nvSpPr>
              <p:cNvPr id="19" name="Freeform 18"/>
              <p:cNvSpPr>
                <a:spLocks noRot="1" noChangeAspect="1" noMove="1" noResize="1" noEditPoints="1" noAdjustHandles="1" noChangeArrowheads="1" noChangeShapeType="1" noTextEdit="1"/>
              </p:cNvSpPr>
              <p:nvPr/>
            </p:nvSpPr>
            <p:spPr>
              <a:xfrm>
                <a:off x="5826835" y="436685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p:cxnSp>
        <p:nvCxnSpPr>
          <p:cNvPr id="30" name="Straight Connector 29"/>
          <p:cNvCxnSpPr>
            <a:stCxn id="4" idx="2"/>
          </p:cNvCxnSpPr>
          <p:nvPr/>
        </p:nvCxnSpPr>
        <p:spPr>
          <a:xfrm flipV="1">
            <a:off x="2172875" y="3186218"/>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2216395" y="4324060"/>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p:cNvCxnSpPr>
          <p:nvPr/>
        </p:nvCxnSpPr>
        <p:spPr>
          <a:xfrm>
            <a:off x="2219172" y="4517330"/>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4265972" y="4067322"/>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73554" y="4332130"/>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418823" y="3643426"/>
            <a:ext cx="685800" cy="369332"/>
          </a:xfrm>
          <a:prstGeom prst="rect">
            <a:avLst/>
          </a:prstGeom>
          <a:noFill/>
        </p:spPr>
        <p:txBody>
          <a:bodyPr wrap="square" rtlCol="0">
            <a:spAutoFit/>
          </a:bodyPr>
          <a:lstStyle/>
          <a:p>
            <a:pPr algn="ctr"/>
            <a:r>
              <a:rPr lang="en-US" b="0" dirty="0">
                <a:latin typeface="+mj-lt"/>
              </a:rPr>
              <a:t>P1</a:t>
            </a:r>
          </a:p>
        </p:txBody>
      </p:sp>
      <p:sp>
        <p:nvSpPr>
          <p:cNvPr id="81" name="TextBox 80"/>
          <p:cNvSpPr txBox="1"/>
          <p:nvPr/>
        </p:nvSpPr>
        <p:spPr>
          <a:xfrm>
            <a:off x="3460074" y="2287126"/>
            <a:ext cx="685800" cy="369332"/>
          </a:xfrm>
          <a:prstGeom prst="rect">
            <a:avLst/>
          </a:prstGeom>
          <a:noFill/>
        </p:spPr>
        <p:txBody>
          <a:bodyPr wrap="square" rtlCol="0">
            <a:spAutoFit/>
          </a:bodyPr>
          <a:lstStyle/>
          <a:p>
            <a:pPr algn="ctr"/>
            <a:r>
              <a:rPr lang="en-US" b="0" dirty="0">
                <a:latin typeface="+mj-lt"/>
              </a:rPr>
              <a:t>P2</a:t>
            </a:r>
          </a:p>
        </p:txBody>
      </p:sp>
      <p:sp>
        <p:nvSpPr>
          <p:cNvPr id="82" name="TextBox 81"/>
          <p:cNvSpPr txBox="1"/>
          <p:nvPr/>
        </p:nvSpPr>
        <p:spPr>
          <a:xfrm>
            <a:off x="3460074" y="3644234"/>
            <a:ext cx="685800" cy="369332"/>
          </a:xfrm>
          <a:prstGeom prst="rect">
            <a:avLst/>
          </a:prstGeom>
          <a:noFill/>
        </p:spPr>
        <p:txBody>
          <a:bodyPr wrap="square" rtlCol="0">
            <a:spAutoFit/>
          </a:bodyPr>
          <a:lstStyle/>
          <a:p>
            <a:pPr algn="ctr"/>
            <a:r>
              <a:rPr lang="en-US" b="0" dirty="0">
                <a:latin typeface="+mj-lt"/>
              </a:rPr>
              <a:t>P2</a:t>
            </a:r>
          </a:p>
        </p:txBody>
      </p:sp>
      <p:sp>
        <p:nvSpPr>
          <p:cNvPr id="60" name="Rounded Rectangle 59"/>
          <p:cNvSpPr/>
          <p:nvPr/>
        </p:nvSpPr>
        <p:spPr>
          <a:xfrm rot="20851155">
            <a:off x="579416" y="1620560"/>
            <a:ext cx="1981200" cy="762447"/>
          </a:xfrm>
          <a:prstGeom prst="roundRect">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2"/>
                </a:solidFill>
              </a:rPr>
              <a:t>Backwards Induction</a:t>
            </a:r>
            <a:endParaRPr lang="en-US" dirty="0">
              <a:solidFill>
                <a:schemeClr val="accent2"/>
              </a:solidFill>
            </a:endParaRPr>
          </a:p>
        </p:txBody>
      </p:sp>
      <mc:AlternateContent xmlns:mc="http://schemas.openxmlformats.org/markup-compatibility/2006" xmlns:a14="http://schemas.microsoft.com/office/drawing/2010/main">
        <mc:Choice Requires="a14">
          <p:sp>
            <p:nvSpPr>
              <p:cNvPr id="87" name="Freeform 86"/>
              <p:cNvSpPr/>
              <p:nvPr/>
            </p:nvSpPr>
            <p:spPr>
              <a:xfrm>
                <a:off x="3344119" y="276739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−3,3</m:t>
                          </m:r>
                        </m:e>
                      </m:d>
                    </m:oMath>
                  </m:oMathPara>
                </a14:m>
                <a:endParaRPr lang="en-US" sz="2000" dirty="0"/>
              </a:p>
            </p:txBody>
          </p:sp>
        </mc:Choice>
        <mc:Fallback xmlns="">
          <p:sp>
            <p:nvSpPr>
              <p:cNvPr id="87" name="Freeform 86"/>
              <p:cNvSpPr>
                <a:spLocks noRot="1" noChangeAspect="1" noMove="1" noResize="1" noEditPoints="1" noAdjustHandles="1" noChangeArrowheads="1" noChangeShapeType="1" noTextEdit="1"/>
              </p:cNvSpPr>
              <p:nvPr/>
            </p:nvSpPr>
            <p:spPr>
              <a:xfrm>
                <a:off x="3344119" y="276739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p:sp>
        <p:nvSpPr>
          <p:cNvPr id="33" name="Rounded Rectangle 32"/>
          <p:cNvSpPr/>
          <p:nvPr/>
        </p:nvSpPr>
        <p:spPr>
          <a:xfrm>
            <a:off x="3039561" y="3643426"/>
            <a:ext cx="1551919" cy="1236757"/>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Freeform 33"/>
              <p:cNvSpPr/>
              <p:nvPr/>
            </p:nvSpPr>
            <p:spPr>
              <a:xfrm>
                <a:off x="3344119" y="4092196"/>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−2,2</m:t>
                          </m:r>
                        </m:e>
                      </m:d>
                    </m:oMath>
                  </m:oMathPara>
                </a14:m>
                <a:endParaRPr lang="en-US" sz="2000" dirty="0"/>
              </a:p>
            </p:txBody>
          </p:sp>
        </mc:Choice>
        <mc:Fallback xmlns="">
          <p:sp>
            <p:nvSpPr>
              <p:cNvPr id="34" name="Freeform 33"/>
              <p:cNvSpPr>
                <a:spLocks noRot="1" noChangeAspect="1" noMove="1" noResize="1" noEditPoints="1" noAdjustHandles="1" noChangeArrowheads="1" noChangeShapeType="1" noTextEdit="1"/>
              </p:cNvSpPr>
              <p:nvPr/>
            </p:nvSpPr>
            <p:spPr>
              <a:xfrm>
                <a:off x="3344119" y="4092196"/>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81056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10" presetClass="entr" presetSubtype="0" fill="hold" nodeType="with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500"/>
                                        <p:tgtEl>
                                          <p:spTgt spid="6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1"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1"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mph" presetSubtype="2" fill="hold" nodeType="clickEffect">
                                  <p:stCondLst>
                                    <p:cond delay="0"/>
                                  </p:stCondLst>
                                  <p:childTnLst>
                                    <p:animClr clrSpc="rgb" dir="cw">
                                      <p:cBhvr>
                                        <p:cTn id="29" dur="500" fill="hold"/>
                                        <p:tgtEl>
                                          <p:spTgt spid="19"/>
                                        </p:tgtEl>
                                        <p:attrNameLst>
                                          <p:attrName>fillcolor</p:attrName>
                                        </p:attrNameLst>
                                      </p:cBhvr>
                                      <p:to>
                                        <a:srgbClr val="F7D7D0"/>
                                      </p:to>
                                    </p:animClr>
                                    <p:set>
                                      <p:cBhvr>
                                        <p:cTn id="30" dur="500" fill="hold"/>
                                        <p:tgtEl>
                                          <p:spTgt spid="19"/>
                                        </p:tgtEl>
                                        <p:attrNameLst>
                                          <p:attrName>fill.type</p:attrName>
                                        </p:attrNameLst>
                                      </p:cBhvr>
                                      <p:to>
                                        <p:strVal val="solid"/>
                                      </p:to>
                                    </p:set>
                                    <p:set>
                                      <p:cBhvr>
                                        <p:cTn id="31" dur="500" fill="hold"/>
                                        <p:tgtEl>
                                          <p:spTgt spid="19"/>
                                        </p:tgtEl>
                                        <p:attrNameLst>
                                          <p:attrName>fill.on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1" nodeType="clickEffect">
                                  <p:stCondLst>
                                    <p:cond delay="0"/>
                                  </p:stCondLst>
                                  <p:childTnLst>
                                    <p:animEffect transition="out" filter="fade">
                                      <p:cBhvr>
                                        <p:cTn id="35" dur="500"/>
                                        <p:tgtEl>
                                          <p:spTgt spid="33"/>
                                        </p:tgtEl>
                                      </p:cBhvr>
                                    </p:animEffect>
                                    <p:set>
                                      <p:cBhvr>
                                        <p:cTn id="36" dur="1" fill="hold">
                                          <p:stCondLst>
                                            <p:cond delay="499"/>
                                          </p:stCondLst>
                                        </p:cTn>
                                        <p:tgtEl>
                                          <p:spTgt spid="33"/>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xit" presetSubtype="0" fill="hold" grpId="0" nodeType="withEffect">
                                  <p:stCondLst>
                                    <p:cond delay="0"/>
                                  </p:stCondLst>
                                  <p:childTnLst>
                                    <p:animEffect transition="out" filter="fade">
                                      <p:cBhvr>
                                        <p:cTn id="41" dur="500"/>
                                        <p:tgtEl>
                                          <p:spTgt spid="19"/>
                                        </p:tgtEl>
                                      </p:cBhvr>
                                    </p:animEffect>
                                    <p:set>
                                      <p:cBhvr>
                                        <p:cTn id="42" dur="1" fill="hold">
                                          <p:stCondLst>
                                            <p:cond delay="499"/>
                                          </p:stCondLst>
                                        </p:cTn>
                                        <p:tgtEl>
                                          <p:spTgt spid="19"/>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500"/>
                                        <p:tgtEl>
                                          <p:spTgt spid="63"/>
                                        </p:tgtEl>
                                      </p:cBhvr>
                                    </p:animEffect>
                                    <p:set>
                                      <p:cBhvr>
                                        <p:cTn id="45" dur="1" fill="hold">
                                          <p:stCondLst>
                                            <p:cond delay="499"/>
                                          </p:stCondLst>
                                        </p:cTn>
                                        <p:tgtEl>
                                          <p:spTgt spid="63"/>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500"/>
                                        <p:tgtEl>
                                          <p:spTgt spid="66"/>
                                        </p:tgtEl>
                                      </p:cBhvr>
                                    </p:animEffect>
                                    <p:set>
                                      <p:cBhvr>
                                        <p:cTn id="48" dur="1" fill="hold">
                                          <p:stCondLst>
                                            <p:cond delay="499"/>
                                          </p:stCondLst>
                                        </p:cTn>
                                        <p:tgtEl>
                                          <p:spTgt spid="66"/>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500"/>
                                        <p:tgtEl>
                                          <p:spTgt spid="16"/>
                                        </p:tgtEl>
                                      </p:cBhvr>
                                    </p:animEffect>
                                    <p:set>
                                      <p:cBhvr>
                                        <p:cTn id="51"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9" grpId="0" animBg="1"/>
      <p:bldP spid="19" grpId="1" animBg="1"/>
      <p:bldP spid="33" grpId="0" animBg="1"/>
      <p:bldP spid="33" grpId="1" animBg="1"/>
      <p:bldP spid="3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a:xfrm>
            <a:off x="543060" y="261351"/>
            <a:ext cx="7704667" cy="914399"/>
          </a:xfrm>
        </p:spPr>
        <p:txBody>
          <a:bodyPr>
            <a:normAutofit fontScale="90000"/>
          </a:bodyPr>
          <a:lstStyle/>
          <a:p>
            <a:r>
              <a:rPr lang="en-US" dirty="0"/>
              <a:t>Minimax Play</a:t>
            </a:r>
            <a:br>
              <a:rPr lang="en-US" dirty="0"/>
            </a:br>
            <a:r>
              <a:rPr lang="en-US" dirty="0"/>
              <a:t>(</a:t>
            </a:r>
            <a:r>
              <a:rPr lang="en-US" dirty="0" err="1"/>
              <a:t>Subperfect</a:t>
            </a:r>
            <a:r>
              <a:rPr lang="en-US" dirty="0"/>
              <a:t> Nash Equilibrium)</a:t>
            </a:r>
          </a:p>
        </p:txBody>
      </p:sp>
      <mc:AlternateContent xmlns:mc="http://schemas.openxmlformats.org/markup-compatibility/2006" xmlns:a14="http://schemas.microsoft.com/office/drawing/2010/main">
        <mc:Choice Requires="a14">
          <p:sp>
            <p:nvSpPr>
              <p:cNvPr id="4" name="Freeform 3"/>
              <p:cNvSpPr/>
              <p:nvPr/>
            </p:nvSpPr>
            <p:spPr>
              <a:xfrm>
                <a:off x="1331821" y="4177905"/>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1331821" y="4177905"/>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3378618" y="5520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3378618" y="5520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5865471" y="4976572"/>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31</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−7,7</m:t>
                          </m:r>
                        </m:e>
                      </m:d>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5865471" y="4976572"/>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5865471" y="55090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32</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0,0</m:t>
                          </m:r>
                        </m:e>
                      </m:d>
                    </m:oMath>
                  </m:oMathPara>
                </a14:m>
                <a:endParaRPr lang="en-US" sz="2000"/>
              </a:p>
            </p:txBody>
          </p:sp>
        </mc:Choice>
        <mc:Fallback xmlns="">
          <p:sp>
            <p:nvSpPr>
              <p:cNvPr id="25" name="Freeform 24"/>
              <p:cNvSpPr>
                <a:spLocks noRot="1" noChangeAspect="1" noMove="1" noResize="1" noEditPoints="1" noAdjustHandles="1" noChangeArrowheads="1" noChangeShapeType="1" noTextEdit="1"/>
              </p:cNvSpPr>
              <p:nvPr/>
            </p:nvSpPr>
            <p:spPr>
              <a:xfrm>
                <a:off x="5865471" y="55090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5865471" y="60414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33</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1,−1</m:t>
                          </m:r>
                        </m:e>
                      </m:d>
                    </m:oMath>
                  </m:oMathPara>
                </a14:m>
                <a:endParaRPr lang="en-US" sz="2000"/>
              </a:p>
            </p:txBody>
          </p:sp>
        </mc:Choice>
        <mc:Fallback xmlns="">
          <p:sp>
            <p:nvSpPr>
              <p:cNvPr id="27" name="Freeform 26"/>
              <p:cNvSpPr>
                <a:spLocks noRot="1" noChangeAspect="1" noMove="1" noResize="1" noEditPoints="1" noAdjustHandles="1" noChangeArrowheads="1" noChangeShapeType="1" noTextEdit="1"/>
              </p:cNvSpPr>
              <p:nvPr/>
            </p:nvSpPr>
            <p:spPr>
              <a:xfrm>
                <a:off x="5865471" y="60414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p:cxnSp>
        <p:nvCxnSpPr>
          <p:cNvPr id="30" name="Straight Connector 29"/>
          <p:cNvCxnSpPr>
            <a:stCxn id="4" idx="2"/>
          </p:cNvCxnSpPr>
          <p:nvPr/>
        </p:nvCxnSpPr>
        <p:spPr>
          <a:xfrm flipV="1">
            <a:off x="2211511" y="3263491"/>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2255031" y="4401333"/>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2257808" y="4594602"/>
            <a:ext cx="1120808" cy="9724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4304606" y="5202391"/>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4304606" y="5737678"/>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312193" y="5737675"/>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457459" y="3720699"/>
            <a:ext cx="685800" cy="369332"/>
          </a:xfrm>
          <a:prstGeom prst="rect">
            <a:avLst/>
          </a:prstGeom>
          <a:noFill/>
        </p:spPr>
        <p:txBody>
          <a:bodyPr wrap="square" rtlCol="0">
            <a:spAutoFit/>
          </a:bodyPr>
          <a:lstStyle/>
          <a:p>
            <a:pPr algn="ctr"/>
            <a:r>
              <a:rPr lang="en-US" b="0" dirty="0">
                <a:latin typeface="+mj-lt"/>
              </a:rPr>
              <a:t>P1</a:t>
            </a:r>
          </a:p>
        </p:txBody>
      </p:sp>
      <p:sp>
        <p:nvSpPr>
          <p:cNvPr id="81" name="TextBox 80"/>
          <p:cNvSpPr txBox="1"/>
          <p:nvPr/>
        </p:nvSpPr>
        <p:spPr>
          <a:xfrm>
            <a:off x="3498710" y="2364399"/>
            <a:ext cx="685800" cy="369332"/>
          </a:xfrm>
          <a:prstGeom prst="rect">
            <a:avLst/>
          </a:prstGeom>
          <a:noFill/>
        </p:spPr>
        <p:txBody>
          <a:bodyPr wrap="square" rtlCol="0">
            <a:spAutoFit/>
          </a:bodyPr>
          <a:lstStyle/>
          <a:p>
            <a:pPr algn="ctr"/>
            <a:r>
              <a:rPr lang="en-US" b="0" dirty="0">
                <a:latin typeface="+mj-lt"/>
              </a:rPr>
              <a:t>P2</a:t>
            </a:r>
          </a:p>
        </p:txBody>
      </p:sp>
      <p:sp>
        <p:nvSpPr>
          <p:cNvPr id="82" name="TextBox 81"/>
          <p:cNvSpPr txBox="1"/>
          <p:nvPr/>
        </p:nvSpPr>
        <p:spPr>
          <a:xfrm>
            <a:off x="3498710" y="3721507"/>
            <a:ext cx="685800" cy="369332"/>
          </a:xfrm>
          <a:prstGeom prst="rect">
            <a:avLst/>
          </a:prstGeom>
          <a:noFill/>
        </p:spPr>
        <p:txBody>
          <a:bodyPr wrap="square" rtlCol="0">
            <a:spAutoFit/>
          </a:bodyPr>
          <a:lstStyle/>
          <a:p>
            <a:pPr algn="ctr"/>
            <a:r>
              <a:rPr lang="en-US" b="0" dirty="0">
                <a:latin typeface="+mj-lt"/>
              </a:rPr>
              <a:t>P2</a:t>
            </a:r>
          </a:p>
        </p:txBody>
      </p:sp>
      <p:sp>
        <p:nvSpPr>
          <p:cNvPr id="83" name="TextBox 82"/>
          <p:cNvSpPr txBox="1"/>
          <p:nvPr/>
        </p:nvSpPr>
        <p:spPr>
          <a:xfrm>
            <a:off x="3498710" y="5057105"/>
            <a:ext cx="685800" cy="369332"/>
          </a:xfrm>
          <a:prstGeom prst="rect">
            <a:avLst/>
          </a:prstGeom>
          <a:noFill/>
        </p:spPr>
        <p:txBody>
          <a:bodyPr wrap="square" rtlCol="0">
            <a:spAutoFit/>
          </a:bodyPr>
          <a:lstStyle/>
          <a:p>
            <a:pPr algn="ctr"/>
            <a:r>
              <a:rPr lang="en-US" b="0" dirty="0">
                <a:latin typeface="+mj-lt"/>
              </a:rPr>
              <a:t>P2</a:t>
            </a:r>
          </a:p>
        </p:txBody>
      </p:sp>
      <p:sp>
        <p:nvSpPr>
          <p:cNvPr id="60" name="Rounded Rectangle 59"/>
          <p:cNvSpPr/>
          <p:nvPr/>
        </p:nvSpPr>
        <p:spPr>
          <a:xfrm rot="20851155">
            <a:off x="618052" y="1697833"/>
            <a:ext cx="1981200" cy="762447"/>
          </a:xfrm>
          <a:prstGeom prst="roundRect">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2"/>
                </a:solidFill>
              </a:rPr>
              <a:t>Backwards Induction</a:t>
            </a:r>
            <a:endParaRPr lang="en-US" dirty="0">
              <a:solidFill>
                <a:schemeClr val="accent2"/>
              </a:solidFill>
            </a:endParaRPr>
          </a:p>
        </p:txBody>
      </p:sp>
      <mc:AlternateContent xmlns:mc="http://schemas.openxmlformats.org/markup-compatibility/2006" xmlns:a14="http://schemas.microsoft.com/office/drawing/2010/main">
        <mc:Choice Requires="a14">
          <p:sp>
            <p:nvSpPr>
              <p:cNvPr id="87" name="Freeform 86"/>
              <p:cNvSpPr/>
              <p:nvPr/>
            </p:nvSpPr>
            <p:spPr>
              <a:xfrm>
                <a:off x="3382755" y="2844663"/>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−3,3</m:t>
                          </m:r>
                        </m:e>
                      </m:d>
                    </m:oMath>
                  </m:oMathPara>
                </a14:m>
                <a:endParaRPr lang="en-US" sz="2000" dirty="0"/>
              </a:p>
            </p:txBody>
          </p:sp>
        </mc:Choice>
        <mc:Fallback xmlns="">
          <p:sp>
            <p:nvSpPr>
              <p:cNvPr id="87" name="Freeform 86"/>
              <p:cNvSpPr>
                <a:spLocks noRot="1" noChangeAspect="1" noMove="1" noResize="1" noEditPoints="1" noAdjustHandles="1" noChangeArrowheads="1" noChangeShapeType="1" noTextEdit="1"/>
              </p:cNvSpPr>
              <p:nvPr/>
            </p:nvSpPr>
            <p:spPr>
              <a:xfrm>
                <a:off x="3382755" y="2844663"/>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p:sp>
        <p:nvSpPr>
          <p:cNvPr id="33" name="Rounded Rectangle 32"/>
          <p:cNvSpPr/>
          <p:nvPr/>
        </p:nvSpPr>
        <p:spPr>
          <a:xfrm>
            <a:off x="2981459" y="4913805"/>
            <a:ext cx="1676400" cy="1351844"/>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Freeform 33"/>
              <p:cNvSpPr/>
              <p:nvPr/>
            </p:nvSpPr>
            <p:spPr>
              <a:xfrm>
                <a:off x="3388618" y="41563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−2,2</m:t>
                          </m:r>
                        </m:e>
                      </m:d>
                    </m:oMath>
                  </m:oMathPara>
                </a14:m>
                <a:endParaRPr lang="en-US" sz="2000" dirty="0"/>
              </a:p>
            </p:txBody>
          </p:sp>
        </mc:Choice>
        <mc:Fallback xmlns="">
          <p:sp>
            <p:nvSpPr>
              <p:cNvPr id="34" name="Freeform 33"/>
              <p:cNvSpPr>
                <a:spLocks noRot="1" noChangeAspect="1" noMove="1" noResize="1" noEditPoints="1" noAdjustHandles="1" noChangeArrowheads="1" noChangeShapeType="1" noTextEdit="1"/>
              </p:cNvSpPr>
              <p:nvPr/>
            </p:nvSpPr>
            <p:spPr>
              <a:xfrm>
                <a:off x="3388618" y="41563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Freeform 27"/>
              <p:cNvSpPr/>
              <p:nvPr/>
            </p:nvSpPr>
            <p:spPr>
              <a:xfrm>
                <a:off x="3380603" y="551790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−7,7</m:t>
                          </m:r>
                        </m:e>
                      </m:d>
                    </m:oMath>
                  </m:oMathPara>
                </a14:m>
                <a:endParaRPr lang="en-US" sz="2000" dirty="0"/>
              </a:p>
            </p:txBody>
          </p:sp>
        </mc:Choice>
        <mc:Fallback xmlns="">
          <p:sp>
            <p:nvSpPr>
              <p:cNvPr id="28" name="Freeform 27"/>
              <p:cNvSpPr>
                <a:spLocks noRot="1" noChangeAspect="1" noMove="1" noResize="1" noEditPoints="1" noAdjustHandles="1" noChangeArrowheads="1" noChangeShapeType="1" noTextEdit="1"/>
              </p:cNvSpPr>
              <p:nvPr/>
            </p:nvSpPr>
            <p:spPr>
              <a:xfrm>
                <a:off x="3380603" y="551790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2631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par>
                                <p:cTn id="13" presetID="10" presetClass="entr" presetSubtype="0" fill="hold" nodeType="with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fade">
                                      <p:cBhvr>
                                        <p:cTn id="15" dur="500"/>
                                        <p:tgtEl>
                                          <p:spTgt spid="75"/>
                                        </p:tgtEl>
                                      </p:cBhvr>
                                    </p:animEffect>
                                  </p:childTnLst>
                                </p:cTn>
                              </p:par>
                              <p:par>
                                <p:cTn id="16" presetID="10" presetClass="entr" presetSubtype="0" fill="hold" nodeType="withEffect">
                                  <p:stCondLst>
                                    <p:cond delay="0"/>
                                  </p:stCondLst>
                                  <p:childTnLst>
                                    <p:set>
                                      <p:cBhvr>
                                        <p:cTn id="17" dur="1" fill="hold">
                                          <p:stCondLst>
                                            <p:cond delay="0"/>
                                          </p:stCondLst>
                                        </p:cTn>
                                        <p:tgtEl>
                                          <p:spTgt spid="78"/>
                                        </p:tgtEl>
                                        <p:attrNameLst>
                                          <p:attrName>style.visibility</p:attrName>
                                        </p:attrNameLst>
                                      </p:cBhvr>
                                      <p:to>
                                        <p:strVal val="visible"/>
                                      </p:to>
                                    </p:set>
                                    <p:animEffect transition="in" filter="fade">
                                      <p:cBhvr>
                                        <p:cTn id="18" dur="500"/>
                                        <p:tgtEl>
                                          <p:spTgt spid="7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1"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1"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1"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500" fill="hold"/>
                                        <p:tgtEl>
                                          <p:spTgt spid="23"/>
                                        </p:tgtEl>
                                        <p:attrNameLst>
                                          <p:attrName>fillcolor</p:attrName>
                                        </p:attrNameLst>
                                      </p:cBhvr>
                                      <p:to>
                                        <a:srgbClr val="F7D7D0"/>
                                      </p:to>
                                    </p:animClr>
                                    <p:set>
                                      <p:cBhvr>
                                        <p:cTn id="38" dur="500" fill="hold"/>
                                        <p:tgtEl>
                                          <p:spTgt spid="23"/>
                                        </p:tgtEl>
                                        <p:attrNameLst>
                                          <p:attrName>fill.type</p:attrName>
                                        </p:attrNameLst>
                                      </p:cBhvr>
                                      <p:to>
                                        <p:strVal val="solid"/>
                                      </p:to>
                                    </p:set>
                                    <p:set>
                                      <p:cBhvr>
                                        <p:cTn id="39" dur="500" fill="hold"/>
                                        <p:tgtEl>
                                          <p:spTgt spid="23"/>
                                        </p:tgtEl>
                                        <p:attrNameLst>
                                          <p:attrName>fill.on</p:attrName>
                                        </p:attrNameLst>
                                      </p:cBhvr>
                                      <p:to>
                                        <p:strVal val="true"/>
                                      </p:to>
                                    </p:se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grpId="1" nodeType="clickEffect">
                                  <p:stCondLst>
                                    <p:cond delay="0"/>
                                  </p:stCondLst>
                                  <p:childTnLst>
                                    <p:animEffect transition="out" filter="fade">
                                      <p:cBhvr>
                                        <p:cTn id="43" dur="500"/>
                                        <p:tgtEl>
                                          <p:spTgt spid="33"/>
                                        </p:tgtEl>
                                      </p:cBhvr>
                                    </p:animEffect>
                                    <p:set>
                                      <p:cBhvr>
                                        <p:cTn id="44" dur="1" fill="hold">
                                          <p:stCondLst>
                                            <p:cond delay="499"/>
                                          </p:stCondLst>
                                        </p:cTn>
                                        <p:tgtEl>
                                          <p:spTgt spid="33"/>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xit" presetSubtype="0" fill="hold" grpId="0" nodeType="withEffect">
                                  <p:stCondLst>
                                    <p:cond delay="0"/>
                                  </p:stCondLst>
                                  <p:childTnLst>
                                    <p:animEffect transition="out" filter="fade">
                                      <p:cBhvr>
                                        <p:cTn id="49" dur="500"/>
                                        <p:tgtEl>
                                          <p:spTgt spid="23"/>
                                        </p:tgtEl>
                                      </p:cBhvr>
                                    </p:animEffect>
                                    <p:set>
                                      <p:cBhvr>
                                        <p:cTn id="50" dur="1" fill="hold">
                                          <p:stCondLst>
                                            <p:cond delay="499"/>
                                          </p:stCondLst>
                                        </p:cTn>
                                        <p:tgtEl>
                                          <p:spTgt spid="23"/>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72"/>
                                        </p:tgtEl>
                                      </p:cBhvr>
                                    </p:animEffect>
                                    <p:set>
                                      <p:cBhvr>
                                        <p:cTn id="53" dur="1" fill="hold">
                                          <p:stCondLst>
                                            <p:cond delay="499"/>
                                          </p:stCondLst>
                                        </p:cTn>
                                        <p:tgtEl>
                                          <p:spTgt spid="72"/>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500"/>
                                        <p:tgtEl>
                                          <p:spTgt spid="75"/>
                                        </p:tgtEl>
                                      </p:cBhvr>
                                    </p:animEffect>
                                    <p:set>
                                      <p:cBhvr>
                                        <p:cTn id="56" dur="1" fill="hold">
                                          <p:stCondLst>
                                            <p:cond delay="499"/>
                                          </p:stCondLst>
                                        </p:cTn>
                                        <p:tgtEl>
                                          <p:spTgt spid="75"/>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78"/>
                                        </p:tgtEl>
                                      </p:cBhvr>
                                    </p:animEffect>
                                    <p:set>
                                      <p:cBhvr>
                                        <p:cTn id="59" dur="1" fill="hold">
                                          <p:stCondLst>
                                            <p:cond delay="499"/>
                                          </p:stCondLst>
                                        </p:cTn>
                                        <p:tgtEl>
                                          <p:spTgt spid="78"/>
                                        </p:tgtEl>
                                        <p:attrNameLst>
                                          <p:attrName>style.visibility</p:attrName>
                                        </p:attrNameLst>
                                      </p:cBhvr>
                                      <p:to>
                                        <p:strVal val="hidden"/>
                                      </p:to>
                                    </p:set>
                                  </p:childTnLst>
                                </p:cTn>
                              </p:par>
                              <p:par>
                                <p:cTn id="60" presetID="10" presetClass="exit" presetSubtype="0" fill="hold" grpId="0" nodeType="withEffect">
                                  <p:stCondLst>
                                    <p:cond delay="0"/>
                                  </p:stCondLst>
                                  <p:childTnLst>
                                    <p:animEffect transition="out" filter="fade">
                                      <p:cBhvr>
                                        <p:cTn id="61" dur="500"/>
                                        <p:tgtEl>
                                          <p:spTgt spid="25"/>
                                        </p:tgtEl>
                                      </p:cBhvr>
                                    </p:animEffect>
                                    <p:set>
                                      <p:cBhvr>
                                        <p:cTn id="62" dur="1" fill="hold">
                                          <p:stCondLst>
                                            <p:cond delay="499"/>
                                          </p:stCondLst>
                                        </p:cTn>
                                        <p:tgtEl>
                                          <p:spTgt spid="25"/>
                                        </p:tgtEl>
                                        <p:attrNameLst>
                                          <p:attrName>style.visibility</p:attrName>
                                        </p:attrNameLst>
                                      </p:cBhvr>
                                      <p:to>
                                        <p:strVal val="hidden"/>
                                      </p:to>
                                    </p:set>
                                  </p:childTnLst>
                                </p:cTn>
                              </p:par>
                              <p:par>
                                <p:cTn id="63" presetID="10" presetClass="exit" presetSubtype="0" fill="hold" grpId="0" nodeType="withEffect">
                                  <p:stCondLst>
                                    <p:cond delay="0"/>
                                  </p:stCondLst>
                                  <p:childTnLst>
                                    <p:animEffect transition="out" filter="fade">
                                      <p:cBhvr>
                                        <p:cTn id="64" dur="500"/>
                                        <p:tgtEl>
                                          <p:spTgt spid="27"/>
                                        </p:tgtEl>
                                      </p:cBhvr>
                                    </p:animEffect>
                                    <p:set>
                                      <p:cBhvr>
                                        <p:cTn id="65"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5" grpId="0" animBg="1"/>
      <p:bldP spid="25" grpId="1" animBg="1"/>
      <p:bldP spid="27" grpId="0" animBg="1"/>
      <p:bldP spid="27" grpId="1" animBg="1"/>
      <p:bldP spid="33" grpId="0" animBg="1"/>
      <p:bldP spid="33" grpId="1" animBg="1"/>
      <p:bldP spid="2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a:xfrm>
            <a:off x="504424" y="248472"/>
            <a:ext cx="7704667" cy="914399"/>
          </a:xfrm>
        </p:spPr>
        <p:txBody>
          <a:bodyPr>
            <a:normAutofit fontScale="90000"/>
          </a:bodyPr>
          <a:lstStyle/>
          <a:p>
            <a:r>
              <a:rPr lang="en-US" dirty="0"/>
              <a:t>Minimax Play</a:t>
            </a:r>
            <a:br>
              <a:rPr lang="en-US" dirty="0"/>
            </a:br>
            <a:r>
              <a:rPr lang="en-US" dirty="0"/>
              <a:t>(</a:t>
            </a:r>
            <a:r>
              <a:rPr lang="en-US" dirty="0" err="1"/>
              <a:t>Subperfect</a:t>
            </a:r>
            <a:r>
              <a:rPr lang="en-US" dirty="0"/>
              <a:t> Nash Equilibrium)</a:t>
            </a:r>
          </a:p>
        </p:txBody>
      </p:sp>
      <mc:AlternateContent xmlns:mc="http://schemas.openxmlformats.org/markup-compatibility/2006" xmlns:a14="http://schemas.microsoft.com/office/drawing/2010/main">
        <mc:Choice Requires="a14">
          <p:sp>
            <p:nvSpPr>
              <p:cNvPr id="4" name="Freeform 3"/>
              <p:cNvSpPr/>
              <p:nvPr/>
            </p:nvSpPr>
            <p:spPr>
              <a:xfrm>
                <a:off x="1293185" y="4165026"/>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1293185" y="4165026"/>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p:cxnSp>
        <p:nvCxnSpPr>
          <p:cNvPr id="30" name="Straight Connector 29"/>
          <p:cNvCxnSpPr>
            <a:stCxn id="4" idx="2"/>
          </p:cNvCxnSpPr>
          <p:nvPr/>
        </p:nvCxnSpPr>
        <p:spPr>
          <a:xfrm flipV="1">
            <a:off x="2172875" y="3250612"/>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2216395" y="4388454"/>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p:cNvCxnSpPr>
          <p:nvPr/>
        </p:nvCxnSpPr>
        <p:spPr>
          <a:xfrm>
            <a:off x="2219172" y="4581723"/>
            <a:ext cx="1120808" cy="9724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418823" y="3707820"/>
            <a:ext cx="685800" cy="369332"/>
          </a:xfrm>
          <a:prstGeom prst="rect">
            <a:avLst/>
          </a:prstGeom>
          <a:noFill/>
        </p:spPr>
        <p:txBody>
          <a:bodyPr wrap="square" rtlCol="0">
            <a:spAutoFit/>
          </a:bodyPr>
          <a:lstStyle/>
          <a:p>
            <a:pPr algn="ctr"/>
            <a:r>
              <a:rPr lang="en-US" b="0" dirty="0">
                <a:latin typeface="+mj-lt"/>
              </a:rPr>
              <a:t>P1</a:t>
            </a:r>
          </a:p>
        </p:txBody>
      </p:sp>
      <p:sp>
        <p:nvSpPr>
          <p:cNvPr id="81" name="TextBox 80"/>
          <p:cNvSpPr txBox="1"/>
          <p:nvPr/>
        </p:nvSpPr>
        <p:spPr>
          <a:xfrm>
            <a:off x="3460074" y="2351520"/>
            <a:ext cx="685800" cy="369332"/>
          </a:xfrm>
          <a:prstGeom prst="rect">
            <a:avLst/>
          </a:prstGeom>
          <a:noFill/>
        </p:spPr>
        <p:txBody>
          <a:bodyPr wrap="square" rtlCol="0">
            <a:spAutoFit/>
          </a:bodyPr>
          <a:lstStyle/>
          <a:p>
            <a:pPr algn="ctr"/>
            <a:r>
              <a:rPr lang="en-US" b="0" dirty="0">
                <a:latin typeface="+mj-lt"/>
              </a:rPr>
              <a:t>P2</a:t>
            </a:r>
          </a:p>
        </p:txBody>
      </p:sp>
      <p:sp>
        <p:nvSpPr>
          <p:cNvPr id="82" name="TextBox 81"/>
          <p:cNvSpPr txBox="1"/>
          <p:nvPr/>
        </p:nvSpPr>
        <p:spPr>
          <a:xfrm>
            <a:off x="3460074" y="3708628"/>
            <a:ext cx="685800" cy="369332"/>
          </a:xfrm>
          <a:prstGeom prst="rect">
            <a:avLst/>
          </a:prstGeom>
          <a:noFill/>
        </p:spPr>
        <p:txBody>
          <a:bodyPr wrap="square" rtlCol="0">
            <a:spAutoFit/>
          </a:bodyPr>
          <a:lstStyle/>
          <a:p>
            <a:pPr algn="ctr"/>
            <a:r>
              <a:rPr lang="en-US" b="0" dirty="0">
                <a:latin typeface="+mj-lt"/>
              </a:rPr>
              <a:t>P2</a:t>
            </a:r>
          </a:p>
        </p:txBody>
      </p:sp>
      <p:sp>
        <p:nvSpPr>
          <p:cNvPr id="83" name="TextBox 82"/>
          <p:cNvSpPr txBox="1"/>
          <p:nvPr/>
        </p:nvSpPr>
        <p:spPr>
          <a:xfrm>
            <a:off x="3460074" y="5044226"/>
            <a:ext cx="685800" cy="369332"/>
          </a:xfrm>
          <a:prstGeom prst="rect">
            <a:avLst/>
          </a:prstGeom>
          <a:noFill/>
        </p:spPr>
        <p:txBody>
          <a:bodyPr wrap="square" rtlCol="0">
            <a:spAutoFit/>
          </a:bodyPr>
          <a:lstStyle/>
          <a:p>
            <a:pPr algn="ctr"/>
            <a:r>
              <a:rPr lang="en-US" b="0" dirty="0">
                <a:latin typeface="+mj-lt"/>
              </a:rPr>
              <a:t>P2</a:t>
            </a:r>
          </a:p>
        </p:txBody>
      </p:sp>
      <p:sp>
        <p:nvSpPr>
          <p:cNvPr id="60" name="Rounded Rectangle 59"/>
          <p:cNvSpPr/>
          <p:nvPr/>
        </p:nvSpPr>
        <p:spPr>
          <a:xfrm rot="20851155">
            <a:off x="579416" y="1684954"/>
            <a:ext cx="1981200" cy="762447"/>
          </a:xfrm>
          <a:prstGeom prst="roundRect">
            <a:avLst/>
          </a:prstGeom>
          <a:solidFill>
            <a:schemeClr val="bg1"/>
          </a:solid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accent2"/>
                </a:solidFill>
              </a:rPr>
              <a:t>Backwards Induction</a:t>
            </a:r>
            <a:endParaRPr lang="en-US" dirty="0">
              <a:solidFill>
                <a:schemeClr val="accent2"/>
              </a:solidFill>
            </a:endParaRPr>
          </a:p>
        </p:txBody>
      </p:sp>
      <mc:AlternateContent xmlns:mc="http://schemas.openxmlformats.org/markup-compatibility/2006" xmlns:a14="http://schemas.microsoft.com/office/drawing/2010/main">
        <mc:Choice Requires="a14">
          <p:sp>
            <p:nvSpPr>
              <p:cNvPr id="87" name="Freeform 86"/>
              <p:cNvSpPr/>
              <p:nvPr/>
            </p:nvSpPr>
            <p:spPr>
              <a:xfrm>
                <a:off x="3344119" y="2831784"/>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−3,3</m:t>
                          </m:r>
                        </m:e>
                      </m:d>
                    </m:oMath>
                  </m:oMathPara>
                </a14:m>
                <a:endParaRPr lang="en-US" sz="2000" dirty="0"/>
              </a:p>
            </p:txBody>
          </p:sp>
        </mc:Choice>
        <mc:Fallback xmlns="">
          <p:sp>
            <p:nvSpPr>
              <p:cNvPr id="87" name="Freeform 86"/>
              <p:cNvSpPr>
                <a:spLocks noRot="1" noChangeAspect="1" noMove="1" noResize="1" noEditPoints="1" noAdjustHandles="1" noChangeArrowheads="1" noChangeShapeType="1" noTextEdit="1"/>
              </p:cNvSpPr>
              <p:nvPr/>
            </p:nvSpPr>
            <p:spPr>
              <a:xfrm>
                <a:off x="3344119" y="2831784"/>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Freeform 33"/>
              <p:cNvSpPr/>
              <p:nvPr/>
            </p:nvSpPr>
            <p:spPr>
              <a:xfrm>
                <a:off x="3349982" y="4143482"/>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−2,2</m:t>
                          </m:r>
                        </m:e>
                      </m:d>
                    </m:oMath>
                  </m:oMathPara>
                </a14:m>
                <a:endParaRPr lang="en-US" sz="2000" dirty="0"/>
              </a:p>
            </p:txBody>
          </p:sp>
        </mc:Choice>
        <mc:Fallback xmlns="">
          <p:sp>
            <p:nvSpPr>
              <p:cNvPr id="34" name="Freeform 33"/>
              <p:cNvSpPr>
                <a:spLocks noRot="1" noChangeAspect="1" noMove="1" noResize="1" noEditPoints="1" noAdjustHandles="1" noChangeArrowheads="1" noChangeShapeType="1" noTextEdit="1"/>
              </p:cNvSpPr>
              <p:nvPr/>
            </p:nvSpPr>
            <p:spPr>
              <a:xfrm>
                <a:off x="3349982" y="4143482"/>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Freeform 27"/>
              <p:cNvSpPr/>
              <p:nvPr/>
            </p:nvSpPr>
            <p:spPr>
              <a:xfrm>
                <a:off x="3349982" y="550589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d>
                        <m:dPr>
                          <m:ctrlPr>
                            <a:rPr lang="en-US" sz="2000" i="1">
                              <a:latin typeface="Cambria Math" panose="02040503050406030204" pitchFamily="18" charset="0"/>
                            </a:rPr>
                          </m:ctrlPr>
                        </m:dPr>
                        <m:e>
                          <m:r>
                            <a:rPr lang="en-US" sz="2000" i="1">
                              <a:latin typeface="Cambria Math" panose="02040503050406030204" pitchFamily="18" charset="0"/>
                            </a:rPr>
                            <m:t>−7,7</m:t>
                          </m:r>
                        </m:e>
                      </m:d>
                    </m:oMath>
                  </m:oMathPara>
                </a14:m>
                <a:endParaRPr lang="en-US" sz="2000" dirty="0"/>
              </a:p>
            </p:txBody>
          </p:sp>
        </mc:Choice>
        <mc:Fallback xmlns="">
          <p:sp>
            <p:nvSpPr>
              <p:cNvPr id="28" name="Freeform 27"/>
              <p:cNvSpPr>
                <a:spLocks noRot="1" noChangeAspect="1" noMove="1" noResize="1" noEditPoints="1" noAdjustHandles="1" noChangeArrowheads="1" noChangeShapeType="1" noTextEdit="1"/>
              </p:cNvSpPr>
              <p:nvPr/>
            </p:nvSpPr>
            <p:spPr>
              <a:xfrm>
                <a:off x="3349982" y="550589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p:sp>
        <p:nvSpPr>
          <p:cNvPr id="2" name="Right Arrow 1"/>
          <p:cNvSpPr/>
          <p:nvPr/>
        </p:nvSpPr>
        <p:spPr>
          <a:xfrm rot="10800000">
            <a:off x="4356756" y="4206617"/>
            <a:ext cx="609600" cy="342901"/>
          </a:xfrm>
          <a:prstGeom prst="rightArrow">
            <a:avLst/>
          </a:prstGeom>
          <a:solidFill>
            <a:schemeClr val="accent5"/>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84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a:xfrm>
            <a:off x="504423" y="248473"/>
            <a:ext cx="7704667" cy="914399"/>
          </a:xfrm>
        </p:spPr>
        <p:txBody>
          <a:bodyPr>
            <a:normAutofit fontScale="90000"/>
          </a:bodyPr>
          <a:lstStyle/>
          <a:p>
            <a:r>
              <a:rPr lang="en-US" dirty="0"/>
              <a:t>Minimax Play</a:t>
            </a:r>
            <a:br>
              <a:rPr lang="en-US" dirty="0"/>
            </a:br>
            <a:r>
              <a:rPr lang="en-US" dirty="0"/>
              <a:t>(</a:t>
            </a:r>
            <a:r>
              <a:rPr lang="en-US" dirty="0" err="1"/>
              <a:t>Subperfect</a:t>
            </a:r>
            <a:r>
              <a:rPr lang="en-US" dirty="0"/>
              <a:t> Nash Equilibrium)</a:t>
            </a:r>
          </a:p>
        </p:txBody>
      </p:sp>
      <mc:AlternateContent xmlns:mc="http://schemas.openxmlformats.org/markup-compatibility/2006" xmlns:a14="http://schemas.microsoft.com/office/drawing/2010/main">
        <mc:Choice Requires="a14">
          <p:sp>
            <p:nvSpPr>
              <p:cNvPr id="4" name="Freeform 3"/>
              <p:cNvSpPr/>
              <p:nvPr/>
            </p:nvSpPr>
            <p:spPr>
              <a:xfrm>
                <a:off x="1293184" y="416502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1293184" y="416502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3339981" y="283391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3339981" y="283391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5826834" y="23014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11</m:t>
                          </m:r>
                        </m:sub>
                      </m:sSub>
                      <m:r>
                        <a:rPr lang="en-US" sz="2000" i="1">
                          <a:latin typeface="Cambria Math" charset="0"/>
                        </a:rPr>
                        <m:t> (1,−1)</m:t>
                      </m:r>
                    </m:oMath>
                  </m:oMathPara>
                </a14:m>
                <a:endParaRPr lang="en-US" sz="2000"/>
              </a:p>
            </p:txBody>
          </p:sp>
        </mc:Choice>
        <mc:Fallback xmlns="">
          <p:sp>
            <p:nvSpPr>
              <p:cNvPr id="8" name="Freeform 7"/>
              <p:cNvSpPr>
                <a:spLocks noRot="1" noChangeAspect="1" noMove="1" noResize="1" noEditPoints="1" noAdjustHandles="1" noChangeArrowheads="1" noChangeShapeType="1" noTextEdit="1"/>
              </p:cNvSpPr>
              <p:nvPr/>
            </p:nvSpPr>
            <p:spPr>
              <a:xfrm>
                <a:off x="5826834" y="23014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5826834" y="28339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12</m:t>
                          </m:r>
                        </m:sub>
                      </m:sSub>
                      <m:r>
                        <a:rPr lang="en-US" sz="2000" i="1">
                          <a:latin typeface="Cambria Math" charset="0"/>
                        </a:rPr>
                        <m:t> (2,−2)</m:t>
                      </m:r>
                    </m:oMath>
                  </m:oMathPara>
                </a14:m>
                <a:endParaRPr lang="en-US" sz="2000"/>
              </a:p>
            </p:txBody>
          </p:sp>
        </mc:Choice>
        <mc:Fallback xmlns="">
          <p:sp>
            <p:nvSpPr>
              <p:cNvPr id="10" name="Freeform 9"/>
              <p:cNvSpPr>
                <a:spLocks noRot="1" noChangeAspect="1" noMove="1" noResize="1" noEditPoints="1" noAdjustHandles="1" noChangeArrowheads="1" noChangeShapeType="1" noTextEdit="1"/>
              </p:cNvSpPr>
              <p:nvPr/>
            </p:nvSpPr>
            <p:spPr>
              <a:xfrm>
                <a:off x="5826834" y="28339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5826834" y="3366362"/>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13</m:t>
                          </m:r>
                        </m:sub>
                      </m:sSub>
                      <m:r>
                        <a:rPr lang="en-US" sz="2000" i="1">
                          <a:latin typeface="Cambria Math" charset="0"/>
                        </a:rPr>
                        <m:t> (−3,3)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5826834" y="3366362"/>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3339981" y="416502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3339981" y="4165027"/>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5826834" y="389880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21</m:t>
                        </m:r>
                      </m:sub>
                    </m:sSub>
                  </m:oMath>
                </a14:m>
                <a:r>
                  <a:rPr lang="en-US" sz="2000"/>
                  <a:t> </a:t>
                </a:r>
                <a14:m>
                  <m:oMath xmlns:m="http://schemas.openxmlformats.org/officeDocument/2006/math">
                    <m:r>
                      <a:rPr lang="en-US" sz="2000" i="1">
                        <a:latin typeface="Cambria Math" charset="0"/>
                      </a:rPr>
                      <m:t>(4,−4)</m:t>
                    </m:r>
                  </m:oMath>
                </a14:m>
                <a:endParaRPr lang="en-US" sz="2000"/>
              </a:p>
            </p:txBody>
          </p:sp>
        </mc:Choice>
        <mc:Fallback xmlns="">
          <p:sp>
            <p:nvSpPr>
              <p:cNvPr id="16" name="Freeform 15"/>
              <p:cNvSpPr>
                <a:spLocks noRot="1" noChangeAspect="1" noMove="1" noResize="1" noEditPoints="1" noAdjustHandles="1" noChangeArrowheads="1" noChangeShapeType="1" noTextEdit="1"/>
              </p:cNvSpPr>
              <p:nvPr/>
            </p:nvSpPr>
            <p:spPr>
              <a:xfrm>
                <a:off x="5826834" y="389880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5826834" y="443125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22</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−2,2</m:t>
                          </m:r>
                        </m:e>
                      </m:d>
                    </m:oMath>
                  </m:oMathPara>
                </a14:m>
                <a:endParaRPr lang="en-US" sz="2000"/>
              </a:p>
            </p:txBody>
          </p:sp>
        </mc:Choice>
        <mc:Fallback xmlns="">
          <p:sp>
            <p:nvSpPr>
              <p:cNvPr id="19" name="Freeform 18"/>
              <p:cNvSpPr>
                <a:spLocks noRot="1" noChangeAspect="1" noMove="1" noResize="1" noEditPoints="1" noAdjustHandles="1" noChangeArrowheads="1" noChangeShapeType="1" noTextEdit="1"/>
              </p:cNvSpPr>
              <p:nvPr/>
            </p:nvSpPr>
            <p:spPr>
              <a:xfrm>
                <a:off x="5826834" y="443125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3339981" y="5496139"/>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3339981" y="5496139"/>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5826834" y="4963694"/>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31</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−7,7</m:t>
                          </m:r>
                        </m:e>
                      </m:d>
                    </m:oMath>
                  </m:oMathPara>
                </a14:m>
                <a:endParaRPr lang="en-US" sz="2000"/>
              </a:p>
            </p:txBody>
          </p:sp>
        </mc:Choice>
        <mc:Fallback xmlns="">
          <p:sp>
            <p:nvSpPr>
              <p:cNvPr id="23" name="Freeform 22"/>
              <p:cNvSpPr>
                <a:spLocks noRot="1" noChangeAspect="1" noMove="1" noResize="1" noEditPoints="1" noAdjustHandles="1" noChangeArrowheads="1" noChangeShapeType="1" noTextEdit="1"/>
              </p:cNvSpPr>
              <p:nvPr/>
            </p:nvSpPr>
            <p:spPr>
              <a:xfrm>
                <a:off x="5826834" y="4963694"/>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5826834" y="549613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32</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0,0</m:t>
                          </m:r>
                        </m:e>
                      </m:d>
                    </m:oMath>
                  </m:oMathPara>
                </a14:m>
                <a:endParaRPr lang="en-US" sz="2000"/>
              </a:p>
            </p:txBody>
          </p:sp>
        </mc:Choice>
        <mc:Fallback xmlns="">
          <p:sp>
            <p:nvSpPr>
              <p:cNvPr id="25" name="Freeform 24"/>
              <p:cNvSpPr>
                <a:spLocks noRot="1" noChangeAspect="1" noMove="1" noResize="1" noEditPoints="1" noAdjustHandles="1" noChangeArrowheads="1" noChangeShapeType="1" noTextEdit="1"/>
              </p:cNvSpPr>
              <p:nvPr/>
            </p:nvSpPr>
            <p:spPr>
              <a:xfrm>
                <a:off x="5826834" y="549613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5826834" y="602858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33</m:t>
                          </m:r>
                        </m:sub>
                      </m:sSub>
                      <m:r>
                        <a:rPr lang="en-US" sz="2000" i="1">
                          <a:latin typeface="Cambria Math" charset="0"/>
                        </a:rPr>
                        <m:t> </m:t>
                      </m:r>
                      <m:d>
                        <m:dPr>
                          <m:ctrlPr>
                            <a:rPr lang="en-US" sz="2000" i="1">
                              <a:latin typeface="Cambria Math" panose="02040503050406030204" pitchFamily="18" charset="0"/>
                            </a:rPr>
                          </m:ctrlPr>
                        </m:dPr>
                        <m:e>
                          <m:r>
                            <a:rPr lang="en-US" sz="2000" i="1">
                              <a:latin typeface="Cambria Math" charset="0"/>
                            </a:rPr>
                            <m:t>1,−1</m:t>
                          </m:r>
                        </m:e>
                      </m:d>
                    </m:oMath>
                  </m:oMathPara>
                </a14:m>
                <a:endParaRPr lang="en-US" sz="2000"/>
              </a:p>
            </p:txBody>
          </p:sp>
        </mc:Choice>
        <mc:Fallback xmlns="">
          <p:sp>
            <p:nvSpPr>
              <p:cNvPr id="27" name="Freeform 26"/>
              <p:cNvSpPr>
                <a:spLocks noRot="1" noChangeAspect="1" noMove="1" noResize="1" noEditPoints="1" noAdjustHandles="1" noChangeArrowheads="1" noChangeShapeType="1" noTextEdit="1"/>
              </p:cNvSpPr>
              <p:nvPr/>
            </p:nvSpPr>
            <p:spPr>
              <a:xfrm>
                <a:off x="5826834" y="602858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2172874" y="3250613"/>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2216394" y="4388455"/>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2219171" y="4581725"/>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4265971" y="2527293"/>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4265971" y="3065415"/>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4265971" y="3073446"/>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4265971" y="4131717"/>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273553" y="4396525"/>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4265969" y="5189513"/>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4265969" y="5724800"/>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273556" y="5724797"/>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418822" y="3707821"/>
            <a:ext cx="685800" cy="369332"/>
          </a:xfrm>
          <a:prstGeom prst="rect">
            <a:avLst/>
          </a:prstGeom>
          <a:noFill/>
        </p:spPr>
        <p:txBody>
          <a:bodyPr wrap="square" rtlCol="0">
            <a:spAutoFit/>
          </a:bodyPr>
          <a:lstStyle/>
          <a:p>
            <a:pPr algn="ctr"/>
            <a:r>
              <a:rPr lang="en-US" b="0" dirty="0">
                <a:latin typeface="+mj-lt"/>
              </a:rPr>
              <a:t>P1</a:t>
            </a:r>
          </a:p>
        </p:txBody>
      </p:sp>
      <p:sp>
        <p:nvSpPr>
          <p:cNvPr id="81" name="TextBox 80"/>
          <p:cNvSpPr txBox="1"/>
          <p:nvPr/>
        </p:nvSpPr>
        <p:spPr>
          <a:xfrm>
            <a:off x="3460073" y="2351521"/>
            <a:ext cx="685800" cy="369332"/>
          </a:xfrm>
          <a:prstGeom prst="rect">
            <a:avLst/>
          </a:prstGeom>
          <a:noFill/>
        </p:spPr>
        <p:txBody>
          <a:bodyPr wrap="square" rtlCol="0">
            <a:spAutoFit/>
          </a:bodyPr>
          <a:lstStyle/>
          <a:p>
            <a:pPr algn="ctr"/>
            <a:r>
              <a:rPr lang="en-US" b="0" dirty="0">
                <a:latin typeface="+mj-lt"/>
              </a:rPr>
              <a:t>P2</a:t>
            </a:r>
          </a:p>
        </p:txBody>
      </p:sp>
      <p:sp>
        <p:nvSpPr>
          <p:cNvPr id="82" name="TextBox 81"/>
          <p:cNvSpPr txBox="1"/>
          <p:nvPr/>
        </p:nvSpPr>
        <p:spPr>
          <a:xfrm>
            <a:off x="3460073" y="3708629"/>
            <a:ext cx="685800" cy="369332"/>
          </a:xfrm>
          <a:prstGeom prst="rect">
            <a:avLst/>
          </a:prstGeom>
          <a:noFill/>
        </p:spPr>
        <p:txBody>
          <a:bodyPr wrap="square" rtlCol="0">
            <a:spAutoFit/>
          </a:bodyPr>
          <a:lstStyle/>
          <a:p>
            <a:pPr algn="ctr"/>
            <a:r>
              <a:rPr lang="en-US" b="0" dirty="0">
                <a:latin typeface="+mj-lt"/>
              </a:rPr>
              <a:t>P2</a:t>
            </a:r>
          </a:p>
        </p:txBody>
      </p:sp>
      <p:sp>
        <p:nvSpPr>
          <p:cNvPr id="83" name="TextBox 82"/>
          <p:cNvSpPr txBox="1"/>
          <p:nvPr/>
        </p:nvSpPr>
        <p:spPr>
          <a:xfrm>
            <a:off x="3460073" y="5044227"/>
            <a:ext cx="685800" cy="369332"/>
          </a:xfrm>
          <a:prstGeom prst="rect">
            <a:avLst/>
          </a:prstGeom>
          <a:noFill/>
        </p:spPr>
        <p:txBody>
          <a:bodyPr wrap="square" rtlCol="0">
            <a:spAutoFit/>
          </a:bodyPr>
          <a:lstStyle/>
          <a:p>
            <a:pPr algn="ctr"/>
            <a:r>
              <a:rPr lang="en-US" b="0" dirty="0">
                <a:latin typeface="+mj-lt"/>
              </a:rPr>
              <a:t>P2</a:t>
            </a:r>
          </a:p>
        </p:txBody>
      </p:sp>
      <p:sp>
        <p:nvSpPr>
          <p:cNvPr id="2" name="TextBox 1"/>
          <p:cNvSpPr txBox="1"/>
          <p:nvPr/>
        </p:nvSpPr>
        <p:spPr>
          <a:xfrm>
            <a:off x="352022" y="1503868"/>
            <a:ext cx="4572000" cy="369332"/>
          </a:xfrm>
          <a:prstGeom prst="rect">
            <a:avLst/>
          </a:prstGeom>
          <a:noFill/>
        </p:spPr>
        <p:txBody>
          <a:bodyPr wrap="square" rtlCol="0">
            <a:spAutoFit/>
          </a:bodyPr>
          <a:lstStyle/>
          <a:p>
            <a:pPr algn="ctr"/>
            <a:r>
              <a:rPr lang="en-US" dirty="0">
                <a:latin typeface="+mj-lt"/>
              </a:rPr>
              <a:t>What are the optimal strategies in this game? </a:t>
            </a:r>
          </a:p>
        </p:txBody>
      </p:sp>
    </p:spTree>
    <p:extLst>
      <p:ext uri="{BB962C8B-B14F-4D97-AF65-F5344CB8AC3E}">
        <p14:creationId xmlns:p14="http://schemas.microsoft.com/office/powerpoint/2010/main" val="82727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500" fill="hold"/>
                                        <p:tgtEl>
                                          <p:spTgt spid="61"/>
                                        </p:tgtEl>
                                        <p:attrNameLst>
                                          <p:attrName>stroke.color</p:attrName>
                                        </p:attrNameLst>
                                      </p:cBhvr>
                                      <p:to>
                                        <a:srgbClr val="FF0000"/>
                                      </p:to>
                                    </p:animClr>
                                    <p:set>
                                      <p:cBhvr>
                                        <p:cTn id="7" dur="500" fill="hold"/>
                                        <p:tgtEl>
                                          <p:spTgt spid="61"/>
                                        </p:tgtEl>
                                        <p:attrNameLst>
                                          <p:attrName>stroke.on</p:attrName>
                                        </p:attrNameLst>
                                      </p:cBhvr>
                                      <p:to>
                                        <p:strVal val="true"/>
                                      </p:to>
                                    </p:set>
                                  </p:childTnLst>
                                </p:cTn>
                              </p:par>
                              <p:par>
                                <p:cTn id="8" presetID="7" presetClass="emph" presetSubtype="2" fill="hold" nodeType="withEffect">
                                  <p:stCondLst>
                                    <p:cond delay="0"/>
                                  </p:stCondLst>
                                  <p:childTnLst>
                                    <p:animClr clrSpc="rgb" dir="cw">
                                      <p:cBhvr>
                                        <p:cTn id="9" dur="500" fill="hold"/>
                                        <p:tgtEl>
                                          <p:spTgt spid="66"/>
                                        </p:tgtEl>
                                        <p:attrNameLst>
                                          <p:attrName>stroke.color</p:attrName>
                                        </p:attrNameLst>
                                      </p:cBhvr>
                                      <p:to>
                                        <a:srgbClr val="FF0000"/>
                                      </p:to>
                                    </p:animClr>
                                    <p:set>
                                      <p:cBhvr>
                                        <p:cTn id="10" dur="500" fill="hold"/>
                                        <p:tgtEl>
                                          <p:spTgt spid="66"/>
                                        </p:tgtEl>
                                        <p:attrNameLst>
                                          <p:attrName>stroke.on</p:attrName>
                                        </p:attrNameLst>
                                      </p:cBhvr>
                                      <p:to>
                                        <p:strVal val="true"/>
                                      </p:to>
                                    </p:set>
                                  </p:childTnLst>
                                </p:cTn>
                              </p:par>
                              <p:par>
                                <p:cTn id="11" presetID="7" presetClass="emph" presetSubtype="2" fill="hold" nodeType="withEffect">
                                  <p:stCondLst>
                                    <p:cond delay="0"/>
                                  </p:stCondLst>
                                  <p:childTnLst>
                                    <p:animClr clrSpc="rgb" dir="cw">
                                      <p:cBhvr>
                                        <p:cTn id="12" dur="500" fill="hold"/>
                                        <p:tgtEl>
                                          <p:spTgt spid="72"/>
                                        </p:tgtEl>
                                        <p:attrNameLst>
                                          <p:attrName>stroke.color</p:attrName>
                                        </p:attrNameLst>
                                      </p:cBhvr>
                                      <p:to>
                                        <a:srgbClr val="FF0000"/>
                                      </p:to>
                                    </p:animClr>
                                    <p:set>
                                      <p:cBhvr>
                                        <p:cTn id="13" dur="500" fill="hold"/>
                                        <p:tgtEl>
                                          <p:spTgt spid="72"/>
                                        </p:tgtEl>
                                        <p:attrNameLst>
                                          <p:attrName>stroke.on</p:attrName>
                                        </p:attrNameLst>
                                      </p:cBhvr>
                                      <p:to>
                                        <p:strVal val="true"/>
                                      </p:to>
                                    </p:set>
                                  </p:childTnLst>
                                </p:cTn>
                              </p:par>
                              <p:par>
                                <p:cTn id="14" presetID="7" presetClass="emph" presetSubtype="2" fill="hold" nodeType="withEffect">
                                  <p:stCondLst>
                                    <p:cond delay="0"/>
                                  </p:stCondLst>
                                  <p:childTnLst>
                                    <p:animClr clrSpc="rgb" dir="cw">
                                      <p:cBhvr>
                                        <p:cTn id="15" dur="500" fill="hold"/>
                                        <p:tgtEl>
                                          <p:spTgt spid="47"/>
                                        </p:tgtEl>
                                        <p:attrNameLst>
                                          <p:attrName>stroke.color</p:attrName>
                                        </p:attrNameLst>
                                      </p:cBhvr>
                                      <p:to>
                                        <a:srgbClr val="0070C0"/>
                                      </p:to>
                                    </p:animClr>
                                    <p:set>
                                      <p:cBhvr>
                                        <p:cTn id="16" dur="500" fill="hold"/>
                                        <p:tgtEl>
                                          <p:spTgt spid="47"/>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553793" y="457203"/>
            <a:ext cx="9657010" cy="761999"/>
          </a:xfrm>
        </p:spPr>
        <p:txBody>
          <a:bodyPr/>
          <a:lstStyle/>
          <a:p>
            <a:r>
              <a:rPr lang="en-US"/>
              <a:t>Backwards Induction</a:t>
            </a:r>
            <a:endParaRPr lang="en-US" dirty="0"/>
          </a:p>
        </p:txBody>
      </p:sp>
      <mc:AlternateContent xmlns:mc="http://schemas.openxmlformats.org/markup-compatibility/2006" xmlns:a14="http://schemas.microsoft.com/office/drawing/2010/main">
        <mc:Choice Requires="a14">
          <p:sp>
            <p:nvSpPr>
              <p:cNvPr id="11" name="Content Placeholder 10"/>
              <p:cNvSpPr>
                <a:spLocks noGrp="1"/>
              </p:cNvSpPr>
              <p:nvPr>
                <p:ph idx="1"/>
              </p:nvPr>
            </p:nvSpPr>
            <p:spPr>
              <a:xfrm>
                <a:off x="498781" y="1415787"/>
                <a:ext cx="9929104" cy="4495800"/>
              </a:xfrm>
            </p:spPr>
            <p:txBody>
              <a:bodyPr>
                <a:noAutofit/>
              </a:bodyPr>
              <a:lstStyle/>
              <a:p>
                <a:r>
                  <a:rPr lang="en-US" sz="3600" dirty="0">
                    <a:latin typeface="Corbel" panose="020B0503020204020204" pitchFamily="34" charset="0"/>
                    <a:cs typeface="Times"/>
                  </a:rPr>
                  <a:t>Game trees are huge: chess has game tree with </a:t>
                </a:r>
                <a14:m>
                  <m:oMath xmlns:m="http://schemas.openxmlformats.org/officeDocument/2006/math">
                    <m:r>
                      <a:rPr lang="en-US" sz="3600" i="1">
                        <a:latin typeface="Cambria Math" charset="0"/>
                        <a:cs typeface="Times"/>
                      </a:rPr>
                      <m:t>∼</m:t>
                    </m:r>
                    <m:sSup>
                      <m:sSupPr>
                        <m:ctrlPr>
                          <a:rPr lang="en-US" sz="3600" i="1">
                            <a:latin typeface="Cambria Math" panose="02040503050406030204" pitchFamily="18" charset="0"/>
                            <a:cs typeface="Times"/>
                          </a:rPr>
                        </m:ctrlPr>
                      </m:sSupPr>
                      <m:e>
                        <m:r>
                          <a:rPr lang="en-US" sz="3600" i="1">
                            <a:latin typeface="Cambria Math" charset="0"/>
                            <a:cs typeface="Times"/>
                          </a:rPr>
                          <m:t>10</m:t>
                        </m:r>
                      </m:e>
                      <m:sup>
                        <m:r>
                          <a:rPr lang="en-US" sz="3600" i="1">
                            <a:latin typeface="Cambria Math" charset="0"/>
                            <a:cs typeface="Times"/>
                          </a:rPr>
                          <m:t>123</m:t>
                        </m:r>
                      </m:sup>
                    </m:sSup>
                  </m:oMath>
                </a14:m>
                <a:r>
                  <a:rPr lang="en-US" sz="3600" dirty="0">
                    <a:latin typeface="Corbel" panose="020B0503020204020204" pitchFamily="34" charset="0"/>
                    <a:cs typeface="Times"/>
                  </a:rPr>
                  <a:t> nodes (planet Earth has </a:t>
                </a:r>
                <a14:m>
                  <m:oMath xmlns:m="http://schemas.openxmlformats.org/officeDocument/2006/math">
                    <m:r>
                      <a:rPr lang="en-US" sz="3600" i="1">
                        <a:latin typeface="Cambria Math" charset="0"/>
                        <a:cs typeface="Times"/>
                      </a:rPr>
                      <m:t>∼</m:t>
                    </m:r>
                    <m:sSup>
                      <m:sSupPr>
                        <m:ctrlPr>
                          <a:rPr lang="en-US" sz="3600" i="1">
                            <a:latin typeface="Cambria Math" panose="02040503050406030204" pitchFamily="18" charset="0"/>
                            <a:cs typeface="Times"/>
                          </a:rPr>
                        </m:ctrlPr>
                      </m:sSupPr>
                      <m:e>
                        <m:r>
                          <a:rPr lang="en-US" sz="3600" i="1">
                            <a:latin typeface="Cambria Math" charset="0"/>
                            <a:cs typeface="Times"/>
                          </a:rPr>
                          <m:t>10</m:t>
                        </m:r>
                      </m:e>
                      <m:sup>
                        <m:r>
                          <a:rPr lang="en-US" sz="3600" i="1">
                            <a:latin typeface="Cambria Math" charset="0"/>
                            <a:cs typeface="Times"/>
                          </a:rPr>
                          <m:t>50</m:t>
                        </m:r>
                      </m:sup>
                    </m:sSup>
                  </m:oMath>
                </a14:m>
                <a:r>
                  <a:rPr lang="en-US" sz="3600" dirty="0">
                    <a:latin typeface="Corbel" panose="020B0503020204020204" pitchFamily="34" charset="0"/>
                    <a:cs typeface="Times"/>
                  </a:rPr>
                  <a:t> atoms) </a:t>
                </a:r>
              </a:p>
              <a:p>
                <a:r>
                  <a:rPr lang="en-US" sz="3600" dirty="0">
                    <a:latin typeface="Corbel" panose="020B0503020204020204" pitchFamily="34" charset="0"/>
                    <a:cs typeface="Times"/>
                  </a:rPr>
                  <a:t>Impossible to expand the entire tree</a:t>
                </a:r>
              </a:p>
            </p:txBody>
          </p:sp>
        </mc:Choice>
        <mc:Fallback xmlns="">
          <p:sp>
            <p:nvSpPr>
              <p:cNvPr id="11" name="Content Placeholder 10"/>
              <p:cNvSpPr>
                <a:spLocks noGrp="1" noRot="1" noChangeAspect="1" noMove="1" noResize="1" noEditPoints="1" noAdjustHandles="1" noChangeArrowheads="1" noChangeShapeType="1" noTextEdit="1"/>
              </p:cNvSpPr>
              <p:nvPr>
                <p:ph idx="1"/>
              </p:nvPr>
            </p:nvSpPr>
            <p:spPr>
              <a:xfrm>
                <a:off x="498781" y="1415787"/>
                <a:ext cx="9929104" cy="4495800"/>
              </a:xfrm>
              <a:blipFill>
                <a:blip r:embed="rId3"/>
                <a:stretch>
                  <a:fillRect l="-766" t="-1972"/>
                </a:stretch>
              </a:blipFill>
            </p:spPr>
            <p:txBody>
              <a:bodyPr/>
              <a:lstStyle/>
              <a:p>
                <a:r>
                  <a:rPr lang="en-GB">
                    <a:noFill/>
                  </a:rPr>
                  <a:t> </a:t>
                </a:r>
              </a:p>
            </p:txBody>
          </p:sp>
        </mc:Fallback>
      </mc:AlternateContent>
    </p:spTree>
    <p:extLst>
      <p:ext uri="{BB962C8B-B14F-4D97-AF65-F5344CB8AC3E}">
        <p14:creationId xmlns:p14="http://schemas.microsoft.com/office/powerpoint/2010/main" val="201704244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2018" name="Rectangle 2"/>
              <p:cNvSpPr>
                <a:spLocks noGrp="1" noChangeArrowheads="1"/>
              </p:cNvSpPr>
              <p:nvPr>
                <p:ph type="title"/>
              </p:nvPr>
            </p:nvSpPr>
            <p:spPr>
              <a:xfrm>
                <a:off x="560111" y="238429"/>
                <a:ext cx="9811557" cy="980771"/>
              </a:xfrm>
            </p:spPr>
            <p:txBody>
              <a:bodyPr/>
              <a:lstStyle/>
              <a:p>
                <a14:m>
                  <m:oMath xmlns:m="http://schemas.openxmlformats.org/officeDocument/2006/math">
                    <m:r>
                      <a:rPr lang="en-US" i="1" dirty="0" smtClean="0">
                        <a:latin typeface="Cambria Math" charset="0"/>
                        <a:cs typeface="Times"/>
                      </a:rPr>
                      <m:t>𝛼</m:t>
                    </m:r>
                  </m:oMath>
                </a14:m>
                <a:r>
                  <a:rPr lang="en-US" i="1" dirty="0" err="1">
                    <a:latin typeface="Corbel" panose="020B0503020204020204" pitchFamily="34" charset="0"/>
                    <a:cs typeface="Times"/>
                  </a:rPr>
                  <a:t>-</a:t>
                </a:r>
                <a14:m>
                  <m:oMath xmlns:m="http://schemas.openxmlformats.org/officeDocument/2006/math">
                    <m:r>
                      <a:rPr lang="en-US" i="1" dirty="0" smtClean="0">
                        <a:latin typeface="Cambria Math" charset="0"/>
                        <a:cs typeface="Times"/>
                      </a:rPr>
                      <m:t>𝛽</m:t>
                    </m:r>
                  </m:oMath>
                </a14:m>
                <a:r>
                  <a:rPr lang="en-US" i="1" dirty="0">
                    <a:latin typeface="Corbel" panose="020B0503020204020204" pitchFamily="34" charset="0"/>
                    <a:cs typeface="Times"/>
                  </a:rPr>
                  <a:t> </a:t>
                </a:r>
                <a:r>
                  <a:rPr lang="en-US" dirty="0"/>
                  <a:t>Pruning</a:t>
                </a:r>
              </a:p>
            </p:txBody>
          </p:sp>
        </mc:Choice>
        <mc:Fallback xmlns="">
          <p:sp>
            <p:nvSpPr>
              <p:cNvPr id="342018" name="Rectangle 2"/>
              <p:cNvSpPr>
                <a:spLocks noGrp="1" noRot="1" noChangeAspect="1" noMove="1" noResize="1" noEditPoints="1" noAdjustHandles="1" noChangeArrowheads="1" noChangeShapeType="1" noTextEdit="1"/>
              </p:cNvSpPr>
              <p:nvPr>
                <p:ph type="title"/>
              </p:nvPr>
            </p:nvSpPr>
            <p:spPr>
              <a:xfrm>
                <a:off x="560111" y="238429"/>
                <a:ext cx="9811557" cy="980771"/>
              </a:xfrm>
              <a:blipFill>
                <a:blip r:embed="rId2"/>
                <a:stretch>
                  <a:fillRect l="-388" t="-11538" b="-38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2019" name="Rectangle 3"/>
              <p:cNvSpPr>
                <a:spLocks noGrp="1" noChangeArrowheads="1"/>
              </p:cNvSpPr>
              <p:nvPr>
                <p:ph idx="1"/>
              </p:nvPr>
            </p:nvSpPr>
            <p:spPr>
              <a:xfrm>
                <a:off x="399245" y="1066802"/>
                <a:ext cx="9811557" cy="5257799"/>
              </a:xfrm>
            </p:spPr>
            <p:txBody>
              <a:bodyPr>
                <a:normAutofit/>
              </a:bodyPr>
              <a:lstStyle/>
              <a:p>
                <a:r>
                  <a:rPr lang="en-US" altLang="en-US" sz="3200" b="1" dirty="0"/>
                  <a:t>Basic idea:</a:t>
                </a:r>
                <a:r>
                  <a:rPr lang="en-US" altLang="en-US" sz="3200" dirty="0"/>
                  <a:t> </a:t>
                </a:r>
                <a:r>
                  <a:rPr lang="en-US" altLang="en-US" sz="3200" i="1" dirty="0"/>
                  <a:t>“If you have an idea that is surely bad, don't take the time to see how truly awful it is.”</a:t>
                </a:r>
                <a:r>
                  <a:rPr lang="en-US" altLang="en-US" sz="3200" dirty="0"/>
                  <a:t> -- Pat Winston </a:t>
                </a:r>
                <a:endParaRPr lang="en-US" sz="3200" dirty="0">
                  <a:latin typeface="Corbel" panose="020B0503020204020204" pitchFamily="34" charset="0"/>
                  <a:cs typeface="Times"/>
                </a:endParaRPr>
              </a:p>
              <a:p>
                <a:r>
                  <a:rPr lang="en-US" sz="3200" dirty="0">
                    <a:latin typeface="Corbel" panose="020B0503020204020204" pitchFamily="34" charset="0"/>
                    <a:cs typeface="Times"/>
                  </a:rPr>
                  <a:t>Maintain a </a:t>
                </a:r>
                <a:r>
                  <a:rPr lang="en-US" sz="3200" b="1" dirty="0">
                    <a:latin typeface="Corbel" panose="020B0503020204020204" pitchFamily="34" charset="0"/>
                    <a:cs typeface="Times"/>
                  </a:rPr>
                  <a:t>lower bound </a:t>
                </a:r>
                <a14:m>
                  <m:oMath xmlns:m="http://schemas.openxmlformats.org/officeDocument/2006/math">
                    <m:r>
                      <a:rPr lang="en-US" sz="3200" b="1" i="1" dirty="0">
                        <a:latin typeface="Cambria Math" charset="0"/>
                        <a:cs typeface="Times"/>
                      </a:rPr>
                      <m:t>𝜶</m:t>
                    </m:r>
                  </m:oMath>
                </a14:m>
                <a:r>
                  <a:rPr lang="en-US" sz="3200" dirty="0">
                    <a:latin typeface="Corbel" panose="020B0503020204020204" pitchFamily="34" charset="0"/>
                    <a:cs typeface="Times"/>
                  </a:rPr>
                  <a:t> and </a:t>
                </a:r>
                <a:r>
                  <a:rPr lang="en-US" sz="3200" b="1" dirty="0">
                    <a:latin typeface="Corbel" panose="020B0503020204020204" pitchFamily="34" charset="0"/>
                    <a:cs typeface="Times"/>
                  </a:rPr>
                  <a:t>upper bound </a:t>
                </a:r>
                <a14:m>
                  <m:oMath xmlns:m="http://schemas.openxmlformats.org/officeDocument/2006/math">
                    <m:r>
                      <a:rPr lang="en-US" sz="3200" b="1" i="1" dirty="0">
                        <a:latin typeface="Cambria Math" charset="0"/>
                        <a:cs typeface="Times"/>
                      </a:rPr>
                      <m:t>𝜷</m:t>
                    </m:r>
                  </m:oMath>
                </a14:m>
                <a:r>
                  <a:rPr lang="en-US" sz="3200" dirty="0">
                    <a:latin typeface="Corbel" panose="020B0503020204020204" pitchFamily="34" charset="0"/>
                    <a:cs typeface="Times"/>
                  </a:rPr>
                  <a:t> of the values of, respectively, MAX’s and MIN’s nodes seen thus far. </a:t>
                </a:r>
              </a:p>
              <a:p>
                <a:r>
                  <a:rPr lang="en-US" sz="3200" dirty="0">
                    <a:latin typeface="Corbel" panose="020B0503020204020204" pitchFamily="34" charset="0"/>
                    <a:cs typeface="Times"/>
                  </a:rPr>
                  <a:t>Prune subtrees that will never affect minimax decision.</a:t>
                </a:r>
              </a:p>
            </p:txBody>
          </p:sp>
        </mc:Choice>
        <mc:Fallback xmlns="">
          <p:sp>
            <p:nvSpPr>
              <p:cNvPr id="342019" name="Rectangle 3"/>
              <p:cNvSpPr>
                <a:spLocks noGrp="1" noRot="1" noChangeAspect="1" noMove="1" noResize="1" noEditPoints="1" noAdjustHandles="1" noChangeArrowheads="1" noChangeShapeType="1" noTextEdit="1"/>
              </p:cNvSpPr>
              <p:nvPr>
                <p:ph idx="1"/>
              </p:nvPr>
            </p:nvSpPr>
            <p:spPr>
              <a:xfrm>
                <a:off x="399245" y="1066802"/>
                <a:ext cx="9811557" cy="5257799"/>
              </a:xfrm>
              <a:blipFill>
                <a:blip r:embed="rId3"/>
                <a:stretch>
                  <a:fillRect l="-646" t="-1687" r="-904"/>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a:latin typeface="+mj-lt"/>
              </a:rPr>
              <a:t>MAX</a:t>
            </a:r>
            <a:endParaRPr lang="en-US" b="0" dirty="0">
              <a:latin typeface="+mj-lt"/>
            </a:endParaRP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3" name="Freeform 32"/>
              <p:cNvSpPr/>
              <p:nvPr/>
            </p:nvSpPr>
            <p:spPr>
              <a:xfrm>
                <a:off x="7430732" y="129698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3" name="Freeform 32"/>
              <p:cNvSpPr>
                <a:spLocks noRot="1" noChangeAspect="1" noMove="1" noResize="1" noEditPoints="1" noAdjustHandles="1" noChangeArrowheads="1" noChangeShapeType="1" noTextEdit="1"/>
              </p:cNvSpPr>
              <p:nvPr/>
            </p:nvSpPr>
            <p:spPr>
              <a:xfrm>
                <a:off x="7430732" y="129698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Freeform 33"/>
              <p:cNvSpPr/>
              <p:nvPr/>
            </p:nvSpPr>
            <p:spPr>
              <a:xfrm>
                <a:off x="7429252" y="183158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4" name="Freeform 33"/>
              <p:cNvSpPr>
                <a:spLocks noRot="1" noChangeAspect="1" noMove="1" noResize="1" noEditPoints="1" noAdjustHandles="1" noChangeArrowheads="1" noChangeShapeType="1" noTextEdit="1"/>
              </p:cNvSpPr>
              <p:nvPr/>
            </p:nvSpPr>
            <p:spPr>
              <a:xfrm>
                <a:off x="7429252" y="183158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Freeform 34"/>
              <p:cNvSpPr/>
              <p:nvPr/>
            </p:nvSpPr>
            <p:spPr>
              <a:xfrm>
                <a:off x="7429252" y="236402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5" name="Freeform 34"/>
              <p:cNvSpPr>
                <a:spLocks noRot="1" noChangeAspect="1" noMove="1" noResize="1" noEditPoints="1" noAdjustHandles="1" noChangeArrowheads="1" noChangeShapeType="1" noTextEdit="1"/>
              </p:cNvSpPr>
              <p:nvPr/>
            </p:nvSpPr>
            <p:spPr>
              <a:xfrm>
                <a:off x="7429252" y="236402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Freeform 35"/>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6" name="Freeform 35"/>
              <p:cNvSpPr>
                <a:spLocks noRot="1" noChangeAspect="1" noMove="1" noResize="1" noEditPoints="1" noAdjustHandles="1" noChangeArrowheads="1" noChangeShapeType="1" noTextEdit="1"/>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Freeform 36"/>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7" name="Freeform 36"/>
              <p:cNvSpPr>
                <a:spLocks noRot="1" noChangeAspect="1" noMove="1" noResize="1" noEditPoints="1" noAdjustHandles="1" noChangeArrowheads="1" noChangeShapeType="1" noTextEdit="1"/>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Freeform 37"/>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8" name="Freeform 37"/>
              <p:cNvSpPr>
                <a:spLocks noRot="1" noChangeAspect="1" noMove="1" noResize="1" noEditPoints="1" noAdjustHandles="1" noChangeArrowheads="1" noChangeShapeType="1" noTextEdit="1"/>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2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1361730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a:latin typeface="+mj-lt"/>
              </a:rPr>
              <a:t>MAX</a:t>
            </a:r>
            <a:endParaRPr lang="en-US" b="0" dirty="0">
              <a:latin typeface="+mj-lt"/>
            </a:endParaRP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4" name="Freeform 33"/>
              <p:cNvSpPr/>
              <p:nvPr/>
            </p:nvSpPr>
            <p:spPr>
              <a:xfrm>
                <a:off x="7429252" y="183158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4" name="Freeform 33"/>
              <p:cNvSpPr>
                <a:spLocks noRot="1" noChangeAspect="1" noMove="1" noResize="1" noEditPoints="1" noAdjustHandles="1" noChangeArrowheads="1" noChangeShapeType="1" noTextEdit="1"/>
              </p:cNvSpPr>
              <p:nvPr/>
            </p:nvSpPr>
            <p:spPr>
              <a:xfrm>
                <a:off x="7429252" y="183158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Freeform 34"/>
              <p:cNvSpPr/>
              <p:nvPr/>
            </p:nvSpPr>
            <p:spPr>
              <a:xfrm>
                <a:off x="7429252" y="236402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5" name="Freeform 34"/>
              <p:cNvSpPr>
                <a:spLocks noRot="1" noChangeAspect="1" noMove="1" noResize="1" noEditPoints="1" noAdjustHandles="1" noChangeArrowheads="1" noChangeShapeType="1" noTextEdit="1"/>
              </p:cNvSpPr>
              <p:nvPr/>
            </p:nvSpPr>
            <p:spPr>
              <a:xfrm>
                <a:off x="7429252" y="236402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Freeform 35"/>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6" name="Freeform 35"/>
              <p:cNvSpPr>
                <a:spLocks noRot="1" noChangeAspect="1" noMove="1" noResize="1" noEditPoints="1" noAdjustHandles="1" noChangeArrowheads="1" noChangeShapeType="1" noTextEdit="1"/>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Freeform 36"/>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7" name="Freeform 36"/>
              <p:cNvSpPr>
                <a:spLocks noRot="1" noChangeAspect="1" noMove="1" noResize="1" noEditPoints="1" noAdjustHandles="1" noChangeArrowheads="1" noChangeShapeType="1" noTextEdit="1"/>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Freeform 37"/>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8" name="Freeform 37"/>
              <p:cNvSpPr>
                <a:spLocks noRot="1" noChangeAspect="1" noMove="1" noResize="1" noEditPoints="1" noAdjustHandles="1" noChangeArrowheads="1" noChangeShapeType="1" noTextEdit="1"/>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33399" y="1279136"/>
                <a:ext cx="11439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1</m:t>
                      </m:r>
                    </m:oMath>
                  </m:oMathPara>
                </a14:m>
                <a:endParaRPr lang="en-US" b="0" dirty="0"/>
              </a:p>
            </p:txBody>
          </p:sp>
        </mc:Choice>
        <mc:Fallback xmlns="">
          <p:sp>
            <p:nvSpPr>
              <p:cNvPr id="5" name="TextBox 4"/>
              <p:cNvSpPr txBox="1">
                <a:spLocks noRot="1" noChangeAspect="1" noMove="1" noResize="1" noEditPoints="1" noAdjustHandles="1" noChangeArrowheads="1" noChangeShapeType="1" noTextEdit="1"/>
              </p:cNvSpPr>
              <p:nvPr/>
            </p:nvSpPr>
            <p:spPr>
              <a:xfrm>
                <a:off x="4833399" y="1279136"/>
                <a:ext cx="1143987" cy="369332"/>
              </a:xfrm>
              <a:prstGeom prst="rect">
                <a:avLst/>
              </a:prstGeom>
              <a:blipFill>
                <a:blip r:embed="rId20"/>
                <a:stretch>
                  <a:fillRect b="-16667"/>
                </a:stretch>
              </a:blipFill>
            </p:spPr>
            <p:txBody>
              <a:bodyPr/>
              <a:lstStyle/>
              <a:p>
                <a:r>
                  <a:rPr lang="en-GB">
                    <a:noFill/>
                  </a:rPr>
                  <a:t> </a:t>
                </a:r>
              </a:p>
            </p:txBody>
          </p:sp>
        </mc:Fallback>
      </mc:AlternateContent>
    </p:spTree>
    <p:extLst>
      <p:ext uri="{BB962C8B-B14F-4D97-AF65-F5344CB8AC3E}">
        <p14:creationId xmlns:p14="http://schemas.microsoft.com/office/powerpoint/2010/main" val="9625890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dirty="0">
                <a:latin typeface="+mj-lt"/>
              </a:rPr>
              <a:t>MAX</a:t>
            </a: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5" name="Freeform 34"/>
              <p:cNvSpPr/>
              <p:nvPr/>
            </p:nvSpPr>
            <p:spPr>
              <a:xfrm>
                <a:off x="7429252" y="236402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5" name="Freeform 34"/>
              <p:cNvSpPr>
                <a:spLocks noRot="1" noChangeAspect="1" noMove="1" noResize="1" noEditPoints="1" noAdjustHandles="1" noChangeArrowheads="1" noChangeShapeType="1" noTextEdit="1"/>
              </p:cNvSpPr>
              <p:nvPr/>
            </p:nvSpPr>
            <p:spPr>
              <a:xfrm>
                <a:off x="7429252" y="236402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Freeform 35"/>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6" name="Freeform 35"/>
              <p:cNvSpPr>
                <a:spLocks noRot="1" noChangeAspect="1" noMove="1" noResize="1" noEditPoints="1" noAdjustHandles="1" noChangeArrowheads="1" noChangeShapeType="1" noTextEdit="1"/>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Freeform 36"/>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7" name="Freeform 36"/>
              <p:cNvSpPr>
                <a:spLocks noRot="1" noChangeAspect="1" noMove="1" noResize="1" noEditPoints="1" noAdjustHandles="1" noChangeArrowheads="1" noChangeShapeType="1" noTextEdit="1"/>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Freeform 37"/>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8" name="Freeform 37"/>
              <p:cNvSpPr>
                <a:spLocks noRot="1" noChangeAspect="1" noMove="1" noResize="1" noEditPoints="1" noAdjustHandles="1" noChangeArrowheads="1" noChangeShapeType="1" noTextEdit="1"/>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33399" y="1279136"/>
                <a:ext cx="11439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1</m:t>
                      </m:r>
                    </m:oMath>
                  </m:oMathPara>
                </a14:m>
                <a:endParaRPr lang="en-US" b="0" dirty="0"/>
              </a:p>
            </p:txBody>
          </p:sp>
        </mc:Choice>
        <mc:Fallback xmlns="">
          <p:sp>
            <p:nvSpPr>
              <p:cNvPr id="5" name="TextBox 4"/>
              <p:cNvSpPr txBox="1">
                <a:spLocks noRot="1" noChangeAspect="1" noMove="1" noResize="1" noEditPoints="1" noAdjustHandles="1" noChangeArrowheads="1" noChangeShapeType="1" noTextEdit="1"/>
              </p:cNvSpPr>
              <p:nvPr/>
            </p:nvSpPr>
            <p:spPr>
              <a:xfrm>
                <a:off x="4833399" y="1279136"/>
                <a:ext cx="1143987" cy="369332"/>
              </a:xfrm>
              <a:prstGeom prst="rect">
                <a:avLst/>
              </a:prstGeom>
              <a:blipFill>
                <a:blip r:embed="rId19"/>
                <a:stretch>
                  <a:fillRect b="-16667"/>
                </a:stretch>
              </a:blipFill>
            </p:spPr>
            <p:txBody>
              <a:bodyPr/>
              <a:lstStyle/>
              <a:p>
                <a:r>
                  <a:rPr lang="en-GB">
                    <a:noFill/>
                  </a:rPr>
                  <a:t> </a:t>
                </a:r>
              </a:p>
            </p:txBody>
          </p:sp>
        </mc:Fallback>
      </mc:AlternateContent>
    </p:spTree>
    <p:extLst>
      <p:ext uri="{BB962C8B-B14F-4D97-AF65-F5344CB8AC3E}">
        <p14:creationId xmlns:p14="http://schemas.microsoft.com/office/powerpoint/2010/main" val="187248050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a:latin typeface="+mj-lt"/>
              </a:rPr>
              <a:t>MAX</a:t>
            </a:r>
            <a:endParaRPr lang="en-US" b="0" dirty="0">
              <a:latin typeface="+mj-lt"/>
            </a:endParaRP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6" name="Freeform 35"/>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6" name="Freeform 35"/>
              <p:cNvSpPr>
                <a:spLocks noRot="1" noChangeAspect="1" noMove="1" noResize="1" noEditPoints="1" noAdjustHandles="1" noChangeArrowheads="1" noChangeShapeType="1" noTextEdit="1"/>
              </p:cNvSpPr>
              <p:nvPr/>
            </p:nvSpPr>
            <p:spPr>
              <a:xfrm>
                <a:off x="7429252" y="289646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Freeform 36"/>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7" name="Freeform 36"/>
              <p:cNvSpPr>
                <a:spLocks noRot="1" noChangeAspect="1" noMove="1" noResize="1" noEditPoints="1" noAdjustHandles="1" noChangeArrowheads="1" noChangeShapeType="1" noTextEdit="1"/>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Freeform 37"/>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8" name="Freeform 37"/>
              <p:cNvSpPr>
                <a:spLocks noRot="1" noChangeAspect="1" noMove="1" noResize="1" noEditPoints="1" noAdjustHandles="1" noChangeArrowheads="1" noChangeShapeType="1" noTextEdit="1"/>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33401" y="1279136"/>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−3</m:t>
                      </m:r>
                    </m:oMath>
                  </m:oMathPara>
                </a14:m>
                <a:endParaRPr lang="en-US" b="0" dirty="0"/>
              </a:p>
            </p:txBody>
          </p:sp>
        </mc:Choice>
        <mc:Fallback xmlns="">
          <p:sp>
            <p:nvSpPr>
              <p:cNvPr id="5" name="TextBox 4"/>
              <p:cNvSpPr txBox="1">
                <a:spLocks noRot="1" noChangeAspect="1" noMove="1" noResize="1" noEditPoints="1" noAdjustHandles="1" noChangeArrowheads="1" noChangeShapeType="1" noTextEdit="1"/>
              </p:cNvSpPr>
              <p:nvPr/>
            </p:nvSpPr>
            <p:spPr>
              <a:xfrm>
                <a:off x="4833401" y="1279136"/>
                <a:ext cx="1338801" cy="369332"/>
              </a:xfrm>
              <a:prstGeom prst="rect">
                <a:avLst/>
              </a:prstGeom>
              <a:blipFill>
                <a:blip r:embed="rId18"/>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689196" y="2626827"/>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𝛼</m:t>
                      </m:r>
                      <m:r>
                        <a:rPr lang="en-US" b="0" i="1" smtClean="0">
                          <a:latin typeface="Cambria Math" panose="02040503050406030204" pitchFamily="18" charset="0"/>
                        </a:rPr>
                        <m:t>=</m:t>
                      </m:r>
                      <m:r>
                        <a:rPr lang="en-US" b="0" i="1" smtClean="0">
                          <a:latin typeface="Cambria Math" charset="0"/>
                        </a:rPr>
                        <m:t>−3</m:t>
                      </m:r>
                    </m:oMath>
                  </m:oMathPara>
                </a14:m>
                <a:endParaRPr lang="en-US" b="0" dirty="0"/>
              </a:p>
            </p:txBody>
          </p:sp>
        </mc:Choice>
        <mc:Fallback xmlns="">
          <p:sp>
            <p:nvSpPr>
              <p:cNvPr id="34" name="TextBox 33"/>
              <p:cNvSpPr txBox="1">
                <a:spLocks noRot="1" noChangeAspect="1" noMove="1" noResize="1" noEditPoints="1" noAdjustHandles="1" noChangeArrowheads="1" noChangeShapeType="1" noTextEdit="1"/>
              </p:cNvSpPr>
              <p:nvPr/>
            </p:nvSpPr>
            <p:spPr>
              <a:xfrm>
                <a:off x="2689196" y="2626827"/>
                <a:ext cx="1338801" cy="369332"/>
              </a:xfrm>
              <a:prstGeom prst="rect">
                <a:avLst/>
              </a:prstGeom>
              <a:blipFill>
                <a:blip r:embed="rId19"/>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55700441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a:latin typeface="+mj-lt"/>
              </a:rPr>
              <a:t>MAX</a:t>
            </a:r>
            <a:endParaRPr lang="en-US" b="0" dirty="0">
              <a:latin typeface="+mj-lt"/>
            </a:endParaRP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7" name="Freeform 36"/>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7" name="Freeform 36"/>
              <p:cNvSpPr>
                <a:spLocks noRot="1" noChangeAspect="1" noMove="1" noResize="1" noEditPoints="1" noAdjustHandles="1" noChangeArrowheads="1" noChangeShapeType="1" noTextEdit="1"/>
              </p:cNvSpPr>
              <p:nvPr/>
            </p:nvSpPr>
            <p:spPr>
              <a:xfrm>
                <a:off x="7429252" y="342891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Freeform 37"/>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8" name="Freeform 37"/>
              <p:cNvSpPr>
                <a:spLocks noRot="1" noChangeAspect="1" noMove="1" noResize="1" noEditPoints="1" noAdjustHandles="1" noChangeArrowheads="1" noChangeShapeType="1" noTextEdit="1"/>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33401" y="1279136"/>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−3</m:t>
                      </m:r>
                    </m:oMath>
                  </m:oMathPara>
                </a14:m>
                <a:endParaRPr lang="en-US" b="0" dirty="0"/>
              </a:p>
            </p:txBody>
          </p:sp>
        </mc:Choice>
        <mc:Fallback xmlns="">
          <p:sp>
            <p:nvSpPr>
              <p:cNvPr id="5" name="TextBox 4"/>
              <p:cNvSpPr txBox="1">
                <a:spLocks noRot="1" noChangeAspect="1" noMove="1" noResize="1" noEditPoints="1" noAdjustHandles="1" noChangeArrowheads="1" noChangeShapeType="1" noTextEdit="1"/>
              </p:cNvSpPr>
              <p:nvPr/>
            </p:nvSpPr>
            <p:spPr>
              <a:xfrm>
                <a:off x="4833401" y="1279136"/>
                <a:ext cx="1338801" cy="369332"/>
              </a:xfrm>
              <a:prstGeom prst="rect">
                <a:avLst/>
              </a:prstGeom>
              <a:blipFill>
                <a:blip r:embed="rId18"/>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689196" y="2626827"/>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𝛼</m:t>
                      </m:r>
                      <m:r>
                        <a:rPr lang="en-US" b="0" i="1" smtClean="0">
                          <a:latin typeface="Cambria Math" panose="02040503050406030204" pitchFamily="18" charset="0"/>
                        </a:rPr>
                        <m:t>=</m:t>
                      </m:r>
                      <m:r>
                        <a:rPr lang="en-US" b="0" i="1" smtClean="0">
                          <a:latin typeface="Cambria Math" charset="0"/>
                        </a:rPr>
                        <m:t>−3</m:t>
                      </m:r>
                    </m:oMath>
                  </m:oMathPara>
                </a14:m>
                <a:endParaRPr lang="en-US" b="0" dirty="0"/>
              </a:p>
            </p:txBody>
          </p:sp>
        </mc:Choice>
        <mc:Fallback xmlns="">
          <p:sp>
            <p:nvSpPr>
              <p:cNvPr id="34" name="TextBox 33"/>
              <p:cNvSpPr txBox="1">
                <a:spLocks noRot="1" noChangeAspect="1" noMove="1" noResize="1" noEditPoints="1" noAdjustHandles="1" noChangeArrowheads="1" noChangeShapeType="1" noTextEdit="1"/>
              </p:cNvSpPr>
              <p:nvPr/>
            </p:nvSpPr>
            <p:spPr>
              <a:xfrm>
                <a:off x="2689196" y="2626827"/>
                <a:ext cx="1338801" cy="369332"/>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4689696" y="2676703"/>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4</m:t>
                      </m:r>
                    </m:oMath>
                  </m:oMathPara>
                </a14:m>
                <a:endParaRPr lang="en-US" b="0" dirty="0"/>
              </a:p>
            </p:txBody>
          </p:sp>
        </mc:Choice>
        <mc:Fallback xmlns="">
          <p:sp>
            <p:nvSpPr>
              <p:cNvPr id="35" name="TextBox 34"/>
              <p:cNvSpPr txBox="1">
                <a:spLocks noRot="1" noChangeAspect="1" noMove="1" noResize="1" noEditPoints="1" noAdjustHandles="1" noChangeArrowheads="1" noChangeShapeType="1" noTextEdit="1"/>
              </p:cNvSpPr>
              <p:nvPr/>
            </p:nvSpPr>
            <p:spPr>
              <a:xfrm>
                <a:off x="4689696" y="2676703"/>
                <a:ext cx="1338801" cy="369332"/>
              </a:xfrm>
              <a:prstGeom prst="rect">
                <a:avLst/>
              </a:prstGeom>
              <a:blipFill>
                <a:blip r:embed="rId20"/>
                <a:stretch>
                  <a:fillRect b="-16129"/>
                </a:stretch>
              </a:blipFill>
            </p:spPr>
            <p:txBody>
              <a:bodyPr/>
              <a:lstStyle/>
              <a:p>
                <a:r>
                  <a:rPr lang="en-GB">
                    <a:noFill/>
                  </a:rPr>
                  <a:t> </a:t>
                </a:r>
              </a:p>
            </p:txBody>
          </p:sp>
        </mc:Fallback>
      </mc:AlternateContent>
    </p:spTree>
    <p:extLst>
      <p:ext uri="{BB962C8B-B14F-4D97-AF65-F5344CB8AC3E}">
        <p14:creationId xmlns:p14="http://schemas.microsoft.com/office/powerpoint/2010/main" val="19878655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a:latin typeface="+mj-lt"/>
              </a:rPr>
              <a:t>MAX</a:t>
            </a:r>
            <a:endParaRPr lang="en-US" b="0" dirty="0">
              <a:latin typeface="+mj-lt"/>
            </a:endParaRP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8" name="Freeform 37"/>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8" name="Freeform 37"/>
              <p:cNvSpPr>
                <a:spLocks noRot="1" noChangeAspect="1" noMove="1" noResize="1" noEditPoints="1" noAdjustHandles="1" noChangeArrowheads="1" noChangeShapeType="1" noTextEdit="1"/>
              </p:cNvSpPr>
              <p:nvPr/>
            </p:nvSpPr>
            <p:spPr>
              <a:xfrm>
                <a:off x="7429252" y="396135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33401" y="1279136"/>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−3</m:t>
                      </m:r>
                    </m:oMath>
                  </m:oMathPara>
                </a14:m>
                <a:endParaRPr lang="en-US" b="0" dirty="0"/>
              </a:p>
            </p:txBody>
          </p:sp>
        </mc:Choice>
        <mc:Fallback xmlns="">
          <p:sp>
            <p:nvSpPr>
              <p:cNvPr id="5" name="TextBox 4"/>
              <p:cNvSpPr txBox="1">
                <a:spLocks noRot="1" noChangeAspect="1" noMove="1" noResize="1" noEditPoints="1" noAdjustHandles="1" noChangeArrowheads="1" noChangeShapeType="1" noTextEdit="1"/>
              </p:cNvSpPr>
              <p:nvPr/>
            </p:nvSpPr>
            <p:spPr>
              <a:xfrm>
                <a:off x="4833401" y="1279136"/>
                <a:ext cx="1338801" cy="369332"/>
              </a:xfrm>
              <a:prstGeom prst="rect">
                <a:avLst/>
              </a:prstGeom>
              <a:blipFill>
                <a:blip r:embed="rId18"/>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689196" y="2626827"/>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𝛼</m:t>
                      </m:r>
                      <m:r>
                        <a:rPr lang="en-US" b="0" i="1" smtClean="0">
                          <a:latin typeface="Cambria Math" panose="02040503050406030204" pitchFamily="18" charset="0"/>
                        </a:rPr>
                        <m:t>=</m:t>
                      </m:r>
                      <m:r>
                        <a:rPr lang="en-US" b="0" i="1" smtClean="0">
                          <a:latin typeface="Cambria Math" charset="0"/>
                        </a:rPr>
                        <m:t>−2</m:t>
                      </m:r>
                    </m:oMath>
                  </m:oMathPara>
                </a14:m>
                <a:endParaRPr lang="en-US" b="0" dirty="0"/>
              </a:p>
            </p:txBody>
          </p:sp>
        </mc:Choice>
        <mc:Fallback xmlns="">
          <p:sp>
            <p:nvSpPr>
              <p:cNvPr id="34" name="TextBox 33"/>
              <p:cNvSpPr txBox="1">
                <a:spLocks noRot="1" noChangeAspect="1" noMove="1" noResize="1" noEditPoints="1" noAdjustHandles="1" noChangeArrowheads="1" noChangeShapeType="1" noTextEdit="1"/>
              </p:cNvSpPr>
              <p:nvPr/>
            </p:nvSpPr>
            <p:spPr>
              <a:xfrm>
                <a:off x="2689196" y="2626827"/>
                <a:ext cx="1338801" cy="369332"/>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4689696" y="2676703"/>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−2</m:t>
                      </m:r>
                    </m:oMath>
                  </m:oMathPara>
                </a14:m>
                <a:endParaRPr lang="en-US" b="0" dirty="0"/>
              </a:p>
            </p:txBody>
          </p:sp>
        </mc:Choice>
        <mc:Fallback xmlns="">
          <p:sp>
            <p:nvSpPr>
              <p:cNvPr id="35" name="TextBox 34"/>
              <p:cNvSpPr txBox="1">
                <a:spLocks noRot="1" noChangeAspect="1" noMove="1" noResize="1" noEditPoints="1" noAdjustHandles="1" noChangeArrowheads="1" noChangeShapeType="1" noTextEdit="1"/>
              </p:cNvSpPr>
              <p:nvPr/>
            </p:nvSpPr>
            <p:spPr>
              <a:xfrm>
                <a:off x="4689696" y="2676703"/>
                <a:ext cx="1338801" cy="369332"/>
              </a:xfrm>
              <a:prstGeom prst="rect">
                <a:avLst/>
              </a:prstGeom>
              <a:blipFill>
                <a:blip r:embed="rId20"/>
                <a:stretch>
                  <a:fillRect b="-16129"/>
                </a:stretch>
              </a:blipFill>
            </p:spPr>
            <p:txBody>
              <a:bodyPr/>
              <a:lstStyle/>
              <a:p>
                <a:r>
                  <a:rPr lang="en-GB">
                    <a:noFill/>
                  </a:rPr>
                  <a:t> </a:t>
                </a:r>
              </a:p>
            </p:txBody>
          </p:sp>
        </mc:Fallback>
      </mc:AlternateContent>
    </p:spTree>
    <p:extLst>
      <p:ext uri="{BB962C8B-B14F-4D97-AF65-F5344CB8AC3E}">
        <p14:creationId xmlns:p14="http://schemas.microsoft.com/office/powerpoint/2010/main" val="16672023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Freeform 3"/>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0</m:t>
                          </m:r>
                        </m:sub>
                      </m:sSub>
                    </m:oMath>
                  </m:oMathPara>
                </a14:m>
                <a:endParaRPr lang="en-US" sz="2000" dirty="0"/>
              </a:p>
            </p:txBody>
          </p:sp>
        </mc:Choice>
        <mc:Fallback xmlns="">
          <p:sp>
            <p:nvSpPr>
              <p:cNvPr id="4" name="Freeform 3"/>
              <p:cNvSpPr>
                <a:spLocks noRot="1" noChangeAspect="1" noMove="1" noResize="1" noEditPoints="1" noAdjustHandles="1" noChangeArrowheads="1" noChangeShapeType="1" noTextEdit="1"/>
              </p:cNvSpPr>
              <p:nvPr/>
            </p:nvSpPr>
            <p:spPr>
              <a:xfrm>
                <a:off x="2895602"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Freeform 5"/>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1</m:t>
                          </m:r>
                        </m:sub>
                      </m:sSub>
                    </m:oMath>
                  </m:oMathPara>
                </a14:m>
                <a:endParaRPr lang="en-US" sz="2000"/>
              </a:p>
            </p:txBody>
          </p:sp>
        </mc:Choice>
        <mc:Fallback xmlns="">
          <p:sp>
            <p:nvSpPr>
              <p:cNvPr id="6" name="Freeform 5"/>
              <p:cNvSpPr>
                <a:spLocks noRot="1" noChangeAspect="1" noMove="1" noResize="1" noEditPoints="1" noAdjustHandles="1" noChangeArrowheads="1" noChangeShapeType="1" noTextEdit="1"/>
              </p:cNvSpPr>
              <p:nvPr/>
            </p:nvSpPr>
            <p:spPr>
              <a:xfrm>
                <a:off x="4942399" y="1828740"/>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Freeform 7"/>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8" name="Freeform 7"/>
              <p:cNvSpPr>
                <a:spLocks noRot="1" noChangeAspect="1" noMove="1" noResize="1" noEditPoints="1" noAdjustHandles="1" noChangeArrowheads="1" noChangeShapeType="1" noTextEdit="1"/>
              </p:cNvSpPr>
              <p:nvPr/>
            </p:nvSpPr>
            <p:spPr>
              <a:xfrm>
                <a:off x="7429252" y="1296296"/>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reeform 9"/>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0" name="Freeform 9"/>
              <p:cNvSpPr>
                <a:spLocks noRot="1" noChangeAspect="1" noMove="1" noResize="1" noEditPoints="1" noAdjustHandles="1" noChangeArrowheads="1" noChangeShapeType="1" noTextEdit="1"/>
              </p:cNvSpPr>
              <p:nvPr/>
            </p:nvSpPr>
            <p:spPr>
              <a:xfrm>
                <a:off x="7429252" y="1828740"/>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Freeform 1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−3</m:t>
                      </m:r>
                    </m:oMath>
                  </m:oMathPara>
                </a14:m>
                <a:endParaRPr lang="en-US" sz="2000" dirty="0"/>
              </a:p>
            </p:txBody>
          </p:sp>
        </mc:Choice>
        <mc:Fallback xmlns="">
          <p:sp>
            <p:nvSpPr>
              <p:cNvPr id="12" name="Freeform 11"/>
              <p:cNvSpPr>
                <a:spLocks noRot="1" noChangeAspect="1" noMove="1" noResize="1" noEditPoints="1" noAdjustHandles="1" noChangeArrowheads="1" noChangeShapeType="1" noTextEdit="1"/>
              </p:cNvSpPr>
              <p:nvPr/>
            </p:nvSpPr>
            <p:spPr>
              <a:xfrm>
                <a:off x="7429252" y="236118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Freeform 13"/>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2</m:t>
                          </m:r>
                        </m:sub>
                      </m:sSub>
                    </m:oMath>
                  </m:oMathPara>
                </a14:m>
                <a:endParaRPr lang="en-US" sz="2000"/>
              </a:p>
            </p:txBody>
          </p:sp>
        </mc:Choice>
        <mc:Fallback xmlns="">
          <p:sp>
            <p:nvSpPr>
              <p:cNvPr id="14" name="Freeform 13"/>
              <p:cNvSpPr>
                <a:spLocks noRot="1" noChangeAspect="1" noMove="1" noResize="1" noEditPoints="1" noAdjustHandles="1" noChangeArrowheads="1" noChangeShapeType="1" noTextEdit="1"/>
              </p:cNvSpPr>
              <p:nvPr/>
            </p:nvSpPr>
            <p:spPr>
              <a:xfrm>
                <a:off x="4942399" y="315985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Freeform 15"/>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4</m:t>
                      </m:r>
                    </m:oMath>
                  </m:oMathPara>
                </a14:m>
                <a:endParaRPr lang="en-US" sz="2000" dirty="0"/>
              </a:p>
            </p:txBody>
          </p:sp>
        </mc:Choice>
        <mc:Fallback xmlns="">
          <p:sp>
            <p:nvSpPr>
              <p:cNvPr id="16" name="Freeform 15"/>
              <p:cNvSpPr>
                <a:spLocks noRot="1" noChangeAspect="1" noMove="1" noResize="1" noEditPoints="1" noAdjustHandles="1" noChangeArrowheads="1" noChangeShapeType="1" noTextEdit="1"/>
              </p:cNvSpPr>
              <p:nvPr/>
            </p:nvSpPr>
            <p:spPr>
              <a:xfrm>
                <a:off x="7429252" y="2893629"/>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Freeform 18"/>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−2</m:t>
                      </m:r>
                    </m:oMath>
                  </m:oMathPara>
                </a14:m>
                <a:endParaRPr lang="en-US" sz="2000" dirty="0"/>
              </a:p>
            </p:txBody>
          </p:sp>
        </mc:Choice>
        <mc:Fallback xmlns="">
          <p:sp>
            <p:nvSpPr>
              <p:cNvPr id="19" name="Freeform 18"/>
              <p:cNvSpPr>
                <a:spLocks noRot="1" noChangeAspect="1" noMove="1" noResize="1" noEditPoints="1" noAdjustHandles="1" noChangeArrowheads="1" noChangeShapeType="1" noTextEdit="1"/>
              </p:cNvSpPr>
              <p:nvPr/>
            </p:nvSpPr>
            <p:spPr>
              <a:xfrm>
                <a:off x="7429252" y="3426073"/>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Freeform 20"/>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charset="0"/>
                            </a:rPr>
                            <m:t>𝑠</m:t>
                          </m:r>
                        </m:e>
                        <m:sub>
                          <m:r>
                            <a:rPr lang="en-US" sz="2000" i="1">
                              <a:latin typeface="Cambria Math" charset="0"/>
                            </a:rPr>
                            <m:t>3</m:t>
                          </m:r>
                        </m:sub>
                      </m:sSub>
                    </m:oMath>
                  </m:oMathPara>
                </a14:m>
                <a:endParaRPr lang="en-US" sz="2000"/>
              </a:p>
            </p:txBody>
          </p:sp>
        </mc:Choice>
        <mc:Fallback xmlns="">
          <p:sp>
            <p:nvSpPr>
              <p:cNvPr id="21" name="Freeform 20"/>
              <p:cNvSpPr>
                <a:spLocks noRot="1" noChangeAspect="1" noMove="1" noResize="1" noEditPoints="1" noAdjustHandles="1" noChangeArrowheads="1" noChangeShapeType="1" noTextEdit="1"/>
              </p:cNvSpPr>
              <p:nvPr/>
            </p:nvSpPr>
            <p:spPr>
              <a:xfrm>
                <a:off x="4942399" y="4490961"/>
                <a:ext cx="9259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reeform 22"/>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−7</m:t>
                      </m:r>
                    </m:oMath>
                  </m:oMathPara>
                </a14:m>
                <a:endParaRPr lang="en-US" sz="2000" dirty="0"/>
              </a:p>
            </p:txBody>
          </p:sp>
        </mc:Choice>
        <mc:Fallback xmlns="">
          <p:sp>
            <p:nvSpPr>
              <p:cNvPr id="23" name="Freeform 22"/>
              <p:cNvSpPr>
                <a:spLocks noRot="1" noChangeAspect="1" noMove="1" noResize="1" noEditPoints="1" noAdjustHandles="1" noChangeArrowheads="1" noChangeShapeType="1" noTextEdit="1"/>
              </p:cNvSpPr>
              <p:nvPr/>
            </p:nvSpPr>
            <p:spPr>
              <a:xfrm>
                <a:off x="7429252" y="3958517"/>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Freeform 24"/>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0</m:t>
                      </m:r>
                    </m:oMath>
                  </m:oMathPara>
                </a14:m>
                <a:endParaRPr lang="en-US" sz="2000" dirty="0"/>
              </a:p>
            </p:txBody>
          </p:sp>
        </mc:Choice>
        <mc:Fallback xmlns="">
          <p:sp>
            <p:nvSpPr>
              <p:cNvPr id="25" name="Freeform 24"/>
              <p:cNvSpPr>
                <a:spLocks noRot="1" noChangeAspect="1" noMove="1" noResize="1" noEditPoints="1" noAdjustHandles="1" noChangeArrowheads="1" noChangeShapeType="1" noTextEdit="1"/>
              </p:cNvSpPr>
              <p:nvPr/>
            </p:nvSpPr>
            <p:spPr>
              <a:xfrm>
                <a:off x="7429252" y="449096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Freeform 26"/>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1</m:t>
                      </m:r>
                    </m:oMath>
                  </m:oMathPara>
                </a14:m>
                <a:endParaRPr lang="en-US" sz="2000" dirty="0"/>
              </a:p>
            </p:txBody>
          </p:sp>
        </mc:Choice>
        <mc:Fallback xmlns="">
          <p:sp>
            <p:nvSpPr>
              <p:cNvPr id="27" name="Freeform 26"/>
              <p:cNvSpPr>
                <a:spLocks noRot="1" noChangeAspect="1" noMove="1" noResize="1" noEditPoints="1" noAdjustHandles="1" noChangeArrowheads="1" noChangeShapeType="1" noTextEdit="1"/>
              </p:cNvSpPr>
              <p:nvPr/>
            </p:nvSpPr>
            <p:spPr>
              <a:xfrm>
                <a:off x="7429252" y="502340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4"/>
                <a:stretch>
                  <a:fillRect/>
                </a:stretch>
              </a:blipFill>
            </p:spPr>
            <p:txBody>
              <a:bodyPr/>
              <a:lstStyle/>
              <a:p>
                <a:r>
                  <a:rPr lang="en-GB">
                    <a:noFill/>
                  </a:rPr>
                  <a:t> </a:t>
                </a:r>
              </a:p>
            </p:txBody>
          </p:sp>
        </mc:Fallback>
      </mc:AlternateContent>
      <p:cxnSp>
        <p:nvCxnSpPr>
          <p:cNvPr id="30" name="Straight Connector 29"/>
          <p:cNvCxnSpPr>
            <a:stCxn id="4" idx="2"/>
            <a:endCxn id="6" idx="7"/>
          </p:cNvCxnSpPr>
          <p:nvPr/>
        </p:nvCxnSpPr>
        <p:spPr>
          <a:xfrm flipV="1">
            <a:off x="3775292" y="2245435"/>
            <a:ext cx="1167107" cy="9144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3818812" y="3383277"/>
            <a:ext cx="1116000" cy="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 idx="4"/>
            <a:endCxn id="21" idx="0"/>
          </p:cNvCxnSpPr>
          <p:nvPr/>
        </p:nvCxnSpPr>
        <p:spPr>
          <a:xfrm>
            <a:off x="3821589" y="3576548"/>
            <a:ext cx="1120808" cy="96071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868389" y="1522115"/>
            <a:ext cx="1560865" cy="555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5868389" y="2060238"/>
            <a:ext cx="1560865" cy="94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5868389" y="2068268"/>
            <a:ext cx="1560865" cy="53009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68389" y="3126541"/>
            <a:ext cx="1560865" cy="24610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5875971" y="3391349"/>
            <a:ext cx="1553280" cy="2676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V="1">
            <a:off x="5868387" y="4184337"/>
            <a:ext cx="1553280"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5868387" y="4719622"/>
            <a:ext cx="1553280" cy="28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5875974" y="4719619"/>
            <a:ext cx="1545695" cy="5381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861011" y="475795"/>
            <a:ext cx="995168" cy="369332"/>
          </a:xfrm>
          <a:prstGeom prst="rect">
            <a:avLst/>
          </a:prstGeom>
          <a:noFill/>
        </p:spPr>
        <p:txBody>
          <a:bodyPr wrap="square" rtlCol="0">
            <a:spAutoFit/>
          </a:bodyPr>
          <a:lstStyle/>
          <a:p>
            <a:pPr algn="ctr"/>
            <a:r>
              <a:rPr lang="en-US" b="0">
                <a:latin typeface="+mj-lt"/>
              </a:rPr>
              <a:t>MAX</a:t>
            </a:r>
            <a:endParaRPr lang="en-US" b="0" dirty="0">
              <a:latin typeface="+mj-lt"/>
            </a:endParaRPr>
          </a:p>
        </p:txBody>
      </p:sp>
      <p:sp>
        <p:nvSpPr>
          <p:cNvPr id="81" name="TextBox 80"/>
          <p:cNvSpPr txBox="1"/>
          <p:nvPr/>
        </p:nvSpPr>
        <p:spPr>
          <a:xfrm>
            <a:off x="4888638" y="461480"/>
            <a:ext cx="1033509" cy="369332"/>
          </a:xfrm>
          <a:prstGeom prst="rect">
            <a:avLst/>
          </a:prstGeom>
          <a:noFill/>
        </p:spPr>
        <p:txBody>
          <a:bodyPr wrap="square" rtlCol="0">
            <a:spAutoFit/>
          </a:bodyPr>
          <a:lstStyle/>
          <a:p>
            <a:pPr algn="ctr"/>
            <a:r>
              <a:rPr lang="en-US" b="0">
                <a:latin typeface="+mj-lt"/>
              </a:rPr>
              <a:t>MIN</a:t>
            </a:r>
            <a:endParaRPr lang="en-US" b="0" dirty="0">
              <a:latin typeface="+mj-lt"/>
            </a:endParaRPr>
          </a:p>
        </p:txBody>
      </p:sp>
      <mc:AlternateContent xmlns:mc="http://schemas.openxmlformats.org/markup-compatibility/2006" xmlns:a14="http://schemas.microsoft.com/office/drawing/2010/main">
        <mc:Choice Requires="a14">
          <p:sp>
            <p:nvSpPr>
              <p:cNvPr id="39" name="Freeform 38"/>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39" name="Freeform 38"/>
              <p:cNvSpPr>
                <a:spLocks noRot="1" noChangeAspect="1" noMove="1" noResize="1" noEditPoints="1" noAdjustHandles="1" noChangeArrowheads="1" noChangeShapeType="1" noTextEdit="1"/>
              </p:cNvSpPr>
              <p:nvPr/>
            </p:nvSpPr>
            <p:spPr>
              <a:xfrm>
                <a:off x="7429252" y="4493801"/>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reeform 39"/>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23087" tIns="23087" rIns="23087" bIns="23087" numCol="1" spcCol="1270" anchor="ctr" anchorCtr="0">
                <a:noAutofit/>
              </a:bodyPr>
              <a:lstStyle/>
              <a:p>
                <a:pPr algn="ctr" defTabSz="666734">
                  <a:lnSpc>
                    <a:spcPct val="90000"/>
                  </a:lnSpc>
                  <a:spcAft>
                    <a:spcPct val="35000"/>
                  </a:spcAft>
                </a:pPr>
                <a14:m>
                  <m:oMathPara xmlns:m="http://schemas.openxmlformats.org/officeDocument/2006/math">
                    <m:oMathParaPr>
                      <m:jc m:val="centerGroup"/>
                    </m:oMathParaPr>
                    <m:oMath xmlns:m="http://schemas.openxmlformats.org/officeDocument/2006/math">
                      <m:r>
                        <a:rPr lang="en-US" sz="2000" i="1">
                          <a:latin typeface="Cambria Math" charset="0"/>
                        </a:rPr>
                        <m:t>??</m:t>
                      </m:r>
                    </m:oMath>
                  </m:oMathPara>
                </a14:m>
                <a:endParaRPr lang="en-US" sz="2000" dirty="0"/>
              </a:p>
            </p:txBody>
          </p:sp>
        </mc:Choice>
        <mc:Fallback xmlns="">
          <p:sp>
            <p:nvSpPr>
              <p:cNvPr id="40" name="Freeform 39"/>
              <p:cNvSpPr>
                <a:spLocks noRot="1" noChangeAspect="1" noMove="1" noResize="1" noEditPoints="1" noAdjustHandles="1" noChangeArrowheads="1" noChangeShapeType="1" noTextEdit="1"/>
              </p:cNvSpPr>
              <p:nvPr/>
            </p:nvSpPr>
            <p:spPr>
              <a:xfrm>
                <a:off x="7429252" y="5026245"/>
                <a:ext cx="1611789" cy="462995"/>
              </a:xfrm>
              <a:custGeom>
                <a:avLst/>
                <a:gdLst>
                  <a:gd name="connsiteX0" fmla="*/ 0 w 925989"/>
                  <a:gd name="connsiteY0" fmla="*/ 46299 h 462994"/>
                  <a:gd name="connsiteX1" fmla="*/ 46299 w 925989"/>
                  <a:gd name="connsiteY1" fmla="*/ 0 h 462994"/>
                  <a:gd name="connsiteX2" fmla="*/ 879690 w 925989"/>
                  <a:gd name="connsiteY2" fmla="*/ 0 h 462994"/>
                  <a:gd name="connsiteX3" fmla="*/ 925989 w 925989"/>
                  <a:gd name="connsiteY3" fmla="*/ 46299 h 462994"/>
                  <a:gd name="connsiteX4" fmla="*/ 925989 w 925989"/>
                  <a:gd name="connsiteY4" fmla="*/ 416695 h 462994"/>
                  <a:gd name="connsiteX5" fmla="*/ 879690 w 925989"/>
                  <a:gd name="connsiteY5" fmla="*/ 462994 h 462994"/>
                  <a:gd name="connsiteX6" fmla="*/ 46299 w 925989"/>
                  <a:gd name="connsiteY6" fmla="*/ 462994 h 462994"/>
                  <a:gd name="connsiteX7" fmla="*/ 0 w 925989"/>
                  <a:gd name="connsiteY7" fmla="*/ 416695 h 462994"/>
                  <a:gd name="connsiteX8" fmla="*/ 0 w 925989"/>
                  <a:gd name="connsiteY8" fmla="*/ 46299 h 46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25989" h="462994">
                    <a:moveTo>
                      <a:pt x="0" y="46299"/>
                    </a:moveTo>
                    <a:cubicBezTo>
                      <a:pt x="0" y="20729"/>
                      <a:pt x="20729" y="0"/>
                      <a:pt x="46299" y="0"/>
                    </a:cubicBezTo>
                    <a:lnTo>
                      <a:pt x="879690" y="0"/>
                    </a:lnTo>
                    <a:cubicBezTo>
                      <a:pt x="905260" y="0"/>
                      <a:pt x="925989" y="20729"/>
                      <a:pt x="925989" y="46299"/>
                    </a:cubicBezTo>
                    <a:lnTo>
                      <a:pt x="925989" y="416695"/>
                    </a:lnTo>
                    <a:cubicBezTo>
                      <a:pt x="925989" y="442265"/>
                      <a:pt x="905260" y="462994"/>
                      <a:pt x="879690" y="462994"/>
                    </a:cubicBezTo>
                    <a:lnTo>
                      <a:pt x="46299" y="462994"/>
                    </a:lnTo>
                    <a:cubicBezTo>
                      <a:pt x="20729" y="462994"/>
                      <a:pt x="0" y="442265"/>
                      <a:pt x="0" y="416695"/>
                    </a:cubicBezTo>
                    <a:lnTo>
                      <a:pt x="0" y="46299"/>
                    </a:lnTo>
                    <a:close/>
                  </a:path>
                </a:pathLst>
              </a:cu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833401" y="1279136"/>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−3</m:t>
                      </m:r>
                    </m:oMath>
                  </m:oMathPara>
                </a14:m>
                <a:endParaRPr lang="en-US" b="0" dirty="0"/>
              </a:p>
            </p:txBody>
          </p:sp>
        </mc:Choice>
        <mc:Fallback xmlns="">
          <p:sp>
            <p:nvSpPr>
              <p:cNvPr id="5" name="TextBox 4"/>
              <p:cNvSpPr txBox="1">
                <a:spLocks noRot="1" noChangeAspect="1" noMove="1" noResize="1" noEditPoints="1" noAdjustHandles="1" noChangeArrowheads="1" noChangeShapeType="1" noTextEdit="1"/>
              </p:cNvSpPr>
              <p:nvPr/>
            </p:nvSpPr>
            <p:spPr>
              <a:xfrm>
                <a:off x="4833401" y="1279136"/>
                <a:ext cx="1338801" cy="369332"/>
              </a:xfrm>
              <a:prstGeom prst="rect">
                <a:avLst/>
              </a:prstGeom>
              <a:blipFill>
                <a:blip r:embed="rId17"/>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2689196" y="2626827"/>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𝛼</m:t>
                      </m:r>
                      <m:r>
                        <a:rPr lang="en-US" b="0" i="1" smtClean="0">
                          <a:latin typeface="Cambria Math" panose="02040503050406030204" pitchFamily="18" charset="0"/>
                        </a:rPr>
                        <m:t>=</m:t>
                      </m:r>
                      <m:r>
                        <a:rPr lang="en-US" b="0" i="1" smtClean="0">
                          <a:latin typeface="Cambria Math" charset="0"/>
                        </a:rPr>
                        <m:t>−2</m:t>
                      </m:r>
                    </m:oMath>
                  </m:oMathPara>
                </a14:m>
                <a:endParaRPr lang="en-US" b="0" dirty="0"/>
              </a:p>
            </p:txBody>
          </p:sp>
        </mc:Choice>
        <mc:Fallback xmlns="">
          <p:sp>
            <p:nvSpPr>
              <p:cNvPr id="34" name="TextBox 33"/>
              <p:cNvSpPr txBox="1">
                <a:spLocks noRot="1" noChangeAspect="1" noMove="1" noResize="1" noEditPoints="1" noAdjustHandles="1" noChangeArrowheads="1" noChangeShapeType="1" noTextEdit="1"/>
              </p:cNvSpPr>
              <p:nvPr/>
            </p:nvSpPr>
            <p:spPr>
              <a:xfrm>
                <a:off x="2689196" y="2626827"/>
                <a:ext cx="1338801" cy="369332"/>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4689696" y="2676703"/>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−2</m:t>
                      </m:r>
                    </m:oMath>
                  </m:oMathPara>
                </a14:m>
                <a:endParaRPr lang="en-US" b="0" dirty="0"/>
              </a:p>
            </p:txBody>
          </p:sp>
        </mc:Choice>
        <mc:Fallback xmlns="">
          <p:sp>
            <p:nvSpPr>
              <p:cNvPr id="35" name="TextBox 34"/>
              <p:cNvSpPr txBox="1">
                <a:spLocks noRot="1" noChangeAspect="1" noMove="1" noResize="1" noEditPoints="1" noAdjustHandles="1" noChangeArrowheads="1" noChangeShapeType="1" noTextEdit="1"/>
              </p:cNvSpPr>
              <p:nvPr/>
            </p:nvSpPr>
            <p:spPr>
              <a:xfrm>
                <a:off x="4689696" y="2676703"/>
                <a:ext cx="1338801" cy="369332"/>
              </a:xfrm>
              <a:prstGeom prst="rect">
                <a:avLst/>
              </a:prstGeom>
              <a:blipFill>
                <a:blip r:embed="rId19"/>
                <a:stretch>
                  <a:fillRect b="-161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4689694" y="4001653"/>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m:t>
                      </m:r>
                      <m:r>
                        <a:rPr lang="en-US" b="0" i="1" smtClean="0">
                          <a:latin typeface="Cambria Math" charset="0"/>
                        </a:rPr>
                        <m:t>−7</m:t>
                      </m:r>
                    </m:oMath>
                  </m:oMathPara>
                </a14:m>
                <a:endParaRPr lang="en-US" b="0" dirty="0"/>
              </a:p>
            </p:txBody>
          </p:sp>
        </mc:Choice>
        <mc:Fallback xmlns="">
          <p:sp>
            <p:nvSpPr>
              <p:cNvPr id="33" name="TextBox 32"/>
              <p:cNvSpPr txBox="1">
                <a:spLocks noRot="1" noChangeAspect="1" noMove="1" noResize="1" noEditPoints="1" noAdjustHandles="1" noChangeArrowheads="1" noChangeShapeType="1" noTextEdit="1"/>
              </p:cNvSpPr>
              <p:nvPr/>
            </p:nvSpPr>
            <p:spPr>
              <a:xfrm>
                <a:off x="4689694" y="4001653"/>
                <a:ext cx="1338801" cy="369332"/>
              </a:xfrm>
              <a:prstGeom prst="rect">
                <a:avLst/>
              </a:prstGeom>
              <a:blipFill>
                <a:blip r:embed="rId20"/>
                <a:stretch>
                  <a:fillRect b="-161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 name="Rounded Rectangular Callout 1"/>
              <p:cNvSpPr/>
              <p:nvPr/>
            </p:nvSpPr>
            <p:spPr>
              <a:xfrm>
                <a:off x="2187145" y="5276241"/>
                <a:ext cx="5813857" cy="1429361"/>
              </a:xfrm>
              <a:prstGeom prst="wedgeRoundRectCallout">
                <a:avLst>
                  <a:gd name="adj1" fmla="val 39626"/>
                  <a:gd name="adj2" fmla="val -71264"/>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dirty="0">
                    <a:solidFill>
                      <a:srgbClr val="FF0000"/>
                    </a:solidFill>
                  </a:rPr>
                  <a:t>No point exploring the last two nodes! Choosing </a:t>
                </a:r>
                <a14:m>
                  <m:oMath xmlns:m="http://schemas.openxmlformats.org/officeDocument/2006/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charset="0"/>
                          </a:rPr>
                          <m:t>𝑠</m:t>
                        </m:r>
                      </m:e>
                      <m:sub>
                        <m:r>
                          <a:rPr lang="en-US" b="0" i="1" dirty="0" smtClean="0">
                            <a:solidFill>
                              <a:srgbClr val="FF0000"/>
                            </a:solidFill>
                            <a:latin typeface="Cambria Math" charset="0"/>
                          </a:rPr>
                          <m:t>3</m:t>
                        </m:r>
                      </m:sub>
                    </m:sSub>
                  </m:oMath>
                </a14:m>
                <a:r>
                  <a:rPr lang="en-US" b="0" dirty="0">
                    <a:solidFill>
                      <a:srgbClr val="FF0000"/>
                    </a:solidFill>
                  </a:rPr>
                  <a:t> results in a loss of at least 7</a:t>
                </a:r>
                <a:r>
                  <a:rPr lang="mr-IN" b="0" dirty="0">
                    <a:solidFill>
                      <a:srgbClr val="FF0000"/>
                    </a:solidFill>
                  </a:rPr>
                  <a:t>…</a:t>
                </a:r>
                <a:endParaRPr lang="en-US" b="0" dirty="0">
                  <a:solidFill>
                    <a:srgbClr val="FF0000"/>
                  </a:solidFill>
                </a:endParaRPr>
              </a:p>
            </p:txBody>
          </p:sp>
        </mc:Choice>
        <mc:Fallback xmlns="">
          <p:sp>
            <p:nvSpPr>
              <p:cNvPr id="2" name="Rounded Rectangular Callout 1"/>
              <p:cNvSpPr>
                <a:spLocks noRot="1" noChangeAspect="1" noMove="1" noResize="1" noEditPoints="1" noAdjustHandles="1" noChangeArrowheads="1" noChangeShapeType="1" noTextEdit="1"/>
              </p:cNvSpPr>
              <p:nvPr/>
            </p:nvSpPr>
            <p:spPr>
              <a:xfrm>
                <a:off x="2187145" y="5276241"/>
                <a:ext cx="5813857" cy="1429361"/>
              </a:xfrm>
              <a:prstGeom prst="wedgeRoundRectCallout">
                <a:avLst>
                  <a:gd name="adj1" fmla="val 39626"/>
                  <a:gd name="adj2" fmla="val -71264"/>
                  <a:gd name="adj3" fmla="val 16667"/>
                </a:avLst>
              </a:prstGeom>
              <a:blipFill>
                <a:blip r:embed="rId21"/>
                <a:stretch>
                  <a:fillRect/>
                </a:stretch>
              </a:blipFill>
              <a:ln w="38100">
                <a:solidFill>
                  <a:srgbClr val="FF0000"/>
                </a:solidFill>
              </a:ln>
            </p:spPr>
            <p:txBody>
              <a:bodyPr/>
              <a:lstStyle/>
              <a:p>
                <a:r>
                  <a:rPr lang="en-GB">
                    <a:noFill/>
                  </a:rPr>
                  <a:t> </a:t>
                </a:r>
              </a:p>
            </p:txBody>
          </p:sp>
        </mc:Fallback>
      </mc:AlternateContent>
    </p:spTree>
    <p:extLst>
      <p:ext uri="{BB962C8B-B14F-4D97-AF65-F5344CB8AC3E}">
        <p14:creationId xmlns:p14="http://schemas.microsoft.com/office/powerpoint/2010/main" val="57144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0" name="Straight Connector 29"/>
          <p:cNvCxnSpPr>
            <a:cxnSpLocks/>
            <a:stCxn id="36" idx="3"/>
            <a:endCxn id="37" idx="1"/>
          </p:cNvCxnSpPr>
          <p:nvPr/>
        </p:nvCxnSpPr>
        <p:spPr>
          <a:xfrm flipV="1">
            <a:off x="3643979" y="1490732"/>
            <a:ext cx="952805" cy="239267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cxnSpLocks/>
            <a:stCxn id="36" idx="3"/>
            <a:endCxn id="38" idx="1"/>
          </p:cNvCxnSpPr>
          <p:nvPr/>
        </p:nvCxnSpPr>
        <p:spPr>
          <a:xfrm flipV="1">
            <a:off x="3643979" y="3880867"/>
            <a:ext cx="928023" cy="253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cxnSpLocks/>
            <a:stCxn id="36" idx="3"/>
            <a:endCxn id="41" idx="1"/>
          </p:cNvCxnSpPr>
          <p:nvPr/>
        </p:nvCxnSpPr>
        <p:spPr>
          <a:xfrm>
            <a:off x="3643979" y="3883407"/>
            <a:ext cx="952805" cy="236815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cxnSpLocks/>
            <a:stCxn id="37" idx="3"/>
            <a:endCxn id="42" idx="1"/>
          </p:cNvCxnSpPr>
          <p:nvPr/>
        </p:nvCxnSpPr>
        <p:spPr>
          <a:xfrm flipV="1">
            <a:off x="5511181" y="914400"/>
            <a:ext cx="1042019" cy="5763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cxnSpLocks/>
            <a:stCxn id="37" idx="3"/>
            <a:endCxn id="43" idx="1"/>
          </p:cNvCxnSpPr>
          <p:nvPr/>
        </p:nvCxnSpPr>
        <p:spPr>
          <a:xfrm>
            <a:off x="5511181" y="1490730"/>
            <a:ext cx="1042019" cy="7190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cxnSpLocks/>
            <a:stCxn id="38" idx="3"/>
            <a:endCxn id="44" idx="1"/>
          </p:cNvCxnSpPr>
          <p:nvPr/>
        </p:nvCxnSpPr>
        <p:spPr>
          <a:xfrm flipV="1">
            <a:off x="5486400" y="3471933"/>
            <a:ext cx="1066800" cy="4089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cxnSpLocks/>
            <a:stCxn id="38" idx="3"/>
          </p:cNvCxnSpPr>
          <p:nvPr/>
        </p:nvCxnSpPr>
        <p:spPr>
          <a:xfrm>
            <a:off x="5486400" y="3880870"/>
            <a:ext cx="1066800" cy="42926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cxnSpLocks/>
            <a:stCxn id="41" idx="3"/>
            <a:endCxn id="46" idx="1"/>
          </p:cNvCxnSpPr>
          <p:nvPr/>
        </p:nvCxnSpPr>
        <p:spPr>
          <a:xfrm flipV="1">
            <a:off x="5511181" y="5718163"/>
            <a:ext cx="965819" cy="533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6" name="Table 35">
            <a:extLst>
              <a:ext uri="{FF2B5EF4-FFF2-40B4-BE49-F238E27FC236}">
                <a16:creationId xmlns:a16="http://schemas.microsoft.com/office/drawing/2014/main" id="{9A5E1715-E03A-A94E-B268-91A8312D0CCA}"/>
              </a:ext>
            </a:extLst>
          </p:cNvPr>
          <p:cNvGraphicFramePr>
            <a:graphicFrameLocks noGrp="1"/>
          </p:cNvGraphicFramePr>
          <p:nvPr/>
        </p:nvGraphicFramePr>
        <p:xfrm>
          <a:off x="2729577" y="3426205"/>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graphicFrame>
        <p:nvGraphicFramePr>
          <p:cNvPr id="37" name="Table 36">
            <a:extLst>
              <a:ext uri="{FF2B5EF4-FFF2-40B4-BE49-F238E27FC236}">
                <a16:creationId xmlns:a16="http://schemas.microsoft.com/office/drawing/2014/main" id="{C652799B-8C61-3D45-B7BB-7DF46BB9AAAA}"/>
              </a:ext>
            </a:extLst>
          </p:cNvPr>
          <p:cNvGraphicFramePr>
            <a:graphicFrameLocks noGrp="1"/>
          </p:cNvGraphicFramePr>
          <p:nvPr/>
        </p:nvGraphicFramePr>
        <p:xfrm>
          <a:off x="4596783" y="1033531"/>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graphicFrame>
        <p:nvGraphicFramePr>
          <p:cNvPr id="38" name="Table 37">
            <a:extLst>
              <a:ext uri="{FF2B5EF4-FFF2-40B4-BE49-F238E27FC236}">
                <a16:creationId xmlns:a16="http://schemas.microsoft.com/office/drawing/2014/main" id="{484844F3-68AB-3644-8B28-641A9E28B116}"/>
              </a:ext>
            </a:extLst>
          </p:cNvPr>
          <p:cNvGraphicFramePr>
            <a:graphicFrameLocks noGrp="1"/>
          </p:cNvGraphicFramePr>
          <p:nvPr/>
        </p:nvGraphicFramePr>
        <p:xfrm>
          <a:off x="4572000" y="3423667"/>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graphicFrame>
        <p:nvGraphicFramePr>
          <p:cNvPr id="41" name="Table 40">
            <a:extLst>
              <a:ext uri="{FF2B5EF4-FFF2-40B4-BE49-F238E27FC236}">
                <a16:creationId xmlns:a16="http://schemas.microsoft.com/office/drawing/2014/main" id="{D90EAB68-C14A-3F41-B5D9-8EF539F26F71}"/>
              </a:ext>
            </a:extLst>
          </p:cNvPr>
          <p:cNvGraphicFramePr>
            <a:graphicFrameLocks noGrp="1"/>
          </p:cNvGraphicFramePr>
          <p:nvPr/>
        </p:nvGraphicFramePr>
        <p:xfrm>
          <a:off x="4596783" y="5794363"/>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graphicFrame>
        <p:nvGraphicFramePr>
          <p:cNvPr id="42" name="Table 41">
            <a:extLst>
              <a:ext uri="{FF2B5EF4-FFF2-40B4-BE49-F238E27FC236}">
                <a16:creationId xmlns:a16="http://schemas.microsoft.com/office/drawing/2014/main" id="{17A2EB8D-51A1-384E-AA35-BC7B0F513BC5}"/>
              </a:ext>
            </a:extLst>
          </p:cNvPr>
          <p:cNvGraphicFramePr>
            <a:graphicFrameLocks noGrp="1"/>
          </p:cNvGraphicFramePr>
          <p:nvPr/>
        </p:nvGraphicFramePr>
        <p:xfrm>
          <a:off x="6553200" y="457200"/>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r>
                        <a:rPr lang="en-US" sz="1500" b="1" dirty="0">
                          <a:solidFill>
                            <a:srgbClr val="0000CC"/>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graphicFrame>
        <p:nvGraphicFramePr>
          <p:cNvPr id="43" name="Table 42">
            <a:extLst>
              <a:ext uri="{FF2B5EF4-FFF2-40B4-BE49-F238E27FC236}">
                <a16:creationId xmlns:a16="http://schemas.microsoft.com/office/drawing/2014/main" id="{D8213E4F-6560-D242-9843-AD9F7315E95F}"/>
              </a:ext>
            </a:extLst>
          </p:cNvPr>
          <p:cNvGraphicFramePr>
            <a:graphicFrameLocks noGrp="1"/>
          </p:cNvGraphicFramePr>
          <p:nvPr/>
        </p:nvGraphicFramePr>
        <p:xfrm>
          <a:off x="6553200" y="1752600"/>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endParaRPr lang="en-US" sz="1500" b="1" dirty="0">
                        <a:solidFill>
                          <a:srgbClr val="0000CC"/>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r>
                        <a:rPr lang="en-US" sz="1500" b="1" dirty="0">
                          <a:solidFill>
                            <a:srgbClr val="0000CC"/>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graphicFrame>
        <p:nvGraphicFramePr>
          <p:cNvPr id="44" name="Table 43">
            <a:extLst>
              <a:ext uri="{FF2B5EF4-FFF2-40B4-BE49-F238E27FC236}">
                <a16:creationId xmlns:a16="http://schemas.microsoft.com/office/drawing/2014/main" id="{92D2B6C0-387A-1E4E-9C15-DD74050B840E}"/>
              </a:ext>
            </a:extLst>
          </p:cNvPr>
          <p:cNvGraphicFramePr>
            <a:graphicFrameLocks noGrp="1"/>
          </p:cNvGraphicFramePr>
          <p:nvPr/>
        </p:nvGraphicFramePr>
        <p:xfrm>
          <a:off x="6553200" y="3014731"/>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0000CC"/>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sp>
        <p:nvSpPr>
          <p:cNvPr id="9" name="Cross 8">
            <a:extLst>
              <a:ext uri="{FF2B5EF4-FFF2-40B4-BE49-F238E27FC236}">
                <a16:creationId xmlns:a16="http://schemas.microsoft.com/office/drawing/2014/main" id="{A5A02E7E-A0E3-0D4B-A421-F06CB5EC35A2}"/>
              </a:ext>
            </a:extLst>
          </p:cNvPr>
          <p:cNvSpPr/>
          <p:nvPr/>
        </p:nvSpPr>
        <p:spPr>
          <a:xfrm rot="8455689">
            <a:off x="5854148" y="3878655"/>
            <a:ext cx="433691" cy="433691"/>
          </a:xfrm>
          <a:prstGeom prst="plus">
            <a:avLst>
              <a:gd name="adj" fmla="val 3864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6" name="Table 45">
            <a:extLst>
              <a:ext uri="{FF2B5EF4-FFF2-40B4-BE49-F238E27FC236}">
                <a16:creationId xmlns:a16="http://schemas.microsoft.com/office/drawing/2014/main" id="{42474139-C830-4840-9E47-6D01CDB8C70D}"/>
              </a:ext>
            </a:extLst>
          </p:cNvPr>
          <p:cNvGraphicFramePr>
            <a:graphicFrameLocks noGrp="1"/>
          </p:cNvGraphicFramePr>
          <p:nvPr/>
        </p:nvGraphicFramePr>
        <p:xfrm>
          <a:off x="6477000" y="5260963"/>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0000CC"/>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endParaRPr lang="en-US" sz="1500" b="1" dirty="0">
                        <a:solidFill>
                          <a:schemeClr val="tx1"/>
                        </a:solidFill>
                      </a:endParaRP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cxnSp>
        <p:nvCxnSpPr>
          <p:cNvPr id="64" name="Straight Connector 63">
            <a:extLst>
              <a:ext uri="{FF2B5EF4-FFF2-40B4-BE49-F238E27FC236}">
                <a16:creationId xmlns:a16="http://schemas.microsoft.com/office/drawing/2014/main" id="{BA42674C-CC50-2D4A-B184-F796205E3375}"/>
              </a:ext>
            </a:extLst>
          </p:cNvPr>
          <p:cNvCxnSpPr>
            <a:cxnSpLocks/>
            <a:stCxn id="41" idx="3"/>
          </p:cNvCxnSpPr>
          <p:nvPr/>
        </p:nvCxnSpPr>
        <p:spPr>
          <a:xfrm>
            <a:off x="5511184" y="6251564"/>
            <a:ext cx="952805" cy="47181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Cross 64">
            <a:extLst>
              <a:ext uri="{FF2B5EF4-FFF2-40B4-BE49-F238E27FC236}">
                <a16:creationId xmlns:a16="http://schemas.microsoft.com/office/drawing/2014/main" id="{663EC3E4-5563-B74C-BA08-CA217E9D4DDE}"/>
              </a:ext>
            </a:extLst>
          </p:cNvPr>
          <p:cNvSpPr/>
          <p:nvPr/>
        </p:nvSpPr>
        <p:spPr>
          <a:xfrm rot="8455689">
            <a:off x="5777247" y="6336129"/>
            <a:ext cx="433691" cy="433691"/>
          </a:xfrm>
          <a:prstGeom prst="plus">
            <a:avLst>
              <a:gd name="adj" fmla="val 3864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9" name="Table 68">
            <a:extLst>
              <a:ext uri="{FF2B5EF4-FFF2-40B4-BE49-F238E27FC236}">
                <a16:creationId xmlns:a16="http://schemas.microsoft.com/office/drawing/2014/main" id="{CB80D39B-B4FF-EE4E-9447-A81F2EC3EC80}"/>
              </a:ext>
            </a:extLst>
          </p:cNvPr>
          <p:cNvGraphicFramePr>
            <a:graphicFrameLocks noGrp="1"/>
          </p:cNvGraphicFramePr>
          <p:nvPr/>
        </p:nvGraphicFramePr>
        <p:xfrm>
          <a:off x="8382000" y="457200"/>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r>
                        <a:rPr lang="en-US" sz="1500" b="1" dirty="0">
                          <a:solidFill>
                            <a:srgbClr val="0000CC"/>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p:cxnSp>
        <p:nvCxnSpPr>
          <p:cNvPr id="70" name="Straight Connector 69">
            <a:extLst>
              <a:ext uri="{FF2B5EF4-FFF2-40B4-BE49-F238E27FC236}">
                <a16:creationId xmlns:a16="http://schemas.microsoft.com/office/drawing/2014/main" id="{19CE9F68-A818-7D47-9A45-8CBEB7BA6A6C}"/>
              </a:ext>
            </a:extLst>
          </p:cNvPr>
          <p:cNvCxnSpPr>
            <a:cxnSpLocks/>
            <a:stCxn id="69" idx="1"/>
            <a:endCxn id="42" idx="3"/>
          </p:cNvCxnSpPr>
          <p:nvPr/>
        </p:nvCxnSpPr>
        <p:spPr>
          <a:xfrm flipH="1">
            <a:off x="7467600" y="914400"/>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51C75906-3367-924A-A1A2-153856A70A3D}"/>
              </a:ext>
            </a:extLst>
          </p:cNvPr>
          <p:cNvCxnSpPr>
            <a:cxnSpLocks/>
            <a:stCxn id="43" idx="3"/>
            <a:endCxn id="76" idx="1"/>
          </p:cNvCxnSpPr>
          <p:nvPr/>
        </p:nvCxnSpPr>
        <p:spPr>
          <a:xfrm>
            <a:off x="7467600" y="2209800"/>
            <a:ext cx="914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6" name="Table 75">
            <a:extLst>
              <a:ext uri="{FF2B5EF4-FFF2-40B4-BE49-F238E27FC236}">
                <a16:creationId xmlns:a16="http://schemas.microsoft.com/office/drawing/2014/main" id="{1A00898D-B899-5A4A-8C0E-67AC9EF4E1E6}"/>
              </a:ext>
            </a:extLst>
          </p:cNvPr>
          <p:cNvGraphicFramePr>
            <a:graphicFrameLocks noGrp="1"/>
          </p:cNvGraphicFramePr>
          <p:nvPr/>
        </p:nvGraphicFramePr>
        <p:xfrm>
          <a:off x="8382000" y="1752600"/>
          <a:ext cx="914400" cy="914400"/>
        </p:xfrm>
        <a:graphic>
          <a:graphicData uri="http://schemas.openxmlformats.org/drawingml/2006/table">
            <a:tbl>
              <a:tblPr firstRow="1" bandRow="1">
                <a:tableStyleId>{5C22544A-7EE6-4342-B048-85BDC9FD1C3A}</a:tableStyleId>
              </a:tblPr>
              <a:tblGrid>
                <a:gridCol w="304800">
                  <a:extLst>
                    <a:ext uri="{9D8B030D-6E8A-4147-A177-3AD203B41FA5}">
                      <a16:colId xmlns:a16="http://schemas.microsoft.com/office/drawing/2014/main" val="95685895"/>
                    </a:ext>
                  </a:extLst>
                </a:gridCol>
                <a:gridCol w="304800">
                  <a:extLst>
                    <a:ext uri="{9D8B030D-6E8A-4147-A177-3AD203B41FA5}">
                      <a16:colId xmlns:a16="http://schemas.microsoft.com/office/drawing/2014/main" val="183693953"/>
                    </a:ext>
                  </a:extLst>
                </a:gridCol>
                <a:gridCol w="304800">
                  <a:extLst>
                    <a:ext uri="{9D8B030D-6E8A-4147-A177-3AD203B41FA5}">
                      <a16:colId xmlns:a16="http://schemas.microsoft.com/office/drawing/2014/main" val="2379572643"/>
                    </a:ext>
                  </a:extLst>
                </a:gridCol>
              </a:tblGrid>
              <a:tr h="304800">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88282"/>
                  </a:ext>
                </a:extLst>
              </a:tr>
              <a:tr h="304800">
                <a:tc>
                  <a:txBody>
                    <a:bodyPr/>
                    <a:lstStyle/>
                    <a:p>
                      <a:pPr algn="ctr"/>
                      <a:r>
                        <a:rPr lang="en-US" sz="1500" b="1" dirty="0">
                          <a:solidFill>
                            <a:srgbClr val="FF0000"/>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60747059"/>
                  </a:ext>
                </a:extLst>
              </a:tr>
              <a:tr h="304800">
                <a:tc>
                  <a:txBody>
                    <a:bodyPr/>
                    <a:lstStyle/>
                    <a:p>
                      <a:pPr algn="ctr"/>
                      <a:r>
                        <a:rPr lang="en-US" sz="1500" b="1" dirty="0">
                          <a:solidFill>
                            <a:srgbClr val="0000CC"/>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X</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sz="1500" b="1" dirty="0">
                          <a:solidFill>
                            <a:schemeClr val="tx1"/>
                          </a:solidFill>
                        </a:rPr>
                        <a:t>O</a:t>
                      </a:r>
                    </a:p>
                  </a:txBody>
                  <a:tcPr marL="64516" marR="64516" marT="32259" marB="32259"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1722107"/>
                  </a:ext>
                </a:extLst>
              </a:tr>
            </a:tbl>
          </a:graphicData>
        </a:graphic>
      </p:graphicFrame>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E8FD8B5A-BF14-124C-9A34-0B4330CFDF29}"/>
                  </a:ext>
                </a:extLst>
              </p:cNvPr>
              <p:cNvSpPr txBox="1"/>
              <p:nvPr/>
            </p:nvSpPr>
            <p:spPr>
              <a:xfrm>
                <a:off x="9296402" y="669531"/>
                <a:ext cx="92736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b="0" dirty="0"/>
              </a:p>
            </p:txBody>
          </p:sp>
        </mc:Choice>
        <mc:Fallback xmlns="">
          <p:sp>
            <p:nvSpPr>
              <p:cNvPr id="80" name="TextBox 79">
                <a:extLst>
                  <a:ext uri="{FF2B5EF4-FFF2-40B4-BE49-F238E27FC236}">
                    <a16:creationId xmlns:a16="http://schemas.microsoft.com/office/drawing/2014/main" id="{E8FD8B5A-BF14-124C-9A34-0B4330CFDF29}"/>
                  </a:ext>
                </a:extLst>
              </p:cNvPr>
              <p:cNvSpPr txBox="1">
                <a:spLocks noRot="1" noChangeAspect="1" noMove="1" noResize="1" noEditPoints="1" noAdjustHandles="1" noChangeArrowheads="1" noChangeShapeType="1" noTextEdit="1"/>
              </p:cNvSpPr>
              <p:nvPr/>
            </p:nvSpPr>
            <p:spPr>
              <a:xfrm>
                <a:off x="9296402" y="669531"/>
                <a:ext cx="927367"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05579F76-D069-744B-BF0A-D6C3D6595BE8}"/>
                  </a:ext>
                </a:extLst>
              </p:cNvPr>
              <p:cNvSpPr txBox="1"/>
              <p:nvPr/>
            </p:nvSpPr>
            <p:spPr>
              <a:xfrm>
                <a:off x="9319286" y="1978968"/>
                <a:ext cx="92736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b="0" dirty="0"/>
              </a:p>
            </p:txBody>
          </p:sp>
        </mc:Choice>
        <mc:Fallback xmlns="">
          <p:sp>
            <p:nvSpPr>
              <p:cNvPr id="82" name="TextBox 81">
                <a:extLst>
                  <a:ext uri="{FF2B5EF4-FFF2-40B4-BE49-F238E27FC236}">
                    <a16:creationId xmlns:a16="http://schemas.microsoft.com/office/drawing/2014/main" id="{05579F76-D069-744B-BF0A-D6C3D6595BE8}"/>
                  </a:ext>
                </a:extLst>
              </p:cNvPr>
              <p:cNvSpPr txBox="1">
                <a:spLocks noRot="1" noChangeAspect="1" noMove="1" noResize="1" noEditPoints="1" noAdjustHandles="1" noChangeArrowheads="1" noChangeShapeType="1" noTextEdit="1"/>
              </p:cNvSpPr>
              <p:nvPr/>
            </p:nvSpPr>
            <p:spPr>
              <a:xfrm>
                <a:off x="9319286" y="1978968"/>
                <a:ext cx="927367"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8BA88C7F-4FED-9040-9117-75172D993F8A}"/>
                  </a:ext>
                </a:extLst>
              </p:cNvPr>
              <p:cNvSpPr txBox="1"/>
              <p:nvPr/>
            </p:nvSpPr>
            <p:spPr>
              <a:xfrm>
                <a:off x="4409985" y="510069"/>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=0</m:t>
                      </m:r>
                    </m:oMath>
                  </m:oMathPara>
                </a14:m>
                <a:endParaRPr lang="en-US" b="0" dirty="0"/>
              </a:p>
            </p:txBody>
          </p:sp>
        </mc:Choice>
        <mc:Fallback xmlns="">
          <p:sp>
            <p:nvSpPr>
              <p:cNvPr id="86" name="TextBox 85">
                <a:extLst>
                  <a:ext uri="{FF2B5EF4-FFF2-40B4-BE49-F238E27FC236}">
                    <a16:creationId xmlns:a16="http://schemas.microsoft.com/office/drawing/2014/main" id="{8BA88C7F-4FED-9040-9117-75172D993F8A}"/>
                  </a:ext>
                </a:extLst>
              </p:cNvPr>
              <p:cNvSpPr txBox="1">
                <a:spLocks noRot="1" noChangeAspect="1" noMove="1" noResize="1" noEditPoints="1" noAdjustHandles="1" noChangeArrowheads="1" noChangeShapeType="1" noTextEdit="1"/>
              </p:cNvSpPr>
              <p:nvPr/>
            </p:nvSpPr>
            <p:spPr>
              <a:xfrm>
                <a:off x="4409985" y="510069"/>
                <a:ext cx="1338801" cy="369332"/>
              </a:xfrm>
              <a:prstGeom prst="rect">
                <a:avLst/>
              </a:prstGeom>
              <a:blipFill>
                <a:blip r:embed="rId5"/>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33E1DE27-9C36-0240-B8CD-33E84F5D4BB6}"/>
                  </a:ext>
                </a:extLst>
              </p:cNvPr>
              <p:cNvSpPr txBox="1"/>
              <p:nvPr/>
            </p:nvSpPr>
            <p:spPr>
              <a:xfrm>
                <a:off x="2517378" y="2928872"/>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m:t>
                      </m:r>
                    </m:oMath>
                  </m:oMathPara>
                </a14:m>
                <a:endParaRPr lang="en-US" b="0" dirty="0"/>
              </a:p>
            </p:txBody>
          </p:sp>
        </mc:Choice>
        <mc:Fallback xmlns="">
          <p:sp>
            <p:nvSpPr>
              <p:cNvPr id="87" name="TextBox 86">
                <a:extLst>
                  <a:ext uri="{FF2B5EF4-FFF2-40B4-BE49-F238E27FC236}">
                    <a16:creationId xmlns:a16="http://schemas.microsoft.com/office/drawing/2014/main" id="{33E1DE27-9C36-0240-B8CD-33E84F5D4BB6}"/>
                  </a:ext>
                </a:extLst>
              </p:cNvPr>
              <p:cNvSpPr txBox="1">
                <a:spLocks noRot="1" noChangeAspect="1" noMove="1" noResize="1" noEditPoints="1" noAdjustHandles="1" noChangeArrowheads="1" noChangeShapeType="1" noTextEdit="1"/>
              </p:cNvSpPr>
              <p:nvPr/>
            </p:nvSpPr>
            <p:spPr>
              <a:xfrm>
                <a:off x="2517378" y="2928872"/>
                <a:ext cx="1338801"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A56814D1-2191-414D-8CDD-3D4746A05010}"/>
                  </a:ext>
                </a:extLst>
              </p:cNvPr>
              <p:cNvSpPr txBox="1"/>
              <p:nvPr/>
            </p:nvSpPr>
            <p:spPr>
              <a:xfrm>
                <a:off x="7391402" y="3214735"/>
                <a:ext cx="92736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b="0" dirty="0"/>
              </a:p>
            </p:txBody>
          </p:sp>
        </mc:Choice>
        <mc:Fallback xmlns="">
          <p:sp>
            <p:nvSpPr>
              <p:cNvPr id="88" name="TextBox 87">
                <a:extLst>
                  <a:ext uri="{FF2B5EF4-FFF2-40B4-BE49-F238E27FC236}">
                    <a16:creationId xmlns:a16="http://schemas.microsoft.com/office/drawing/2014/main" id="{A56814D1-2191-414D-8CDD-3D4746A05010}"/>
                  </a:ext>
                </a:extLst>
              </p:cNvPr>
              <p:cNvSpPr txBox="1">
                <a:spLocks noRot="1" noChangeAspect="1" noMove="1" noResize="1" noEditPoints="1" noAdjustHandles="1" noChangeArrowheads="1" noChangeShapeType="1" noTextEdit="1"/>
              </p:cNvSpPr>
              <p:nvPr/>
            </p:nvSpPr>
            <p:spPr>
              <a:xfrm>
                <a:off x="7391402" y="3214735"/>
                <a:ext cx="927367"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76AEEF8-0053-3044-9A85-13F8B0C857AE}"/>
                  </a:ext>
                </a:extLst>
              </p:cNvPr>
              <p:cNvSpPr txBox="1"/>
              <p:nvPr/>
            </p:nvSpPr>
            <p:spPr>
              <a:xfrm>
                <a:off x="4363234" y="2891136"/>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r>
                        <a:rPr lang="en-US" b="0" i="1" smtClean="0">
                          <a:latin typeface="Cambria Math" panose="02040503050406030204" pitchFamily="18" charset="0"/>
                        </a:rPr>
                        <m:t>=−1</m:t>
                      </m:r>
                    </m:oMath>
                  </m:oMathPara>
                </a14:m>
                <a:endParaRPr lang="en-US" b="0" dirty="0"/>
              </a:p>
            </p:txBody>
          </p:sp>
        </mc:Choice>
        <mc:Fallback xmlns="">
          <p:sp>
            <p:nvSpPr>
              <p:cNvPr id="89" name="TextBox 88">
                <a:extLst>
                  <a:ext uri="{FF2B5EF4-FFF2-40B4-BE49-F238E27FC236}">
                    <a16:creationId xmlns:a16="http://schemas.microsoft.com/office/drawing/2014/main" id="{B76AEEF8-0053-3044-9A85-13F8B0C857AE}"/>
                  </a:ext>
                </a:extLst>
              </p:cNvPr>
              <p:cNvSpPr txBox="1">
                <a:spLocks noRot="1" noChangeAspect="1" noMove="1" noResize="1" noEditPoints="1" noAdjustHandles="1" noChangeArrowheads="1" noChangeShapeType="1" noTextEdit="1"/>
              </p:cNvSpPr>
              <p:nvPr/>
            </p:nvSpPr>
            <p:spPr>
              <a:xfrm>
                <a:off x="4363234" y="2891136"/>
                <a:ext cx="1338801" cy="369332"/>
              </a:xfrm>
              <a:prstGeom prst="rect">
                <a:avLst/>
              </a:prstGeom>
              <a:blipFill>
                <a:blip r:embed="rId8"/>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8373F16-A0DC-F142-8242-C17062782F5B}"/>
                  </a:ext>
                </a:extLst>
              </p:cNvPr>
              <p:cNvSpPr txBox="1"/>
              <p:nvPr/>
            </p:nvSpPr>
            <p:spPr>
              <a:xfrm>
                <a:off x="7391402" y="5487331"/>
                <a:ext cx="92736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b="0" dirty="0"/>
              </a:p>
            </p:txBody>
          </p:sp>
        </mc:Choice>
        <mc:Fallback xmlns="">
          <p:sp>
            <p:nvSpPr>
              <p:cNvPr id="90" name="TextBox 89">
                <a:extLst>
                  <a:ext uri="{FF2B5EF4-FFF2-40B4-BE49-F238E27FC236}">
                    <a16:creationId xmlns:a16="http://schemas.microsoft.com/office/drawing/2014/main" id="{88373F16-A0DC-F142-8242-C17062782F5B}"/>
                  </a:ext>
                </a:extLst>
              </p:cNvPr>
              <p:cNvSpPr txBox="1">
                <a:spLocks noRot="1" noChangeAspect="1" noMove="1" noResize="1" noEditPoints="1" noAdjustHandles="1" noChangeArrowheads="1" noChangeShapeType="1" noTextEdit="1"/>
              </p:cNvSpPr>
              <p:nvPr/>
            </p:nvSpPr>
            <p:spPr>
              <a:xfrm>
                <a:off x="7391402" y="5487331"/>
                <a:ext cx="927367"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CFCB2E84-689F-A446-9264-3C681F376842}"/>
                  </a:ext>
                </a:extLst>
              </p:cNvPr>
              <p:cNvSpPr txBox="1"/>
              <p:nvPr/>
            </p:nvSpPr>
            <p:spPr>
              <a:xfrm>
                <a:off x="4409984" y="5314471"/>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r>
                        <a:rPr lang="en-US" b="0" i="1" smtClean="0">
                          <a:latin typeface="Cambria Math" panose="02040503050406030204" pitchFamily="18" charset="0"/>
                        </a:rPr>
                        <m:t>=−1</m:t>
                      </m:r>
                    </m:oMath>
                  </m:oMathPara>
                </a14:m>
                <a:endParaRPr lang="en-US" b="0" dirty="0"/>
              </a:p>
            </p:txBody>
          </p:sp>
        </mc:Choice>
        <mc:Fallback xmlns="">
          <p:sp>
            <p:nvSpPr>
              <p:cNvPr id="91" name="TextBox 90">
                <a:extLst>
                  <a:ext uri="{FF2B5EF4-FFF2-40B4-BE49-F238E27FC236}">
                    <a16:creationId xmlns:a16="http://schemas.microsoft.com/office/drawing/2014/main" id="{CFCB2E84-689F-A446-9264-3C681F376842}"/>
                  </a:ext>
                </a:extLst>
              </p:cNvPr>
              <p:cNvSpPr txBox="1">
                <a:spLocks noRot="1" noChangeAspect="1" noMove="1" noResize="1" noEditPoints="1" noAdjustHandles="1" noChangeArrowheads="1" noChangeShapeType="1" noTextEdit="1"/>
              </p:cNvSpPr>
              <p:nvPr/>
            </p:nvSpPr>
            <p:spPr>
              <a:xfrm>
                <a:off x="4409984" y="5314471"/>
                <a:ext cx="1338801" cy="369332"/>
              </a:xfrm>
              <a:prstGeom prst="rect">
                <a:avLst/>
              </a:prstGeom>
              <a:blipFill>
                <a:blip r:embed="rId10"/>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A2A4E98-1A1D-9E4E-9395-790198FD9AF7}"/>
                  </a:ext>
                </a:extLst>
              </p:cNvPr>
              <p:cNvSpPr txBox="1"/>
              <p:nvPr/>
            </p:nvSpPr>
            <p:spPr>
              <a:xfrm>
                <a:off x="4409982" y="90691"/>
                <a:ext cx="13388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𝛽</m:t>
                      </m:r>
                      <m:r>
                        <a:rPr lang="en-US" b="0" i="1" smtClean="0">
                          <a:latin typeface="Cambria Math" panose="02040503050406030204" pitchFamily="18" charset="0"/>
                        </a:rPr>
                        <m:t>=1</m:t>
                      </m:r>
                    </m:oMath>
                  </m:oMathPara>
                </a14:m>
                <a:endParaRPr lang="en-US" b="0" dirty="0"/>
              </a:p>
            </p:txBody>
          </p:sp>
        </mc:Choice>
        <mc:Fallback xmlns="">
          <p:sp>
            <p:nvSpPr>
              <p:cNvPr id="92" name="TextBox 91">
                <a:extLst>
                  <a:ext uri="{FF2B5EF4-FFF2-40B4-BE49-F238E27FC236}">
                    <a16:creationId xmlns:a16="http://schemas.microsoft.com/office/drawing/2014/main" id="{1A2A4E98-1A1D-9E4E-9395-790198FD9AF7}"/>
                  </a:ext>
                </a:extLst>
              </p:cNvPr>
              <p:cNvSpPr txBox="1">
                <a:spLocks noRot="1" noChangeAspect="1" noMove="1" noResize="1" noEditPoints="1" noAdjustHandles="1" noChangeArrowheads="1" noChangeShapeType="1" noTextEdit="1"/>
              </p:cNvSpPr>
              <p:nvPr/>
            </p:nvSpPr>
            <p:spPr>
              <a:xfrm>
                <a:off x="4409982" y="90691"/>
                <a:ext cx="1338801" cy="369332"/>
              </a:xfrm>
              <a:prstGeom prst="rect">
                <a:avLst/>
              </a:prstGeom>
              <a:blipFill>
                <a:blip r:embed="rId11"/>
                <a:stretch>
                  <a:fillRect b="-20690"/>
                </a:stretch>
              </a:blipFill>
            </p:spPr>
            <p:txBody>
              <a:bodyPr/>
              <a:lstStyle/>
              <a:p>
                <a:r>
                  <a:rPr lang="en-GB">
                    <a:noFill/>
                  </a:rPr>
                  <a:t> </a:t>
                </a:r>
              </a:p>
            </p:txBody>
          </p:sp>
        </mc:Fallback>
      </mc:AlternateContent>
    </p:spTree>
    <p:extLst>
      <p:ext uri="{BB962C8B-B14F-4D97-AF65-F5344CB8AC3E}">
        <p14:creationId xmlns:p14="http://schemas.microsoft.com/office/powerpoint/2010/main" val="105213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par>
                                <p:cTn id="16" presetID="10" presetClass="entr" presetSubtype="0"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0"/>
                                        </p:tgtEl>
                                        <p:attrNameLst>
                                          <p:attrName>style.visibility</p:attrName>
                                        </p:attrNameLst>
                                      </p:cBhvr>
                                      <p:to>
                                        <p:strVal val="visible"/>
                                      </p:to>
                                    </p:set>
                                    <p:animEffect transition="in" filter="fade">
                                      <p:cBhvr>
                                        <p:cTn id="23" dur="500"/>
                                        <p:tgtEl>
                                          <p:spTgt spid="70"/>
                                        </p:tgtEl>
                                      </p:cBhvr>
                                    </p:animEffect>
                                  </p:childTnLst>
                                </p:cTn>
                              </p:par>
                              <p:par>
                                <p:cTn id="24" presetID="10" presetClass="entr" presetSubtype="0" fill="hold" nodeType="withEffect">
                                  <p:stCondLst>
                                    <p:cond delay="0"/>
                                  </p:stCondLst>
                                  <p:childTnLst>
                                    <p:set>
                                      <p:cBhvr>
                                        <p:cTn id="25" dur="1" fill="hold">
                                          <p:stCondLst>
                                            <p:cond delay="0"/>
                                          </p:stCondLst>
                                        </p:cTn>
                                        <p:tgtEl>
                                          <p:spTgt spid="69"/>
                                        </p:tgtEl>
                                        <p:attrNameLst>
                                          <p:attrName>style.visibility</p:attrName>
                                        </p:attrNameLst>
                                      </p:cBhvr>
                                      <p:to>
                                        <p:strVal val="visible"/>
                                      </p:to>
                                    </p:set>
                                    <p:animEffect transition="in" filter="fade">
                                      <p:cBhvr>
                                        <p:cTn id="26" dur="500"/>
                                        <p:tgtEl>
                                          <p:spTgt spid="6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80"/>
                                        </p:tgtEl>
                                        <p:attrNameLst>
                                          <p:attrName>style.visibility</p:attrName>
                                        </p:attrNameLst>
                                      </p:cBhvr>
                                      <p:to>
                                        <p:strVal val="visible"/>
                                      </p:to>
                                    </p:set>
                                    <p:animEffect transition="in" filter="fade">
                                      <p:cBhvr>
                                        <p:cTn id="29" dur="500"/>
                                        <p:tgtEl>
                                          <p:spTgt spid="8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92"/>
                                        </p:tgtEl>
                                        <p:attrNameLst>
                                          <p:attrName>style.visibility</p:attrName>
                                        </p:attrNameLst>
                                      </p:cBhvr>
                                      <p:to>
                                        <p:strVal val="visible"/>
                                      </p:to>
                                    </p:set>
                                    <p:animEffect transition="in" filter="fade">
                                      <p:cBhvr>
                                        <p:cTn id="34" dur="500"/>
                                        <p:tgtEl>
                                          <p:spTgt spid="9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fade">
                                      <p:cBhvr>
                                        <p:cTn id="39" dur="500"/>
                                        <p:tgtEl>
                                          <p:spTgt spid="58"/>
                                        </p:tgtEl>
                                      </p:cBhvr>
                                    </p:animEffect>
                                  </p:childTnLst>
                                </p:cTn>
                              </p:par>
                              <p:par>
                                <p:cTn id="40" presetID="10" presetClass="entr" presetSubtype="0"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3"/>
                                        </p:tgtEl>
                                        <p:attrNameLst>
                                          <p:attrName>style.visibility</p:attrName>
                                        </p:attrNameLst>
                                      </p:cBhvr>
                                      <p:to>
                                        <p:strVal val="visible"/>
                                      </p:to>
                                    </p:set>
                                    <p:animEffect transition="in" filter="fade">
                                      <p:cBhvr>
                                        <p:cTn id="47" dur="500"/>
                                        <p:tgtEl>
                                          <p:spTgt spid="73"/>
                                        </p:tgtEl>
                                      </p:cBhvr>
                                    </p:animEffect>
                                  </p:childTnLst>
                                </p:cTn>
                              </p:par>
                              <p:par>
                                <p:cTn id="48" presetID="10" presetClass="entr" presetSubtype="0" fill="hold" nodeType="with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fade">
                                      <p:cBhvr>
                                        <p:cTn id="50" dur="500"/>
                                        <p:tgtEl>
                                          <p:spTgt spid="7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animEffect transition="in" filter="fade">
                                      <p:cBhvr>
                                        <p:cTn id="53" dur="500"/>
                                        <p:tgtEl>
                                          <p:spTgt spid="8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86"/>
                                        </p:tgtEl>
                                        <p:attrNameLst>
                                          <p:attrName>style.visibility</p:attrName>
                                        </p:attrNameLst>
                                      </p:cBhvr>
                                      <p:to>
                                        <p:strVal val="visible"/>
                                      </p:to>
                                    </p:set>
                                    <p:animEffect transition="in" filter="fade">
                                      <p:cBhvr>
                                        <p:cTn id="58" dur="500"/>
                                        <p:tgtEl>
                                          <p:spTgt spid="86"/>
                                        </p:tgtEl>
                                      </p:cBhvr>
                                    </p:animEffect>
                                  </p:childTnLst>
                                </p:cTn>
                              </p:par>
                              <p:par>
                                <p:cTn id="59" presetID="10" presetClass="exit" presetSubtype="0" fill="hold" grpId="1" nodeType="withEffect">
                                  <p:stCondLst>
                                    <p:cond delay="0"/>
                                  </p:stCondLst>
                                  <p:childTnLst>
                                    <p:animEffect transition="out" filter="fade">
                                      <p:cBhvr>
                                        <p:cTn id="60" dur="500"/>
                                        <p:tgtEl>
                                          <p:spTgt spid="92"/>
                                        </p:tgtEl>
                                      </p:cBhvr>
                                    </p:animEffect>
                                    <p:set>
                                      <p:cBhvr>
                                        <p:cTn id="61" dur="1" fill="hold">
                                          <p:stCondLst>
                                            <p:cond delay="499"/>
                                          </p:stCondLst>
                                        </p:cTn>
                                        <p:tgtEl>
                                          <p:spTgt spid="9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87"/>
                                        </p:tgtEl>
                                        <p:attrNameLst>
                                          <p:attrName>style.visibility</p:attrName>
                                        </p:attrNameLst>
                                      </p:cBhvr>
                                      <p:to>
                                        <p:strVal val="visible"/>
                                      </p:to>
                                    </p:set>
                                    <p:animEffect transition="in" filter="fade">
                                      <p:cBhvr>
                                        <p:cTn id="66" dur="500"/>
                                        <p:tgtEl>
                                          <p:spTgt spid="8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47"/>
                                        </p:tgtEl>
                                        <p:attrNameLst>
                                          <p:attrName>style.visibility</p:attrName>
                                        </p:attrNameLst>
                                      </p:cBhvr>
                                      <p:to>
                                        <p:strVal val="visible"/>
                                      </p:to>
                                    </p:set>
                                    <p:animEffect transition="in" filter="fade">
                                      <p:cBhvr>
                                        <p:cTn id="71" dur="500"/>
                                        <p:tgtEl>
                                          <p:spTgt spid="47"/>
                                        </p:tgtEl>
                                      </p:cBhvr>
                                    </p:animEffect>
                                  </p:childTnLst>
                                </p:cTn>
                              </p:par>
                              <p:par>
                                <p:cTn id="72" presetID="10" presetClass="entr" presetSubtype="0" fill="hold" nodeType="with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63"/>
                                        </p:tgtEl>
                                        <p:attrNameLst>
                                          <p:attrName>style.visibility</p:attrName>
                                        </p:attrNameLst>
                                      </p:cBhvr>
                                      <p:to>
                                        <p:strVal val="visible"/>
                                      </p:to>
                                    </p:set>
                                    <p:animEffect transition="in" filter="fade">
                                      <p:cBhvr>
                                        <p:cTn id="79" dur="500"/>
                                        <p:tgtEl>
                                          <p:spTgt spid="63"/>
                                        </p:tgtEl>
                                      </p:cBhvr>
                                    </p:animEffect>
                                  </p:childTnLst>
                                </p:cTn>
                              </p:par>
                              <p:par>
                                <p:cTn id="80" presetID="10" presetClass="entr" presetSubtype="0" fill="hold"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500"/>
                                        <p:tgtEl>
                                          <p:spTgt spid="4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8"/>
                                        </p:tgtEl>
                                        <p:attrNameLst>
                                          <p:attrName>style.visibility</p:attrName>
                                        </p:attrNameLst>
                                      </p:cBhvr>
                                      <p:to>
                                        <p:strVal val="visible"/>
                                      </p:to>
                                    </p:set>
                                    <p:animEffect transition="in" filter="fade">
                                      <p:cBhvr>
                                        <p:cTn id="85" dur="500"/>
                                        <p:tgtEl>
                                          <p:spTgt spid="88"/>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89"/>
                                        </p:tgtEl>
                                        <p:attrNameLst>
                                          <p:attrName>style.visibility</p:attrName>
                                        </p:attrNameLst>
                                      </p:cBhvr>
                                      <p:to>
                                        <p:strVal val="visible"/>
                                      </p:to>
                                    </p:set>
                                    <p:animEffect transition="in" filter="fade">
                                      <p:cBhvr>
                                        <p:cTn id="90" dur="500"/>
                                        <p:tgtEl>
                                          <p:spTgt spid="8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66"/>
                                        </p:tgtEl>
                                        <p:attrNameLst>
                                          <p:attrName>style.visibility</p:attrName>
                                        </p:attrNameLst>
                                      </p:cBhvr>
                                      <p:to>
                                        <p:strVal val="visible"/>
                                      </p:to>
                                    </p:set>
                                    <p:animEffect transition="in" filter="fade">
                                      <p:cBhvr>
                                        <p:cTn id="95" dur="500"/>
                                        <p:tgtEl>
                                          <p:spTgt spid="6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
                                        </p:tgtEl>
                                        <p:attrNameLst>
                                          <p:attrName>style.visibility</p:attrName>
                                        </p:attrNameLst>
                                      </p:cBhvr>
                                      <p:to>
                                        <p:strVal val="visible"/>
                                      </p:to>
                                    </p:set>
                                    <p:animEffect transition="in" filter="fade">
                                      <p:cBhvr>
                                        <p:cTn id="98" dur="500"/>
                                        <p:tgtEl>
                                          <p:spTgt spid="9"/>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fade">
                                      <p:cBhvr>
                                        <p:cTn id="103" dur="500"/>
                                        <p:tgtEl>
                                          <p:spTgt spid="51"/>
                                        </p:tgtEl>
                                      </p:cBhvr>
                                    </p:animEffect>
                                  </p:childTnLst>
                                </p:cTn>
                              </p:par>
                              <p:par>
                                <p:cTn id="104" presetID="10" presetClass="entr" presetSubtype="0" fill="hold" nodeType="with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500"/>
                                        <p:tgtEl>
                                          <p:spTgt spid="41"/>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75"/>
                                        </p:tgtEl>
                                        <p:attrNameLst>
                                          <p:attrName>style.visibility</p:attrName>
                                        </p:attrNameLst>
                                      </p:cBhvr>
                                      <p:to>
                                        <p:strVal val="visible"/>
                                      </p:to>
                                    </p:set>
                                    <p:animEffect transition="in" filter="fade">
                                      <p:cBhvr>
                                        <p:cTn id="111" dur="500"/>
                                        <p:tgtEl>
                                          <p:spTgt spid="75"/>
                                        </p:tgtEl>
                                      </p:cBhvr>
                                    </p:animEffect>
                                  </p:childTnLst>
                                </p:cTn>
                              </p:par>
                              <p:par>
                                <p:cTn id="112" presetID="10" presetClass="entr" presetSubtype="0" fill="hold"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500"/>
                                        <p:tgtEl>
                                          <p:spTgt spid="4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90"/>
                                        </p:tgtEl>
                                        <p:attrNameLst>
                                          <p:attrName>style.visibility</p:attrName>
                                        </p:attrNameLst>
                                      </p:cBhvr>
                                      <p:to>
                                        <p:strVal val="visible"/>
                                      </p:to>
                                    </p:set>
                                    <p:animEffect transition="in" filter="fade">
                                      <p:cBhvr>
                                        <p:cTn id="117" dur="500"/>
                                        <p:tgtEl>
                                          <p:spTgt spid="90"/>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91"/>
                                        </p:tgtEl>
                                        <p:attrNameLst>
                                          <p:attrName>style.visibility</p:attrName>
                                        </p:attrNameLst>
                                      </p:cBhvr>
                                      <p:to>
                                        <p:strVal val="visible"/>
                                      </p:to>
                                    </p:set>
                                    <p:animEffect transition="in" filter="fade">
                                      <p:cBhvr>
                                        <p:cTn id="122" dur="500"/>
                                        <p:tgtEl>
                                          <p:spTgt spid="91"/>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64"/>
                                        </p:tgtEl>
                                        <p:attrNameLst>
                                          <p:attrName>style.visibility</p:attrName>
                                        </p:attrNameLst>
                                      </p:cBhvr>
                                      <p:to>
                                        <p:strVal val="visible"/>
                                      </p:to>
                                    </p:set>
                                    <p:animEffect transition="in" filter="fade">
                                      <p:cBhvr>
                                        <p:cTn id="127" dur="500"/>
                                        <p:tgtEl>
                                          <p:spTgt spid="64"/>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65"/>
                                        </p:tgtEl>
                                        <p:attrNameLst>
                                          <p:attrName>style.visibility</p:attrName>
                                        </p:attrNameLst>
                                      </p:cBhvr>
                                      <p:to>
                                        <p:strVal val="visible"/>
                                      </p:to>
                                    </p:set>
                                    <p:animEffect transition="in" filter="fade">
                                      <p:cBhvr>
                                        <p:cTn id="13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5" grpId="0" animBg="1"/>
      <p:bldP spid="80" grpId="0"/>
      <p:bldP spid="82" grpId="0"/>
      <p:bldP spid="86" grpId="0"/>
      <p:bldP spid="87" grpId="0"/>
      <p:bldP spid="88" grpId="0"/>
      <p:bldP spid="89" grpId="0"/>
      <p:bldP spid="90" grpId="0"/>
      <p:bldP spid="91" grpId="0"/>
      <p:bldP spid="92" grpId="0"/>
      <p:bldP spid="92"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2018" name="Rectangle 2"/>
              <p:cNvSpPr>
                <a:spLocks noGrp="1" noChangeArrowheads="1"/>
              </p:cNvSpPr>
              <p:nvPr>
                <p:ph type="title"/>
              </p:nvPr>
            </p:nvSpPr>
            <p:spPr>
              <a:xfrm>
                <a:off x="547233" y="238429"/>
                <a:ext cx="9824436" cy="980771"/>
              </a:xfrm>
            </p:spPr>
            <p:txBody>
              <a:bodyPr/>
              <a:lstStyle/>
              <a:p>
                <a14:m>
                  <m:oMath xmlns:m="http://schemas.openxmlformats.org/officeDocument/2006/math">
                    <m:r>
                      <a:rPr lang="en-US" i="1" dirty="0" smtClean="0">
                        <a:latin typeface="Cambria Math" charset="0"/>
                        <a:cs typeface="Times"/>
                      </a:rPr>
                      <m:t>𝛼</m:t>
                    </m:r>
                  </m:oMath>
                </a14:m>
                <a:r>
                  <a:rPr lang="en-US" i="1" dirty="0" err="1">
                    <a:latin typeface="Corbel" panose="020B0503020204020204" pitchFamily="34" charset="0"/>
                    <a:cs typeface="Times"/>
                  </a:rPr>
                  <a:t>-</a:t>
                </a:r>
                <a14:m>
                  <m:oMath xmlns:m="http://schemas.openxmlformats.org/officeDocument/2006/math">
                    <m:r>
                      <a:rPr lang="en-US" i="1" dirty="0" smtClean="0">
                        <a:latin typeface="Cambria Math" charset="0"/>
                        <a:cs typeface="Times"/>
                      </a:rPr>
                      <m:t>𝛽</m:t>
                    </m:r>
                  </m:oMath>
                </a14:m>
                <a:r>
                  <a:rPr lang="en-US" i="1" dirty="0">
                    <a:latin typeface="Corbel" panose="020B0503020204020204" pitchFamily="34" charset="0"/>
                    <a:cs typeface="Times"/>
                  </a:rPr>
                  <a:t> </a:t>
                </a:r>
                <a:r>
                  <a:rPr lang="en-US" dirty="0"/>
                  <a:t>Pruning</a:t>
                </a:r>
              </a:p>
            </p:txBody>
          </p:sp>
        </mc:Choice>
        <mc:Fallback xmlns="">
          <p:sp>
            <p:nvSpPr>
              <p:cNvPr id="342018" name="Rectangle 2"/>
              <p:cNvSpPr>
                <a:spLocks noGrp="1" noRot="1" noChangeAspect="1" noMove="1" noResize="1" noEditPoints="1" noAdjustHandles="1" noChangeArrowheads="1" noChangeShapeType="1" noTextEdit="1"/>
              </p:cNvSpPr>
              <p:nvPr>
                <p:ph type="title"/>
              </p:nvPr>
            </p:nvSpPr>
            <p:spPr>
              <a:xfrm>
                <a:off x="547233" y="238429"/>
                <a:ext cx="9824436" cy="980771"/>
              </a:xfrm>
              <a:blipFill>
                <a:blip r:embed="rId2"/>
                <a:stretch>
                  <a:fillRect l="-517" t="-11538" b="-38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2019" name="Rectangle 3"/>
              <p:cNvSpPr>
                <a:spLocks noGrp="1" noChangeArrowheads="1"/>
              </p:cNvSpPr>
              <p:nvPr>
                <p:ph idx="1"/>
              </p:nvPr>
            </p:nvSpPr>
            <p:spPr>
              <a:xfrm>
                <a:off x="386367" y="1066802"/>
                <a:ext cx="9824436" cy="5257799"/>
              </a:xfrm>
            </p:spPr>
            <p:txBody>
              <a:bodyPr>
                <a:normAutofit/>
              </a:bodyPr>
              <a:lstStyle/>
              <a:p>
                <a:r>
                  <a:rPr lang="en-US" altLang="en-US" sz="2800" dirty="0"/>
                  <a:t>MAX node </a:t>
                </a:r>
                <a14:m>
                  <m:oMath xmlns:m="http://schemas.openxmlformats.org/officeDocument/2006/math">
                    <m:r>
                      <a:rPr lang="en-US" altLang="en-US" sz="2800" i="1">
                        <a:latin typeface="Cambria Math" charset="0"/>
                      </a:rPr>
                      <m:t>𝑛</m:t>
                    </m:r>
                  </m:oMath>
                </a14:m>
                <a:r>
                  <a:rPr lang="en-US" sz="2800" dirty="0">
                    <a:latin typeface="Corbel" panose="020B0503020204020204" pitchFamily="34" charset="0"/>
                    <a:cs typeface="Times"/>
                  </a:rPr>
                  <a:t>: </a:t>
                </a:r>
                <a14:m>
                  <m:oMath xmlns:m="http://schemas.openxmlformats.org/officeDocument/2006/math">
                    <m:r>
                      <a:rPr lang="en-US" sz="2800" i="1">
                        <a:latin typeface="Cambria Math" charset="0"/>
                        <a:cs typeface="Times"/>
                      </a:rPr>
                      <m:t>𝛼</m:t>
                    </m:r>
                    <m:d>
                      <m:dPr>
                        <m:ctrlPr>
                          <a:rPr lang="en-US" sz="2800" i="1">
                            <a:latin typeface="Cambria Math" panose="02040503050406030204" pitchFamily="18" charset="0"/>
                            <a:cs typeface="Times"/>
                          </a:rPr>
                        </m:ctrlPr>
                      </m:dPr>
                      <m:e>
                        <m:r>
                          <a:rPr lang="en-US" sz="2800" i="1">
                            <a:latin typeface="Cambria Math" charset="0"/>
                            <a:cs typeface="Times"/>
                          </a:rPr>
                          <m:t>𝑛</m:t>
                        </m:r>
                      </m:e>
                    </m:d>
                    <m:r>
                      <a:rPr lang="en-US" sz="2800" i="1">
                        <a:latin typeface="Cambria Math" panose="02040503050406030204" pitchFamily="18" charset="0"/>
                        <a:cs typeface="Times"/>
                      </a:rPr>
                      <m:t>=</m:t>
                    </m:r>
                  </m:oMath>
                </a14:m>
                <a:r>
                  <a:rPr lang="en-US" sz="2800" dirty="0">
                    <a:latin typeface="Corbel" panose="020B0503020204020204" pitchFamily="34" charset="0"/>
                    <a:cs typeface="Times"/>
                  </a:rPr>
                  <a:t> highest </a:t>
                </a:r>
                <a:r>
                  <a:rPr lang="en-US" sz="2800" b="1" dirty="0">
                    <a:latin typeface="Corbel" panose="020B0503020204020204" pitchFamily="34" charset="0"/>
                    <a:cs typeface="Times"/>
                  </a:rPr>
                  <a:t>observed </a:t>
                </a:r>
                <a:r>
                  <a:rPr lang="en-US" sz="2800" dirty="0">
                    <a:latin typeface="Corbel" panose="020B0503020204020204" pitchFamily="34" charset="0"/>
                    <a:cs typeface="Times"/>
                  </a:rPr>
                  <a:t>value found on path from </a:t>
                </a:r>
                <a14:m>
                  <m:oMath xmlns:m="http://schemas.openxmlformats.org/officeDocument/2006/math">
                    <m:r>
                      <a:rPr lang="en-US" sz="2800" i="1" dirty="0">
                        <a:latin typeface="Cambria Math" charset="0"/>
                        <a:cs typeface="Times"/>
                      </a:rPr>
                      <m:t>𝑛</m:t>
                    </m:r>
                  </m:oMath>
                </a14:m>
                <a:r>
                  <a:rPr lang="en-US" sz="2800" dirty="0">
                    <a:latin typeface="Corbel" panose="020B0503020204020204" pitchFamily="34" charset="0"/>
                    <a:cs typeface="Times"/>
                  </a:rPr>
                  <a:t>; initially </a:t>
                </a:r>
                <a14:m>
                  <m:oMath xmlns:m="http://schemas.openxmlformats.org/officeDocument/2006/math">
                    <m:r>
                      <a:rPr lang="en-US" sz="2800" i="1">
                        <a:latin typeface="Cambria Math" charset="0"/>
                        <a:cs typeface="Times"/>
                      </a:rPr>
                      <m:t>𝛼</m:t>
                    </m:r>
                    <m:d>
                      <m:dPr>
                        <m:ctrlPr>
                          <a:rPr lang="en-US" sz="2800" i="1">
                            <a:latin typeface="Cambria Math" panose="02040503050406030204" pitchFamily="18" charset="0"/>
                            <a:cs typeface="Times"/>
                          </a:rPr>
                        </m:ctrlPr>
                      </m:dPr>
                      <m:e>
                        <m:r>
                          <a:rPr lang="en-US" sz="2800" i="1">
                            <a:latin typeface="Cambria Math" charset="0"/>
                            <a:cs typeface="Times"/>
                          </a:rPr>
                          <m:t>𝑛</m:t>
                        </m:r>
                      </m:e>
                    </m:d>
                    <m:r>
                      <a:rPr lang="en-US" sz="2800" i="1">
                        <a:latin typeface="Cambria Math" charset="0"/>
                        <a:cs typeface="Times"/>
                      </a:rPr>
                      <m:t>=−∞</m:t>
                    </m:r>
                  </m:oMath>
                </a14:m>
                <a:endParaRPr lang="en-US" sz="2800" dirty="0">
                  <a:latin typeface="Corbel" panose="020B0503020204020204" pitchFamily="34" charset="0"/>
                  <a:cs typeface="Times"/>
                </a:endParaRPr>
              </a:p>
              <a:p>
                <a:r>
                  <a:rPr lang="en-US" sz="2800" dirty="0">
                    <a:latin typeface="Corbel" panose="020B0503020204020204" pitchFamily="34" charset="0"/>
                    <a:cs typeface="Times"/>
                  </a:rPr>
                  <a:t>MIN node </a:t>
                </a:r>
                <a14:m>
                  <m:oMath xmlns:m="http://schemas.openxmlformats.org/officeDocument/2006/math">
                    <m:r>
                      <a:rPr lang="en-US" sz="2800" i="1">
                        <a:latin typeface="Cambria Math" charset="0"/>
                        <a:cs typeface="Times"/>
                      </a:rPr>
                      <m:t>𝑛</m:t>
                    </m:r>
                  </m:oMath>
                </a14:m>
                <a:r>
                  <a:rPr lang="en-US" sz="2800" dirty="0">
                    <a:latin typeface="Corbel" panose="020B0503020204020204" pitchFamily="34" charset="0"/>
                    <a:cs typeface="Times"/>
                  </a:rPr>
                  <a:t>: </a:t>
                </a:r>
                <a14:m>
                  <m:oMath xmlns:m="http://schemas.openxmlformats.org/officeDocument/2006/math">
                    <m:r>
                      <a:rPr lang="en-US" sz="2800" i="1">
                        <a:latin typeface="Cambria Math" charset="0"/>
                        <a:cs typeface="Times"/>
                      </a:rPr>
                      <m:t>𝛽</m:t>
                    </m:r>
                    <m:d>
                      <m:dPr>
                        <m:ctrlPr>
                          <a:rPr lang="en-US" sz="2800" i="1">
                            <a:latin typeface="Cambria Math" panose="02040503050406030204" pitchFamily="18" charset="0"/>
                            <a:cs typeface="Times"/>
                          </a:rPr>
                        </m:ctrlPr>
                      </m:dPr>
                      <m:e>
                        <m:r>
                          <a:rPr lang="en-US" sz="2800" i="1">
                            <a:latin typeface="Cambria Math" charset="0"/>
                            <a:cs typeface="Times"/>
                          </a:rPr>
                          <m:t>𝑛</m:t>
                        </m:r>
                      </m:e>
                    </m:d>
                    <m:r>
                      <a:rPr lang="en-US" sz="2800" i="1">
                        <a:latin typeface="Cambria Math" charset="0"/>
                        <a:cs typeface="Times"/>
                      </a:rPr>
                      <m:t> </m:t>
                    </m:r>
                  </m:oMath>
                </a14:m>
                <a:r>
                  <a:rPr lang="en-US" sz="2800" dirty="0">
                    <a:latin typeface="Corbel" panose="020B0503020204020204" pitchFamily="34" charset="0"/>
                    <a:cs typeface="Times"/>
                  </a:rPr>
                  <a:t>is the lowest observed value found on path from</a:t>
                </a:r>
                <a:r>
                  <a:rPr lang="en-US" sz="2800" dirty="0">
                    <a:cs typeface="Times"/>
                  </a:rPr>
                  <a:t> </a:t>
                </a:r>
                <a14:m>
                  <m:oMath xmlns:m="http://schemas.openxmlformats.org/officeDocument/2006/math">
                    <m:r>
                      <a:rPr lang="en-US" sz="2800" i="1">
                        <a:latin typeface="Cambria Math" charset="0"/>
                        <a:cs typeface="Times"/>
                      </a:rPr>
                      <m:t>𝑛</m:t>
                    </m:r>
                  </m:oMath>
                </a14:m>
                <a:r>
                  <a:rPr lang="en-US" sz="2800" dirty="0">
                    <a:latin typeface="Corbel" panose="020B0503020204020204" pitchFamily="34" charset="0"/>
                    <a:cs typeface="Times"/>
                  </a:rPr>
                  <a:t>; initially </a:t>
                </a:r>
                <a14:m>
                  <m:oMath xmlns:m="http://schemas.openxmlformats.org/officeDocument/2006/math">
                    <m:r>
                      <a:rPr lang="en-US" sz="2800" i="1">
                        <a:latin typeface="Cambria Math" charset="0"/>
                        <a:cs typeface="Times"/>
                      </a:rPr>
                      <m:t>𝛽</m:t>
                    </m:r>
                    <m:d>
                      <m:dPr>
                        <m:ctrlPr>
                          <a:rPr lang="en-US" sz="2800" i="1">
                            <a:latin typeface="Cambria Math" panose="02040503050406030204" pitchFamily="18" charset="0"/>
                            <a:cs typeface="Times"/>
                          </a:rPr>
                        </m:ctrlPr>
                      </m:dPr>
                      <m:e>
                        <m:r>
                          <a:rPr lang="en-US" sz="2800" i="1">
                            <a:latin typeface="Cambria Math" charset="0"/>
                            <a:cs typeface="Times"/>
                          </a:rPr>
                          <m:t>𝑛</m:t>
                        </m:r>
                      </m:e>
                    </m:d>
                    <m:r>
                      <a:rPr lang="en-US" sz="2800" i="1">
                        <a:latin typeface="Cambria Math" charset="0"/>
                        <a:cs typeface="Times"/>
                      </a:rPr>
                      <m:t>=+∞</m:t>
                    </m:r>
                  </m:oMath>
                </a14:m>
                <a:endParaRPr lang="en-US" sz="2800" dirty="0">
                  <a:latin typeface="Corbel" panose="020B0503020204020204" pitchFamily="34" charset="0"/>
                  <a:cs typeface="Times"/>
                </a:endParaRPr>
              </a:p>
              <a:p>
                <a:r>
                  <a:rPr lang="en-US" sz="2800" dirty="0">
                    <a:solidFill>
                      <a:srgbClr val="FF0000"/>
                    </a:solidFill>
                    <a:latin typeface="Corbel" panose="020B0503020204020204" pitchFamily="34" charset="0"/>
                    <a:cs typeface="Times"/>
                  </a:rPr>
                  <a:t>Pruning</a:t>
                </a:r>
                <a:r>
                  <a:rPr lang="en-US" sz="2800" dirty="0">
                    <a:latin typeface="Corbel" panose="020B0503020204020204" pitchFamily="34" charset="0"/>
                    <a:cs typeface="Times"/>
                  </a:rPr>
                  <a:t>: </a:t>
                </a:r>
              </a:p>
              <a:p>
                <a:pPr lvl="1"/>
                <a:r>
                  <a:rPr lang="en-US" dirty="0">
                    <a:latin typeface="Corbel" panose="020B0503020204020204" pitchFamily="34" charset="0"/>
                    <a:cs typeface="Times"/>
                  </a:rPr>
                  <a:t>given a MIN node </a:t>
                </a:r>
                <a14:m>
                  <m:oMath xmlns:m="http://schemas.openxmlformats.org/officeDocument/2006/math">
                    <m:r>
                      <a:rPr lang="en-US" b="0" i="1" smtClean="0">
                        <a:latin typeface="Cambria Math" charset="0"/>
                        <a:cs typeface="Times"/>
                      </a:rPr>
                      <m:t>𝑛</m:t>
                    </m:r>
                  </m:oMath>
                </a14:m>
                <a:r>
                  <a:rPr lang="en-US" dirty="0">
                    <a:latin typeface="Corbel" panose="020B0503020204020204" pitchFamily="34" charset="0"/>
                    <a:cs typeface="Times"/>
                  </a:rPr>
                  <a:t>, stop searching below </a:t>
                </a:r>
                <a14:m>
                  <m:oMath xmlns:m="http://schemas.openxmlformats.org/officeDocument/2006/math">
                    <m:r>
                      <a:rPr lang="en-US" b="0" i="1" smtClean="0">
                        <a:latin typeface="Cambria Math" charset="0"/>
                        <a:cs typeface="Times"/>
                      </a:rPr>
                      <m:t>𝑛</m:t>
                    </m:r>
                  </m:oMath>
                </a14:m>
                <a:r>
                  <a:rPr lang="en-US" dirty="0">
                    <a:latin typeface="Corbel" panose="020B0503020204020204" pitchFamily="34" charset="0"/>
                    <a:cs typeface="Times"/>
                  </a:rPr>
                  <a:t> if there is some MAX ancestor </a:t>
                </a:r>
                <a14:m>
                  <m:oMath xmlns:m="http://schemas.openxmlformats.org/officeDocument/2006/math">
                    <m:r>
                      <a:rPr lang="en-US" b="0" i="1" smtClean="0">
                        <a:latin typeface="Cambria Math" charset="0"/>
                        <a:cs typeface="Times"/>
                      </a:rPr>
                      <m:t>𝑖</m:t>
                    </m:r>
                  </m:oMath>
                </a14:m>
                <a:r>
                  <a:rPr lang="en-US" dirty="0">
                    <a:latin typeface="Corbel" panose="020B0503020204020204" pitchFamily="34" charset="0"/>
                    <a:cs typeface="Times"/>
                  </a:rPr>
                  <a:t> of </a:t>
                </a:r>
                <a14:m>
                  <m:oMath xmlns:m="http://schemas.openxmlformats.org/officeDocument/2006/math">
                    <m:r>
                      <a:rPr lang="en-US" b="0" i="1" smtClean="0">
                        <a:latin typeface="Cambria Math" charset="0"/>
                        <a:cs typeface="Times"/>
                      </a:rPr>
                      <m:t>𝑛</m:t>
                    </m:r>
                  </m:oMath>
                </a14:m>
                <a:r>
                  <a:rPr lang="en-US" dirty="0">
                    <a:latin typeface="Corbel" panose="020B0503020204020204" pitchFamily="34" charset="0"/>
                    <a:cs typeface="Times"/>
                  </a:rPr>
                  <a:t> with </a:t>
                </a:r>
                <a14:m>
                  <m:oMath xmlns:m="http://schemas.openxmlformats.org/officeDocument/2006/math">
                    <m:r>
                      <a:rPr lang="en-US" b="0" i="1" smtClean="0">
                        <a:latin typeface="Cambria Math" charset="0"/>
                        <a:cs typeface="Times"/>
                      </a:rPr>
                      <m:t>𝛼</m:t>
                    </m:r>
                    <m:d>
                      <m:dPr>
                        <m:ctrlPr>
                          <a:rPr lang="en-US" i="1">
                            <a:latin typeface="Cambria Math" panose="02040503050406030204" pitchFamily="18" charset="0"/>
                            <a:cs typeface="Times"/>
                          </a:rPr>
                        </m:ctrlPr>
                      </m:dPr>
                      <m:e>
                        <m:r>
                          <a:rPr lang="en-US" b="0" i="1" smtClean="0">
                            <a:latin typeface="Cambria Math" charset="0"/>
                            <a:cs typeface="Times"/>
                          </a:rPr>
                          <m:t>𝑖</m:t>
                        </m:r>
                      </m:e>
                    </m:d>
                    <m:r>
                      <a:rPr lang="en-US" b="0" i="1" smtClean="0">
                        <a:latin typeface="Cambria Math" charset="0"/>
                        <a:cs typeface="Times"/>
                      </a:rPr>
                      <m:t>≥</m:t>
                    </m:r>
                    <m:r>
                      <a:rPr lang="en-US" b="0" i="1" smtClean="0">
                        <a:latin typeface="Cambria Math" charset="0"/>
                        <a:cs typeface="Times"/>
                      </a:rPr>
                      <m:t>𝛽</m:t>
                    </m:r>
                    <m:d>
                      <m:dPr>
                        <m:ctrlPr>
                          <a:rPr lang="en-US" b="0" i="1" smtClean="0">
                            <a:latin typeface="Cambria Math" panose="02040503050406030204" pitchFamily="18" charset="0"/>
                            <a:cs typeface="Times"/>
                          </a:rPr>
                        </m:ctrlPr>
                      </m:dPr>
                      <m:e>
                        <m:r>
                          <a:rPr lang="en-US" b="0" i="1" smtClean="0">
                            <a:latin typeface="Cambria Math" charset="0"/>
                            <a:cs typeface="Times"/>
                          </a:rPr>
                          <m:t>𝑛</m:t>
                        </m:r>
                      </m:e>
                    </m:d>
                  </m:oMath>
                </a14:m>
                <a:endParaRPr lang="en-US" dirty="0">
                  <a:latin typeface="Corbel" panose="020B0503020204020204" pitchFamily="34" charset="0"/>
                  <a:cs typeface="Times"/>
                </a:endParaRPr>
              </a:p>
              <a:p>
                <a:pPr lvl="1"/>
                <a:r>
                  <a:rPr lang="en-US" dirty="0">
                    <a:latin typeface="Corbel" panose="020B0503020204020204" pitchFamily="34" charset="0"/>
                    <a:cs typeface="Times"/>
                  </a:rPr>
                  <a:t>given a MAX node </a:t>
                </a:r>
                <a14:m>
                  <m:oMath xmlns:m="http://schemas.openxmlformats.org/officeDocument/2006/math">
                    <m:r>
                      <a:rPr lang="en-US" b="0" i="1" smtClean="0">
                        <a:latin typeface="Cambria Math" charset="0"/>
                        <a:cs typeface="Times"/>
                      </a:rPr>
                      <m:t>𝑛</m:t>
                    </m:r>
                  </m:oMath>
                </a14:m>
                <a:r>
                  <a:rPr lang="en-US" dirty="0">
                    <a:latin typeface="Corbel" panose="020B0503020204020204" pitchFamily="34" charset="0"/>
                    <a:cs typeface="Times"/>
                  </a:rPr>
                  <a:t>, stop searching below </a:t>
                </a:r>
                <a14:m>
                  <m:oMath xmlns:m="http://schemas.openxmlformats.org/officeDocument/2006/math">
                    <m:r>
                      <a:rPr lang="en-US" b="0" i="1" smtClean="0">
                        <a:latin typeface="Cambria Math" charset="0"/>
                        <a:cs typeface="Times"/>
                      </a:rPr>
                      <m:t>𝑛</m:t>
                    </m:r>
                  </m:oMath>
                </a14:m>
                <a:r>
                  <a:rPr lang="en-US" dirty="0">
                    <a:latin typeface="Corbel" panose="020B0503020204020204" pitchFamily="34" charset="0"/>
                    <a:cs typeface="Times"/>
                  </a:rPr>
                  <a:t> if there is some MIN ancestor </a:t>
                </a:r>
                <a14:m>
                  <m:oMath xmlns:m="http://schemas.openxmlformats.org/officeDocument/2006/math">
                    <m:r>
                      <a:rPr lang="en-US" b="0" i="1" smtClean="0">
                        <a:latin typeface="Cambria Math" charset="0"/>
                        <a:cs typeface="Times"/>
                      </a:rPr>
                      <m:t>𝑖</m:t>
                    </m:r>
                  </m:oMath>
                </a14:m>
                <a:r>
                  <a:rPr lang="en-US" dirty="0">
                    <a:latin typeface="Corbel" panose="020B0503020204020204" pitchFamily="34" charset="0"/>
                    <a:cs typeface="Times"/>
                  </a:rPr>
                  <a:t> of </a:t>
                </a:r>
                <a14:m>
                  <m:oMath xmlns:m="http://schemas.openxmlformats.org/officeDocument/2006/math">
                    <m:r>
                      <a:rPr lang="en-US" b="0" i="1" smtClean="0">
                        <a:latin typeface="Cambria Math" charset="0"/>
                        <a:cs typeface="Times"/>
                      </a:rPr>
                      <m:t>𝑛</m:t>
                    </m:r>
                  </m:oMath>
                </a14:m>
                <a:r>
                  <a:rPr lang="en-US" dirty="0">
                    <a:latin typeface="Corbel" panose="020B0503020204020204" pitchFamily="34" charset="0"/>
                    <a:cs typeface="Times"/>
                  </a:rPr>
                  <a:t> with </a:t>
                </a:r>
                <a14:m>
                  <m:oMath xmlns:m="http://schemas.openxmlformats.org/officeDocument/2006/math">
                    <m:r>
                      <a:rPr lang="en-US" b="0" i="1" smtClean="0">
                        <a:latin typeface="Cambria Math" charset="0"/>
                        <a:cs typeface="Times"/>
                      </a:rPr>
                      <m:t>𝛽</m:t>
                    </m:r>
                    <m:d>
                      <m:dPr>
                        <m:ctrlPr>
                          <a:rPr lang="en-US" i="1">
                            <a:latin typeface="Cambria Math" panose="02040503050406030204" pitchFamily="18" charset="0"/>
                            <a:cs typeface="Times"/>
                          </a:rPr>
                        </m:ctrlPr>
                      </m:dPr>
                      <m:e>
                        <m:r>
                          <a:rPr lang="en-US" b="0" i="1" smtClean="0">
                            <a:latin typeface="Cambria Math" charset="0"/>
                            <a:cs typeface="Times"/>
                          </a:rPr>
                          <m:t>𝑖</m:t>
                        </m:r>
                      </m:e>
                    </m:d>
                    <m:r>
                      <a:rPr lang="en-US" b="0" i="1" smtClean="0">
                        <a:latin typeface="Cambria Math" charset="0"/>
                        <a:cs typeface="Times"/>
                      </a:rPr>
                      <m:t>≤</m:t>
                    </m:r>
                    <m:r>
                      <a:rPr lang="en-US" b="0" i="1" smtClean="0">
                        <a:latin typeface="Cambria Math" charset="0"/>
                        <a:cs typeface="Times"/>
                      </a:rPr>
                      <m:t>𝛼</m:t>
                    </m:r>
                    <m:d>
                      <m:dPr>
                        <m:ctrlPr>
                          <a:rPr lang="en-US" b="0" i="1" smtClean="0">
                            <a:latin typeface="Cambria Math" panose="02040503050406030204" pitchFamily="18" charset="0"/>
                            <a:cs typeface="Times"/>
                          </a:rPr>
                        </m:ctrlPr>
                      </m:dPr>
                      <m:e>
                        <m:r>
                          <a:rPr lang="en-US" b="0" i="1" smtClean="0">
                            <a:latin typeface="Cambria Math" charset="0"/>
                            <a:cs typeface="Times"/>
                          </a:rPr>
                          <m:t>𝑛</m:t>
                        </m:r>
                      </m:e>
                    </m:d>
                  </m:oMath>
                </a14:m>
                <a:endParaRPr lang="en-US" dirty="0">
                  <a:latin typeface="Corbel" panose="020B0503020204020204" pitchFamily="34" charset="0"/>
                  <a:cs typeface="Times"/>
                </a:endParaRPr>
              </a:p>
            </p:txBody>
          </p:sp>
        </mc:Choice>
        <mc:Fallback xmlns="">
          <p:sp>
            <p:nvSpPr>
              <p:cNvPr id="342019" name="Rectangle 3"/>
              <p:cNvSpPr>
                <a:spLocks noGrp="1" noRot="1" noChangeAspect="1" noMove="1" noResize="1" noEditPoints="1" noAdjustHandles="1" noChangeArrowheads="1" noChangeShapeType="1" noTextEdit="1"/>
              </p:cNvSpPr>
              <p:nvPr>
                <p:ph idx="1"/>
              </p:nvPr>
            </p:nvSpPr>
            <p:spPr>
              <a:xfrm>
                <a:off x="386367" y="1066802"/>
                <a:ext cx="9824436" cy="5257799"/>
              </a:xfrm>
              <a:blipFill>
                <a:blip r:embed="rId3"/>
                <a:stretch>
                  <a:fillRect l="-387" t="-1687"/>
                </a:stretch>
              </a:blipFill>
            </p:spPr>
            <p:txBody>
              <a:bodyPr/>
              <a:lstStyle/>
              <a:p>
                <a:r>
                  <a:rPr lang="en-GB">
                    <a:noFill/>
                  </a:rPr>
                  <a:t> </a:t>
                </a:r>
              </a:p>
            </p:txBody>
          </p:sp>
        </mc:Fallback>
      </mc:AlternateContent>
    </p:spTree>
    <p:extLst>
      <p:ext uri="{BB962C8B-B14F-4D97-AF65-F5344CB8AC3E}">
        <p14:creationId xmlns:p14="http://schemas.microsoft.com/office/powerpoint/2010/main" val="10756987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4306" name="Rectangle 2"/>
              <p:cNvSpPr>
                <a:spLocks noGrp="1" noChangeArrowheads="1"/>
              </p:cNvSpPr>
              <p:nvPr>
                <p:ph type="title"/>
              </p:nvPr>
            </p:nvSpPr>
            <p:spPr>
              <a:xfrm>
                <a:off x="505173" y="457203"/>
                <a:ext cx="9705629" cy="1142999"/>
              </a:xfrm>
            </p:spPr>
            <p:txBody>
              <a:bodyPr>
                <a:normAutofit/>
              </a:bodyPr>
              <a:lstStyle/>
              <a:p>
                <a:r>
                  <a:rPr lang="en-US" dirty="0"/>
                  <a:t>Summary: </a:t>
                </a:r>
                <a14:m>
                  <m:oMath xmlns:m="http://schemas.openxmlformats.org/officeDocument/2006/math">
                    <m:r>
                      <a:rPr lang="en-US" i="1" dirty="0" smtClean="0">
                        <a:latin typeface="Cambria Math" charset="0"/>
                        <a:cs typeface="Times"/>
                      </a:rPr>
                      <m:t>𝛼</m:t>
                    </m:r>
                  </m:oMath>
                </a14:m>
                <a:r>
                  <a:rPr lang="en-US" i="1" dirty="0" err="1">
                    <a:latin typeface="Corbel" panose="020B0503020204020204" pitchFamily="34" charset="0"/>
                    <a:cs typeface="Times"/>
                  </a:rPr>
                  <a:t>-</a:t>
                </a:r>
                <a14:m>
                  <m:oMath xmlns:m="http://schemas.openxmlformats.org/officeDocument/2006/math">
                    <m:r>
                      <a:rPr lang="en-US" i="1" dirty="0" smtClean="0">
                        <a:latin typeface="Cambria Math" charset="0"/>
                        <a:cs typeface="Times"/>
                      </a:rPr>
                      <m:t>𝛽</m:t>
                    </m:r>
                  </m:oMath>
                </a14:m>
                <a:r>
                  <a:rPr lang="en-US" dirty="0"/>
                  <a:t> Pruning Algorithm</a:t>
                </a:r>
              </a:p>
            </p:txBody>
          </p:sp>
        </mc:Choice>
        <mc:Fallback xmlns="">
          <p:sp>
            <p:nvSpPr>
              <p:cNvPr id="354306" name="Rectangle 2"/>
              <p:cNvSpPr>
                <a:spLocks noGrp="1" noRot="1" noChangeAspect="1" noMove="1" noResize="1" noEditPoints="1" noAdjustHandles="1" noChangeArrowheads="1" noChangeShapeType="1" noTextEdit="1"/>
              </p:cNvSpPr>
              <p:nvPr>
                <p:ph type="title"/>
              </p:nvPr>
            </p:nvSpPr>
            <p:spPr>
              <a:xfrm>
                <a:off x="505173" y="457203"/>
                <a:ext cx="9705629" cy="1142999"/>
              </a:xfrm>
              <a:blipFill>
                <a:blip r:embed="rId3"/>
                <a:stretch>
                  <a:fillRect l="-2350" t="-109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4307" name="Rectangle 3"/>
              <p:cNvSpPr>
                <a:spLocks noGrp="1" noChangeArrowheads="1"/>
              </p:cNvSpPr>
              <p:nvPr>
                <p:ph idx="1"/>
              </p:nvPr>
            </p:nvSpPr>
            <p:spPr>
              <a:xfrm>
                <a:off x="631065" y="1225287"/>
                <a:ext cx="9884535" cy="5257800"/>
              </a:xfrm>
            </p:spPr>
            <p:txBody>
              <a:bodyPr>
                <a:normAutofit/>
              </a:bodyPr>
              <a:lstStyle/>
              <a:p>
                <a:pPr>
                  <a:spcBef>
                    <a:spcPts val="1200"/>
                  </a:spcBef>
                </a:pPr>
                <a:r>
                  <a:rPr lang="en-US" sz="3200" dirty="0">
                    <a:latin typeface="Corbel" panose="020B0503020204020204" pitchFamily="34" charset="0"/>
                    <a:cs typeface="Times"/>
                  </a:rPr>
                  <a:t>Initially, </a:t>
                </a:r>
                <a14:m>
                  <m:oMath xmlns:m="http://schemas.openxmlformats.org/officeDocument/2006/math">
                    <m:r>
                      <a:rPr lang="en-US" sz="3200" i="1" dirty="0">
                        <a:latin typeface="Cambria Math" panose="02040503050406030204" pitchFamily="18" charset="0"/>
                        <a:cs typeface="Times"/>
                      </a:rPr>
                      <m:t>𝛼</m:t>
                    </m:r>
                    <m:d>
                      <m:dPr>
                        <m:ctrlPr>
                          <a:rPr lang="en-US" sz="3200" i="1" dirty="0">
                            <a:latin typeface="Cambria Math" panose="02040503050406030204" pitchFamily="18" charset="0"/>
                            <a:cs typeface="Times"/>
                          </a:rPr>
                        </m:ctrlPr>
                      </m:dPr>
                      <m:e>
                        <m:r>
                          <a:rPr lang="en-US" sz="3200" i="1" dirty="0">
                            <a:latin typeface="Cambria Math" panose="02040503050406030204" pitchFamily="18" charset="0"/>
                            <a:cs typeface="Times"/>
                          </a:rPr>
                          <m:t>𝑛</m:t>
                        </m:r>
                      </m:e>
                    </m:d>
                    <m:r>
                      <a:rPr lang="en-US" sz="3200" i="1" dirty="0">
                        <a:latin typeface="Cambria Math" panose="02040503050406030204" pitchFamily="18" charset="0"/>
                        <a:cs typeface="Times"/>
                      </a:rPr>
                      <m:t>=−∞</m:t>
                    </m:r>
                  </m:oMath>
                </a14:m>
                <a:r>
                  <a:rPr lang="en-US" sz="3200" dirty="0">
                    <a:latin typeface="Corbel" panose="020B0503020204020204" pitchFamily="34" charset="0"/>
                    <a:cs typeface="Times"/>
                  </a:rPr>
                  <a:t>, </a:t>
                </a:r>
                <a14:m>
                  <m:oMath xmlns:m="http://schemas.openxmlformats.org/officeDocument/2006/math">
                    <m:r>
                      <a:rPr lang="en-US" sz="3200" i="1" dirty="0">
                        <a:latin typeface="Cambria Math" panose="02040503050406030204" pitchFamily="18" charset="0"/>
                        <a:cs typeface="Times"/>
                      </a:rPr>
                      <m:t>𝛽</m:t>
                    </m:r>
                    <m:r>
                      <a:rPr lang="en-US" sz="3200" i="1" dirty="0">
                        <a:latin typeface="Cambria Math" panose="02040503050406030204" pitchFamily="18" charset="0"/>
                        <a:cs typeface="Times"/>
                      </a:rPr>
                      <m:t>(</m:t>
                    </m:r>
                    <m:r>
                      <a:rPr lang="en-US" sz="3200" i="1" dirty="0">
                        <a:latin typeface="Cambria Math" panose="02040503050406030204" pitchFamily="18" charset="0"/>
                        <a:cs typeface="Times"/>
                      </a:rPr>
                      <m:t>𝑛</m:t>
                    </m:r>
                    <m:r>
                      <a:rPr lang="en-US" sz="3200" i="1" dirty="0">
                        <a:latin typeface="Cambria Math" panose="02040503050406030204" pitchFamily="18" charset="0"/>
                        <a:cs typeface="Times"/>
                      </a:rPr>
                      <m:t>)=+∞</m:t>
                    </m:r>
                  </m:oMath>
                </a14:m>
                <a:r>
                  <a:rPr lang="en-US" sz="3200" dirty="0">
                    <a:latin typeface="Corbel" panose="020B0503020204020204" pitchFamily="34" charset="0"/>
                    <a:cs typeface="Times"/>
                  </a:rPr>
                  <a:t> </a:t>
                </a:r>
              </a:p>
              <a:p>
                <a:pPr>
                  <a:spcBef>
                    <a:spcPts val="1200"/>
                  </a:spcBef>
                </a:pPr>
                <a14:m>
                  <m:oMath xmlns:m="http://schemas.openxmlformats.org/officeDocument/2006/math">
                    <m:r>
                      <a:rPr lang="en-US" sz="3200" i="1" dirty="0">
                        <a:latin typeface="Cambria Math" panose="02040503050406030204" pitchFamily="18" charset="0"/>
                        <a:cs typeface="Times"/>
                      </a:rPr>
                      <m:t>𝛼</m:t>
                    </m:r>
                    <m:d>
                      <m:dPr>
                        <m:ctrlPr>
                          <a:rPr lang="en-US" sz="3200" i="1" dirty="0">
                            <a:latin typeface="Cambria Math" panose="02040503050406030204" pitchFamily="18" charset="0"/>
                            <a:cs typeface="Times"/>
                          </a:rPr>
                        </m:ctrlPr>
                      </m:dPr>
                      <m:e>
                        <m:r>
                          <a:rPr lang="en-US" sz="3200" i="1" dirty="0">
                            <a:latin typeface="Cambria Math" panose="02040503050406030204" pitchFamily="18" charset="0"/>
                            <a:cs typeface="Times"/>
                          </a:rPr>
                          <m:t>𝑛</m:t>
                        </m:r>
                      </m:e>
                    </m:d>
                  </m:oMath>
                </a14:m>
                <a:r>
                  <a:rPr lang="en-US" sz="3200" dirty="0">
                    <a:latin typeface="Corbel" panose="020B0503020204020204" pitchFamily="34" charset="0"/>
                    <a:cs typeface="Times"/>
                  </a:rPr>
                  <a:t> is max along search path containing </a:t>
                </a:r>
                <a14:m>
                  <m:oMath xmlns:m="http://schemas.openxmlformats.org/officeDocument/2006/math">
                    <m:r>
                      <a:rPr lang="en-US" sz="3200" i="1">
                        <a:latin typeface="Cambria Math" panose="02040503050406030204" pitchFamily="18" charset="0"/>
                        <a:cs typeface="Times"/>
                      </a:rPr>
                      <m:t>𝑛</m:t>
                    </m:r>
                  </m:oMath>
                </a14:m>
                <a:endParaRPr lang="en-US" sz="3200" dirty="0">
                  <a:latin typeface="Corbel" panose="020B0503020204020204" pitchFamily="34" charset="0"/>
                  <a:cs typeface="Times"/>
                </a:endParaRPr>
              </a:p>
              <a:p>
                <a:pPr>
                  <a:spcBef>
                    <a:spcPts val="1200"/>
                  </a:spcBef>
                </a:pPr>
                <a14:m>
                  <m:oMath xmlns:m="http://schemas.openxmlformats.org/officeDocument/2006/math">
                    <m:r>
                      <a:rPr lang="en-US" sz="3200" i="1" dirty="0">
                        <a:latin typeface="Cambria Math" panose="02040503050406030204" pitchFamily="18" charset="0"/>
                        <a:cs typeface="Times"/>
                      </a:rPr>
                      <m:t>𝛽</m:t>
                    </m:r>
                    <m:d>
                      <m:dPr>
                        <m:ctrlPr>
                          <a:rPr lang="en-US" sz="3200" i="1" dirty="0">
                            <a:latin typeface="Cambria Math" panose="02040503050406030204" pitchFamily="18" charset="0"/>
                            <a:cs typeface="Times"/>
                          </a:rPr>
                        </m:ctrlPr>
                      </m:dPr>
                      <m:e>
                        <m:r>
                          <a:rPr lang="en-US" sz="3200" i="1" dirty="0">
                            <a:latin typeface="Cambria Math" panose="02040503050406030204" pitchFamily="18" charset="0"/>
                            <a:cs typeface="Times"/>
                          </a:rPr>
                          <m:t>𝑛</m:t>
                        </m:r>
                      </m:e>
                    </m:d>
                  </m:oMath>
                </a14:m>
                <a:r>
                  <a:rPr lang="en-US" sz="3200" dirty="0">
                    <a:latin typeface="Corbel" panose="020B0503020204020204" pitchFamily="34" charset="0"/>
                    <a:cs typeface="Times"/>
                  </a:rPr>
                  <a:t> is min along search path containing </a:t>
                </a:r>
                <a14:m>
                  <m:oMath xmlns:m="http://schemas.openxmlformats.org/officeDocument/2006/math">
                    <m:r>
                      <a:rPr lang="en-US" sz="3200" i="1">
                        <a:latin typeface="Cambria Math" panose="02040503050406030204" pitchFamily="18" charset="0"/>
                        <a:cs typeface="Times"/>
                      </a:rPr>
                      <m:t>𝑛</m:t>
                    </m:r>
                  </m:oMath>
                </a14:m>
                <a:endParaRPr lang="en-US" sz="3200" dirty="0">
                  <a:latin typeface="Corbel" panose="020B0503020204020204" pitchFamily="34" charset="0"/>
                  <a:ea typeface="Tahoma" pitchFamily="-107" charset="0"/>
                  <a:cs typeface="Times"/>
                </a:endParaRPr>
              </a:p>
              <a:p>
                <a:pPr>
                  <a:spcBef>
                    <a:spcPts val="1200"/>
                  </a:spcBef>
                </a:pPr>
                <a:r>
                  <a:rPr lang="en-US" sz="3200" dirty="0">
                    <a:latin typeface="Corbel" panose="020B0503020204020204" pitchFamily="34" charset="0"/>
                    <a:cs typeface="Times"/>
                  </a:rPr>
                  <a:t>If a MIN node has value </a:t>
                </a:r>
                <a14:m>
                  <m:oMath xmlns:m="http://schemas.openxmlformats.org/officeDocument/2006/math">
                    <m:r>
                      <a:rPr lang="en-US" sz="3200" i="1" dirty="0">
                        <a:latin typeface="Cambria Math" panose="02040503050406030204" pitchFamily="18" charset="0"/>
                        <a:cs typeface="Times"/>
                      </a:rPr>
                      <m:t>𝑣</m:t>
                    </m:r>
                    <m:r>
                      <a:rPr lang="en-US" sz="3200" i="1" dirty="0">
                        <a:latin typeface="Cambria Math" panose="02040503050406030204" pitchFamily="18" charset="0"/>
                        <a:cs typeface="Times"/>
                      </a:rPr>
                      <m:t>≤</m:t>
                    </m:r>
                    <m:r>
                      <a:rPr lang="en-US" sz="3200" i="1" dirty="0">
                        <a:latin typeface="Cambria Math" panose="02040503050406030204" pitchFamily="18" charset="0"/>
                        <a:cs typeface="Times"/>
                      </a:rPr>
                      <m:t>𝛼</m:t>
                    </m:r>
                    <m:d>
                      <m:dPr>
                        <m:ctrlPr>
                          <a:rPr lang="en-US" sz="3200" i="1" dirty="0">
                            <a:latin typeface="Cambria Math" panose="02040503050406030204" pitchFamily="18" charset="0"/>
                            <a:cs typeface="Times"/>
                          </a:rPr>
                        </m:ctrlPr>
                      </m:dPr>
                      <m:e>
                        <m:r>
                          <a:rPr lang="en-US" sz="3200" i="1" dirty="0">
                            <a:latin typeface="Cambria Math" panose="02040503050406030204" pitchFamily="18" charset="0"/>
                            <a:cs typeface="Times"/>
                          </a:rPr>
                          <m:t>𝑛</m:t>
                        </m:r>
                      </m:e>
                    </m:d>
                  </m:oMath>
                </a14:m>
                <a:r>
                  <a:rPr lang="en-US" sz="3200" i="1" dirty="0">
                    <a:latin typeface="Corbel" panose="020B0503020204020204" pitchFamily="34" charset="0"/>
                    <a:cs typeface="Times"/>
                  </a:rPr>
                  <a:t>, </a:t>
                </a:r>
                <a:r>
                  <a:rPr lang="en-US" sz="3200" dirty="0">
                    <a:latin typeface="Corbel" panose="020B0503020204020204" pitchFamily="34" charset="0"/>
                    <a:cs typeface="Times"/>
                  </a:rPr>
                  <a:t>no need to explore further.</a:t>
                </a:r>
                <a:endParaRPr lang="en-US" sz="3200" i="1" dirty="0">
                  <a:latin typeface="Corbel" panose="020B0503020204020204" pitchFamily="34" charset="0"/>
                  <a:cs typeface="Times"/>
                </a:endParaRPr>
              </a:p>
              <a:p>
                <a:pPr>
                  <a:spcBef>
                    <a:spcPts val="1200"/>
                  </a:spcBef>
                </a:pPr>
                <a:r>
                  <a:rPr lang="en-US" sz="3200" dirty="0">
                    <a:latin typeface="Corbel" panose="020B0503020204020204" pitchFamily="34" charset="0"/>
                    <a:cs typeface="Times"/>
                  </a:rPr>
                  <a:t>If a MAX node has value </a:t>
                </a:r>
                <a14:m>
                  <m:oMath xmlns:m="http://schemas.openxmlformats.org/officeDocument/2006/math">
                    <m:r>
                      <a:rPr lang="en-US" sz="3200" i="1" dirty="0">
                        <a:latin typeface="Cambria Math" panose="02040503050406030204" pitchFamily="18" charset="0"/>
                        <a:cs typeface="Times"/>
                      </a:rPr>
                      <m:t>𝑣</m:t>
                    </m:r>
                    <m:r>
                      <a:rPr lang="en-US" sz="3200" i="1" dirty="0">
                        <a:latin typeface="Cambria Math" panose="02040503050406030204" pitchFamily="18" charset="0"/>
                        <a:cs typeface="Times"/>
                      </a:rPr>
                      <m:t>≥</m:t>
                    </m:r>
                    <m:r>
                      <a:rPr lang="en-US" sz="3200" i="1" dirty="0">
                        <a:latin typeface="Cambria Math" panose="02040503050406030204" pitchFamily="18" charset="0"/>
                        <a:cs typeface="Times"/>
                      </a:rPr>
                      <m:t>𝛽</m:t>
                    </m:r>
                    <m:d>
                      <m:dPr>
                        <m:ctrlPr>
                          <a:rPr lang="en-US" sz="3200" i="1" dirty="0">
                            <a:latin typeface="Cambria Math" panose="02040503050406030204" pitchFamily="18" charset="0"/>
                            <a:cs typeface="Times"/>
                          </a:rPr>
                        </m:ctrlPr>
                      </m:dPr>
                      <m:e>
                        <m:r>
                          <a:rPr lang="en-US" sz="3200" i="1" dirty="0">
                            <a:latin typeface="Cambria Math" panose="02040503050406030204" pitchFamily="18" charset="0"/>
                            <a:cs typeface="Times"/>
                          </a:rPr>
                          <m:t>𝑛</m:t>
                        </m:r>
                      </m:e>
                    </m:d>
                  </m:oMath>
                </a14:m>
                <a:r>
                  <a:rPr lang="en-US" sz="3200" i="1" dirty="0">
                    <a:latin typeface="Corbel" panose="020B0503020204020204" pitchFamily="34" charset="0"/>
                    <a:cs typeface="Times"/>
                  </a:rPr>
                  <a:t>, </a:t>
                </a:r>
                <a:r>
                  <a:rPr lang="en-US" sz="3200" dirty="0">
                    <a:latin typeface="Corbel" panose="020B0503020204020204" pitchFamily="34" charset="0"/>
                    <a:cs typeface="Times"/>
                  </a:rPr>
                  <a:t>no need to explore further.</a:t>
                </a:r>
              </a:p>
            </p:txBody>
          </p:sp>
        </mc:Choice>
        <mc:Fallback xmlns="">
          <p:sp>
            <p:nvSpPr>
              <p:cNvPr id="354307" name="Rectangle 3"/>
              <p:cNvSpPr>
                <a:spLocks noGrp="1" noRot="1" noChangeAspect="1" noMove="1" noResize="1" noEditPoints="1" noAdjustHandles="1" noChangeArrowheads="1" noChangeShapeType="1" noTextEdit="1"/>
              </p:cNvSpPr>
              <p:nvPr>
                <p:ph idx="1"/>
              </p:nvPr>
            </p:nvSpPr>
            <p:spPr>
              <a:xfrm>
                <a:off x="631065" y="1225287"/>
                <a:ext cx="9884535" cy="5257800"/>
              </a:xfrm>
              <a:blipFill>
                <a:blip r:embed="rId4"/>
                <a:stretch>
                  <a:fillRect l="-513" t="-1446"/>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494797" y="152402"/>
            <a:ext cx="9940372" cy="990599"/>
          </a:xfrm>
        </p:spPr>
        <p:txBody>
          <a:bodyPr/>
          <a:lstStyle/>
          <a:p>
            <a:r>
              <a:rPr lang="en-US" dirty="0"/>
              <a:t>Time Limit</a:t>
            </a:r>
          </a:p>
        </p:txBody>
      </p:sp>
      <mc:AlternateContent xmlns:mc="http://schemas.openxmlformats.org/markup-compatibility/2006" xmlns:a14="http://schemas.microsoft.com/office/drawing/2010/main">
        <mc:Choice Requires="a14">
          <p:sp>
            <p:nvSpPr>
              <p:cNvPr id="355331" name="Rectangle 3"/>
              <p:cNvSpPr>
                <a:spLocks noGrp="1" noChangeArrowheads="1"/>
              </p:cNvSpPr>
              <p:nvPr>
                <p:ph idx="1"/>
              </p:nvPr>
            </p:nvSpPr>
            <p:spPr>
              <a:xfrm>
                <a:off x="437882" y="1295400"/>
                <a:ext cx="10221651" cy="5257800"/>
              </a:xfrm>
            </p:spPr>
            <p:txBody>
              <a:bodyPr>
                <a:normAutofit/>
              </a:bodyPr>
              <a:lstStyle/>
              <a:p>
                <a:pPr>
                  <a:spcBef>
                    <a:spcPts val="1200"/>
                  </a:spcBef>
                </a:pPr>
                <a:r>
                  <a:rPr lang="en-US" sz="2800" b="1" dirty="0">
                    <a:latin typeface="Corbel" panose="020B0503020204020204" pitchFamily="34" charset="0"/>
                    <a:cs typeface="Times"/>
                  </a:rPr>
                  <a:t>Problem:</a:t>
                </a:r>
                <a:r>
                  <a:rPr lang="en-US" sz="2800" dirty="0">
                    <a:latin typeface="Corbel" panose="020B0503020204020204" pitchFamily="34" charset="0"/>
                    <a:cs typeface="Times"/>
                  </a:rPr>
                  <a:t> very large search space in typical games</a:t>
                </a:r>
              </a:p>
              <a:p>
                <a:pPr>
                  <a:spcBef>
                    <a:spcPts val="1200"/>
                  </a:spcBef>
                </a:pPr>
                <a:r>
                  <a:rPr lang="en-US" sz="2800" b="1" dirty="0">
                    <a:latin typeface="Corbel" panose="020B0503020204020204" pitchFamily="34" charset="0"/>
                    <a:cs typeface="Times"/>
                  </a:rPr>
                  <a:t>Solution:</a:t>
                </a:r>
                <a:r>
                  <a:rPr lang="en-US" sz="2800" dirty="0">
                    <a:latin typeface="Corbel" panose="020B0503020204020204" pitchFamily="34" charset="0"/>
                    <a:cs typeface="Times"/>
                  </a:rPr>
                  <a:t> </a:t>
                </a:r>
                <a14:m>
                  <m:oMath xmlns:m="http://schemas.openxmlformats.org/officeDocument/2006/math">
                    <m:r>
                      <a:rPr lang="en-US" sz="2800" i="1" dirty="0">
                        <a:latin typeface="Cambria Math" charset="0"/>
                        <a:cs typeface="Times"/>
                      </a:rPr>
                      <m:t>𝛼</m:t>
                    </m:r>
                  </m:oMath>
                </a14:m>
                <a:r>
                  <a:rPr lang="en-US" sz="2800" i="1" dirty="0">
                    <a:latin typeface="Corbel" panose="020B0503020204020204" pitchFamily="34" charset="0"/>
                    <a:cs typeface="Times"/>
                  </a:rPr>
                  <a:t>-</a:t>
                </a:r>
                <a14:m>
                  <m:oMath xmlns:m="http://schemas.openxmlformats.org/officeDocument/2006/math">
                    <m:r>
                      <a:rPr lang="en-US" sz="2800" i="1" dirty="0">
                        <a:latin typeface="Cambria Math" charset="0"/>
                        <a:cs typeface="Times"/>
                      </a:rPr>
                      <m:t>𝛽</m:t>
                    </m:r>
                  </m:oMath>
                </a14:m>
                <a:r>
                  <a:rPr lang="en-US" sz="2800" i="1" dirty="0">
                    <a:latin typeface="Corbel" panose="020B0503020204020204" pitchFamily="34" charset="0"/>
                    <a:cs typeface="Times"/>
                  </a:rPr>
                  <a:t> </a:t>
                </a:r>
                <a:r>
                  <a:rPr lang="en-US" sz="2800" dirty="0">
                    <a:latin typeface="Corbel" panose="020B0503020204020204" pitchFamily="34" charset="0"/>
                    <a:cs typeface="Times"/>
                  </a:rPr>
                  <a:t>pruning removes large parts of search space</a:t>
                </a:r>
              </a:p>
              <a:p>
                <a:pPr>
                  <a:spcBef>
                    <a:spcPts val="1200"/>
                  </a:spcBef>
                </a:pPr>
                <a:r>
                  <a:rPr lang="en-US" sz="2800" dirty="0">
                    <a:latin typeface="Corbel" panose="020B0503020204020204" pitchFamily="34" charset="0"/>
                    <a:cs typeface="Times"/>
                  </a:rPr>
                  <a:t>Unresolved problem: Maximum depth of tree</a:t>
                </a:r>
              </a:p>
              <a:p>
                <a:pPr>
                  <a:spcBef>
                    <a:spcPts val="1200"/>
                  </a:spcBef>
                </a:pPr>
                <a:r>
                  <a:rPr lang="en-US" sz="2800" dirty="0">
                    <a:latin typeface="Corbel" panose="020B0503020204020204" pitchFamily="34" charset="0"/>
                    <a:cs typeface="Times"/>
                  </a:rPr>
                  <a:t>Standard solutions:</a:t>
                </a:r>
              </a:p>
              <a:p>
                <a:pPr lvl="1">
                  <a:spcBef>
                    <a:spcPts val="1200"/>
                  </a:spcBef>
                </a:pPr>
                <a:r>
                  <a:rPr lang="en-US" sz="2800" dirty="0">
                    <a:solidFill>
                      <a:srgbClr val="FF0000"/>
                    </a:solidFill>
                    <a:latin typeface="Corbel" panose="020B0503020204020204" pitchFamily="34" charset="0"/>
                    <a:cs typeface="Times"/>
                  </a:rPr>
                  <a:t>evaluation function </a:t>
                </a:r>
                <a:r>
                  <a:rPr lang="en-US" sz="2800" dirty="0">
                    <a:latin typeface="Corbel" panose="020B0503020204020204" pitchFamily="34" charset="0"/>
                    <a:cs typeface="Times"/>
                  </a:rPr>
                  <a:t>= estimated expected utility of state</a:t>
                </a:r>
                <a:endParaRPr lang="en-US" sz="2800" dirty="0">
                  <a:solidFill>
                    <a:srgbClr val="FF0000"/>
                  </a:solidFill>
                  <a:latin typeface="Corbel" panose="020B0503020204020204" pitchFamily="34" charset="0"/>
                  <a:cs typeface="Times"/>
                </a:endParaRPr>
              </a:p>
              <a:p>
                <a:pPr lvl="1">
                  <a:spcBef>
                    <a:spcPts val="1200"/>
                  </a:spcBef>
                </a:pPr>
                <a:r>
                  <a:rPr lang="en-US" sz="2800" dirty="0">
                    <a:solidFill>
                      <a:srgbClr val="FF0000"/>
                    </a:solidFill>
                    <a:latin typeface="Corbel" panose="020B0503020204020204" pitchFamily="34" charset="0"/>
                    <a:cs typeface="Times"/>
                  </a:rPr>
                  <a:t>cutoff test: </a:t>
                </a:r>
                <a:r>
                  <a:rPr lang="en-US" sz="2800" dirty="0">
                    <a:latin typeface="Corbel" panose="020B0503020204020204" pitchFamily="34" charset="0"/>
                    <a:cs typeface="Times"/>
                  </a:rPr>
                  <a:t>e.g., depth limit</a:t>
                </a:r>
                <a:r>
                  <a:rPr lang="en-US" sz="1900" dirty="0">
                    <a:latin typeface="Corbel" panose="020B0503020204020204" pitchFamily="34" charset="0"/>
                    <a:cs typeface="Times"/>
                  </a:rPr>
                  <a:t/>
                </a:r>
                <a:br>
                  <a:rPr lang="en-US" sz="1900" dirty="0">
                    <a:latin typeface="Corbel" panose="020B0503020204020204" pitchFamily="34" charset="0"/>
                    <a:cs typeface="Times"/>
                  </a:rPr>
                </a:br>
                <a:endParaRPr lang="en-US" sz="1900" dirty="0">
                  <a:latin typeface="Corbel" panose="020B0503020204020204" pitchFamily="34" charset="0"/>
                  <a:cs typeface="Times"/>
                </a:endParaRPr>
              </a:p>
            </p:txBody>
          </p:sp>
        </mc:Choice>
        <mc:Fallback xmlns="">
          <p:sp>
            <p:nvSpPr>
              <p:cNvPr id="355331" name="Rectangle 3"/>
              <p:cNvSpPr>
                <a:spLocks noGrp="1" noRot="1" noChangeAspect="1" noMove="1" noResize="1" noEditPoints="1" noAdjustHandles="1" noChangeArrowheads="1" noChangeShapeType="1" noTextEdit="1"/>
              </p:cNvSpPr>
              <p:nvPr>
                <p:ph idx="1"/>
              </p:nvPr>
            </p:nvSpPr>
            <p:spPr>
              <a:xfrm>
                <a:off x="437882" y="1295400"/>
                <a:ext cx="10221651" cy="5257800"/>
              </a:xfrm>
              <a:blipFill>
                <a:blip r:embed="rId3"/>
                <a:stretch>
                  <a:fillRect l="-372" t="-1449"/>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a:xfrm>
            <a:off x="468053" y="219219"/>
            <a:ext cx="7704667" cy="976568"/>
          </a:xfrm>
        </p:spPr>
        <p:txBody>
          <a:bodyPr/>
          <a:lstStyle/>
          <a:p>
            <a:r>
              <a:rPr lang="en-US" dirty="0"/>
              <a:t>Heuristic </a:t>
            </a:r>
            <a:r>
              <a:rPr lang="en-US" dirty="0" err="1"/>
              <a:t>Minimax</a:t>
            </a:r>
            <a:r>
              <a:rPr lang="en-US" dirty="0"/>
              <a:t> Value</a:t>
            </a:r>
          </a:p>
        </p:txBody>
      </p:sp>
      <p:pic>
        <p:nvPicPr>
          <p:cNvPr id="9" name="Picture 8" descr="latex-image-1.pdf"/>
          <p:cNvPicPr>
            <a:picLocks noChangeAspect="1"/>
          </p:cNvPicPr>
          <p:nvPr/>
        </p:nvPicPr>
        <p:blipFill>
          <a:blip r:embed="rId3"/>
          <a:stretch>
            <a:fillRect/>
          </a:stretch>
        </p:blipFill>
        <p:spPr>
          <a:xfrm>
            <a:off x="1303533" y="1250851"/>
            <a:ext cx="8077200" cy="1349005"/>
          </a:xfrm>
          <a:prstGeom prst="rect">
            <a:avLst/>
          </a:prstGeom>
        </p:spPr>
      </p:pic>
      <p:pic>
        <p:nvPicPr>
          <p:cNvPr id="7" name="Picture 6" descr="latex-image-1.pdf"/>
          <p:cNvPicPr>
            <a:picLocks noChangeAspect="1"/>
          </p:cNvPicPr>
          <p:nvPr/>
        </p:nvPicPr>
        <p:blipFill>
          <a:blip r:embed="rId4"/>
          <a:stretch>
            <a:fillRect/>
          </a:stretch>
        </p:blipFill>
        <p:spPr>
          <a:xfrm>
            <a:off x="1303533" y="3113468"/>
            <a:ext cx="8077200" cy="1197557"/>
          </a:xfrm>
          <a:prstGeom prst="rect">
            <a:avLst/>
          </a:prstGeom>
        </p:spPr>
      </p:pic>
      <mc:AlternateContent xmlns:mc="http://schemas.openxmlformats.org/markup-compatibility/2006">
        <mc:Choice xmlns:a14="http://schemas.microsoft.com/office/drawing/2010/main" Requires="a14">
          <p:sp>
            <p:nvSpPr>
              <p:cNvPr id="2" name="TextBox 1"/>
              <p:cNvSpPr txBox="1"/>
              <p:nvPr/>
            </p:nvSpPr>
            <p:spPr>
              <a:xfrm>
                <a:off x="1391456" y="4842679"/>
                <a:ext cx="8001000" cy="646331"/>
              </a:xfrm>
              <a:prstGeom prst="rect">
                <a:avLst/>
              </a:prstGeom>
              <a:noFill/>
            </p:spPr>
            <p:txBody>
              <a:bodyPr wrap="square" rtlCol="0">
                <a:spAutoFit/>
              </a:bodyPr>
              <a:lstStyle/>
              <a:p>
                <a:pPr algn="ctr"/>
                <a:r>
                  <a:rPr lang="en-US" dirty="0"/>
                  <a:t>Run minimax until depth </a:t>
                </a:r>
                <a14:m>
                  <m:oMath xmlns:m="http://schemas.openxmlformats.org/officeDocument/2006/math">
                    <m:r>
                      <a:rPr lang="en-US" b="1" i="1" smtClean="0">
                        <a:latin typeface="Cambria Math" panose="02040503050406030204" pitchFamily="18" charset="0"/>
                      </a:rPr>
                      <m:t>𝒅</m:t>
                    </m:r>
                  </m:oMath>
                </a14:m>
                <a:r>
                  <a:rPr lang="en-US" dirty="0"/>
                  <a:t>; then start using the evaluation function to choose nodes.</a:t>
                </a:r>
              </a:p>
            </p:txBody>
          </p:sp>
        </mc:Choice>
        <mc:Fallback>
          <p:sp>
            <p:nvSpPr>
              <p:cNvPr id="2" name="TextBox 1"/>
              <p:cNvSpPr txBox="1">
                <a:spLocks noRot="1" noChangeAspect="1" noMove="1" noResize="1" noEditPoints="1" noAdjustHandles="1" noChangeArrowheads="1" noChangeShapeType="1" noTextEdit="1"/>
              </p:cNvSpPr>
              <p:nvPr/>
            </p:nvSpPr>
            <p:spPr>
              <a:xfrm>
                <a:off x="1391456" y="4842679"/>
                <a:ext cx="8001000" cy="646331"/>
              </a:xfrm>
              <a:prstGeom prst="rect">
                <a:avLst/>
              </a:prstGeom>
              <a:blipFill>
                <a:blip r:embed="rId5"/>
                <a:stretch>
                  <a:fillRect l="-228" t="-4717" r="-990" b="-14151"/>
                </a:stretch>
              </a:blipFill>
            </p:spPr>
            <p:txBody>
              <a:bodyPr/>
              <a:lstStyle/>
              <a:p>
                <a:r>
                  <a:rPr lang="en-US">
                    <a:noFill/>
                  </a:rPr>
                  <a:t> </a:t>
                </a:r>
              </a:p>
            </p:txBody>
          </p:sp>
        </mc:Fallback>
      </mc:AlternateContent>
      <p:sp>
        <p:nvSpPr>
          <p:cNvPr id="3" name="Arc 2"/>
          <p:cNvSpPr/>
          <p:nvPr/>
        </p:nvSpPr>
        <p:spPr>
          <a:xfrm rot="10800000">
            <a:off x="922534" y="1665670"/>
            <a:ext cx="1447801" cy="1831285"/>
          </a:xfrm>
          <a:prstGeom prst="arc">
            <a:avLst>
              <a:gd name="adj1" fmla="val 16200000"/>
              <a:gd name="adj2" fmla="val 5510148"/>
            </a:avLst>
          </a:prstGeom>
          <a:ln w="5715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ounded Rectangle 3"/>
          <p:cNvSpPr/>
          <p:nvPr/>
        </p:nvSpPr>
        <p:spPr>
          <a:xfrm>
            <a:off x="6789933" y="1501545"/>
            <a:ext cx="2590800" cy="3810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7018533" y="3342068"/>
            <a:ext cx="2590800" cy="3048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490895" y="114643"/>
            <a:ext cx="7704667" cy="914399"/>
          </a:xfrm>
        </p:spPr>
        <p:txBody>
          <a:bodyPr>
            <a:normAutofit/>
          </a:bodyPr>
          <a:lstStyle/>
          <a:p>
            <a:r>
              <a:rPr lang="en-US" dirty="0"/>
              <a:t>Evaluation Functions</a:t>
            </a:r>
          </a:p>
        </p:txBody>
      </p:sp>
      <p:graphicFrame>
        <p:nvGraphicFramePr>
          <p:cNvPr id="11" name="Table 10"/>
          <p:cNvGraphicFramePr>
            <a:graphicFrameLocks noGrp="1"/>
          </p:cNvGraphicFramePr>
          <p:nvPr>
            <p:extLst>
              <p:ext uri="{D42A27DB-BD31-4B8C-83A1-F6EECF244321}">
                <p14:modId xmlns:p14="http://schemas.microsoft.com/office/powerpoint/2010/main" val="117255535"/>
              </p:ext>
            </p:extLst>
          </p:nvPr>
        </p:nvGraphicFramePr>
        <p:xfrm>
          <a:off x="2133600" y="3498339"/>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22902">
                  <a:extLst>
                    <a:ext uri="{9D8B030D-6E8A-4147-A177-3AD203B41FA5}">
                      <a16:colId xmlns:a16="http://schemas.microsoft.com/office/drawing/2014/main" val="20004"/>
                    </a:ext>
                  </a:extLst>
                </a:gridCol>
                <a:gridCol w="197720">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12" name="Group 11"/>
          <p:cNvGrpSpPr/>
          <p:nvPr/>
        </p:nvGrpSpPr>
        <p:grpSpPr>
          <a:xfrm>
            <a:off x="2150298" y="3523171"/>
            <a:ext cx="1258156" cy="1246165"/>
            <a:chOff x="3161444" y="1198652"/>
            <a:chExt cx="3961969" cy="3924210"/>
          </a:xfrm>
        </p:grpSpPr>
        <p:sp>
          <p:nvSpPr>
            <p:cNvPr id="10" name="Oval 9"/>
            <p:cNvSpPr/>
            <p:nvPr/>
          </p:nvSpPr>
          <p:spPr>
            <a:xfrm>
              <a:off x="3688422"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706419"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724416"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742413"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161444"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179441"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197438"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215435"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678148"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696145"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714142"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6732139"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172575"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90572"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208569"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6226566"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6717585"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663594"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681591"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699588"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162301"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180298"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198295"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216292"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8" name="Table 37"/>
          <p:cNvGraphicFramePr>
            <a:graphicFrameLocks noGrp="1"/>
          </p:cNvGraphicFramePr>
          <p:nvPr/>
        </p:nvGraphicFramePr>
        <p:xfrm>
          <a:off x="4159187" y="3497564"/>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7" name="Group 357396"/>
          <p:cNvGrpSpPr/>
          <p:nvPr/>
        </p:nvGrpSpPr>
        <p:grpSpPr>
          <a:xfrm>
            <a:off x="4175883" y="3522396"/>
            <a:ext cx="1258156" cy="1246165"/>
            <a:chOff x="2967949" y="3522394"/>
            <a:chExt cx="1258156" cy="1246165"/>
          </a:xfrm>
        </p:grpSpPr>
        <p:sp>
          <p:nvSpPr>
            <p:cNvPr id="40" name="Oval 39"/>
            <p:cNvSpPr/>
            <p:nvPr/>
          </p:nvSpPr>
          <p:spPr>
            <a:xfrm>
              <a:off x="3135295"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3458569"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3781842"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4105115"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967949"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291222"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3614496"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3937769"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3132033"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455306"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3778579"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4101853"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2971484"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3294757"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3618030"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4105114" y="4162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4097231"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3127411"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3450684"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3773958"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2968221"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3291495"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3614768"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3938041"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14" name="Table 113"/>
          <p:cNvGraphicFramePr>
            <a:graphicFrameLocks noGrp="1"/>
          </p:cNvGraphicFramePr>
          <p:nvPr/>
        </p:nvGraphicFramePr>
        <p:xfrm>
          <a:off x="4141719" y="1994112"/>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6" name="Group 357395"/>
          <p:cNvGrpSpPr/>
          <p:nvPr/>
        </p:nvGrpSpPr>
        <p:grpSpPr>
          <a:xfrm>
            <a:off x="4158415" y="2018944"/>
            <a:ext cx="1258156" cy="1246165"/>
            <a:chOff x="2950481" y="2018942"/>
            <a:chExt cx="1258156" cy="1246165"/>
          </a:xfrm>
        </p:grpSpPr>
        <p:sp>
          <p:nvSpPr>
            <p:cNvPr id="116" name="Oval 115"/>
            <p:cNvSpPr/>
            <p:nvPr/>
          </p:nvSpPr>
          <p:spPr>
            <a:xfrm>
              <a:off x="3117827"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441101"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3764374"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4087647"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2950481"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3273754"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3597028"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920301"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3114565"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3437838"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3761111"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4084385"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2954016"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277289"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3754700" y="265756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3923836"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4079763"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3109943"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3433216"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3756490"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2950753"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3274027"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3597300"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a:off x="3920573"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0" name="Table 139"/>
          <p:cNvGraphicFramePr>
            <a:graphicFrameLocks noGrp="1"/>
          </p:cNvGraphicFramePr>
          <p:nvPr/>
        </p:nvGraphicFramePr>
        <p:xfrm>
          <a:off x="4143889" y="501265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8" name="Group 357397"/>
          <p:cNvGrpSpPr/>
          <p:nvPr/>
        </p:nvGrpSpPr>
        <p:grpSpPr>
          <a:xfrm>
            <a:off x="4160587" y="5037487"/>
            <a:ext cx="1258156" cy="1246165"/>
            <a:chOff x="2952652" y="5037485"/>
            <a:chExt cx="1258156" cy="1246165"/>
          </a:xfrm>
        </p:grpSpPr>
        <p:sp>
          <p:nvSpPr>
            <p:cNvPr id="142" name="Oval 141"/>
            <p:cNvSpPr/>
            <p:nvPr/>
          </p:nvSpPr>
          <p:spPr>
            <a:xfrm>
              <a:off x="3119998"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3443272"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3766545"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4089818"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2952652"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3275925"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3599199"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a:off x="3922472"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3116736"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3440009"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3763282"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a:off x="4086556"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p:cNvSpPr/>
            <p:nvPr/>
          </p:nvSpPr>
          <p:spPr>
            <a:xfrm>
              <a:off x="2956187"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3279460"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3602733"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a:off x="3748994" y="566631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4081934"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3112114"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3435387"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a:off x="3758661"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p:cNvSpPr/>
            <p:nvPr/>
          </p:nvSpPr>
          <p:spPr>
            <a:xfrm>
              <a:off x="2952924"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a:off x="3276198"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3599471"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3922744"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3" name="TextBox 12"/>
              <p:cNvSpPr txBox="1"/>
              <p:nvPr/>
            </p:nvSpPr>
            <p:spPr>
              <a:xfrm>
                <a:off x="4141720" y="6396336"/>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141720" y="6396336"/>
                <a:ext cx="1289059" cy="369332"/>
              </a:xfrm>
              <a:prstGeom prst="rect">
                <a:avLst/>
              </a:prstGeom>
              <a:blipFill>
                <a:blip r:embed="rId3"/>
                <a:stretch>
                  <a:fillRect/>
                </a:stretch>
              </a:blipFill>
            </p:spPr>
            <p:txBody>
              <a:bodyPr/>
              <a:lstStyle/>
              <a:p>
                <a:r>
                  <a:rPr lang="en-GB">
                    <a:noFill/>
                  </a:rPr>
                  <a:t> </a:t>
                </a:r>
              </a:p>
            </p:txBody>
          </p:sp>
        </mc:Fallback>
      </mc:AlternateContent>
      <p:cxnSp>
        <p:nvCxnSpPr>
          <p:cNvPr id="357376" name="Straight Arrow Connector 357375"/>
          <p:cNvCxnSpPr>
            <a:stCxn id="11" idx="3"/>
            <a:endCxn id="38" idx="1"/>
          </p:cNvCxnSpPr>
          <p:nvPr/>
        </p:nvCxnSpPr>
        <p:spPr>
          <a:xfrm flipV="1">
            <a:off x="3416088" y="4138810"/>
            <a:ext cx="743099" cy="775"/>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1" idx="3"/>
            <a:endCxn id="114" idx="1"/>
          </p:cNvCxnSpPr>
          <p:nvPr/>
        </p:nvCxnSpPr>
        <p:spPr>
          <a:xfrm flipV="1">
            <a:off x="3416089" y="2635357"/>
            <a:ext cx="725631" cy="150422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1" idx="3"/>
            <a:endCxn id="140" idx="1"/>
          </p:cNvCxnSpPr>
          <p:nvPr/>
        </p:nvCxnSpPr>
        <p:spPr>
          <a:xfrm>
            <a:off x="3416090" y="4139583"/>
            <a:ext cx="727801" cy="1514316"/>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57405" name="Rounded Rectangular Callout 357404"/>
          <p:cNvSpPr/>
          <p:nvPr/>
        </p:nvSpPr>
        <p:spPr>
          <a:xfrm>
            <a:off x="6172200" y="1347524"/>
            <a:ext cx="3733800" cy="952531"/>
          </a:xfrm>
          <a:prstGeom prst="wedgeRoundRectCallout">
            <a:avLst>
              <a:gd name="adj1" fmla="val -57539"/>
              <a:gd name="adj2" fmla="val 20919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How good is this move?</a:t>
            </a:r>
          </a:p>
        </p:txBody>
      </p:sp>
      <p:sp>
        <p:nvSpPr>
          <p:cNvPr id="332" name="Rounded Rectangular Callout 331"/>
          <p:cNvSpPr/>
          <p:nvPr/>
        </p:nvSpPr>
        <p:spPr>
          <a:xfrm>
            <a:off x="6471897" y="2693861"/>
            <a:ext cx="4021171" cy="1570168"/>
          </a:xfrm>
          <a:prstGeom prst="wedgeRoundRectCallout">
            <a:avLst>
              <a:gd name="adj1" fmla="val -64379"/>
              <a:gd name="adj2" fmla="val 37063"/>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To know for sure, we need to explore entire subtree up to terminal states.</a:t>
            </a:r>
          </a:p>
        </p:txBody>
      </p:sp>
      <p:sp>
        <p:nvSpPr>
          <p:cNvPr id="333" name="Rounded Rectangular Callout 332"/>
          <p:cNvSpPr/>
          <p:nvPr/>
        </p:nvSpPr>
        <p:spPr>
          <a:xfrm>
            <a:off x="6440267" y="4448151"/>
            <a:ext cx="4021171" cy="1570168"/>
          </a:xfrm>
          <a:prstGeom prst="wedgeRoundRectCallout">
            <a:avLst>
              <a:gd name="adj1" fmla="val -62079"/>
              <a:gd name="adj2" fmla="val -58470"/>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Unrealistic (even for ‘simple’ game of checkers)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357397"/>
                                        </p:tgtEl>
                                        <p:attrNameLst>
                                          <p:attrName>style.visibility</p:attrName>
                                        </p:attrNameLst>
                                      </p:cBhvr>
                                      <p:to>
                                        <p:strVal val="visible"/>
                                      </p:to>
                                    </p:set>
                                    <p:animEffect transition="in" filter="fade">
                                      <p:cBhvr>
                                        <p:cTn id="10" dur="500"/>
                                        <p:tgtEl>
                                          <p:spTgt spid="357397"/>
                                        </p:tgtEl>
                                      </p:cBhvr>
                                    </p:animEffect>
                                  </p:childTnLst>
                                </p:cTn>
                              </p:par>
                              <p:par>
                                <p:cTn id="11" presetID="10" presetClass="entr" presetSubtype="0" fill="hold" nodeType="withEffect">
                                  <p:stCondLst>
                                    <p:cond delay="0"/>
                                  </p:stCondLst>
                                  <p:childTnLst>
                                    <p:set>
                                      <p:cBhvr>
                                        <p:cTn id="12" dur="1" fill="hold">
                                          <p:stCondLst>
                                            <p:cond delay="0"/>
                                          </p:stCondLst>
                                        </p:cTn>
                                        <p:tgtEl>
                                          <p:spTgt spid="114"/>
                                        </p:tgtEl>
                                        <p:attrNameLst>
                                          <p:attrName>style.visibility</p:attrName>
                                        </p:attrNameLst>
                                      </p:cBhvr>
                                      <p:to>
                                        <p:strVal val="visible"/>
                                      </p:to>
                                    </p:set>
                                    <p:animEffect transition="in" filter="fade">
                                      <p:cBhvr>
                                        <p:cTn id="13" dur="500"/>
                                        <p:tgtEl>
                                          <p:spTgt spid="114"/>
                                        </p:tgtEl>
                                      </p:cBhvr>
                                    </p:animEffect>
                                  </p:childTnLst>
                                </p:cTn>
                              </p:par>
                              <p:par>
                                <p:cTn id="14" presetID="10" presetClass="entr" presetSubtype="0" fill="hold" nodeType="withEffect">
                                  <p:stCondLst>
                                    <p:cond delay="0"/>
                                  </p:stCondLst>
                                  <p:childTnLst>
                                    <p:set>
                                      <p:cBhvr>
                                        <p:cTn id="15" dur="1" fill="hold">
                                          <p:stCondLst>
                                            <p:cond delay="0"/>
                                          </p:stCondLst>
                                        </p:cTn>
                                        <p:tgtEl>
                                          <p:spTgt spid="357396"/>
                                        </p:tgtEl>
                                        <p:attrNameLst>
                                          <p:attrName>style.visibility</p:attrName>
                                        </p:attrNameLst>
                                      </p:cBhvr>
                                      <p:to>
                                        <p:strVal val="visible"/>
                                      </p:to>
                                    </p:set>
                                    <p:animEffect transition="in" filter="fade">
                                      <p:cBhvr>
                                        <p:cTn id="16" dur="500"/>
                                        <p:tgtEl>
                                          <p:spTgt spid="357396"/>
                                        </p:tgtEl>
                                      </p:cBhvr>
                                    </p:animEffect>
                                  </p:childTnLst>
                                </p:cTn>
                              </p:par>
                              <p:par>
                                <p:cTn id="17" presetID="10" presetClass="entr" presetSubtype="0" fill="hold" nodeType="withEffect">
                                  <p:stCondLst>
                                    <p:cond delay="0"/>
                                  </p:stCondLst>
                                  <p:childTnLst>
                                    <p:set>
                                      <p:cBhvr>
                                        <p:cTn id="18" dur="1" fill="hold">
                                          <p:stCondLst>
                                            <p:cond delay="0"/>
                                          </p:stCondLst>
                                        </p:cTn>
                                        <p:tgtEl>
                                          <p:spTgt spid="140"/>
                                        </p:tgtEl>
                                        <p:attrNameLst>
                                          <p:attrName>style.visibility</p:attrName>
                                        </p:attrNameLst>
                                      </p:cBhvr>
                                      <p:to>
                                        <p:strVal val="visible"/>
                                      </p:to>
                                    </p:set>
                                    <p:animEffect transition="in" filter="fade">
                                      <p:cBhvr>
                                        <p:cTn id="19" dur="500"/>
                                        <p:tgtEl>
                                          <p:spTgt spid="140"/>
                                        </p:tgtEl>
                                      </p:cBhvr>
                                    </p:animEffect>
                                  </p:childTnLst>
                                </p:cTn>
                              </p:par>
                              <p:par>
                                <p:cTn id="20" presetID="10" presetClass="entr" presetSubtype="0" fill="hold" nodeType="withEffect">
                                  <p:stCondLst>
                                    <p:cond delay="0"/>
                                  </p:stCondLst>
                                  <p:childTnLst>
                                    <p:set>
                                      <p:cBhvr>
                                        <p:cTn id="21" dur="1" fill="hold">
                                          <p:stCondLst>
                                            <p:cond delay="0"/>
                                          </p:stCondLst>
                                        </p:cTn>
                                        <p:tgtEl>
                                          <p:spTgt spid="357398"/>
                                        </p:tgtEl>
                                        <p:attrNameLst>
                                          <p:attrName>style.visibility</p:attrName>
                                        </p:attrNameLst>
                                      </p:cBhvr>
                                      <p:to>
                                        <p:strVal val="visible"/>
                                      </p:to>
                                    </p:set>
                                    <p:animEffect transition="in" filter="fade">
                                      <p:cBhvr>
                                        <p:cTn id="22" dur="500"/>
                                        <p:tgtEl>
                                          <p:spTgt spid="35739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357376"/>
                                        </p:tgtEl>
                                        <p:attrNameLst>
                                          <p:attrName>style.visibility</p:attrName>
                                        </p:attrNameLst>
                                      </p:cBhvr>
                                      <p:to>
                                        <p:strVal val="visible"/>
                                      </p:to>
                                    </p:set>
                                    <p:animEffect transition="in" filter="fade">
                                      <p:cBhvr>
                                        <p:cTn id="28" dur="500"/>
                                        <p:tgtEl>
                                          <p:spTgt spid="357376"/>
                                        </p:tgtEl>
                                      </p:cBhvr>
                                    </p:animEffect>
                                  </p:childTnLst>
                                </p:cTn>
                              </p:par>
                              <p:par>
                                <p:cTn id="29" presetID="10" presetClass="entr" presetSubtype="0" fill="hold" nodeType="withEffect">
                                  <p:stCondLst>
                                    <p:cond delay="0"/>
                                  </p:stCondLst>
                                  <p:childTnLst>
                                    <p:set>
                                      <p:cBhvr>
                                        <p:cTn id="30" dur="1" fill="hold">
                                          <p:stCondLst>
                                            <p:cond delay="0"/>
                                          </p:stCondLst>
                                        </p:cTn>
                                        <p:tgtEl>
                                          <p:spTgt spid="197"/>
                                        </p:tgtEl>
                                        <p:attrNameLst>
                                          <p:attrName>style.visibility</p:attrName>
                                        </p:attrNameLst>
                                      </p:cBhvr>
                                      <p:to>
                                        <p:strVal val="visible"/>
                                      </p:to>
                                    </p:set>
                                    <p:animEffect transition="in" filter="fade">
                                      <p:cBhvr>
                                        <p:cTn id="31" dur="500"/>
                                        <p:tgtEl>
                                          <p:spTgt spid="197"/>
                                        </p:tgtEl>
                                      </p:cBhvr>
                                    </p:animEffect>
                                  </p:childTnLst>
                                </p:cTn>
                              </p:par>
                              <p:par>
                                <p:cTn id="32" presetID="10" presetClass="entr" presetSubtype="0" fill="hold" nodeType="withEffect">
                                  <p:stCondLst>
                                    <p:cond delay="0"/>
                                  </p:stCondLst>
                                  <p:childTnLst>
                                    <p:set>
                                      <p:cBhvr>
                                        <p:cTn id="33" dur="1" fill="hold">
                                          <p:stCondLst>
                                            <p:cond delay="0"/>
                                          </p:stCondLst>
                                        </p:cTn>
                                        <p:tgtEl>
                                          <p:spTgt spid="200"/>
                                        </p:tgtEl>
                                        <p:attrNameLst>
                                          <p:attrName>style.visibility</p:attrName>
                                        </p:attrNameLst>
                                      </p:cBhvr>
                                      <p:to>
                                        <p:strVal val="visible"/>
                                      </p:to>
                                    </p:set>
                                    <p:animEffect transition="in" filter="fade">
                                      <p:cBhvr>
                                        <p:cTn id="34" dur="500"/>
                                        <p:tgtEl>
                                          <p:spTgt spid="20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57405"/>
                                        </p:tgtEl>
                                        <p:attrNameLst>
                                          <p:attrName>style.visibility</p:attrName>
                                        </p:attrNameLst>
                                      </p:cBhvr>
                                      <p:to>
                                        <p:strVal val="visible"/>
                                      </p:to>
                                    </p:set>
                                    <p:animEffect transition="in" filter="fade">
                                      <p:cBhvr>
                                        <p:cTn id="39" dur="500"/>
                                        <p:tgtEl>
                                          <p:spTgt spid="35740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32"/>
                                        </p:tgtEl>
                                        <p:attrNameLst>
                                          <p:attrName>style.visibility</p:attrName>
                                        </p:attrNameLst>
                                      </p:cBhvr>
                                      <p:to>
                                        <p:strVal val="visible"/>
                                      </p:to>
                                    </p:set>
                                    <p:animEffect transition="in" filter="fade">
                                      <p:cBhvr>
                                        <p:cTn id="44" dur="500"/>
                                        <p:tgtEl>
                                          <p:spTgt spid="33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33"/>
                                        </p:tgtEl>
                                        <p:attrNameLst>
                                          <p:attrName>style.visibility</p:attrName>
                                        </p:attrNameLst>
                                      </p:cBhvr>
                                      <p:to>
                                        <p:strVal val="visible"/>
                                      </p:to>
                                    </p:set>
                                    <p:animEffect transition="in" filter="fade">
                                      <p:cBhvr>
                                        <p:cTn id="49" dur="5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57405" grpId="0" animBg="1"/>
      <p:bldP spid="332" grpId="0" animBg="1"/>
      <p:bldP spid="33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444539" y="153577"/>
            <a:ext cx="7704667" cy="914399"/>
          </a:xfrm>
        </p:spPr>
        <p:txBody>
          <a:bodyPr>
            <a:normAutofit/>
          </a:bodyPr>
          <a:lstStyle/>
          <a:p>
            <a:r>
              <a:rPr lang="en-US" dirty="0"/>
              <a:t>Evaluation Functions</a:t>
            </a:r>
          </a:p>
        </p:txBody>
      </p:sp>
      <p:graphicFrame>
        <p:nvGraphicFramePr>
          <p:cNvPr id="11" name="Table 10"/>
          <p:cNvGraphicFramePr>
            <a:graphicFrameLocks noGrp="1"/>
          </p:cNvGraphicFramePr>
          <p:nvPr/>
        </p:nvGraphicFramePr>
        <p:xfrm>
          <a:off x="2133600" y="3498339"/>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12" name="Group 11"/>
          <p:cNvGrpSpPr/>
          <p:nvPr/>
        </p:nvGrpSpPr>
        <p:grpSpPr>
          <a:xfrm>
            <a:off x="2150298" y="3523171"/>
            <a:ext cx="1258156" cy="1246165"/>
            <a:chOff x="3161444" y="1198652"/>
            <a:chExt cx="3961969" cy="3924210"/>
          </a:xfrm>
        </p:grpSpPr>
        <p:sp>
          <p:nvSpPr>
            <p:cNvPr id="10" name="Oval 9"/>
            <p:cNvSpPr/>
            <p:nvPr/>
          </p:nvSpPr>
          <p:spPr>
            <a:xfrm>
              <a:off x="3688422"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706419"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724416"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742413"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161444"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179441"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197438"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215435"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678148"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696145"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714142"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6732139"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172575"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90572"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208569"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6226566"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6717585"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663594"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681591"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699588"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162301"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180298"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198295"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216292"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8" name="Table 37"/>
          <p:cNvGraphicFramePr>
            <a:graphicFrameLocks noGrp="1"/>
          </p:cNvGraphicFramePr>
          <p:nvPr/>
        </p:nvGraphicFramePr>
        <p:xfrm>
          <a:off x="4159187" y="3497564"/>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7" name="Group 357396"/>
          <p:cNvGrpSpPr/>
          <p:nvPr/>
        </p:nvGrpSpPr>
        <p:grpSpPr>
          <a:xfrm>
            <a:off x="4175883" y="3522396"/>
            <a:ext cx="1258156" cy="1246165"/>
            <a:chOff x="2967949" y="3522394"/>
            <a:chExt cx="1258156" cy="1246165"/>
          </a:xfrm>
        </p:grpSpPr>
        <p:sp>
          <p:nvSpPr>
            <p:cNvPr id="40" name="Oval 39"/>
            <p:cNvSpPr/>
            <p:nvPr/>
          </p:nvSpPr>
          <p:spPr>
            <a:xfrm>
              <a:off x="3135295"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3458569"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3781842"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4105115"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967949"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291222"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3614496"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3937769"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3132033"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455306"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3778579"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4101853"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2971484"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3294757"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3618030"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4105114" y="4162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4097231"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3127411"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3450684"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3773958"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2968221"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3291495"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3614768"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3938041"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4" name="Table 63"/>
          <p:cNvGraphicFramePr>
            <a:graphicFrameLocks noGrp="1"/>
          </p:cNvGraphicFramePr>
          <p:nvPr/>
        </p:nvGraphicFramePr>
        <p:xfrm>
          <a:off x="6263765" y="2010408"/>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1" name="Group 357400"/>
          <p:cNvGrpSpPr/>
          <p:nvPr/>
        </p:nvGrpSpPr>
        <p:grpSpPr>
          <a:xfrm>
            <a:off x="6280463" y="2035240"/>
            <a:ext cx="1258156" cy="1246165"/>
            <a:chOff x="5072528" y="2035238"/>
            <a:chExt cx="1258156" cy="1246165"/>
          </a:xfrm>
        </p:grpSpPr>
        <p:sp>
          <p:nvSpPr>
            <p:cNvPr id="65" name="Oval 64"/>
            <p:cNvSpPr/>
            <p:nvPr/>
          </p:nvSpPr>
          <p:spPr>
            <a:xfrm>
              <a:off x="5239874"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5563148"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5886421"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6209694"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072528"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395801"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719075"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6042348"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236612" y="235564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5559885" y="235564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5719075" y="250002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6206432" y="235564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5076063" y="284000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5399336" y="284000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5722609" y="284000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6209693" y="267557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6201810"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5231990"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5555263"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5878537"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5072800"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5396074"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5719347"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6042620"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89" name="Table 88"/>
          <p:cNvGraphicFramePr>
            <a:graphicFrameLocks noGrp="1"/>
          </p:cNvGraphicFramePr>
          <p:nvPr/>
        </p:nvGraphicFramePr>
        <p:xfrm>
          <a:off x="6259576" y="3501607"/>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0" name="Group 357399"/>
          <p:cNvGrpSpPr/>
          <p:nvPr/>
        </p:nvGrpSpPr>
        <p:grpSpPr>
          <a:xfrm>
            <a:off x="6276274" y="3526439"/>
            <a:ext cx="1258156" cy="1246165"/>
            <a:chOff x="5068339" y="3526437"/>
            <a:chExt cx="1258156" cy="1246165"/>
          </a:xfrm>
        </p:grpSpPr>
        <p:sp>
          <p:nvSpPr>
            <p:cNvPr id="90" name="Oval 89"/>
            <p:cNvSpPr/>
            <p:nvPr/>
          </p:nvSpPr>
          <p:spPr>
            <a:xfrm>
              <a:off x="5235685"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5558959"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5882232"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6205505"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5068339"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5391612"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5714886"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6038159"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5232423" y="38468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5555696" y="38468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5878969" y="38468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6040439" y="399639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5071874" y="4331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5395147" y="4331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5718420" y="4331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6205504" y="416677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6197621"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5227801"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5551074"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5874348"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5068611"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p:cNvSpPr/>
            <p:nvPr/>
          </p:nvSpPr>
          <p:spPr>
            <a:xfrm>
              <a:off x="5391885"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5715158"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038431"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14" name="Table 113"/>
          <p:cNvGraphicFramePr>
            <a:graphicFrameLocks noGrp="1"/>
          </p:cNvGraphicFramePr>
          <p:nvPr/>
        </p:nvGraphicFramePr>
        <p:xfrm>
          <a:off x="4141719" y="1994112"/>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6" name="Group 357395"/>
          <p:cNvGrpSpPr/>
          <p:nvPr/>
        </p:nvGrpSpPr>
        <p:grpSpPr>
          <a:xfrm>
            <a:off x="4158415" y="2018944"/>
            <a:ext cx="1258156" cy="1246165"/>
            <a:chOff x="2950481" y="2018942"/>
            <a:chExt cx="1258156" cy="1246165"/>
          </a:xfrm>
        </p:grpSpPr>
        <p:sp>
          <p:nvSpPr>
            <p:cNvPr id="116" name="Oval 115"/>
            <p:cNvSpPr/>
            <p:nvPr/>
          </p:nvSpPr>
          <p:spPr>
            <a:xfrm>
              <a:off x="3117827"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441101"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3764374"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4087647"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2950481"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3273754"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3597028"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920301"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3114565"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3437838"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3761111"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4084385"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2954016"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277289"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3754700" y="265756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3923836"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4079763"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3109943"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3433216"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3756490"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2950753"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3274027"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3597300"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a:off x="3920573"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0" name="Table 139"/>
          <p:cNvGraphicFramePr>
            <a:graphicFrameLocks noGrp="1"/>
          </p:cNvGraphicFramePr>
          <p:nvPr/>
        </p:nvGraphicFramePr>
        <p:xfrm>
          <a:off x="4143889" y="501265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8" name="Group 357397"/>
          <p:cNvGrpSpPr/>
          <p:nvPr/>
        </p:nvGrpSpPr>
        <p:grpSpPr>
          <a:xfrm>
            <a:off x="4160587" y="5037487"/>
            <a:ext cx="1258156" cy="1246165"/>
            <a:chOff x="2952652" y="5037485"/>
            <a:chExt cx="1258156" cy="1246165"/>
          </a:xfrm>
        </p:grpSpPr>
        <p:sp>
          <p:nvSpPr>
            <p:cNvPr id="142" name="Oval 141"/>
            <p:cNvSpPr/>
            <p:nvPr/>
          </p:nvSpPr>
          <p:spPr>
            <a:xfrm>
              <a:off x="3119998"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3443272"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3766545"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4089818"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2952652"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3275925"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3599199"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a:off x="3922472"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3116736"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3440009"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3763282"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a:off x="4086556"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p:cNvSpPr/>
            <p:nvPr/>
          </p:nvSpPr>
          <p:spPr>
            <a:xfrm>
              <a:off x="2956187"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3279460"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3602733"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a:off x="3748994" y="566631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4081934"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3112114"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3435387"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a:off x="3758661"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p:cNvSpPr/>
            <p:nvPr/>
          </p:nvSpPr>
          <p:spPr>
            <a:xfrm>
              <a:off x="2952924"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a:off x="3276198"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3599471"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3922744"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3" name="TextBox 12"/>
              <p:cNvSpPr txBox="1"/>
              <p:nvPr/>
            </p:nvSpPr>
            <p:spPr>
              <a:xfrm>
                <a:off x="4141720" y="6396336"/>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141720" y="6396336"/>
                <a:ext cx="1289059"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3" name="TextBox 192"/>
              <p:cNvSpPr txBox="1"/>
              <p:nvPr/>
            </p:nvSpPr>
            <p:spPr>
              <a:xfrm>
                <a:off x="6346509" y="6351696"/>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193" name="TextBox 192"/>
              <p:cNvSpPr txBox="1">
                <a:spLocks noRot="1" noChangeAspect="1" noMove="1" noResize="1" noEditPoints="1" noAdjustHandles="1" noChangeArrowheads="1" noChangeShapeType="1" noTextEdit="1"/>
              </p:cNvSpPr>
              <p:nvPr/>
            </p:nvSpPr>
            <p:spPr>
              <a:xfrm>
                <a:off x="6346509" y="6351696"/>
                <a:ext cx="1289059" cy="369332"/>
              </a:xfrm>
              <a:prstGeom prst="rect">
                <a:avLst/>
              </a:prstGeom>
              <a:blipFill>
                <a:blip r:embed="rId4"/>
                <a:stretch>
                  <a:fillRect/>
                </a:stretch>
              </a:blipFill>
            </p:spPr>
            <p:txBody>
              <a:bodyPr/>
              <a:lstStyle/>
              <a:p>
                <a:r>
                  <a:rPr lang="en-GB">
                    <a:noFill/>
                  </a:rPr>
                  <a:t> </a:t>
                </a:r>
              </a:p>
            </p:txBody>
          </p:sp>
        </mc:Fallback>
      </mc:AlternateContent>
      <p:cxnSp>
        <p:nvCxnSpPr>
          <p:cNvPr id="357376" name="Straight Arrow Connector 357375"/>
          <p:cNvCxnSpPr>
            <a:stCxn id="11" idx="3"/>
            <a:endCxn id="38" idx="1"/>
          </p:cNvCxnSpPr>
          <p:nvPr/>
        </p:nvCxnSpPr>
        <p:spPr>
          <a:xfrm flipV="1">
            <a:off x="3416088" y="4138810"/>
            <a:ext cx="743099" cy="775"/>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1" idx="3"/>
            <a:endCxn id="114" idx="1"/>
          </p:cNvCxnSpPr>
          <p:nvPr/>
        </p:nvCxnSpPr>
        <p:spPr>
          <a:xfrm flipV="1">
            <a:off x="3416089" y="2635357"/>
            <a:ext cx="725631" cy="150422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1" idx="3"/>
            <a:endCxn id="140" idx="1"/>
          </p:cNvCxnSpPr>
          <p:nvPr/>
        </p:nvCxnSpPr>
        <p:spPr>
          <a:xfrm>
            <a:off x="3416090" y="4139583"/>
            <a:ext cx="727801" cy="1514316"/>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38" idx="3"/>
            <a:endCxn id="89" idx="1"/>
          </p:cNvCxnSpPr>
          <p:nvPr/>
        </p:nvCxnSpPr>
        <p:spPr>
          <a:xfrm>
            <a:off x="5441674" y="4138809"/>
            <a:ext cx="817903" cy="404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38" idx="3"/>
            <a:endCxn id="64" idx="1"/>
          </p:cNvCxnSpPr>
          <p:nvPr/>
        </p:nvCxnSpPr>
        <p:spPr>
          <a:xfrm flipV="1">
            <a:off x="5441676" y="2651653"/>
            <a:ext cx="822091" cy="1487156"/>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9" name="Table 208"/>
          <p:cNvGraphicFramePr>
            <a:graphicFrameLocks noGrp="1"/>
          </p:cNvGraphicFramePr>
          <p:nvPr/>
        </p:nvGraphicFramePr>
        <p:xfrm>
          <a:off x="6259576" y="503748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9" name="Group 357398"/>
          <p:cNvGrpSpPr/>
          <p:nvPr/>
        </p:nvGrpSpPr>
        <p:grpSpPr>
          <a:xfrm>
            <a:off x="6276274" y="5062316"/>
            <a:ext cx="1258156" cy="1246165"/>
            <a:chOff x="5068339" y="5062315"/>
            <a:chExt cx="1258156" cy="1246165"/>
          </a:xfrm>
        </p:grpSpPr>
        <p:sp>
          <p:nvSpPr>
            <p:cNvPr id="210" name="Oval 209"/>
            <p:cNvSpPr/>
            <p:nvPr/>
          </p:nvSpPr>
          <p:spPr>
            <a:xfrm>
              <a:off x="5235685"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p:cNvSpPr/>
            <p:nvPr/>
          </p:nvSpPr>
          <p:spPr>
            <a:xfrm>
              <a:off x="5558959"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p:cNvSpPr/>
            <p:nvPr/>
          </p:nvSpPr>
          <p:spPr>
            <a:xfrm>
              <a:off x="5882232"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p:cNvSpPr/>
            <p:nvPr/>
          </p:nvSpPr>
          <p:spPr>
            <a:xfrm>
              <a:off x="6205505"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5068339"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p:cNvSpPr/>
            <p:nvPr/>
          </p:nvSpPr>
          <p:spPr>
            <a:xfrm>
              <a:off x="5391612"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5714886"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p:cNvSpPr/>
            <p:nvPr/>
          </p:nvSpPr>
          <p:spPr>
            <a:xfrm>
              <a:off x="6038159"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p:cNvSpPr/>
            <p:nvPr/>
          </p:nvSpPr>
          <p:spPr>
            <a:xfrm>
              <a:off x="5232423" y="538272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p:cNvSpPr/>
            <p:nvPr/>
          </p:nvSpPr>
          <p:spPr>
            <a:xfrm>
              <a:off x="5395644" y="55383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p:cNvSpPr/>
            <p:nvPr/>
          </p:nvSpPr>
          <p:spPr>
            <a:xfrm>
              <a:off x="5878969" y="538272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p:cNvSpPr/>
            <p:nvPr/>
          </p:nvSpPr>
          <p:spPr>
            <a:xfrm>
              <a:off x="6202243" y="538272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p:cNvSpPr/>
            <p:nvPr/>
          </p:nvSpPr>
          <p:spPr>
            <a:xfrm>
              <a:off x="5071874" y="586708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p:cNvSpPr/>
            <p:nvPr/>
          </p:nvSpPr>
          <p:spPr>
            <a:xfrm>
              <a:off x="5395147" y="586708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5718420" y="586708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p:cNvSpPr/>
            <p:nvPr/>
          </p:nvSpPr>
          <p:spPr>
            <a:xfrm>
              <a:off x="6205504" y="570265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6197621"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p:cNvSpPr/>
            <p:nvPr/>
          </p:nvSpPr>
          <p:spPr>
            <a:xfrm>
              <a:off x="5227801"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p:cNvSpPr/>
            <p:nvPr/>
          </p:nvSpPr>
          <p:spPr>
            <a:xfrm>
              <a:off x="5551074"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p:cNvSpPr/>
            <p:nvPr/>
          </p:nvSpPr>
          <p:spPr>
            <a:xfrm>
              <a:off x="5874348"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5068611"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p:cNvSpPr/>
            <p:nvPr/>
          </p:nvSpPr>
          <p:spPr>
            <a:xfrm>
              <a:off x="5391885"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5715158"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p:cNvSpPr/>
            <p:nvPr/>
          </p:nvSpPr>
          <p:spPr>
            <a:xfrm>
              <a:off x="6038431"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34" name="Straight Arrow Connector 233"/>
          <p:cNvCxnSpPr>
            <a:stCxn id="38" idx="3"/>
            <a:endCxn id="209" idx="1"/>
          </p:cNvCxnSpPr>
          <p:nvPr/>
        </p:nvCxnSpPr>
        <p:spPr>
          <a:xfrm>
            <a:off x="5441674" y="4138810"/>
            <a:ext cx="817903" cy="153992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le 236"/>
          <p:cNvGraphicFramePr>
            <a:graphicFrameLocks noGrp="1"/>
          </p:cNvGraphicFramePr>
          <p:nvPr/>
        </p:nvGraphicFramePr>
        <p:xfrm>
          <a:off x="8385812" y="96113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2" name="Group 357401"/>
          <p:cNvGrpSpPr/>
          <p:nvPr/>
        </p:nvGrpSpPr>
        <p:grpSpPr>
          <a:xfrm>
            <a:off x="8402510" y="985967"/>
            <a:ext cx="1258156" cy="1246165"/>
            <a:chOff x="7194575" y="985965"/>
            <a:chExt cx="1258156" cy="1246165"/>
          </a:xfrm>
        </p:grpSpPr>
        <p:sp>
          <p:nvSpPr>
            <p:cNvPr id="238" name="Oval 237"/>
            <p:cNvSpPr/>
            <p:nvPr/>
          </p:nvSpPr>
          <p:spPr>
            <a:xfrm>
              <a:off x="7361921"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p:cNvSpPr/>
            <p:nvPr/>
          </p:nvSpPr>
          <p:spPr>
            <a:xfrm>
              <a:off x="7685195"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8008468"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p:cNvSpPr/>
            <p:nvPr/>
          </p:nvSpPr>
          <p:spPr>
            <a:xfrm>
              <a:off x="8331741"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p:cNvSpPr/>
            <p:nvPr/>
          </p:nvSpPr>
          <p:spPr>
            <a:xfrm>
              <a:off x="7194575"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p:cNvSpPr/>
            <p:nvPr/>
          </p:nvSpPr>
          <p:spPr>
            <a:xfrm>
              <a:off x="7517848"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p:cNvSpPr/>
            <p:nvPr/>
          </p:nvSpPr>
          <p:spPr>
            <a:xfrm>
              <a:off x="7841122"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p:cNvSpPr/>
            <p:nvPr/>
          </p:nvSpPr>
          <p:spPr>
            <a:xfrm>
              <a:off x="8164395"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p:cNvSpPr/>
            <p:nvPr/>
          </p:nvSpPr>
          <p:spPr>
            <a:xfrm>
              <a:off x="7358659" y="130637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p:cNvSpPr/>
            <p:nvPr/>
          </p:nvSpPr>
          <p:spPr>
            <a:xfrm>
              <a:off x="7681932" y="130637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p:cNvSpPr/>
            <p:nvPr/>
          </p:nvSpPr>
          <p:spPr>
            <a:xfrm>
              <a:off x="7841122" y="145075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p:cNvSpPr/>
            <p:nvPr/>
          </p:nvSpPr>
          <p:spPr>
            <a:xfrm>
              <a:off x="8328479" y="130637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p:cNvSpPr/>
            <p:nvPr/>
          </p:nvSpPr>
          <p:spPr>
            <a:xfrm>
              <a:off x="7198110" y="1790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Oval 250"/>
            <p:cNvSpPr/>
            <p:nvPr/>
          </p:nvSpPr>
          <p:spPr>
            <a:xfrm>
              <a:off x="7521383" y="1790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p:cNvSpPr/>
            <p:nvPr/>
          </p:nvSpPr>
          <p:spPr>
            <a:xfrm>
              <a:off x="7991314" y="163102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Oval 252"/>
            <p:cNvSpPr/>
            <p:nvPr/>
          </p:nvSpPr>
          <p:spPr>
            <a:xfrm>
              <a:off x="8331740" y="162630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Oval 253"/>
            <p:cNvSpPr/>
            <p:nvPr/>
          </p:nvSpPr>
          <p:spPr>
            <a:xfrm>
              <a:off x="8323857"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p:cNvSpPr/>
            <p:nvPr/>
          </p:nvSpPr>
          <p:spPr>
            <a:xfrm>
              <a:off x="7354037"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7677310"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Oval 256"/>
            <p:cNvSpPr/>
            <p:nvPr/>
          </p:nvSpPr>
          <p:spPr>
            <a:xfrm>
              <a:off x="8000584"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7194847"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p:cNvSpPr/>
            <p:nvPr/>
          </p:nvSpPr>
          <p:spPr>
            <a:xfrm>
              <a:off x="7518121"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p:cNvSpPr/>
            <p:nvPr/>
          </p:nvSpPr>
          <p:spPr>
            <a:xfrm>
              <a:off x="7841394"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p:cNvSpPr/>
            <p:nvPr/>
          </p:nvSpPr>
          <p:spPr>
            <a:xfrm>
              <a:off x="8164667"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2" name="Table 261"/>
          <p:cNvGraphicFramePr>
            <a:graphicFrameLocks noGrp="1"/>
          </p:cNvGraphicFramePr>
          <p:nvPr/>
        </p:nvGraphicFramePr>
        <p:xfrm>
          <a:off x="8381623" y="245111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3" name="Group 357402"/>
          <p:cNvGrpSpPr/>
          <p:nvPr/>
        </p:nvGrpSpPr>
        <p:grpSpPr>
          <a:xfrm>
            <a:off x="8398321" y="2475947"/>
            <a:ext cx="1258156" cy="1246165"/>
            <a:chOff x="7190386" y="2475945"/>
            <a:chExt cx="1258156" cy="1246165"/>
          </a:xfrm>
        </p:grpSpPr>
        <p:sp>
          <p:nvSpPr>
            <p:cNvPr id="263" name="Oval 262"/>
            <p:cNvSpPr/>
            <p:nvPr/>
          </p:nvSpPr>
          <p:spPr>
            <a:xfrm>
              <a:off x="7357732"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7681006"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p:cNvSpPr/>
            <p:nvPr/>
          </p:nvSpPr>
          <p:spPr>
            <a:xfrm>
              <a:off x="8004279"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p:cNvSpPr/>
            <p:nvPr/>
          </p:nvSpPr>
          <p:spPr>
            <a:xfrm>
              <a:off x="8327552"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p:cNvSpPr/>
            <p:nvPr/>
          </p:nvSpPr>
          <p:spPr>
            <a:xfrm>
              <a:off x="7190386"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Oval 267"/>
            <p:cNvSpPr/>
            <p:nvPr/>
          </p:nvSpPr>
          <p:spPr>
            <a:xfrm>
              <a:off x="7513659"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Oval 268"/>
            <p:cNvSpPr/>
            <p:nvPr/>
          </p:nvSpPr>
          <p:spPr>
            <a:xfrm>
              <a:off x="7836933"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8160206"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p:cNvSpPr/>
            <p:nvPr/>
          </p:nvSpPr>
          <p:spPr>
            <a:xfrm>
              <a:off x="7354470" y="279635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7677743" y="279635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p:cNvSpPr/>
            <p:nvPr/>
          </p:nvSpPr>
          <p:spPr>
            <a:xfrm>
              <a:off x="7836933" y="29407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p:cNvSpPr/>
            <p:nvPr/>
          </p:nvSpPr>
          <p:spPr>
            <a:xfrm>
              <a:off x="8324290" y="279635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Oval 274"/>
            <p:cNvSpPr/>
            <p:nvPr/>
          </p:nvSpPr>
          <p:spPr>
            <a:xfrm>
              <a:off x="7193921" y="328071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7517194" y="328071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p:cNvSpPr/>
            <p:nvPr/>
          </p:nvSpPr>
          <p:spPr>
            <a:xfrm>
              <a:off x="7840467" y="328071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8152893" y="295189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p:cNvSpPr/>
            <p:nvPr/>
          </p:nvSpPr>
          <p:spPr>
            <a:xfrm>
              <a:off x="8319668"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p:cNvSpPr/>
            <p:nvPr/>
          </p:nvSpPr>
          <p:spPr>
            <a:xfrm>
              <a:off x="7349848"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p:cNvSpPr/>
            <p:nvPr/>
          </p:nvSpPr>
          <p:spPr>
            <a:xfrm>
              <a:off x="7673121"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p:cNvSpPr/>
            <p:nvPr/>
          </p:nvSpPr>
          <p:spPr>
            <a:xfrm>
              <a:off x="7996395"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p:cNvSpPr/>
            <p:nvPr/>
          </p:nvSpPr>
          <p:spPr>
            <a:xfrm>
              <a:off x="7190658"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p:cNvSpPr/>
            <p:nvPr/>
          </p:nvSpPr>
          <p:spPr>
            <a:xfrm>
              <a:off x="7513932"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p:cNvSpPr/>
            <p:nvPr/>
          </p:nvSpPr>
          <p:spPr>
            <a:xfrm>
              <a:off x="7837205"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8160478"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87" name="Table 286"/>
          <p:cNvGraphicFramePr>
            <a:graphicFrameLocks noGrp="1"/>
          </p:cNvGraphicFramePr>
          <p:nvPr/>
        </p:nvGraphicFramePr>
        <p:xfrm>
          <a:off x="8377435" y="394109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4" name="Group 357403"/>
          <p:cNvGrpSpPr/>
          <p:nvPr/>
        </p:nvGrpSpPr>
        <p:grpSpPr>
          <a:xfrm>
            <a:off x="8394131" y="3965927"/>
            <a:ext cx="1258156" cy="1246165"/>
            <a:chOff x="7186197" y="3965925"/>
            <a:chExt cx="1258156" cy="1246165"/>
          </a:xfrm>
        </p:grpSpPr>
        <p:sp>
          <p:nvSpPr>
            <p:cNvPr id="288" name="Oval 287"/>
            <p:cNvSpPr/>
            <p:nvPr/>
          </p:nvSpPr>
          <p:spPr>
            <a:xfrm>
              <a:off x="7353543"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p:cNvSpPr/>
            <p:nvPr/>
          </p:nvSpPr>
          <p:spPr>
            <a:xfrm>
              <a:off x="7676817"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p:cNvSpPr/>
            <p:nvPr/>
          </p:nvSpPr>
          <p:spPr>
            <a:xfrm>
              <a:off x="8000090"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p:cNvSpPr/>
            <p:nvPr/>
          </p:nvSpPr>
          <p:spPr>
            <a:xfrm>
              <a:off x="8323363"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7186197"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p:cNvSpPr/>
            <p:nvPr/>
          </p:nvSpPr>
          <p:spPr>
            <a:xfrm>
              <a:off x="7509470"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7832744"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p:cNvSpPr/>
            <p:nvPr/>
          </p:nvSpPr>
          <p:spPr>
            <a:xfrm>
              <a:off x="8156017"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p:cNvSpPr/>
            <p:nvPr/>
          </p:nvSpPr>
          <p:spPr>
            <a:xfrm>
              <a:off x="7350281" y="428633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p:cNvSpPr/>
            <p:nvPr/>
          </p:nvSpPr>
          <p:spPr>
            <a:xfrm>
              <a:off x="7673554" y="428633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p:cNvSpPr/>
            <p:nvPr/>
          </p:nvSpPr>
          <p:spPr>
            <a:xfrm>
              <a:off x="7832744" y="443071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p:cNvSpPr/>
            <p:nvPr/>
          </p:nvSpPr>
          <p:spPr>
            <a:xfrm>
              <a:off x="8320101" y="428633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7189732" y="477069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Oval 300"/>
            <p:cNvSpPr/>
            <p:nvPr/>
          </p:nvSpPr>
          <p:spPr>
            <a:xfrm>
              <a:off x="7513005" y="477069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301"/>
            <p:cNvSpPr/>
            <p:nvPr/>
          </p:nvSpPr>
          <p:spPr>
            <a:xfrm>
              <a:off x="7836278" y="477069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p:cNvSpPr/>
            <p:nvPr/>
          </p:nvSpPr>
          <p:spPr>
            <a:xfrm>
              <a:off x="8323362" y="460626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p:cNvSpPr/>
            <p:nvPr/>
          </p:nvSpPr>
          <p:spPr>
            <a:xfrm>
              <a:off x="8151095" y="476642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p:cNvSpPr/>
            <p:nvPr/>
          </p:nvSpPr>
          <p:spPr>
            <a:xfrm>
              <a:off x="7345659" y="49308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7668932" y="49308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p:cNvSpPr/>
            <p:nvPr/>
          </p:nvSpPr>
          <p:spPr>
            <a:xfrm>
              <a:off x="7992206" y="49308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p:cNvSpPr/>
            <p:nvPr/>
          </p:nvSpPr>
          <p:spPr>
            <a:xfrm>
              <a:off x="7186469"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p:cNvSpPr/>
            <p:nvPr/>
          </p:nvSpPr>
          <p:spPr>
            <a:xfrm>
              <a:off x="7509743"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p:cNvSpPr/>
            <p:nvPr/>
          </p:nvSpPr>
          <p:spPr>
            <a:xfrm>
              <a:off x="7833016"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p:cNvSpPr/>
            <p:nvPr/>
          </p:nvSpPr>
          <p:spPr>
            <a:xfrm>
              <a:off x="8156289"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2" name="Straight Arrow Connector 311"/>
          <p:cNvCxnSpPr>
            <a:stCxn id="64" idx="3"/>
            <a:endCxn id="237" idx="1"/>
          </p:cNvCxnSpPr>
          <p:nvPr/>
        </p:nvCxnSpPr>
        <p:spPr>
          <a:xfrm flipV="1">
            <a:off x="7546255" y="1602381"/>
            <a:ext cx="839559" cy="104927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Straight Arrow Connector 314"/>
          <p:cNvCxnSpPr>
            <a:stCxn id="64" idx="3"/>
            <a:endCxn id="262" idx="1"/>
          </p:cNvCxnSpPr>
          <p:nvPr/>
        </p:nvCxnSpPr>
        <p:spPr>
          <a:xfrm>
            <a:off x="7546253" y="2651653"/>
            <a:ext cx="835371" cy="44070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Straight Arrow Connector 317"/>
          <p:cNvCxnSpPr>
            <a:stCxn id="64" idx="3"/>
            <a:endCxn id="287" idx="1"/>
          </p:cNvCxnSpPr>
          <p:nvPr/>
        </p:nvCxnSpPr>
        <p:spPr>
          <a:xfrm>
            <a:off x="7546255" y="2651654"/>
            <a:ext cx="831181" cy="193068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1" name="TextBox 320"/>
              <p:cNvSpPr txBox="1"/>
              <p:nvPr/>
            </p:nvSpPr>
            <p:spPr>
              <a:xfrm>
                <a:off x="8454628" y="5291915"/>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321" name="TextBox 320"/>
              <p:cNvSpPr txBox="1">
                <a:spLocks noRot="1" noChangeAspect="1" noMove="1" noResize="1" noEditPoints="1" noAdjustHandles="1" noChangeArrowheads="1" noChangeShapeType="1" noTextEdit="1"/>
              </p:cNvSpPr>
              <p:nvPr/>
            </p:nvSpPr>
            <p:spPr>
              <a:xfrm>
                <a:off x="8454628" y="5291915"/>
                <a:ext cx="1289059" cy="369332"/>
              </a:xfrm>
              <a:prstGeom prst="rect">
                <a:avLst/>
              </a:prstGeom>
              <a:blipFill>
                <a:blip r:embed="rId3"/>
                <a:stretch>
                  <a:fillRect/>
                </a:stretch>
              </a:blipFill>
            </p:spPr>
            <p:txBody>
              <a:bodyPr/>
              <a:lstStyle/>
              <a:p>
                <a:r>
                  <a:rPr lang="en-GB">
                    <a:noFill/>
                  </a:rPr>
                  <a:t> </a:t>
                </a:r>
              </a:p>
            </p:txBody>
          </p:sp>
        </mc:Fallback>
      </mc:AlternateContent>
      <p:sp>
        <p:nvSpPr>
          <p:cNvPr id="2" name="TextBox 1"/>
          <p:cNvSpPr txBox="1"/>
          <p:nvPr/>
        </p:nvSpPr>
        <p:spPr>
          <a:xfrm>
            <a:off x="2544150" y="1166493"/>
            <a:ext cx="3546375" cy="523220"/>
          </a:xfrm>
          <a:prstGeom prst="rect">
            <a:avLst/>
          </a:prstGeom>
          <a:noFill/>
        </p:spPr>
        <p:txBody>
          <a:bodyPr wrap="square" rtlCol="0">
            <a:spAutoFit/>
          </a:bodyPr>
          <a:lstStyle/>
          <a:p>
            <a:r>
              <a:rPr lang="en-US" sz="2800" dirty="0">
                <a:latin typeface="+mn-lt"/>
              </a:rPr>
              <a:t>Start exploring…</a:t>
            </a:r>
          </a:p>
        </p:txBody>
      </p:sp>
    </p:spTree>
    <p:extLst>
      <p:ext uri="{BB962C8B-B14F-4D97-AF65-F5344CB8AC3E}">
        <p14:creationId xmlns:p14="http://schemas.microsoft.com/office/powerpoint/2010/main" val="345742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500"/>
                                        <p:tgtEl>
                                          <p:spTgt spid="64"/>
                                        </p:tgtEl>
                                      </p:cBhvr>
                                    </p:animEffect>
                                  </p:childTnLst>
                                </p:cTn>
                              </p:par>
                              <p:par>
                                <p:cTn id="8" presetID="10" presetClass="entr" presetSubtype="0" fill="hold" nodeType="withEffect">
                                  <p:stCondLst>
                                    <p:cond delay="0"/>
                                  </p:stCondLst>
                                  <p:childTnLst>
                                    <p:set>
                                      <p:cBhvr>
                                        <p:cTn id="9" dur="1" fill="hold">
                                          <p:stCondLst>
                                            <p:cond delay="0"/>
                                          </p:stCondLst>
                                        </p:cTn>
                                        <p:tgtEl>
                                          <p:spTgt spid="357401"/>
                                        </p:tgtEl>
                                        <p:attrNameLst>
                                          <p:attrName>style.visibility</p:attrName>
                                        </p:attrNameLst>
                                      </p:cBhvr>
                                      <p:to>
                                        <p:strVal val="visible"/>
                                      </p:to>
                                    </p:set>
                                    <p:animEffect transition="in" filter="fade">
                                      <p:cBhvr>
                                        <p:cTn id="10" dur="500"/>
                                        <p:tgtEl>
                                          <p:spTgt spid="357401"/>
                                        </p:tgtEl>
                                      </p:cBhvr>
                                    </p:animEffect>
                                  </p:childTnLst>
                                </p:cTn>
                              </p:par>
                              <p:par>
                                <p:cTn id="11" presetID="10" presetClass="entr" presetSubtype="0" fill="hold" nodeType="withEffect">
                                  <p:stCondLst>
                                    <p:cond delay="0"/>
                                  </p:stCondLst>
                                  <p:childTnLst>
                                    <p:set>
                                      <p:cBhvr>
                                        <p:cTn id="12" dur="1" fill="hold">
                                          <p:stCondLst>
                                            <p:cond delay="0"/>
                                          </p:stCondLst>
                                        </p:cTn>
                                        <p:tgtEl>
                                          <p:spTgt spid="89"/>
                                        </p:tgtEl>
                                        <p:attrNameLst>
                                          <p:attrName>style.visibility</p:attrName>
                                        </p:attrNameLst>
                                      </p:cBhvr>
                                      <p:to>
                                        <p:strVal val="visible"/>
                                      </p:to>
                                    </p:set>
                                    <p:animEffect transition="in" filter="fade">
                                      <p:cBhvr>
                                        <p:cTn id="13" dur="500"/>
                                        <p:tgtEl>
                                          <p:spTgt spid="89"/>
                                        </p:tgtEl>
                                      </p:cBhvr>
                                    </p:animEffect>
                                  </p:childTnLst>
                                </p:cTn>
                              </p:par>
                              <p:par>
                                <p:cTn id="14" presetID="10" presetClass="entr" presetSubtype="0" fill="hold" nodeType="withEffect">
                                  <p:stCondLst>
                                    <p:cond delay="0"/>
                                  </p:stCondLst>
                                  <p:childTnLst>
                                    <p:set>
                                      <p:cBhvr>
                                        <p:cTn id="15" dur="1" fill="hold">
                                          <p:stCondLst>
                                            <p:cond delay="0"/>
                                          </p:stCondLst>
                                        </p:cTn>
                                        <p:tgtEl>
                                          <p:spTgt spid="357400"/>
                                        </p:tgtEl>
                                        <p:attrNameLst>
                                          <p:attrName>style.visibility</p:attrName>
                                        </p:attrNameLst>
                                      </p:cBhvr>
                                      <p:to>
                                        <p:strVal val="visible"/>
                                      </p:to>
                                    </p:set>
                                    <p:animEffect transition="in" filter="fade">
                                      <p:cBhvr>
                                        <p:cTn id="16" dur="500"/>
                                        <p:tgtEl>
                                          <p:spTgt spid="35740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3"/>
                                        </p:tgtEl>
                                        <p:attrNameLst>
                                          <p:attrName>style.visibility</p:attrName>
                                        </p:attrNameLst>
                                      </p:cBhvr>
                                      <p:to>
                                        <p:strVal val="visible"/>
                                      </p:to>
                                    </p:set>
                                    <p:animEffect transition="in" filter="fade">
                                      <p:cBhvr>
                                        <p:cTn id="19" dur="500"/>
                                        <p:tgtEl>
                                          <p:spTgt spid="193"/>
                                        </p:tgtEl>
                                      </p:cBhvr>
                                    </p:animEffect>
                                  </p:childTnLst>
                                </p:cTn>
                              </p:par>
                              <p:par>
                                <p:cTn id="20" presetID="10" presetClass="entr" presetSubtype="0" fill="hold" nodeType="withEffect">
                                  <p:stCondLst>
                                    <p:cond delay="0"/>
                                  </p:stCondLst>
                                  <p:childTnLst>
                                    <p:set>
                                      <p:cBhvr>
                                        <p:cTn id="21" dur="1" fill="hold">
                                          <p:stCondLst>
                                            <p:cond delay="0"/>
                                          </p:stCondLst>
                                        </p:cTn>
                                        <p:tgtEl>
                                          <p:spTgt spid="203"/>
                                        </p:tgtEl>
                                        <p:attrNameLst>
                                          <p:attrName>style.visibility</p:attrName>
                                        </p:attrNameLst>
                                      </p:cBhvr>
                                      <p:to>
                                        <p:strVal val="visible"/>
                                      </p:to>
                                    </p:set>
                                    <p:animEffect transition="in" filter="fade">
                                      <p:cBhvr>
                                        <p:cTn id="22" dur="500"/>
                                        <p:tgtEl>
                                          <p:spTgt spid="203"/>
                                        </p:tgtEl>
                                      </p:cBhvr>
                                    </p:animEffect>
                                  </p:childTnLst>
                                </p:cTn>
                              </p:par>
                              <p:par>
                                <p:cTn id="23" presetID="10" presetClass="entr" presetSubtype="0" fill="hold" nodeType="withEffect">
                                  <p:stCondLst>
                                    <p:cond delay="0"/>
                                  </p:stCondLst>
                                  <p:childTnLst>
                                    <p:set>
                                      <p:cBhvr>
                                        <p:cTn id="24" dur="1" fill="hold">
                                          <p:stCondLst>
                                            <p:cond delay="0"/>
                                          </p:stCondLst>
                                        </p:cTn>
                                        <p:tgtEl>
                                          <p:spTgt spid="204"/>
                                        </p:tgtEl>
                                        <p:attrNameLst>
                                          <p:attrName>style.visibility</p:attrName>
                                        </p:attrNameLst>
                                      </p:cBhvr>
                                      <p:to>
                                        <p:strVal val="visible"/>
                                      </p:to>
                                    </p:set>
                                    <p:animEffect transition="in" filter="fade">
                                      <p:cBhvr>
                                        <p:cTn id="25" dur="500"/>
                                        <p:tgtEl>
                                          <p:spTgt spid="204"/>
                                        </p:tgtEl>
                                      </p:cBhvr>
                                    </p:animEffect>
                                  </p:childTnLst>
                                </p:cTn>
                              </p:par>
                              <p:par>
                                <p:cTn id="26" presetID="10" presetClass="entr" presetSubtype="0" fill="hold" nodeType="withEffect">
                                  <p:stCondLst>
                                    <p:cond delay="0"/>
                                  </p:stCondLst>
                                  <p:childTnLst>
                                    <p:set>
                                      <p:cBhvr>
                                        <p:cTn id="27" dur="1" fill="hold">
                                          <p:stCondLst>
                                            <p:cond delay="0"/>
                                          </p:stCondLst>
                                        </p:cTn>
                                        <p:tgtEl>
                                          <p:spTgt spid="209"/>
                                        </p:tgtEl>
                                        <p:attrNameLst>
                                          <p:attrName>style.visibility</p:attrName>
                                        </p:attrNameLst>
                                      </p:cBhvr>
                                      <p:to>
                                        <p:strVal val="visible"/>
                                      </p:to>
                                    </p:set>
                                    <p:animEffect transition="in" filter="fade">
                                      <p:cBhvr>
                                        <p:cTn id="28" dur="500"/>
                                        <p:tgtEl>
                                          <p:spTgt spid="209"/>
                                        </p:tgtEl>
                                      </p:cBhvr>
                                    </p:animEffect>
                                  </p:childTnLst>
                                </p:cTn>
                              </p:par>
                              <p:par>
                                <p:cTn id="29" presetID="10" presetClass="entr" presetSubtype="0" fill="hold" nodeType="withEffect">
                                  <p:stCondLst>
                                    <p:cond delay="0"/>
                                  </p:stCondLst>
                                  <p:childTnLst>
                                    <p:set>
                                      <p:cBhvr>
                                        <p:cTn id="30" dur="1" fill="hold">
                                          <p:stCondLst>
                                            <p:cond delay="0"/>
                                          </p:stCondLst>
                                        </p:cTn>
                                        <p:tgtEl>
                                          <p:spTgt spid="357399"/>
                                        </p:tgtEl>
                                        <p:attrNameLst>
                                          <p:attrName>style.visibility</p:attrName>
                                        </p:attrNameLst>
                                      </p:cBhvr>
                                      <p:to>
                                        <p:strVal val="visible"/>
                                      </p:to>
                                    </p:set>
                                    <p:animEffect transition="in" filter="fade">
                                      <p:cBhvr>
                                        <p:cTn id="31" dur="500"/>
                                        <p:tgtEl>
                                          <p:spTgt spid="357399"/>
                                        </p:tgtEl>
                                      </p:cBhvr>
                                    </p:animEffect>
                                  </p:childTnLst>
                                </p:cTn>
                              </p:par>
                              <p:par>
                                <p:cTn id="32" presetID="10" presetClass="entr" presetSubtype="0" fill="hold" nodeType="withEffect">
                                  <p:stCondLst>
                                    <p:cond delay="0"/>
                                  </p:stCondLst>
                                  <p:childTnLst>
                                    <p:set>
                                      <p:cBhvr>
                                        <p:cTn id="33" dur="1" fill="hold">
                                          <p:stCondLst>
                                            <p:cond delay="0"/>
                                          </p:stCondLst>
                                        </p:cTn>
                                        <p:tgtEl>
                                          <p:spTgt spid="234"/>
                                        </p:tgtEl>
                                        <p:attrNameLst>
                                          <p:attrName>style.visibility</p:attrName>
                                        </p:attrNameLst>
                                      </p:cBhvr>
                                      <p:to>
                                        <p:strVal val="visible"/>
                                      </p:to>
                                    </p:set>
                                    <p:animEffect transition="in" filter="fade">
                                      <p:cBhvr>
                                        <p:cTn id="34" dur="500"/>
                                        <p:tgtEl>
                                          <p:spTgt spid="23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7"/>
                                        </p:tgtEl>
                                        <p:attrNameLst>
                                          <p:attrName>style.visibility</p:attrName>
                                        </p:attrNameLst>
                                      </p:cBhvr>
                                      <p:to>
                                        <p:strVal val="visible"/>
                                      </p:to>
                                    </p:set>
                                    <p:animEffect transition="in" filter="fade">
                                      <p:cBhvr>
                                        <p:cTn id="39" dur="500"/>
                                        <p:tgtEl>
                                          <p:spTgt spid="237"/>
                                        </p:tgtEl>
                                      </p:cBhvr>
                                    </p:animEffect>
                                  </p:childTnLst>
                                </p:cTn>
                              </p:par>
                              <p:par>
                                <p:cTn id="40" presetID="10" presetClass="entr" presetSubtype="0" fill="hold" nodeType="withEffect">
                                  <p:stCondLst>
                                    <p:cond delay="0"/>
                                  </p:stCondLst>
                                  <p:childTnLst>
                                    <p:set>
                                      <p:cBhvr>
                                        <p:cTn id="41" dur="1" fill="hold">
                                          <p:stCondLst>
                                            <p:cond delay="0"/>
                                          </p:stCondLst>
                                        </p:cTn>
                                        <p:tgtEl>
                                          <p:spTgt spid="357402"/>
                                        </p:tgtEl>
                                        <p:attrNameLst>
                                          <p:attrName>style.visibility</p:attrName>
                                        </p:attrNameLst>
                                      </p:cBhvr>
                                      <p:to>
                                        <p:strVal val="visible"/>
                                      </p:to>
                                    </p:set>
                                    <p:animEffect transition="in" filter="fade">
                                      <p:cBhvr>
                                        <p:cTn id="42" dur="500"/>
                                        <p:tgtEl>
                                          <p:spTgt spid="357402"/>
                                        </p:tgtEl>
                                      </p:cBhvr>
                                    </p:animEffect>
                                  </p:childTnLst>
                                </p:cTn>
                              </p:par>
                              <p:par>
                                <p:cTn id="43" presetID="10" presetClass="entr" presetSubtype="0" fill="hold" nodeType="withEffect">
                                  <p:stCondLst>
                                    <p:cond delay="0"/>
                                  </p:stCondLst>
                                  <p:childTnLst>
                                    <p:set>
                                      <p:cBhvr>
                                        <p:cTn id="44" dur="1" fill="hold">
                                          <p:stCondLst>
                                            <p:cond delay="0"/>
                                          </p:stCondLst>
                                        </p:cTn>
                                        <p:tgtEl>
                                          <p:spTgt spid="262"/>
                                        </p:tgtEl>
                                        <p:attrNameLst>
                                          <p:attrName>style.visibility</p:attrName>
                                        </p:attrNameLst>
                                      </p:cBhvr>
                                      <p:to>
                                        <p:strVal val="visible"/>
                                      </p:to>
                                    </p:set>
                                    <p:animEffect transition="in" filter="fade">
                                      <p:cBhvr>
                                        <p:cTn id="45" dur="500"/>
                                        <p:tgtEl>
                                          <p:spTgt spid="262"/>
                                        </p:tgtEl>
                                      </p:cBhvr>
                                    </p:animEffect>
                                  </p:childTnLst>
                                </p:cTn>
                              </p:par>
                              <p:par>
                                <p:cTn id="46" presetID="10" presetClass="entr" presetSubtype="0" fill="hold" nodeType="withEffect">
                                  <p:stCondLst>
                                    <p:cond delay="0"/>
                                  </p:stCondLst>
                                  <p:childTnLst>
                                    <p:set>
                                      <p:cBhvr>
                                        <p:cTn id="47" dur="1" fill="hold">
                                          <p:stCondLst>
                                            <p:cond delay="0"/>
                                          </p:stCondLst>
                                        </p:cTn>
                                        <p:tgtEl>
                                          <p:spTgt spid="357403"/>
                                        </p:tgtEl>
                                        <p:attrNameLst>
                                          <p:attrName>style.visibility</p:attrName>
                                        </p:attrNameLst>
                                      </p:cBhvr>
                                      <p:to>
                                        <p:strVal val="visible"/>
                                      </p:to>
                                    </p:set>
                                    <p:animEffect transition="in" filter="fade">
                                      <p:cBhvr>
                                        <p:cTn id="48" dur="500"/>
                                        <p:tgtEl>
                                          <p:spTgt spid="357403"/>
                                        </p:tgtEl>
                                      </p:cBhvr>
                                    </p:animEffect>
                                  </p:childTnLst>
                                </p:cTn>
                              </p:par>
                              <p:par>
                                <p:cTn id="49" presetID="10" presetClass="entr" presetSubtype="0" fill="hold" nodeType="withEffect">
                                  <p:stCondLst>
                                    <p:cond delay="0"/>
                                  </p:stCondLst>
                                  <p:childTnLst>
                                    <p:set>
                                      <p:cBhvr>
                                        <p:cTn id="50" dur="1" fill="hold">
                                          <p:stCondLst>
                                            <p:cond delay="0"/>
                                          </p:stCondLst>
                                        </p:cTn>
                                        <p:tgtEl>
                                          <p:spTgt spid="287"/>
                                        </p:tgtEl>
                                        <p:attrNameLst>
                                          <p:attrName>style.visibility</p:attrName>
                                        </p:attrNameLst>
                                      </p:cBhvr>
                                      <p:to>
                                        <p:strVal val="visible"/>
                                      </p:to>
                                    </p:set>
                                    <p:animEffect transition="in" filter="fade">
                                      <p:cBhvr>
                                        <p:cTn id="51" dur="500"/>
                                        <p:tgtEl>
                                          <p:spTgt spid="287"/>
                                        </p:tgtEl>
                                      </p:cBhvr>
                                    </p:animEffect>
                                  </p:childTnLst>
                                </p:cTn>
                              </p:par>
                              <p:par>
                                <p:cTn id="52" presetID="10" presetClass="entr" presetSubtype="0" fill="hold" nodeType="withEffect">
                                  <p:stCondLst>
                                    <p:cond delay="0"/>
                                  </p:stCondLst>
                                  <p:childTnLst>
                                    <p:set>
                                      <p:cBhvr>
                                        <p:cTn id="53" dur="1" fill="hold">
                                          <p:stCondLst>
                                            <p:cond delay="0"/>
                                          </p:stCondLst>
                                        </p:cTn>
                                        <p:tgtEl>
                                          <p:spTgt spid="357404"/>
                                        </p:tgtEl>
                                        <p:attrNameLst>
                                          <p:attrName>style.visibility</p:attrName>
                                        </p:attrNameLst>
                                      </p:cBhvr>
                                      <p:to>
                                        <p:strVal val="visible"/>
                                      </p:to>
                                    </p:set>
                                    <p:animEffect transition="in" filter="fade">
                                      <p:cBhvr>
                                        <p:cTn id="54" dur="500"/>
                                        <p:tgtEl>
                                          <p:spTgt spid="357404"/>
                                        </p:tgtEl>
                                      </p:cBhvr>
                                    </p:animEffect>
                                  </p:childTnLst>
                                </p:cTn>
                              </p:par>
                              <p:par>
                                <p:cTn id="55" presetID="10" presetClass="entr" presetSubtype="0" fill="hold" nodeType="withEffect">
                                  <p:stCondLst>
                                    <p:cond delay="0"/>
                                  </p:stCondLst>
                                  <p:childTnLst>
                                    <p:set>
                                      <p:cBhvr>
                                        <p:cTn id="56" dur="1" fill="hold">
                                          <p:stCondLst>
                                            <p:cond delay="0"/>
                                          </p:stCondLst>
                                        </p:cTn>
                                        <p:tgtEl>
                                          <p:spTgt spid="312"/>
                                        </p:tgtEl>
                                        <p:attrNameLst>
                                          <p:attrName>style.visibility</p:attrName>
                                        </p:attrNameLst>
                                      </p:cBhvr>
                                      <p:to>
                                        <p:strVal val="visible"/>
                                      </p:to>
                                    </p:set>
                                    <p:animEffect transition="in" filter="fade">
                                      <p:cBhvr>
                                        <p:cTn id="57" dur="500"/>
                                        <p:tgtEl>
                                          <p:spTgt spid="312"/>
                                        </p:tgtEl>
                                      </p:cBhvr>
                                    </p:animEffect>
                                  </p:childTnLst>
                                </p:cTn>
                              </p:par>
                              <p:par>
                                <p:cTn id="58" presetID="10" presetClass="entr" presetSubtype="0" fill="hold" nodeType="withEffect">
                                  <p:stCondLst>
                                    <p:cond delay="0"/>
                                  </p:stCondLst>
                                  <p:childTnLst>
                                    <p:set>
                                      <p:cBhvr>
                                        <p:cTn id="59" dur="1" fill="hold">
                                          <p:stCondLst>
                                            <p:cond delay="0"/>
                                          </p:stCondLst>
                                        </p:cTn>
                                        <p:tgtEl>
                                          <p:spTgt spid="315"/>
                                        </p:tgtEl>
                                        <p:attrNameLst>
                                          <p:attrName>style.visibility</p:attrName>
                                        </p:attrNameLst>
                                      </p:cBhvr>
                                      <p:to>
                                        <p:strVal val="visible"/>
                                      </p:to>
                                    </p:set>
                                    <p:animEffect transition="in" filter="fade">
                                      <p:cBhvr>
                                        <p:cTn id="60" dur="500"/>
                                        <p:tgtEl>
                                          <p:spTgt spid="315"/>
                                        </p:tgtEl>
                                      </p:cBhvr>
                                    </p:animEffect>
                                  </p:childTnLst>
                                </p:cTn>
                              </p:par>
                              <p:par>
                                <p:cTn id="61" presetID="10" presetClass="entr" presetSubtype="0" fill="hold" nodeType="withEffect">
                                  <p:stCondLst>
                                    <p:cond delay="0"/>
                                  </p:stCondLst>
                                  <p:childTnLst>
                                    <p:set>
                                      <p:cBhvr>
                                        <p:cTn id="62" dur="1" fill="hold">
                                          <p:stCondLst>
                                            <p:cond delay="0"/>
                                          </p:stCondLst>
                                        </p:cTn>
                                        <p:tgtEl>
                                          <p:spTgt spid="318"/>
                                        </p:tgtEl>
                                        <p:attrNameLst>
                                          <p:attrName>style.visibility</p:attrName>
                                        </p:attrNameLst>
                                      </p:cBhvr>
                                      <p:to>
                                        <p:strVal val="visible"/>
                                      </p:to>
                                    </p:set>
                                    <p:animEffect transition="in" filter="fade">
                                      <p:cBhvr>
                                        <p:cTn id="63" dur="500"/>
                                        <p:tgtEl>
                                          <p:spTgt spid="31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1"/>
                                        </p:tgtEl>
                                        <p:attrNameLst>
                                          <p:attrName>style.visibility</p:attrName>
                                        </p:attrNameLst>
                                      </p:cBhvr>
                                      <p:to>
                                        <p:strVal val="visible"/>
                                      </p:to>
                                    </p:set>
                                    <p:animEffect transition="in" filter="fade">
                                      <p:cBhvr>
                                        <p:cTn id="66" dur="5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32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478861" y="152486"/>
            <a:ext cx="7704667" cy="914399"/>
          </a:xfrm>
        </p:spPr>
        <p:txBody>
          <a:bodyPr>
            <a:normAutofit/>
          </a:bodyPr>
          <a:lstStyle/>
          <a:p>
            <a:r>
              <a:rPr lang="en-US" dirty="0"/>
              <a:t>Evaluation Functions</a:t>
            </a:r>
          </a:p>
        </p:txBody>
      </p:sp>
      <p:graphicFrame>
        <p:nvGraphicFramePr>
          <p:cNvPr id="11" name="Table 10"/>
          <p:cNvGraphicFramePr>
            <a:graphicFrameLocks noGrp="1"/>
          </p:cNvGraphicFramePr>
          <p:nvPr/>
        </p:nvGraphicFramePr>
        <p:xfrm>
          <a:off x="2133600" y="3498339"/>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12" name="Group 11"/>
          <p:cNvGrpSpPr/>
          <p:nvPr/>
        </p:nvGrpSpPr>
        <p:grpSpPr>
          <a:xfrm>
            <a:off x="2150298" y="3523171"/>
            <a:ext cx="1258156" cy="1246165"/>
            <a:chOff x="3161444" y="1198652"/>
            <a:chExt cx="3961969" cy="3924210"/>
          </a:xfrm>
        </p:grpSpPr>
        <p:sp>
          <p:nvSpPr>
            <p:cNvPr id="10" name="Oval 9"/>
            <p:cNvSpPr/>
            <p:nvPr/>
          </p:nvSpPr>
          <p:spPr>
            <a:xfrm>
              <a:off x="3688422"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4706419"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5724416"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6742413" y="1198652"/>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161444"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179441"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5197438"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6215435" y="1702879"/>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678148"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696145"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5714142"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6732139" y="2207630"/>
              <a:ext cx="381000" cy="38100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172575"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90572"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208569"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6226566" y="3732884"/>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6717585"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663594"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4681591"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699588" y="4237111"/>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162301"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180298"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198295"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6216292" y="4741862"/>
              <a:ext cx="381000" cy="38100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8" name="Table 37"/>
          <p:cNvGraphicFramePr>
            <a:graphicFrameLocks noGrp="1"/>
          </p:cNvGraphicFramePr>
          <p:nvPr/>
        </p:nvGraphicFramePr>
        <p:xfrm>
          <a:off x="4159187" y="3497564"/>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7" name="Group 357396"/>
          <p:cNvGrpSpPr/>
          <p:nvPr/>
        </p:nvGrpSpPr>
        <p:grpSpPr>
          <a:xfrm>
            <a:off x="4175883" y="3522396"/>
            <a:ext cx="1258156" cy="1246165"/>
            <a:chOff x="2967949" y="3522394"/>
            <a:chExt cx="1258156" cy="1246165"/>
          </a:xfrm>
        </p:grpSpPr>
        <p:sp>
          <p:nvSpPr>
            <p:cNvPr id="40" name="Oval 39"/>
            <p:cNvSpPr/>
            <p:nvPr/>
          </p:nvSpPr>
          <p:spPr>
            <a:xfrm>
              <a:off x="3135295"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3458569"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3781842"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4105115" y="35223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2967949"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291222"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3614496"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3937769" y="36825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3132033"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3455306"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3778579"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4101853" y="384280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2971484"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3294757"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3618030" y="43271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4105114" y="4162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4097231"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3127411"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3450684"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3773958" y="448728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2968221"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3291495"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3614768"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3938041" y="464756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4" name="Table 63"/>
          <p:cNvGraphicFramePr>
            <a:graphicFrameLocks noGrp="1"/>
          </p:cNvGraphicFramePr>
          <p:nvPr/>
        </p:nvGraphicFramePr>
        <p:xfrm>
          <a:off x="6263765" y="2010408"/>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1" name="Group 357400"/>
          <p:cNvGrpSpPr/>
          <p:nvPr/>
        </p:nvGrpSpPr>
        <p:grpSpPr>
          <a:xfrm>
            <a:off x="6280463" y="2035240"/>
            <a:ext cx="1258156" cy="1246165"/>
            <a:chOff x="5072528" y="2035238"/>
            <a:chExt cx="1258156" cy="1246165"/>
          </a:xfrm>
        </p:grpSpPr>
        <p:sp>
          <p:nvSpPr>
            <p:cNvPr id="65" name="Oval 64"/>
            <p:cNvSpPr/>
            <p:nvPr/>
          </p:nvSpPr>
          <p:spPr>
            <a:xfrm>
              <a:off x="5239874"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5563148"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5886421"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6209694" y="203523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5072528"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5395801"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5719075"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6042348" y="219535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236612" y="235564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5559885" y="235564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5719075" y="2500029"/>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6206432" y="235564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5076063" y="284000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5399336" y="284000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5722609" y="284000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6209693" y="267557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6201810"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5231990"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p:cNvSpPr/>
            <p:nvPr/>
          </p:nvSpPr>
          <p:spPr>
            <a:xfrm>
              <a:off x="5555263"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p:cNvSpPr/>
            <p:nvPr/>
          </p:nvSpPr>
          <p:spPr>
            <a:xfrm>
              <a:off x="5878537" y="3000126"/>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p:cNvSpPr/>
            <p:nvPr/>
          </p:nvSpPr>
          <p:spPr>
            <a:xfrm>
              <a:off x="5072800"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5396074"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5719347"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6042620" y="31604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89" name="Table 88"/>
          <p:cNvGraphicFramePr>
            <a:graphicFrameLocks noGrp="1"/>
          </p:cNvGraphicFramePr>
          <p:nvPr/>
        </p:nvGraphicFramePr>
        <p:xfrm>
          <a:off x="6259576" y="3501607"/>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0" name="Group 357399"/>
          <p:cNvGrpSpPr/>
          <p:nvPr/>
        </p:nvGrpSpPr>
        <p:grpSpPr>
          <a:xfrm>
            <a:off x="6276274" y="3526439"/>
            <a:ext cx="1258156" cy="1246165"/>
            <a:chOff x="5068339" y="3526437"/>
            <a:chExt cx="1258156" cy="1246165"/>
          </a:xfrm>
        </p:grpSpPr>
        <p:sp>
          <p:nvSpPr>
            <p:cNvPr id="90" name="Oval 89"/>
            <p:cNvSpPr/>
            <p:nvPr/>
          </p:nvSpPr>
          <p:spPr>
            <a:xfrm>
              <a:off x="5235685"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5558959"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5882232"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6205505" y="3526437"/>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5068339"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5391612"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5714886"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6038159" y="36865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5232423" y="38468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5555696" y="38468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5878969" y="38468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6040439" y="399639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5071874" y="4331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5395147" y="4331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5718420" y="4331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6205504" y="416677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6197621"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5227801"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5551074"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p:cNvSpPr/>
            <p:nvPr/>
          </p:nvSpPr>
          <p:spPr>
            <a:xfrm>
              <a:off x="5874348" y="4491325"/>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p:cNvSpPr/>
            <p:nvPr/>
          </p:nvSpPr>
          <p:spPr>
            <a:xfrm>
              <a:off x="5068611"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p:cNvSpPr/>
            <p:nvPr/>
          </p:nvSpPr>
          <p:spPr>
            <a:xfrm>
              <a:off x="5391885"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5715158"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p:cNvSpPr/>
            <p:nvPr/>
          </p:nvSpPr>
          <p:spPr>
            <a:xfrm>
              <a:off x="6038431" y="465161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14" name="Table 113"/>
          <p:cNvGraphicFramePr>
            <a:graphicFrameLocks noGrp="1"/>
          </p:cNvGraphicFramePr>
          <p:nvPr/>
        </p:nvGraphicFramePr>
        <p:xfrm>
          <a:off x="4141719" y="1994112"/>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6" name="Group 357395"/>
          <p:cNvGrpSpPr/>
          <p:nvPr/>
        </p:nvGrpSpPr>
        <p:grpSpPr>
          <a:xfrm>
            <a:off x="4158415" y="2018944"/>
            <a:ext cx="1258156" cy="1246165"/>
            <a:chOff x="2950481" y="2018942"/>
            <a:chExt cx="1258156" cy="1246165"/>
          </a:xfrm>
        </p:grpSpPr>
        <p:sp>
          <p:nvSpPr>
            <p:cNvPr id="116" name="Oval 115"/>
            <p:cNvSpPr/>
            <p:nvPr/>
          </p:nvSpPr>
          <p:spPr>
            <a:xfrm>
              <a:off x="3117827"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441101"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p:cNvSpPr/>
            <p:nvPr/>
          </p:nvSpPr>
          <p:spPr>
            <a:xfrm>
              <a:off x="3764374"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p:cNvSpPr/>
            <p:nvPr/>
          </p:nvSpPr>
          <p:spPr>
            <a:xfrm>
              <a:off x="4087647" y="2018942"/>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2950481"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p:cNvSpPr/>
            <p:nvPr/>
          </p:nvSpPr>
          <p:spPr>
            <a:xfrm>
              <a:off x="3273754"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p:cNvSpPr/>
            <p:nvPr/>
          </p:nvSpPr>
          <p:spPr>
            <a:xfrm>
              <a:off x="3597028"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p:cNvSpPr/>
            <p:nvPr/>
          </p:nvSpPr>
          <p:spPr>
            <a:xfrm>
              <a:off x="3920301" y="2179063"/>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p:cNvSpPr/>
            <p:nvPr/>
          </p:nvSpPr>
          <p:spPr>
            <a:xfrm>
              <a:off x="3114565"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p:cNvSpPr/>
            <p:nvPr/>
          </p:nvSpPr>
          <p:spPr>
            <a:xfrm>
              <a:off x="3437838"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3761111"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p:cNvSpPr/>
            <p:nvPr/>
          </p:nvSpPr>
          <p:spPr>
            <a:xfrm>
              <a:off x="4084385" y="2339351"/>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p:cNvSpPr/>
            <p:nvPr/>
          </p:nvSpPr>
          <p:spPr>
            <a:xfrm>
              <a:off x="2954016"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277289"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p:cNvSpPr/>
            <p:nvPr/>
          </p:nvSpPr>
          <p:spPr>
            <a:xfrm>
              <a:off x="3754700" y="265756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p:cNvSpPr/>
            <p:nvPr/>
          </p:nvSpPr>
          <p:spPr>
            <a:xfrm>
              <a:off x="3923836" y="282370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p:cNvSpPr/>
            <p:nvPr/>
          </p:nvSpPr>
          <p:spPr>
            <a:xfrm>
              <a:off x="4079763"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p:cNvSpPr/>
            <p:nvPr/>
          </p:nvSpPr>
          <p:spPr>
            <a:xfrm>
              <a:off x="3109943"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p:cNvSpPr/>
            <p:nvPr/>
          </p:nvSpPr>
          <p:spPr>
            <a:xfrm>
              <a:off x="3433216"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p:cNvSpPr/>
            <p:nvPr/>
          </p:nvSpPr>
          <p:spPr>
            <a:xfrm>
              <a:off x="3756490" y="298383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p:cNvSpPr/>
            <p:nvPr/>
          </p:nvSpPr>
          <p:spPr>
            <a:xfrm>
              <a:off x="2950753"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p:cNvSpPr/>
            <p:nvPr/>
          </p:nvSpPr>
          <p:spPr>
            <a:xfrm>
              <a:off x="3274027"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p:cNvSpPr/>
            <p:nvPr/>
          </p:nvSpPr>
          <p:spPr>
            <a:xfrm>
              <a:off x="3597300"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p:cNvSpPr/>
            <p:nvPr/>
          </p:nvSpPr>
          <p:spPr>
            <a:xfrm>
              <a:off x="3920573" y="3144117"/>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0" name="Table 139"/>
          <p:cNvGraphicFramePr>
            <a:graphicFrameLocks noGrp="1"/>
          </p:cNvGraphicFramePr>
          <p:nvPr/>
        </p:nvGraphicFramePr>
        <p:xfrm>
          <a:off x="4143889" y="501265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8" name="Group 357397"/>
          <p:cNvGrpSpPr/>
          <p:nvPr/>
        </p:nvGrpSpPr>
        <p:grpSpPr>
          <a:xfrm>
            <a:off x="4160587" y="5037487"/>
            <a:ext cx="1258156" cy="1246165"/>
            <a:chOff x="2952652" y="5037485"/>
            <a:chExt cx="1258156" cy="1246165"/>
          </a:xfrm>
        </p:grpSpPr>
        <p:sp>
          <p:nvSpPr>
            <p:cNvPr id="142" name="Oval 141"/>
            <p:cNvSpPr/>
            <p:nvPr/>
          </p:nvSpPr>
          <p:spPr>
            <a:xfrm>
              <a:off x="3119998"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p:cNvSpPr/>
            <p:nvPr/>
          </p:nvSpPr>
          <p:spPr>
            <a:xfrm>
              <a:off x="3443272"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p:cNvSpPr/>
            <p:nvPr/>
          </p:nvSpPr>
          <p:spPr>
            <a:xfrm>
              <a:off x="3766545"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p:cNvSpPr/>
            <p:nvPr/>
          </p:nvSpPr>
          <p:spPr>
            <a:xfrm>
              <a:off x="4089818" y="503748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p:cNvSpPr/>
            <p:nvPr/>
          </p:nvSpPr>
          <p:spPr>
            <a:xfrm>
              <a:off x="2952652"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p:cNvSpPr/>
            <p:nvPr/>
          </p:nvSpPr>
          <p:spPr>
            <a:xfrm>
              <a:off x="3275925"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p:cNvSpPr/>
            <p:nvPr/>
          </p:nvSpPr>
          <p:spPr>
            <a:xfrm>
              <a:off x="3599199"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p:cNvSpPr/>
            <p:nvPr/>
          </p:nvSpPr>
          <p:spPr>
            <a:xfrm>
              <a:off x="3922472" y="519760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p:cNvSpPr/>
            <p:nvPr/>
          </p:nvSpPr>
          <p:spPr>
            <a:xfrm>
              <a:off x="3116736"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p:cNvSpPr/>
            <p:nvPr/>
          </p:nvSpPr>
          <p:spPr>
            <a:xfrm>
              <a:off x="3440009"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p:cNvSpPr/>
            <p:nvPr/>
          </p:nvSpPr>
          <p:spPr>
            <a:xfrm>
              <a:off x="3763282"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p:cNvSpPr/>
            <p:nvPr/>
          </p:nvSpPr>
          <p:spPr>
            <a:xfrm>
              <a:off x="4086556" y="535789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p:cNvSpPr/>
            <p:nvPr/>
          </p:nvSpPr>
          <p:spPr>
            <a:xfrm>
              <a:off x="2956187"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p:cNvSpPr/>
            <p:nvPr/>
          </p:nvSpPr>
          <p:spPr>
            <a:xfrm>
              <a:off x="3279460"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p:cNvSpPr/>
            <p:nvPr/>
          </p:nvSpPr>
          <p:spPr>
            <a:xfrm>
              <a:off x="3602733" y="584225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p:cNvSpPr/>
            <p:nvPr/>
          </p:nvSpPr>
          <p:spPr>
            <a:xfrm>
              <a:off x="3748994" y="5666314"/>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p:cNvSpPr/>
            <p:nvPr/>
          </p:nvSpPr>
          <p:spPr>
            <a:xfrm>
              <a:off x="4081934"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p:cNvSpPr/>
            <p:nvPr/>
          </p:nvSpPr>
          <p:spPr>
            <a:xfrm>
              <a:off x="3112114"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p:cNvSpPr/>
            <p:nvPr/>
          </p:nvSpPr>
          <p:spPr>
            <a:xfrm>
              <a:off x="3435387"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p:cNvSpPr/>
            <p:nvPr/>
          </p:nvSpPr>
          <p:spPr>
            <a:xfrm>
              <a:off x="3758661" y="600237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p:cNvSpPr/>
            <p:nvPr/>
          </p:nvSpPr>
          <p:spPr>
            <a:xfrm>
              <a:off x="2952924"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p:cNvSpPr/>
            <p:nvPr/>
          </p:nvSpPr>
          <p:spPr>
            <a:xfrm>
              <a:off x="3276198"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p:cNvSpPr/>
            <p:nvPr/>
          </p:nvSpPr>
          <p:spPr>
            <a:xfrm>
              <a:off x="3599471"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p:cNvSpPr/>
            <p:nvPr/>
          </p:nvSpPr>
          <p:spPr>
            <a:xfrm>
              <a:off x="3922744" y="616266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3" name="TextBox 12"/>
              <p:cNvSpPr txBox="1"/>
              <p:nvPr/>
            </p:nvSpPr>
            <p:spPr>
              <a:xfrm>
                <a:off x="4141720" y="6396336"/>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141720" y="6396336"/>
                <a:ext cx="1289059"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3" name="TextBox 192"/>
              <p:cNvSpPr txBox="1"/>
              <p:nvPr/>
            </p:nvSpPr>
            <p:spPr>
              <a:xfrm>
                <a:off x="6346509" y="6351696"/>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193" name="TextBox 192"/>
              <p:cNvSpPr txBox="1">
                <a:spLocks noRot="1" noChangeAspect="1" noMove="1" noResize="1" noEditPoints="1" noAdjustHandles="1" noChangeArrowheads="1" noChangeShapeType="1" noTextEdit="1"/>
              </p:cNvSpPr>
              <p:nvPr/>
            </p:nvSpPr>
            <p:spPr>
              <a:xfrm>
                <a:off x="6346509" y="6351696"/>
                <a:ext cx="1289059" cy="369332"/>
              </a:xfrm>
              <a:prstGeom prst="rect">
                <a:avLst/>
              </a:prstGeom>
              <a:blipFill>
                <a:blip r:embed="rId4"/>
                <a:stretch>
                  <a:fillRect/>
                </a:stretch>
              </a:blipFill>
            </p:spPr>
            <p:txBody>
              <a:bodyPr/>
              <a:lstStyle/>
              <a:p>
                <a:r>
                  <a:rPr lang="en-GB">
                    <a:noFill/>
                  </a:rPr>
                  <a:t> </a:t>
                </a:r>
              </a:p>
            </p:txBody>
          </p:sp>
        </mc:Fallback>
      </mc:AlternateContent>
      <p:cxnSp>
        <p:nvCxnSpPr>
          <p:cNvPr id="357376" name="Straight Arrow Connector 357375"/>
          <p:cNvCxnSpPr>
            <a:stCxn id="11" idx="3"/>
            <a:endCxn id="38" idx="1"/>
          </p:cNvCxnSpPr>
          <p:nvPr/>
        </p:nvCxnSpPr>
        <p:spPr>
          <a:xfrm flipV="1">
            <a:off x="3416088" y="4138810"/>
            <a:ext cx="743099" cy="775"/>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p:cNvCxnSpPr>
            <a:stCxn id="11" idx="3"/>
            <a:endCxn id="114" idx="1"/>
          </p:cNvCxnSpPr>
          <p:nvPr/>
        </p:nvCxnSpPr>
        <p:spPr>
          <a:xfrm flipV="1">
            <a:off x="3416089" y="2635357"/>
            <a:ext cx="725631" cy="150422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Straight Arrow Connector 199"/>
          <p:cNvCxnSpPr>
            <a:stCxn id="11" idx="3"/>
            <a:endCxn id="140" idx="1"/>
          </p:cNvCxnSpPr>
          <p:nvPr/>
        </p:nvCxnSpPr>
        <p:spPr>
          <a:xfrm>
            <a:off x="3416090" y="4139583"/>
            <a:ext cx="727801" cy="1514316"/>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Straight Arrow Connector 202"/>
          <p:cNvCxnSpPr>
            <a:stCxn id="38" idx="3"/>
            <a:endCxn id="89" idx="1"/>
          </p:cNvCxnSpPr>
          <p:nvPr/>
        </p:nvCxnSpPr>
        <p:spPr>
          <a:xfrm>
            <a:off x="5441674" y="4138809"/>
            <a:ext cx="817903" cy="404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Straight Arrow Connector 203"/>
          <p:cNvCxnSpPr>
            <a:stCxn id="38" idx="3"/>
            <a:endCxn id="64" idx="1"/>
          </p:cNvCxnSpPr>
          <p:nvPr/>
        </p:nvCxnSpPr>
        <p:spPr>
          <a:xfrm flipV="1">
            <a:off x="5441676" y="2651653"/>
            <a:ext cx="822091" cy="1487156"/>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9" name="Table 208"/>
          <p:cNvGraphicFramePr>
            <a:graphicFrameLocks noGrp="1"/>
          </p:cNvGraphicFramePr>
          <p:nvPr/>
        </p:nvGraphicFramePr>
        <p:xfrm>
          <a:off x="6259576" y="503748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399" name="Group 357398"/>
          <p:cNvGrpSpPr/>
          <p:nvPr/>
        </p:nvGrpSpPr>
        <p:grpSpPr>
          <a:xfrm>
            <a:off x="6276274" y="5062316"/>
            <a:ext cx="1258156" cy="1246165"/>
            <a:chOff x="5068339" y="5062315"/>
            <a:chExt cx="1258156" cy="1246165"/>
          </a:xfrm>
        </p:grpSpPr>
        <p:sp>
          <p:nvSpPr>
            <p:cNvPr id="210" name="Oval 209"/>
            <p:cNvSpPr/>
            <p:nvPr/>
          </p:nvSpPr>
          <p:spPr>
            <a:xfrm>
              <a:off x="5235685"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p:cNvSpPr/>
            <p:nvPr/>
          </p:nvSpPr>
          <p:spPr>
            <a:xfrm>
              <a:off x="5558959"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p:cNvSpPr/>
            <p:nvPr/>
          </p:nvSpPr>
          <p:spPr>
            <a:xfrm>
              <a:off x="5882232"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p:cNvSpPr/>
            <p:nvPr/>
          </p:nvSpPr>
          <p:spPr>
            <a:xfrm>
              <a:off x="6205505" y="506231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p:cNvSpPr/>
            <p:nvPr/>
          </p:nvSpPr>
          <p:spPr>
            <a:xfrm>
              <a:off x="5068339"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p:cNvSpPr/>
            <p:nvPr/>
          </p:nvSpPr>
          <p:spPr>
            <a:xfrm>
              <a:off x="5391612"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p:cNvSpPr/>
            <p:nvPr/>
          </p:nvSpPr>
          <p:spPr>
            <a:xfrm>
              <a:off x="5714886"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p:cNvSpPr/>
            <p:nvPr/>
          </p:nvSpPr>
          <p:spPr>
            <a:xfrm>
              <a:off x="6038159" y="52224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p:cNvSpPr/>
            <p:nvPr/>
          </p:nvSpPr>
          <p:spPr>
            <a:xfrm>
              <a:off x="5232423" y="538272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p:cNvSpPr/>
            <p:nvPr/>
          </p:nvSpPr>
          <p:spPr>
            <a:xfrm>
              <a:off x="5395644" y="5538358"/>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p:cNvSpPr/>
            <p:nvPr/>
          </p:nvSpPr>
          <p:spPr>
            <a:xfrm>
              <a:off x="5878969" y="538272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p:cNvSpPr/>
            <p:nvPr/>
          </p:nvSpPr>
          <p:spPr>
            <a:xfrm>
              <a:off x="6202243" y="538272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p:cNvSpPr/>
            <p:nvPr/>
          </p:nvSpPr>
          <p:spPr>
            <a:xfrm>
              <a:off x="5071874" y="586708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p:cNvSpPr/>
            <p:nvPr/>
          </p:nvSpPr>
          <p:spPr>
            <a:xfrm>
              <a:off x="5395147" y="586708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p:cNvSpPr/>
            <p:nvPr/>
          </p:nvSpPr>
          <p:spPr>
            <a:xfrm>
              <a:off x="5718420" y="586708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p:cNvSpPr/>
            <p:nvPr/>
          </p:nvSpPr>
          <p:spPr>
            <a:xfrm>
              <a:off x="6205504" y="570265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p:cNvSpPr/>
            <p:nvPr/>
          </p:nvSpPr>
          <p:spPr>
            <a:xfrm>
              <a:off x="6197621"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p:cNvSpPr/>
            <p:nvPr/>
          </p:nvSpPr>
          <p:spPr>
            <a:xfrm>
              <a:off x="5227801"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p:cNvSpPr/>
            <p:nvPr/>
          </p:nvSpPr>
          <p:spPr>
            <a:xfrm>
              <a:off x="5551074"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p:cNvSpPr/>
            <p:nvPr/>
          </p:nvSpPr>
          <p:spPr>
            <a:xfrm>
              <a:off x="5874348" y="602720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p:cNvSpPr/>
            <p:nvPr/>
          </p:nvSpPr>
          <p:spPr>
            <a:xfrm>
              <a:off x="5068611"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p:cNvSpPr/>
            <p:nvPr/>
          </p:nvSpPr>
          <p:spPr>
            <a:xfrm>
              <a:off x="5391885"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p:cNvSpPr/>
            <p:nvPr/>
          </p:nvSpPr>
          <p:spPr>
            <a:xfrm>
              <a:off x="5715158"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p:cNvSpPr/>
            <p:nvPr/>
          </p:nvSpPr>
          <p:spPr>
            <a:xfrm>
              <a:off x="6038431" y="618749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34" name="Straight Arrow Connector 233"/>
          <p:cNvCxnSpPr>
            <a:stCxn id="38" idx="3"/>
            <a:endCxn id="209" idx="1"/>
          </p:cNvCxnSpPr>
          <p:nvPr/>
        </p:nvCxnSpPr>
        <p:spPr>
          <a:xfrm>
            <a:off x="5441674" y="4138810"/>
            <a:ext cx="817903" cy="1539921"/>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7" name="Table 236"/>
          <p:cNvGraphicFramePr>
            <a:graphicFrameLocks noGrp="1"/>
          </p:cNvGraphicFramePr>
          <p:nvPr/>
        </p:nvGraphicFramePr>
        <p:xfrm>
          <a:off x="8385812" y="96113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2" name="Group 357401"/>
          <p:cNvGrpSpPr/>
          <p:nvPr/>
        </p:nvGrpSpPr>
        <p:grpSpPr>
          <a:xfrm>
            <a:off x="8402510" y="985967"/>
            <a:ext cx="1258156" cy="1246165"/>
            <a:chOff x="7194575" y="985965"/>
            <a:chExt cx="1258156" cy="1246165"/>
          </a:xfrm>
        </p:grpSpPr>
        <p:sp>
          <p:nvSpPr>
            <p:cNvPr id="238" name="Oval 237"/>
            <p:cNvSpPr/>
            <p:nvPr/>
          </p:nvSpPr>
          <p:spPr>
            <a:xfrm>
              <a:off x="7361921"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p:cNvSpPr/>
            <p:nvPr/>
          </p:nvSpPr>
          <p:spPr>
            <a:xfrm>
              <a:off x="7685195"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p:cNvSpPr/>
            <p:nvPr/>
          </p:nvSpPr>
          <p:spPr>
            <a:xfrm>
              <a:off x="8008468"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p:cNvSpPr/>
            <p:nvPr/>
          </p:nvSpPr>
          <p:spPr>
            <a:xfrm>
              <a:off x="8331741" y="98596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p:cNvSpPr/>
            <p:nvPr/>
          </p:nvSpPr>
          <p:spPr>
            <a:xfrm>
              <a:off x="7194575"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p:cNvSpPr/>
            <p:nvPr/>
          </p:nvSpPr>
          <p:spPr>
            <a:xfrm>
              <a:off x="7517848"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p:cNvSpPr/>
            <p:nvPr/>
          </p:nvSpPr>
          <p:spPr>
            <a:xfrm>
              <a:off x="7841122"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p:cNvSpPr/>
            <p:nvPr/>
          </p:nvSpPr>
          <p:spPr>
            <a:xfrm>
              <a:off x="8164395" y="114608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p:cNvSpPr/>
            <p:nvPr/>
          </p:nvSpPr>
          <p:spPr>
            <a:xfrm>
              <a:off x="7358659" y="130637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p:cNvSpPr/>
            <p:nvPr/>
          </p:nvSpPr>
          <p:spPr>
            <a:xfrm>
              <a:off x="7681932" y="130637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p:cNvSpPr/>
            <p:nvPr/>
          </p:nvSpPr>
          <p:spPr>
            <a:xfrm>
              <a:off x="7841122" y="145075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p:cNvSpPr/>
            <p:nvPr/>
          </p:nvSpPr>
          <p:spPr>
            <a:xfrm>
              <a:off x="8328479" y="130637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p:cNvSpPr/>
            <p:nvPr/>
          </p:nvSpPr>
          <p:spPr>
            <a:xfrm>
              <a:off x="7198110" y="1790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Oval 250"/>
            <p:cNvSpPr/>
            <p:nvPr/>
          </p:nvSpPr>
          <p:spPr>
            <a:xfrm>
              <a:off x="7521383" y="179073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p:cNvSpPr/>
            <p:nvPr/>
          </p:nvSpPr>
          <p:spPr>
            <a:xfrm>
              <a:off x="7991314" y="163102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Oval 252"/>
            <p:cNvSpPr/>
            <p:nvPr/>
          </p:nvSpPr>
          <p:spPr>
            <a:xfrm>
              <a:off x="8331740" y="162630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Oval 253"/>
            <p:cNvSpPr/>
            <p:nvPr/>
          </p:nvSpPr>
          <p:spPr>
            <a:xfrm>
              <a:off x="8323857"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p:cNvSpPr/>
            <p:nvPr/>
          </p:nvSpPr>
          <p:spPr>
            <a:xfrm>
              <a:off x="7354037"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p:cNvSpPr/>
            <p:nvPr/>
          </p:nvSpPr>
          <p:spPr>
            <a:xfrm>
              <a:off x="7677310"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Oval 256"/>
            <p:cNvSpPr/>
            <p:nvPr/>
          </p:nvSpPr>
          <p:spPr>
            <a:xfrm>
              <a:off x="8000584" y="195085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p:cNvSpPr/>
            <p:nvPr/>
          </p:nvSpPr>
          <p:spPr>
            <a:xfrm>
              <a:off x="7194847"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p:cNvSpPr/>
            <p:nvPr/>
          </p:nvSpPr>
          <p:spPr>
            <a:xfrm>
              <a:off x="7518121"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p:cNvSpPr/>
            <p:nvPr/>
          </p:nvSpPr>
          <p:spPr>
            <a:xfrm>
              <a:off x="7841394"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p:cNvSpPr/>
            <p:nvPr/>
          </p:nvSpPr>
          <p:spPr>
            <a:xfrm>
              <a:off x="8164667" y="211114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62" name="Table 261"/>
          <p:cNvGraphicFramePr>
            <a:graphicFrameLocks noGrp="1"/>
          </p:cNvGraphicFramePr>
          <p:nvPr/>
        </p:nvGraphicFramePr>
        <p:xfrm>
          <a:off x="8381623" y="245111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3" name="Group 357402"/>
          <p:cNvGrpSpPr/>
          <p:nvPr/>
        </p:nvGrpSpPr>
        <p:grpSpPr>
          <a:xfrm>
            <a:off x="8398321" y="2475947"/>
            <a:ext cx="1258156" cy="1246165"/>
            <a:chOff x="7190386" y="2475945"/>
            <a:chExt cx="1258156" cy="1246165"/>
          </a:xfrm>
        </p:grpSpPr>
        <p:sp>
          <p:nvSpPr>
            <p:cNvPr id="263" name="Oval 262"/>
            <p:cNvSpPr/>
            <p:nvPr/>
          </p:nvSpPr>
          <p:spPr>
            <a:xfrm>
              <a:off x="7357732"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p:cNvSpPr/>
            <p:nvPr/>
          </p:nvSpPr>
          <p:spPr>
            <a:xfrm>
              <a:off x="7681006"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p:cNvSpPr/>
            <p:nvPr/>
          </p:nvSpPr>
          <p:spPr>
            <a:xfrm>
              <a:off x="8004279"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p:cNvSpPr/>
            <p:nvPr/>
          </p:nvSpPr>
          <p:spPr>
            <a:xfrm>
              <a:off x="8327552" y="247594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p:cNvSpPr/>
            <p:nvPr/>
          </p:nvSpPr>
          <p:spPr>
            <a:xfrm>
              <a:off x="7190386"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Oval 267"/>
            <p:cNvSpPr/>
            <p:nvPr/>
          </p:nvSpPr>
          <p:spPr>
            <a:xfrm>
              <a:off x="7513659"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Oval 268"/>
            <p:cNvSpPr/>
            <p:nvPr/>
          </p:nvSpPr>
          <p:spPr>
            <a:xfrm>
              <a:off x="7836933"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p:cNvSpPr/>
            <p:nvPr/>
          </p:nvSpPr>
          <p:spPr>
            <a:xfrm>
              <a:off x="8160206" y="263606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p:cNvSpPr/>
            <p:nvPr/>
          </p:nvSpPr>
          <p:spPr>
            <a:xfrm>
              <a:off x="7354470" y="279635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p:cNvSpPr/>
            <p:nvPr/>
          </p:nvSpPr>
          <p:spPr>
            <a:xfrm>
              <a:off x="7677743" y="279635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p:cNvSpPr/>
            <p:nvPr/>
          </p:nvSpPr>
          <p:spPr>
            <a:xfrm>
              <a:off x="7836933" y="294073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p:cNvSpPr/>
            <p:nvPr/>
          </p:nvSpPr>
          <p:spPr>
            <a:xfrm>
              <a:off x="8324290" y="279635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Oval 274"/>
            <p:cNvSpPr/>
            <p:nvPr/>
          </p:nvSpPr>
          <p:spPr>
            <a:xfrm>
              <a:off x="7193921" y="328071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p:cNvSpPr/>
            <p:nvPr/>
          </p:nvSpPr>
          <p:spPr>
            <a:xfrm>
              <a:off x="7517194" y="328071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p:cNvSpPr/>
            <p:nvPr/>
          </p:nvSpPr>
          <p:spPr>
            <a:xfrm>
              <a:off x="7840467" y="328071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p:cNvSpPr/>
            <p:nvPr/>
          </p:nvSpPr>
          <p:spPr>
            <a:xfrm>
              <a:off x="8152893" y="2951898"/>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p:cNvSpPr/>
            <p:nvPr/>
          </p:nvSpPr>
          <p:spPr>
            <a:xfrm>
              <a:off x="8319668"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p:cNvSpPr/>
            <p:nvPr/>
          </p:nvSpPr>
          <p:spPr>
            <a:xfrm>
              <a:off x="7349848"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p:cNvSpPr/>
            <p:nvPr/>
          </p:nvSpPr>
          <p:spPr>
            <a:xfrm>
              <a:off x="7673121"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p:cNvSpPr/>
            <p:nvPr/>
          </p:nvSpPr>
          <p:spPr>
            <a:xfrm>
              <a:off x="7996395" y="344083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p:cNvSpPr/>
            <p:nvPr/>
          </p:nvSpPr>
          <p:spPr>
            <a:xfrm>
              <a:off x="7190658"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p:cNvSpPr/>
            <p:nvPr/>
          </p:nvSpPr>
          <p:spPr>
            <a:xfrm>
              <a:off x="7513932"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p:cNvSpPr/>
            <p:nvPr/>
          </p:nvSpPr>
          <p:spPr>
            <a:xfrm>
              <a:off x="7837205"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p:cNvSpPr/>
            <p:nvPr/>
          </p:nvSpPr>
          <p:spPr>
            <a:xfrm>
              <a:off x="8160478" y="360112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87" name="Table 286"/>
          <p:cNvGraphicFramePr>
            <a:graphicFrameLocks noGrp="1"/>
          </p:cNvGraphicFramePr>
          <p:nvPr/>
        </p:nvGraphicFramePr>
        <p:xfrm>
          <a:off x="8377435" y="3941095"/>
          <a:ext cx="1282488" cy="1282488"/>
        </p:xfrm>
        <a:graphic>
          <a:graphicData uri="http://schemas.openxmlformats.org/drawingml/2006/table">
            <a:tbl>
              <a:tblPr firstRow="1" bandRow="1">
                <a:tableStyleId>{5940675A-B579-460E-94D1-54222C63F5DA}</a:tableStyleId>
              </a:tblPr>
              <a:tblGrid>
                <a:gridCol w="160311">
                  <a:extLst>
                    <a:ext uri="{9D8B030D-6E8A-4147-A177-3AD203B41FA5}">
                      <a16:colId xmlns:a16="http://schemas.microsoft.com/office/drawing/2014/main" val="20000"/>
                    </a:ext>
                  </a:extLst>
                </a:gridCol>
                <a:gridCol w="160311">
                  <a:extLst>
                    <a:ext uri="{9D8B030D-6E8A-4147-A177-3AD203B41FA5}">
                      <a16:colId xmlns:a16="http://schemas.microsoft.com/office/drawing/2014/main" val="20001"/>
                    </a:ext>
                  </a:extLst>
                </a:gridCol>
                <a:gridCol w="160311">
                  <a:extLst>
                    <a:ext uri="{9D8B030D-6E8A-4147-A177-3AD203B41FA5}">
                      <a16:colId xmlns:a16="http://schemas.microsoft.com/office/drawing/2014/main" val="20002"/>
                    </a:ext>
                  </a:extLst>
                </a:gridCol>
                <a:gridCol w="160311">
                  <a:extLst>
                    <a:ext uri="{9D8B030D-6E8A-4147-A177-3AD203B41FA5}">
                      <a16:colId xmlns:a16="http://schemas.microsoft.com/office/drawing/2014/main" val="20003"/>
                    </a:ext>
                  </a:extLst>
                </a:gridCol>
                <a:gridCol w="160311">
                  <a:extLst>
                    <a:ext uri="{9D8B030D-6E8A-4147-A177-3AD203B41FA5}">
                      <a16:colId xmlns:a16="http://schemas.microsoft.com/office/drawing/2014/main" val="20004"/>
                    </a:ext>
                  </a:extLst>
                </a:gridCol>
                <a:gridCol w="160311">
                  <a:extLst>
                    <a:ext uri="{9D8B030D-6E8A-4147-A177-3AD203B41FA5}">
                      <a16:colId xmlns:a16="http://schemas.microsoft.com/office/drawing/2014/main" val="20005"/>
                    </a:ext>
                  </a:extLst>
                </a:gridCol>
                <a:gridCol w="160311">
                  <a:extLst>
                    <a:ext uri="{9D8B030D-6E8A-4147-A177-3AD203B41FA5}">
                      <a16:colId xmlns:a16="http://schemas.microsoft.com/office/drawing/2014/main" val="20006"/>
                    </a:ext>
                  </a:extLst>
                </a:gridCol>
                <a:gridCol w="160311">
                  <a:extLst>
                    <a:ext uri="{9D8B030D-6E8A-4147-A177-3AD203B41FA5}">
                      <a16:colId xmlns:a16="http://schemas.microsoft.com/office/drawing/2014/main" val="20007"/>
                    </a:ext>
                  </a:extLst>
                </a:gridCol>
              </a:tblGrid>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solidFill>
                      <a:schemeClr val="bg2"/>
                    </a:solidFill>
                  </a:tcPr>
                </a:tc>
                <a:tc>
                  <a:txBody>
                    <a:bodyPr/>
                    <a:lstStyle/>
                    <a:p>
                      <a:pPr algn="ctr"/>
                      <a:endParaRPr lang="en-US" sz="700" dirty="0"/>
                    </a:p>
                  </a:txBody>
                  <a:tcPr marL="27147" marR="27147" marT="13573" marB="13573" anchor="ctr">
                    <a:lnT w="12700" cap="flat" cmpd="sng" algn="ctr">
                      <a:solidFill>
                        <a:schemeClr val="tx1"/>
                      </a:solidFill>
                      <a:prstDash val="solid"/>
                      <a:round/>
                      <a:headEnd type="none" w="med" len="med"/>
                      <a:tailEnd type="none" w="med" len="med"/>
                    </a:lnT>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2"/>
                    </a:solidFill>
                  </a:tcPr>
                </a:tc>
                <a:extLst>
                  <a:ext uri="{0D108BD9-81ED-4DB2-BD59-A6C34878D82A}">
                    <a16:rowId xmlns:a16="http://schemas.microsoft.com/office/drawing/2014/main" val="10000"/>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2"/>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4"/>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tcP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solidFill>
                      <a:schemeClr val="bg2"/>
                    </a:solidFill>
                  </a:tcPr>
                </a:tc>
                <a:tc>
                  <a:txBody>
                    <a:bodyPr/>
                    <a:lstStyle/>
                    <a:p>
                      <a:pPr algn="ctr"/>
                      <a:endParaRPr lang="en-US" sz="700" dirty="0"/>
                    </a:p>
                  </a:txBody>
                  <a:tcPr marL="27147" marR="27147" marT="13573" marB="13573" anchor="ct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solidFill>
                      <a:schemeClr val="bg2"/>
                    </a:solidFill>
                  </a:tcPr>
                </a:tc>
                <a:extLst>
                  <a:ext uri="{0D108BD9-81ED-4DB2-BD59-A6C34878D82A}">
                    <a16:rowId xmlns:a16="http://schemas.microsoft.com/office/drawing/2014/main" val="10006"/>
                  </a:ext>
                </a:extLst>
              </a:tr>
              <a:tr h="160311">
                <a:tc>
                  <a:txBody>
                    <a:bodyPr/>
                    <a:lstStyle/>
                    <a:p>
                      <a:pPr algn="ctr"/>
                      <a:endParaRPr lang="en-US" sz="700" dirty="0"/>
                    </a:p>
                  </a:txBody>
                  <a:tcPr marL="27147" marR="27147" marT="13573" marB="13573"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tcPr>
                </a:tc>
                <a:tc>
                  <a:txBody>
                    <a:bodyPr/>
                    <a:lstStyle/>
                    <a:p>
                      <a:pPr algn="ctr"/>
                      <a:endParaRPr lang="en-US" sz="700" dirty="0"/>
                    </a:p>
                  </a:txBody>
                  <a:tcPr marL="27147" marR="27147" marT="13573" marB="13573" anchor="ctr">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US" sz="700" dirty="0"/>
                    </a:p>
                  </a:txBody>
                  <a:tcPr marL="27147" marR="27147" marT="13573" marB="13573"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357404" name="Group 357403"/>
          <p:cNvGrpSpPr/>
          <p:nvPr/>
        </p:nvGrpSpPr>
        <p:grpSpPr>
          <a:xfrm>
            <a:off x="8394131" y="3965927"/>
            <a:ext cx="1258156" cy="1246165"/>
            <a:chOff x="7186197" y="3965925"/>
            <a:chExt cx="1258156" cy="1246165"/>
          </a:xfrm>
        </p:grpSpPr>
        <p:sp>
          <p:nvSpPr>
            <p:cNvPr id="288" name="Oval 287"/>
            <p:cNvSpPr/>
            <p:nvPr/>
          </p:nvSpPr>
          <p:spPr>
            <a:xfrm>
              <a:off x="7353543"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p:cNvSpPr/>
            <p:nvPr/>
          </p:nvSpPr>
          <p:spPr>
            <a:xfrm>
              <a:off x="7676817"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p:cNvSpPr/>
            <p:nvPr/>
          </p:nvSpPr>
          <p:spPr>
            <a:xfrm>
              <a:off x="8000090"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p:cNvSpPr/>
            <p:nvPr/>
          </p:nvSpPr>
          <p:spPr>
            <a:xfrm>
              <a:off x="8323363" y="3965925"/>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p:cNvSpPr/>
            <p:nvPr/>
          </p:nvSpPr>
          <p:spPr>
            <a:xfrm>
              <a:off x="7186197"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p:cNvSpPr/>
            <p:nvPr/>
          </p:nvSpPr>
          <p:spPr>
            <a:xfrm>
              <a:off x="7509470"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p:cNvSpPr/>
            <p:nvPr/>
          </p:nvSpPr>
          <p:spPr>
            <a:xfrm>
              <a:off x="7832744"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p:cNvSpPr/>
            <p:nvPr/>
          </p:nvSpPr>
          <p:spPr>
            <a:xfrm>
              <a:off x="8156017" y="412604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p:cNvSpPr/>
            <p:nvPr/>
          </p:nvSpPr>
          <p:spPr>
            <a:xfrm>
              <a:off x="7350281" y="428633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p:cNvSpPr/>
            <p:nvPr/>
          </p:nvSpPr>
          <p:spPr>
            <a:xfrm>
              <a:off x="7673554" y="428633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p:cNvSpPr/>
            <p:nvPr/>
          </p:nvSpPr>
          <p:spPr>
            <a:xfrm>
              <a:off x="7832744" y="4430716"/>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p:cNvSpPr/>
            <p:nvPr/>
          </p:nvSpPr>
          <p:spPr>
            <a:xfrm>
              <a:off x="8320101" y="4286334"/>
              <a:ext cx="120990" cy="120990"/>
            </a:xfrm>
            <a:prstGeom prst="ellipse">
              <a:avLst/>
            </a:prstGeom>
            <a:solidFill>
              <a:schemeClr val="tx1">
                <a:lumMod val="85000"/>
                <a:lumOff val="15000"/>
              </a:schemeClr>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p:cNvSpPr/>
            <p:nvPr/>
          </p:nvSpPr>
          <p:spPr>
            <a:xfrm>
              <a:off x="7189732" y="477069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Oval 300"/>
            <p:cNvSpPr/>
            <p:nvPr/>
          </p:nvSpPr>
          <p:spPr>
            <a:xfrm>
              <a:off x="7513005" y="477069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301"/>
            <p:cNvSpPr/>
            <p:nvPr/>
          </p:nvSpPr>
          <p:spPr>
            <a:xfrm>
              <a:off x="7836278" y="4770691"/>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p:cNvSpPr/>
            <p:nvPr/>
          </p:nvSpPr>
          <p:spPr>
            <a:xfrm>
              <a:off x="8323362" y="4606262"/>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p:cNvSpPr/>
            <p:nvPr/>
          </p:nvSpPr>
          <p:spPr>
            <a:xfrm>
              <a:off x="8151095" y="4766429"/>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p:cNvSpPr/>
            <p:nvPr/>
          </p:nvSpPr>
          <p:spPr>
            <a:xfrm>
              <a:off x="7345659" y="49308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p:cNvSpPr/>
            <p:nvPr/>
          </p:nvSpPr>
          <p:spPr>
            <a:xfrm>
              <a:off x="7668932" y="49308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p:cNvSpPr/>
            <p:nvPr/>
          </p:nvSpPr>
          <p:spPr>
            <a:xfrm>
              <a:off x="7992206" y="4930813"/>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p:cNvSpPr/>
            <p:nvPr/>
          </p:nvSpPr>
          <p:spPr>
            <a:xfrm>
              <a:off x="7186469"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p:cNvSpPr/>
            <p:nvPr/>
          </p:nvSpPr>
          <p:spPr>
            <a:xfrm>
              <a:off x="7509743"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p:cNvSpPr/>
            <p:nvPr/>
          </p:nvSpPr>
          <p:spPr>
            <a:xfrm>
              <a:off x="7833016"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p:cNvSpPr/>
            <p:nvPr/>
          </p:nvSpPr>
          <p:spPr>
            <a:xfrm>
              <a:off x="8156289" y="5091100"/>
              <a:ext cx="120990" cy="120990"/>
            </a:xfrm>
            <a:prstGeom prst="ellipse">
              <a:avLst/>
            </a:prstGeom>
            <a:solidFill>
              <a:schemeClr val="bg1"/>
            </a:solidFill>
            <a:ln>
              <a:solidFill>
                <a:schemeClr val="tx1">
                  <a:lumMod val="50000"/>
                  <a:lumOff val="50000"/>
                </a:schemeClr>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12" name="Straight Arrow Connector 311"/>
          <p:cNvCxnSpPr>
            <a:stCxn id="64" idx="3"/>
            <a:endCxn id="237" idx="1"/>
          </p:cNvCxnSpPr>
          <p:nvPr/>
        </p:nvCxnSpPr>
        <p:spPr>
          <a:xfrm flipV="1">
            <a:off x="7546255" y="1602381"/>
            <a:ext cx="839559" cy="1049273"/>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5" name="Straight Arrow Connector 314"/>
          <p:cNvCxnSpPr>
            <a:stCxn id="64" idx="3"/>
            <a:endCxn id="262" idx="1"/>
          </p:cNvCxnSpPr>
          <p:nvPr/>
        </p:nvCxnSpPr>
        <p:spPr>
          <a:xfrm>
            <a:off x="7546253" y="2651653"/>
            <a:ext cx="835371" cy="44070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Straight Arrow Connector 317"/>
          <p:cNvCxnSpPr>
            <a:stCxn id="64" idx="3"/>
            <a:endCxn id="287" idx="1"/>
          </p:cNvCxnSpPr>
          <p:nvPr/>
        </p:nvCxnSpPr>
        <p:spPr>
          <a:xfrm>
            <a:off x="7546255" y="2651654"/>
            <a:ext cx="831181" cy="1930687"/>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1" name="TextBox 320"/>
              <p:cNvSpPr txBox="1"/>
              <p:nvPr/>
            </p:nvSpPr>
            <p:spPr>
              <a:xfrm>
                <a:off x="8454628" y="5291915"/>
                <a:ext cx="1289059"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dirty="0"/>
              </a:p>
            </p:txBody>
          </p:sp>
        </mc:Choice>
        <mc:Fallback xmlns="">
          <p:sp>
            <p:nvSpPr>
              <p:cNvPr id="321" name="TextBox 320"/>
              <p:cNvSpPr txBox="1">
                <a:spLocks noRot="1" noChangeAspect="1" noMove="1" noResize="1" noEditPoints="1" noAdjustHandles="1" noChangeArrowheads="1" noChangeShapeType="1" noTextEdit="1"/>
              </p:cNvSpPr>
              <p:nvPr/>
            </p:nvSpPr>
            <p:spPr>
              <a:xfrm>
                <a:off x="8454628" y="5291915"/>
                <a:ext cx="1289059" cy="369332"/>
              </a:xfrm>
              <a:prstGeom prst="rect">
                <a:avLst/>
              </a:prstGeom>
              <a:blipFill>
                <a:blip r:embed="rId3"/>
                <a:stretch>
                  <a:fillRect/>
                </a:stretch>
              </a:blipFill>
            </p:spPr>
            <p:txBody>
              <a:bodyPr/>
              <a:lstStyle/>
              <a:p>
                <a:r>
                  <a:rPr lang="en-GB">
                    <a:noFill/>
                  </a:rPr>
                  <a:t> </a:t>
                </a:r>
              </a:p>
            </p:txBody>
          </p:sp>
        </mc:Fallback>
      </mc:AlternateContent>
      <p:sp>
        <p:nvSpPr>
          <p:cNvPr id="2" name="TextBox 1"/>
          <p:cNvSpPr txBox="1"/>
          <p:nvPr/>
        </p:nvSpPr>
        <p:spPr>
          <a:xfrm>
            <a:off x="2635101" y="1146737"/>
            <a:ext cx="4215537" cy="523220"/>
          </a:xfrm>
          <a:prstGeom prst="rect">
            <a:avLst/>
          </a:prstGeom>
          <a:noFill/>
        </p:spPr>
        <p:txBody>
          <a:bodyPr wrap="square" rtlCol="0">
            <a:spAutoFit/>
          </a:bodyPr>
          <a:lstStyle/>
          <a:p>
            <a:r>
              <a:rPr lang="en-US" sz="2800" dirty="0">
                <a:latin typeface="+mn-lt"/>
              </a:rPr>
              <a:t>Stop and evaluate</a:t>
            </a:r>
          </a:p>
        </p:txBody>
      </p:sp>
      <mc:AlternateContent xmlns:mc="http://schemas.openxmlformats.org/markup-compatibility/2006" xmlns:a14="http://schemas.microsoft.com/office/drawing/2010/main">
        <mc:Choice Requires="a14">
          <p:sp>
            <p:nvSpPr>
              <p:cNvPr id="3" name="TextBox 2"/>
              <p:cNvSpPr txBox="1"/>
              <p:nvPr/>
            </p:nvSpPr>
            <p:spPr>
              <a:xfrm>
                <a:off x="9702561" y="1329067"/>
                <a:ext cx="9243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e>
                      </m:d>
                    </m:oMath>
                  </m:oMathPara>
                </a14:m>
                <a:endParaRPr lang="en-US" b="0" dirty="0"/>
              </a:p>
            </p:txBody>
          </p:sp>
        </mc:Choice>
        <mc:Fallback xmlns="">
          <p:sp>
            <p:nvSpPr>
              <p:cNvPr id="3" name="TextBox 2"/>
              <p:cNvSpPr txBox="1">
                <a:spLocks noRot="1" noChangeAspect="1" noMove="1" noResize="1" noEditPoints="1" noAdjustHandles="1" noChangeArrowheads="1" noChangeShapeType="1" noTextEdit="1"/>
              </p:cNvSpPr>
              <p:nvPr/>
            </p:nvSpPr>
            <p:spPr>
              <a:xfrm>
                <a:off x="9702561" y="1329067"/>
                <a:ext cx="924315" cy="369332"/>
              </a:xfrm>
              <a:prstGeom prst="rect">
                <a:avLst/>
              </a:prstGeom>
              <a:blipFill>
                <a:blip r:embed="rId5"/>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3" name="TextBox 312"/>
              <p:cNvSpPr txBox="1"/>
              <p:nvPr/>
            </p:nvSpPr>
            <p:spPr>
              <a:xfrm>
                <a:off x="9780577" y="2828495"/>
                <a:ext cx="9243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e>
                      </m:d>
                    </m:oMath>
                  </m:oMathPara>
                </a14:m>
                <a:endParaRPr lang="en-US" b="0" dirty="0"/>
              </a:p>
            </p:txBody>
          </p:sp>
        </mc:Choice>
        <mc:Fallback xmlns="">
          <p:sp>
            <p:nvSpPr>
              <p:cNvPr id="313" name="TextBox 312"/>
              <p:cNvSpPr txBox="1">
                <a:spLocks noRot="1" noChangeAspect="1" noMove="1" noResize="1" noEditPoints="1" noAdjustHandles="1" noChangeArrowheads="1" noChangeShapeType="1" noTextEdit="1"/>
              </p:cNvSpPr>
              <p:nvPr/>
            </p:nvSpPr>
            <p:spPr>
              <a:xfrm>
                <a:off x="9780577" y="2828495"/>
                <a:ext cx="924315" cy="369332"/>
              </a:xfrm>
              <a:prstGeom prst="rect">
                <a:avLst/>
              </a:prstGeom>
              <a:blipFill>
                <a:blip r:embed="rId6"/>
                <a:stretch>
                  <a:fillRect b="-1612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4" name="TextBox 313"/>
              <p:cNvSpPr txBox="1"/>
              <p:nvPr/>
            </p:nvSpPr>
            <p:spPr>
              <a:xfrm>
                <a:off x="9780576" y="4191001"/>
                <a:ext cx="92431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3</m:t>
                              </m:r>
                            </m:sub>
                          </m:sSub>
                        </m:e>
                      </m:d>
                    </m:oMath>
                  </m:oMathPara>
                </a14:m>
                <a:endParaRPr lang="en-US" b="0" dirty="0"/>
              </a:p>
            </p:txBody>
          </p:sp>
        </mc:Choice>
        <mc:Fallback xmlns="">
          <p:sp>
            <p:nvSpPr>
              <p:cNvPr id="314" name="TextBox 313"/>
              <p:cNvSpPr txBox="1">
                <a:spLocks noRot="1" noChangeAspect="1" noMove="1" noResize="1" noEditPoints="1" noAdjustHandles="1" noChangeArrowheads="1" noChangeShapeType="1" noTextEdit="1"/>
              </p:cNvSpPr>
              <p:nvPr/>
            </p:nvSpPr>
            <p:spPr>
              <a:xfrm>
                <a:off x="9780576" y="4191001"/>
                <a:ext cx="924315" cy="369332"/>
              </a:xfrm>
              <a:prstGeom prst="rect">
                <a:avLst/>
              </a:prstGeom>
              <a:blipFill>
                <a:blip r:embed="rId7"/>
                <a:stretch>
                  <a:fillRect b="-16667"/>
                </a:stretch>
              </a:blipFill>
            </p:spPr>
            <p:txBody>
              <a:bodyPr/>
              <a:lstStyle/>
              <a:p>
                <a:r>
                  <a:rPr lang="en-GB">
                    <a:noFill/>
                  </a:rPr>
                  <a:t> </a:t>
                </a:r>
              </a:p>
            </p:txBody>
          </p:sp>
        </mc:Fallback>
      </mc:AlternateContent>
      <p:sp>
        <p:nvSpPr>
          <p:cNvPr id="316" name="Rounded Rectangle 315"/>
          <p:cNvSpPr/>
          <p:nvPr/>
        </p:nvSpPr>
        <p:spPr>
          <a:xfrm>
            <a:off x="8077200" y="685802"/>
            <a:ext cx="1981200" cy="510508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7" name="TextBox 316"/>
              <p:cNvSpPr txBox="1"/>
              <p:nvPr/>
            </p:nvSpPr>
            <p:spPr>
              <a:xfrm>
                <a:off x="7992581" y="5842337"/>
                <a:ext cx="2492577" cy="1015663"/>
              </a:xfrm>
              <a:prstGeom prst="rect">
                <a:avLst/>
              </a:prstGeom>
              <a:solidFill>
                <a:schemeClr val="bg1"/>
              </a:solidFill>
            </p:spPr>
            <p:txBody>
              <a:bodyPr wrap="square" rtlCol="0">
                <a:spAutoFit/>
              </a:bodyPr>
              <a:lstStyle/>
              <a:p>
                <a:r>
                  <a:rPr lang="en-US" sz="2000" dirty="0">
                    <a:solidFill>
                      <a:srgbClr val="FF0000"/>
                    </a:solidFill>
                    <a:latin typeface="+mn-lt"/>
                  </a:rPr>
                  <a:t>Pretend these are terminal nodes with values given by </a:t>
                </a:r>
                <a14:m>
                  <m:oMath xmlns:m="http://schemas.openxmlformats.org/officeDocument/2006/math">
                    <m:r>
                      <a:rPr lang="en-US" sz="2000" i="1">
                        <a:solidFill>
                          <a:srgbClr val="FF0000"/>
                        </a:solidFill>
                        <a:latin typeface="Cambria Math" panose="02040503050406030204" pitchFamily="18" charset="0"/>
                      </a:rPr>
                      <m:t>𝑓</m:t>
                    </m:r>
                    <m:d>
                      <m:dPr>
                        <m:ctrlPr>
                          <a:rPr lang="en-US" sz="2000" i="1">
                            <a:solidFill>
                              <a:srgbClr val="FF0000"/>
                            </a:solidFill>
                            <a:latin typeface="Cambria Math" panose="02040503050406030204" pitchFamily="18" charset="0"/>
                          </a:rPr>
                        </m:ctrlPr>
                      </m:dPr>
                      <m:e>
                        <m:r>
                          <a:rPr lang="en-US" sz="2000" i="1">
                            <a:solidFill>
                              <a:srgbClr val="FF0000"/>
                            </a:solidFill>
                            <a:latin typeface="Cambria Math" panose="02040503050406030204" pitchFamily="18" charset="0"/>
                          </a:rPr>
                          <m:t>⋅</m:t>
                        </m:r>
                      </m:e>
                    </m:d>
                  </m:oMath>
                </a14:m>
                <a:endParaRPr lang="en-US" sz="2000" dirty="0">
                  <a:solidFill>
                    <a:srgbClr val="FF0000"/>
                  </a:solidFill>
                  <a:latin typeface="+mn-lt"/>
                </a:endParaRPr>
              </a:p>
            </p:txBody>
          </p:sp>
        </mc:Choice>
        <mc:Fallback xmlns="">
          <p:sp>
            <p:nvSpPr>
              <p:cNvPr id="317" name="TextBox 316"/>
              <p:cNvSpPr txBox="1">
                <a:spLocks noRot="1" noChangeAspect="1" noMove="1" noResize="1" noEditPoints="1" noAdjustHandles="1" noChangeArrowheads="1" noChangeShapeType="1" noTextEdit="1"/>
              </p:cNvSpPr>
              <p:nvPr/>
            </p:nvSpPr>
            <p:spPr>
              <a:xfrm>
                <a:off x="7992581" y="5842337"/>
                <a:ext cx="2492577" cy="1015663"/>
              </a:xfrm>
              <a:prstGeom prst="rect">
                <a:avLst/>
              </a:prstGeom>
              <a:blipFill>
                <a:blip r:embed="rId8"/>
                <a:stretch>
                  <a:fillRect l="-2538" t="-2469" r="-508" b="-9877"/>
                </a:stretch>
              </a:blipFill>
            </p:spPr>
            <p:txBody>
              <a:bodyPr/>
              <a:lstStyle/>
              <a:p>
                <a:r>
                  <a:rPr lang="en-GB">
                    <a:noFill/>
                  </a:rPr>
                  <a:t> </a:t>
                </a:r>
              </a:p>
            </p:txBody>
          </p:sp>
        </mc:Fallback>
      </mc:AlternateContent>
    </p:spTree>
    <p:extLst>
      <p:ext uri="{BB962C8B-B14F-4D97-AF65-F5344CB8AC3E}">
        <p14:creationId xmlns:p14="http://schemas.microsoft.com/office/powerpoint/2010/main" val="108877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3"/>
                                        </p:tgtEl>
                                        <p:attrNameLst>
                                          <p:attrName>style.visibility</p:attrName>
                                        </p:attrNameLst>
                                      </p:cBhvr>
                                      <p:to>
                                        <p:strVal val="visible"/>
                                      </p:to>
                                    </p:set>
                                    <p:animEffect transition="in" filter="fade">
                                      <p:cBhvr>
                                        <p:cTn id="10" dur="500"/>
                                        <p:tgtEl>
                                          <p:spTgt spid="3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4"/>
                                        </p:tgtEl>
                                        <p:attrNameLst>
                                          <p:attrName>style.visibility</p:attrName>
                                        </p:attrNameLst>
                                      </p:cBhvr>
                                      <p:to>
                                        <p:strVal val="visible"/>
                                      </p:to>
                                    </p:set>
                                    <p:animEffect transition="in" filter="fade">
                                      <p:cBhvr>
                                        <p:cTn id="13" dur="500"/>
                                        <p:tgtEl>
                                          <p:spTgt spid="3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16"/>
                                        </p:tgtEl>
                                        <p:attrNameLst>
                                          <p:attrName>style.visibility</p:attrName>
                                        </p:attrNameLst>
                                      </p:cBhvr>
                                      <p:to>
                                        <p:strVal val="visible"/>
                                      </p:to>
                                    </p:set>
                                    <p:animEffect transition="in" filter="fade">
                                      <p:cBhvr>
                                        <p:cTn id="18" dur="500"/>
                                        <p:tgtEl>
                                          <p:spTgt spid="3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7"/>
                                        </p:tgtEl>
                                        <p:attrNameLst>
                                          <p:attrName>style.visibility</p:attrName>
                                        </p:attrNameLst>
                                      </p:cBhvr>
                                      <p:to>
                                        <p:strVal val="visible"/>
                                      </p:to>
                                    </p:set>
                                    <p:animEffect transition="in" filter="fade">
                                      <p:cBhvr>
                                        <p:cTn id="21" dur="500"/>
                                        <p:tgtEl>
                                          <p:spTgt spid="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3" grpId="0"/>
      <p:bldP spid="314" grpId="0"/>
      <p:bldP spid="316" grpId="0" animBg="1"/>
      <p:bldP spid="31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465428" y="138202"/>
            <a:ext cx="7704667" cy="914399"/>
          </a:xfrm>
        </p:spPr>
        <p:txBody>
          <a:bodyPr>
            <a:normAutofit/>
          </a:bodyPr>
          <a:lstStyle/>
          <a:p>
            <a:r>
              <a:rPr lang="en-US" dirty="0"/>
              <a:t>Evaluation Functions</a:t>
            </a:r>
          </a:p>
        </p:txBody>
      </p:sp>
      <mc:AlternateContent xmlns:mc="http://schemas.openxmlformats.org/markup-compatibility/2006" xmlns:a14="http://schemas.microsoft.com/office/drawing/2010/main">
        <mc:Choice Requires="a14">
          <p:sp>
            <p:nvSpPr>
              <p:cNvPr id="357379" name="Rectangle 3"/>
              <p:cNvSpPr>
                <a:spLocks noGrp="1" noChangeArrowheads="1"/>
              </p:cNvSpPr>
              <p:nvPr>
                <p:ph idx="1"/>
              </p:nvPr>
            </p:nvSpPr>
            <p:spPr>
              <a:xfrm>
                <a:off x="211428" y="941231"/>
                <a:ext cx="8229600" cy="5334000"/>
              </a:xfrm>
            </p:spPr>
            <p:txBody>
              <a:bodyPr>
                <a:normAutofit/>
              </a:bodyPr>
              <a:lstStyle/>
              <a:p>
                <a:pPr>
                  <a:spcBef>
                    <a:spcPts val="1200"/>
                  </a:spcBef>
                </a:pPr>
                <a:r>
                  <a:rPr lang="en-US" sz="3200" dirty="0">
                    <a:cs typeface="Times"/>
                  </a:rPr>
                  <a:t>An evaluation function is a mapping from game states to real values: </a:t>
                </a:r>
                <a14:m>
                  <m:oMath xmlns:m="http://schemas.openxmlformats.org/officeDocument/2006/math">
                    <m:r>
                      <a:rPr lang="en-US" sz="3200" i="1">
                        <a:latin typeface="Cambria Math" panose="02040503050406030204" pitchFamily="18" charset="0"/>
                        <a:cs typeface="Times"/>
                      </a:rPr>
                      <m:t>𝑓</m:t>
                    </m:r>
                    <m:r>
                      <a:rPr lang="en-US" sz="3200" i="1">
                        <a:latin typeface="Cambria Math" panose="02040503050406030204" pitchFamily="18" charset="0"/>
                        <a:cs typeface="Times"/>
                      </a:rPr>
                      <m:t>:</m:t>
                    </m:r>
                    <m:r>
                      <a:rPr lang="en-US" sz="3200" i="1">
                        <a:latin typeface="Cambria Math" panose="02040503050406030204" pitchFamily="18" charset="0"/>
                        <a:cs typeface="Times"/>
                      </a:rPr>
                      <m:t>𝒮</m:t>
                    </m:r>
                    <m:r>
                      <a:rPr lang="en-US" sz="3200" i="1">
                        <a:latin typeface="Cambria Math" panose="02040503050406030204" pitchFamily="18" charset="0"/>
                        <a:cs typeface="Times"/>
                      </a:rPr>
                      <m:t>→</m:t>
                    </m:r>
                    <m:r>
                      <a:rPr lang="en-US" sz="3200" i="1">
                        <a:latin typeface="Cambria Math" panose="02040503050406030204" pitchFamily="18" charset="0"/>
                        <a:cs typeface="Times"/>
                      </a:rPr>
                      <m:t>ℝ</m:t>
                    </m:r>
                  </m:oMath>
                </a14:m>
                <a:endParaRPr lang="en-US" sz="3200" dirty="0">
                  <a:latin typeface="Corbel" panose="020B0503020204020204" pitchFamily="34" charset="0"/>
                  <a:cs typeface="Times"/>
                </a:endParaRPr>
              </a:p>
              <a:p>
                <a:pPr lvl="1">
                  <a:spcBef>
                    <a:spcPts val="1200"/>
                  </a:spcBef>
                </a:pPr>
                <a:r>
                  <a:rPr lang="en-US" sz="2800" dirty="0">
                    <a:latin typeface="Corbel" panose="020B0503020204020204" pitchFamily="34" charset="0"/>
                    <a:cs typeface="Times"/>
                  </a:rPr>
                  <a:t>So far:</a:t>
                </a:r>
                <a:br>
                  <a:rPr lang="en-US" sz="2800" dirty="0">
                    <a:latin typeface="Corbel" panose="020B0503020204020204" pitchFamily="34" charset="0"/>
                    <a:cs typeface="Times"/>
                  </a:rPr>
                </a:br>
                <a14:m>
                  <m:oMath xmlns:m="http://schemas.openxmlformats.org/officeDocument/2006/math">
                    <m:r>
                      <a:rPr lang="en-US" sz="2800" i="1">
                        <a:latin typeface="Cambria Math" panose="02040503050406030204" pitchFamily="18" charset="0"/>
                        <a:cs typeface="Times"/>
                      </a:rPr>
                      <m:t>𝑓</m:t>
                    </m:r>
                    <m:d>
                      <m:dPr>
                        <m:ctrlPr>
                          <a:rPr lang="en-US" sz="2800" i="1">
                            <a:latin typeface="Cambria Math" panose="02040503050406030204" pitchFamily="18" charset="0"/>
                            <a:cs typeface="Times"/>
                          </a:rPr>
                        </m:ctrlPr>
                      </m:dPr>
                      <m:e>
                        <m:r>
                          <a:rPr lang="en-US" sz="2800" i="1">
                            <a:latin typeface="Cambria Math" panose="02040503050406030204" pitchFamily="18" charset="0"/>
                            <a:cs typeface="Times"/>
                          </a:rPr>
                          <m:t>𝑠</m:t>
                        </m:r>
                      </m:e>
                    </m:d>
                    <m:r>
                      <a:rPr lang="en-US" sz="2800" i="1">
                        <a:latin typeface="Cambria Math" panose="02040503050406030204" pitchFamily="18" charset="0"/>
                        <a:cs typeface="Times"/>
                      </a:rPr>
                      <m:t>=</m:t>
                    </m:r>
                    <m:d>
                      <m:dPr>
                        <m:begChr m:val="{"/>
                        <m:endChr m:val=""/>
                        <m:ctrlPr>
                          <a:rPr lang="en-US" sz="2800" i="1">
                            <a:latin typeface="Cambria Math" panose="02040503050406030204" pitchFamily="18" charset="0"/>
                            <a:cs typeface="Times"/>
                          </a:rPr>
                        </m:ctrlPr>
                      </m:dPr>
                      <m:e>
                        <m:eqArr>
                          <m:eqArrPr>
                            <m:ctrlPr>
                              <a:rPr lang="en-US" sz="2800" i="1">
                                <a:latin typeface="Cambria Math" panose="02040503050406030204" pitchFamily="18" charset="0"/>
                                <a:cs typeface="Times"/>
                              </a:rPr>
                            </m:ctrlPr>
                          </m:eqArrPr>
                          <m:e>
                            <m:r>
                              <a:rPr lang="en-US" sz="2800" i="1">
                                <a:latin typeface="Cambria Math" panose="02040503050406030204" pitchFamily="18" charset="0"/>
                                <a:cs typeface="Times"/>
                              </a:rPr>
                              <m:t>𝑈𝑇𝐼𝐿𝐼𝑇𝑌</m:t>
                            </m:r>
                            <m:d>
                              <m:dPr>
                                <m:ctrlPr>
                                  <a:rPr lang="en-US" sz="2800" i="1">
                                    <a:latin typeface="Cambria Math" panose="02040503050406030204" pitchFamily="18" charset="0"/>
                                    <a:cs typeface="Times"/>
                                  </a:rPr>
                                </m:ctrlPr>
                              </m:dPr>
                              <m:e>
                                <m:r>
                                  <a:rPr lang="en-US" sz="2800" i="1">
                                    <a:latin typeface="Cambria Math" panose="02040503050406030204" pitchFamily="18" charset="0"/>
                                    <a:cs typeface="Times"/>
                                  </a:rPr>
                                  <m:t>𝑠</m:t>
                                </m:r>
                              </m:e>
                            </m:d>
                            <m:r>
                              <a:rPr lang="en-US" sz="2800" i="1">
                                <a:latin typeface="Cambria Math" panose="02040503050406030204" pitchFamily="18" charset="0"/>
                                <a:cs typeface="Times"/>
                              </a:rPr>
                              <m:t>&amp; </m:t>
                            </m:r>
                            <m:r>
                              <m:rPr>
                                <m:sty m:val="p"/>
                              </m:rPr>
                              <a:rPr lang="en-US" sz="2800">
                                <a:latin typeface="Cambria Math" panose="02040503050406030204" pitchFamily="18" charset="0"/>
                                <a:cs typeface="Times"/>
                              </a:rPr>
                              <m:t>if</m:t>
                            </m:r>
                            <m:r>
                              <a:rPr lang="en-US" sz="2800" i="1">
                                <a:latin typeface="Cambria Math" panose="02040503050406030204" pitchFamily="18" charset="0"/>
                                <a:cs typeface="Times"/>
                              </a:rPr>
                              <m:t> </m:t>
                            </m:r>
                            <m:r>
                              <a:rPr lang="en-US" sz="2800" i="1">
                                <a:latin typeface="Cambria Math" panose="02040503050406030204" pitchFamily="18" charset="0"/>
                                <a:cs typeface="Times"/>
                              </a:rPr>
                              <m:t>𝑇𝐸𝑅𝑀𝐼𝑁𝐴𝐿</m:t>
                            </m:r>
                            <m:d>
                              <m:dPr>
                                <m:ctrlPr>
                                  <a:rPr lang="en-US" sz="2800" i="1">
                                    <a:latin typeface="Cambria Math" panose="02040503050406030204" pitchFamily="18" charset="0"/>
                                    <a:cs typeface="Times"/>
                                  </a:rPr>
                                </m:ctrlPr>
                              </m:dPr>
                              <m:e>
                                <m:r>
                                  <a:rPr lang="en-US" sz="2800" i="1">
                                    <a:latin typeface="Cambria Math" panose="02040503050406030204" pitchFamily="18" charset="0"/>
                                    <a:cs typeface="Times"/>
                                  </a:rPr>
                                  <m:t>𝑠</m:t>
                                </m:r>
                              </m:e>
                            </m:d>
                          </m:e>
                          <m:e>
                            <m:r>
                              <a:rPr lang="en-US" sz="2800" i="1">
                                <a:latin typeface="Cambria Math" panose="02040503050406030204" pitchFamily="18" charset="0"/>
                                <a:cs typeface="Times"/>
                              </a:rPr>
                              <m:t>0&amp; </m:t>
                            </m:r>
                            <m:r>
                              <a:rPr lang="en-US" sz="2800" i="1">
                                <a:latin typeface="Cambria Math" panose="02040503050406030204" pitchFamily="18" charset="0"/>
                                <a:cs typeface="Times"/>
                              </a:rPr>
                              <m:t>𝑜𝑡h𝑒𝑟𝑤𝑖𝑠𝑒</m:t>
                            </m:r>
                          </m:e>
                        </m:eqArr>
                      </m:e>
                    </m:d>
                  </m:oMath>
                </a14:m>
                <a:endParaRPr lang="en-US" dirty="0">
                  <a:latin typeface="Corbel" panose="020B0503020204020204" pitchFamily="34" charset="0"/>
                  <a:cs typeface="Times"/>
                </a:endParaRPr>
              </a:p>
              <a:p>
                <a:pPr>
                  <a:spcBef>
                    <a:spcPts val="1200"/>
                  </a:spcBef>
                </a:pPr>
                <a:endParaRPr lang="en-US" sz="3200" dirty="0">
                  <a:latin typeface="Corbel" panose="020B0503020204020204" pitchFamily="34" charset="0"/>
                  <a:cs typeface="Times"/>
                </a:endParaRPr>
              </a:p>
              <a:p>
                <a:pPr>
                  <a:spcBef>
                    <a:spcPts val="1200"/>
                  </a:spcBef>
                </a:pPr>
                <a:endParaRPr lang="en-US" sz="3200" dirty="0">
                  <a:latin typeface="Corbel" panose="020B0503020204020204" pitchFamily="34" charset="0"/>
                  <a:cs typeface="Times"/>
                </a:endParaRPr>
              </a:p>
              <a:p>
                <a:pPr>
                  <a:spcBef>
                    <a:spcPts val="1200"/>
                  </a:spcBef>
                </a:pPr>
                <a:r>
                  <a:rPr lang="en-US" sz="3200" dirty="0">
                    <a:latin typeface="Corbel" panose="020B0503020204020204" pitchFamily="34" charset="0"/>
                    <a:cs typeface="Times"/>
                  </a:rPr>
                  <a:t>For non-terminal states, must be strongly correlated with actual chances of winning</a:t>
                </a:r>
              </a:p>
            </p:txBody>
          </p:sp>
        </mc:Choice>
        <mc:Fallback xmlns="">
          <p:sp>
            <p:nvSpPr>
              <p:cNvPr id="357379" name="Rectangle 3"/>
              <p:cNvSpPr>
                <a:spLocks noGrp="1" noRot="1" noChangeAspect="1" noMove="1" noResize="1" noEditPoints="1" noAdjustHandles="1" noChangeArrowheads="1" noChangeShapeType="1" noTextEdit="1"/>
              </p:cNvSpPr>
              <p:nvPr>
                <p:ph idx="1"/>
              </p:nvPr>
            </p:nvSpPr>
            <p:spPr>
              <a:xfrm>
                <a:off x="211428" y="941231"/>
                <a:ext cx="8229600" cy="5334000"/>
              </a:xfrm>
              <a:blipFill>
                <a:blip r:embed="rId3"/>
                <a:stretch>
                  <a:fillRect l="-616" t="-10926" b="-7601"/>
                </a:stretch>
              </a:blipFill>
            </p:spPr>
            <p:txBody>
              <a:bodyPr/>
              <a:lstStyle/>
              <a:p>
                <a:r>
                  <a:rPr lang="en-GB">
                    <a:noFill/>
                  </a:rPr>
                  <a:t> </a:t>
                </a:r>
              </a:p>
            </p:txBody>
          </p:sp>
        </mc:Fallback>
      </mc:AlternateContent>
      <p:sp>
        <p:nvSpPr>
          <p:cNvPr id="2" name="Oval 1"/>
          <p:cNvSpPr/>
          <p:nvPr/>
        </p:nvSpPr>
        <p:spPr>
          <a:xfrm>
            <a:off x="3937217" y="2998631"/>
            <a:ext cx="647700" cy="6858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4402428" y="3687732"/>
            <a:ext cx="3962400" cy="92883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No information on quality of non-terminal nodes</a:t>
            </a:r>
          </a:p>
        </p:txBody>
      </p:sp>
    </p:spTree>
    <p:extLst>
      <p:ext uri="{BB962C8B-B14F-4D97-AF65-F5344CB8AC3E}">
        <p14:creationId xmlns:p14="http://schemas.microsoft.com/office/powerpoint/2010/main" val="27072833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ChangeArrowheads="1"/>
          </p:cNvSpPr>
          <p:nvPr>
            <p:ph type="title"/>
          </p:nvPr>
        </p:nvSpPr>
        <p:spPr>
          <a:xfrm>
            <a:off x="568459" y="241233"/>
            <a:ext cx="7704667" cy="914399"/>
          </a:xfrm>
        </p:spPr>
        <p:txBody>
          <a:bodyPr>
            <a:normAutofit/>
          </a:bodyPr>
          <a:lstStyle/>
          <a:p>
            <a:r>
              <a:rPr lang="en-US" dirty="0"/>
              <a:t>Evaluation Functions</a:t>
            </a:r>
          </a:p>
        </p:txBody>
      </p:sp>
      <p:sp>
        <p:nvSpPr>
          <p:cNvPr id="7" name="Rounded Rectangle 6"/>
          <p:cNvSpPr/>
          <p:nvPr/>
        </p:nvSpPr>
        <p:spPr>
          <a:xfrm>
            <a:off x="443709" y="1425262"/>
            <a:ext cx="7954167" cy="3429000"/>
          </a:xfrm>
          <a:prstGeom prst="roundRect">
            <a:avLst>
              <a:gd name="adj" fmla="val 673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r>
              <a:rPr lang="en-US" dirty="0">
                <a:solidFill>
                  <a:schemeClr val="tx1"/>
                </a:solidFill>
                <a:cs typeface="Times"/>
              </a:rPr>
              <a:t>Important Features</a:t>
            </a:r>
          </a:p>
          <a:p>
            <a:pPr marL="342891" indent="-342891">
              <a:spcBef>
                <a:spcPts val="1200"/>
              </a:spcBef>
              <a:buFont typeface="Arial" panose="020B0604020202020204" pitchFamily="34" charset="0"/>
              <a:buChar char="•"/>
            </a:pPr>
            <a:r>
              <a:rPr lang="en-US" b="0" dirty="0">
                <a:solidFill>
                  <a:schemeClr val="tx1"/>
                </a:solidFill>
                <a:latin typeface="Corbel" panose="020B0503020204020204" pitchFamily="34" charset="0"/>
                <a:cs typeface="Times"/>
              </a:rPr>
              <a:t># of pieces</a:t>
            </a:r>
          </a:p>
          <a:p>
            <a:pPr marL="342891" indent="-342891">
              <a:spcBef>
                <a:spcPts val="1200"/>
              </a:spcBef>
              <a:buFont typeface="Arial" panose="020B0604020202020204" pitchFamily="34" charset="0"/>
              <a:buChar char="•"/>
            </a:pPr>
            <a:r>
              <a:rPr lang="en-US" b="0" dirty="0">
                <a:solidFill>
                  <a:schemeClr val="tx1"/>
                </a:solidFill>
                <a:latin typeface="Corbel" panose="020B0503020204020204" pitchFamily="34" charset="0"/>
                <a:cs typeface="Times"/>
              </a:rPr>
              <a:t># of queens</a:t>
            </a:r>
          </a:p>
          <a:p>
            <a:pPr marL="342891" indent="-342891">
              <a:spcBef>
                <a:spcPts val="1200"/>
              </a:spcBef>
              <a:buFont typeface="Arial" panose="020B0604020202020204" pitchFamily="34" charset="0"/>
              <a:buChar char="•"/>
            </a:pPr>
            <a:r>
              <a:rPr lang="en-US" b="0" dirty="0">
                <a:solidFill>
                  <a:schemeClr val="tx1"/>
                </a:solidFill>
                <a:latin typeface="Corbel" panose="020B0503020204020204" pitchFamily="34" charset="0"/>
                <a:cs typeface="Times"/>
              </a:rPr>
              <a:t># of controlled squares</a:t>
            </a:r>
          </a:p>
          <a:p>
            <a:pPr marL="342891" indent="-342891">
              <a:spcBef>
                <a:spcPts val="1200"/>
              </a:spcBef>
              <a:buFont typeface="Arial" panose="020B0604020202020204" pitchFamily="34" charset="0"/>
              <a:buChar char="•"/>
            </a:pPr>
            <a:r>
              <a:rPr lang="en-US" b="0" dirty="0">
                <a:solidFill>
                  <a:schemeClr val="tx1"/>
                </a:solidFill>
                <a:latin typeface="Corbel" panose="020B0503020204020204" pitchFamily="34" charset="0"/>
                <a:cs typeface="Times"/>
              </a:rPr>
              <a:t># of threatened opponent pieces </a:t>
            </a:r>
          </a:p>
          <a:p>
            <a:pPr marL="342891" indent="-342891">
              <a:spcBef>
                <a:spcPts val="1200"/>
              </a:spcBef>
              <a:buFont typeface="Arial" panose="020B0604020202020204" pitchFamily="34" charset="0"/>
              <a:buChar char="•"/>
            </a:pPr>
            <a:r>
              <a:rPr lang="en-US" b="0" dirty="0">
                <a:solidFill>
                  <a:schemeClr val="tx1"/>
                </a:solidFill>
                <a:latin typeface="Corbel" panose="020B0503020204020204" pitchFamily="34" charset="0"/>
                <a:cs typeface="Times"/>
              </a:rPr>
              <a: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E59E653-9F16-C647-A09C-667080D274EC}"/>
                  </a:ext>
                </a:extLst>
              </p:cNvPr>
              <p:cNvSpPr txBox="1"/>
              <p:nvPr/>
            </p:nvSpPr>
            <p:spPr>
              <a:xfrm>
                <a:off x="-523741" y="4917153"/>
                <a:ext cx="9372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𝑁𝑃𝑐𝑠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𝑁𝑄𝑛𝑠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𝐶𝑡𝑙𝑆𝑞𝑠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4</m:t>
                          </m:r>
                        </m:sub>
                      </m:sSub>
                      <m:r>
                        <a:rPr lang="en-US" b="0" i="1" smtClean="0">
                          <a:latin typeface="Cambria Math" panose="02040503050406030204" pitchFamily="18" charset="0"/>
                        </a:rPr>
                        <m:t>×(</m:t>
                      </m:r>
                      <m:r>
                        <a:rPr lang="en-US" b="0" i="1" smtClean="0">
                          <a:latin typeface="Cambria Math" panose="02040503050406030204" pitchFamily="18" charset="0"/>
                        </a:rPr>
                        <m:t>𝑇h𝑟𝑃𝑐𝑠</m:t>
                      </m:r>
                      <m:r>
                        <a:rPr lang="en-US" b="0" i="1" smtClean="0">
                          <a:latin typeface="Cambria Math" panose="02040503050406030204" pitchFamily="18" charset="0"/>
                        </a:rPr>
                        <m:t>)</m:t>
                      </m:r>
                    </m:oMath>
                  </m:oMathPara>
                </a14:m>
                <a:endParaRPr lang="en-US" b="0" dirty="0"/>
              </a:p>
            </p:txBody>
          </p:sp>
        </mc:Choice>
        <mc:Fallback xmlns="">
          <p:sp>
            <p:nvSpPr>
              <p:cNvPr id="3" name="TextBox 2">
                <a:extLst>
                  <a:ext uri="{FF2B5EF4-FFF2-40B4-BE49-F238E27FC236}">
                    <a16:creationId xmlns:a16="http://schemas.microsoft.com/office/drawing/2014/main" id="{4E59E653-9F16-C647-A09C-667080D274EC}"/>
                  </a:ext>
                </a:extLst>
              </p:cNvPr>
              <p:cNvSpPr txBox="1">
                <a:spLocks noRot="1" noChangeAspect="1" noMove="1" noResize="1" noEditPoints="1" noAdjustHandles="1" noChangeArrowheads="1" noChangeShapeType="1" noTextEdit="1"/>
              </p:cNvSpPr>
              <p:nvPr/>
            </p:nvSpPr>
            <p:spPr>
              <a:xfrm>
                <a:off x="-523741" y="4917153"/>
                <a:ext cx="9372600" cy="369332"/>
              </a:xfrm>
              <a:prstGeom prst="rect">
                <a:avLst/>
              </a:prstGeom>
              <a:blipFill>
                <a:blip r:embed="rId3"/>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ounded Rectangle 3">
                <a:extLst>
                  <a:ext uri="{FF2B5EF4-FFF2-40B4-BE49-F238E27FC236}">
                    <a16:creationId xmlns:a16="http://schemas.microsoft.com/office/drawing/2014/main" id="{927269AE-899A-E448-9AC0-06ABD1FB2077}"/>
                  </a:ext>
                </a:extLst>
              </p:cNvPr>
              <p:cNvSpPr/>
              <p:nvPr/>
            </p:nvSpPr>
            <p:spPr>
              <a:xfrm>
                <a:off x="2714759" y="5781364"/>
                <a:ext cx="2895600" cy="545573"/>
              </a:xfrm>
              <a:prstGeom prst="round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sSub>
                        <m:sSubPr>
                          <m:ctrlPr>
                            <a:rPr lang="en-US" sz="2800"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𝒘</m:t>
                          </m:r>
                        </m:e>
                        <m:sub>
                          <m:r>
                            <a:rPr lang="en-US" sz="2800" b="1" i="1">
                              <a:solidFill>
                                <a:srgbClr val="FF0000"/>
                              </a:solidFill>
                              <a:latin typeface="Cambria Math" panose="02040503050406030204" pitchFamily="18" charset="0"/>
                            </a:rPr>
                            <m:t>𝟏</m:t>
                          </m:r>
                        </m:sub>
                      </m:sSub>
                      <m:r>
                        <a:rPr lang="en-US" sz="2800" b="1"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b="1" i="1">
                              <a:solidFill>
                                <a:srgbClr val="FF0000"/>
                              </a:solidFill>
                              <a:latin typeface="Cambria Math" panose="02040503050406030204" pitchFamily="18" charset="0"/>
                            </a:rPr>
                            <m:t>𝒘</m:t>
                          </m:r>
                        </m:e>
                        <m:sub>
                          <m:r>
                            <a:rPr lang="en-US" sz="2800" b="1" i="1">
                              <a:solidFill>
                                <a:srgbClr val="FF0000"/>
                              </a:solidFill>
                              <a:latin typeface="Cambria Math" panose="02040503050406030204" pitchFamily="18" charset="0"/>
                            </a:rPr>
                            <m:t>𝟒</m:t>
                          </m:r>
                        </m:sub>
                      </m:sSub>
                      <m:r>
                        <a:rPr lang="en-US" sz="2800" b="1"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xmlns="">
          <p:sp>
            <p:nvSpPr>
              <p:cNvPr id="4" name="Rounded Rectangle 3">
                <a:extLst>
                  <a:ext uri="{FF2B5EF4-FFF2-40B4-BE49-F238E27FC236}">
                    <a16:creationId xmlns:a16="http://schemas.microsoft.com/office/drawing/2014/main" id="{927269AE-899A-E448-9AC0-06ABD1FB2077}"/>
                  </a:ext>
                </a:extLst>
              </p:cNvPr>
              <p:cNvSpPr>
                <a:spLocks noRot="1" noChangeAspect="1" noMove="1" noResize="1" noEditPoints="1" noAdjustHandles="1" noChangeArrowheads="1" noChangeShapeType="1" noTextEdit="1"/>
              </p:cNvSpPr>
              <p:nvPr/>
            </p:nvSpPr>
            <p:spPr>
              <a:xfrm>
                <a:off x="2714759" y="5781364"/>
                <a:ext cx="2895600" cy="545573"/>
              </a:xfrm>
              <a:prstGeom prst="roundRect">
                <a:avLst/>
              </a:prstGeom>
              <a:blipFill>
                <a:blip r:embed="rId4"/>
                <a:stretch>
                  <a:fillRect/>
                </a:stretch>
              </a:blipFill>
              <a:ln w="57150">
                <a:solidFill>
                  <a:srgbClr val="FF0000"/>
                </a:solidFill>
              </a:ln>
            </p:spPr>
            <p:txBody>
              <a:bodyPr/>
              <a:lstStyle/>
              <a:p>
                <a:r>
                  <a:rPr lang="en-GB">
                    <a:noFill/>
                  </a:rPr>
                  <a:t> </a:t>
                </a:r>
              </a:p>
            </p:txBody>
          </p:sp>
        </mc:Fallback>
      </mc:AlternateContent>
    </p:spTree>
    <p:extLst>
      <p:ext uri="{BB962C8B-B14F-4D97-AF65-F5344CB8AC3E}">
        <p14:creationId xmlns:p14="http://schemas.microsoft.com/office/powerpoint/2010/main" val="23766298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en-US" dirty="0"/>
              <a:t>Cutting Off Search</a:t>
            </a:r>
          </a:p>
        </p:txBody>
      </p:sp>
      <mc:AlternateContent xmlns:mc="http://schemas.openxmlformats.org/markup-compatibility/2006" xmlns:a14="http://schemas.microsoft.com/office/drawing/2010/main">
        <mc:Choice Requires="a14">
          <p:sp>
            <p:nvSpPr>
              <p:cNvPr id="360451" name="Rectangle 3"/>
              <p:cNvSpPr>
                <a:spLocks noGrp="1" noChangeArrowheads="1"/>
              </p:cNvSpPr>
              <p:nvPr>
                <p:ph idx="1"/>
              </p:nvPr>
            </p:nvSpPr>
            <p:spPr>
              <a:xfrm>
                <a:off x="609600" y="1194517"/>
                <a:ext cx="9872133" cy="2819399"/>
              </a:xfrm>
            </p:spPr>
            <p:txBody>
              <a:bodyPr>
                <a:normAutofit/>
              </a:bodyPr>
              <a:lstStyle/>
              <a:p>
                <a:pPr>
                  <a:spcBef>
                    <a:spcPts val="1200"/>
                  </a:spcBef>
                </a:pPr>
                <a:r>
                  <a:rPr lang="en-US" sz="2400" dirty="0">
                    <a:latin typeface="Corbel" panose="020B0503020204020204" pitchFamily="34" charset="0"/>
                    <a:cs typeface="Times"/>
                  </a:rPr>
                  <a:t>Modify </a:t>
                </a:r>
                <a:r>
                  <a:rPr lang="en-US" sz="2400" dirty="0" err="1">
                    <a:latin typeface="Corbel" panose="020B0503020204020204" pitchFamily="34" charset="0"/>
                    <a:cs typeface="Times"/>
                  </a:rPr>
                  <a:t>minimax</a:t>
                </a:r>
                <a:r>
                  <a:rPr lang="en-US" sz="2400" dirty="0">
                    <a:latin typeface="Corbel" panose="020B0503020204020204" pitchFamily="34" charset="0"/>
                    <a:cs typeface="Times"/>
                  </a:rPr>
                  <a:t> or </a:t>
                </a:r>
                <a14:m>
                  <m:oMath xmlns:m="http://schemas.openxmlformats.org/officeDocument/2006/math">
                    <m:r>
                      <a:rPr lang="en-US" sz="2400" i="1" dirty="0">
                        <a:latin typeface="Cambria Math" charset="0"/>
                        <a:cs typeface="Times"/>
                      </a:rPr>
                      <m:t>𝛼</m:t>
                    </m:r>
                  </m:oMath>
                </a14:m>
                <a:r>
                  <a:rPr lang="en-US" sz="2400" i="1" dirty="0" err="1">
                    <a:latin typeface="Corbel" panose="020B0503020204020204" pitchFamily="34" charset="0"/>
                    <a:cs typeface="Times"/>
                  </a:rPr>
                  <a:t>-</a:t>
                </a:r>
                <a14:m>
                  <m:oMath xmlns:m="http://schemas.openxmlformats.org/officeDocument/2006/math">
                    <m:r>
                      <a:rPr lang="en-US" sz="2400" i="1" dirty="0">
                        <a:latin typeface="Cambria Math" charset="0"/>
                        <a:cs typeface="Times"/>
                      </a:rPr>
                      <m:t>𝛽</m:t>
                    </m:r>
                  </m:oMath>
                </a14:m>
                <a:r>
                  <a:rPr lang="en-US" sz="2400" i="1" dirty="0">
                    <a:latin typeface="Corbel" panose="020B0503020204020204" pitchFamily="34" charset="0"/>
                    <a:cs typeface="Times"/>
                  </a:rPr>
                  <a:t> </a:t>
                </a:r>
                <a:r>
                  <a:rPr lang="en-US" sz="2400" dirty="0">
                    <a:latin typeface="Corbel" panose="020B0503020204020204" pitchFamily="34" charset="0"/>
                    <a:cs typeface="Times"/>
                  </a:rPr>
                  <a:t>pruning algorithms by replacing</a:t>
                </a:r>
              </a:p>
              <a:p>
                <a:pPr marL="687371" lvl="1" indent="-342891">
                  <a:spcBef>
                    <a:spcPts val="1200"/>
                  </a:spcBef>
                </a:pPr>
                <a14:m>
                  <m:oMath xmlns:m="http://schemas.openxmlformats.org/officeDocument/2006/math">
                    <m:r>
                      <m:rPr>
                        <m:sty m:val="p"/>
                      </m:rPr>
                      <a:rPr lang="en-US" sz="2400" cap="small" dirty="0">
                        <a:latin typeface="Cambria Math" panose="02040503050406030204" pitchFamily="18" charset="0"/>
                        <a:cs typeface="Times"/>
                      </a:rPr>
                      <m:t>TerminalTest</m:t>
                    </m:r>
                    <m:d>
                      <m:dPr>
                        <m:ctrlPr>
                          <a:rPr lang="en-US" sz="2400" i="1" cap="small" dirty="0" err="1">
                            <a:latin typeface="Cambria Math" panose="02040503050406030204" pitchFamily="18" charset="0"/>
                            <a:cs typeface="Times"/>
                          </a:rPr>
                        </m:ctrlPr>
                      </m:dPr>
                      <m:e>
                        <m:r>
                          <a:rPr lang="en-US" sz="2400" i="1" dirty="0">
                            <a:latin typeface="Cambria Math" panose="02040503050406030204" pitchFamily="18" charset="0"/>
                            <a:cs typeface="Times"/>
                          </a:rPr>
                          <m:t>𝑠</m:t>
                        </m:r>
                      </m:e>
                    </m:d>
                  </m:oMath>
                </a14:m>
                <a:r>
                  <a:rPr lang="en-US" sz="2400" dirty="0">
                    <a:latin typeface="Corbel" panose="020B0503020204020204" pitchFamily="34" charset="0"/>
                    <a:cs typeface="Times"/>
                  </a:rPr>
                  <a:t> with </a:t>
                </a:r>
                <a14:m>
                  <m:oMath xmlns:m="http://schemas.openxmlformats.org/officeDocument/2006/math">
                    <m:r>
                      <m:rPr>
                        <m:sty m:val="p"/>
                      </m:rPr>
                      <a:rPr lang="en-US" sz="2400" cap="small" dirty="0">
                        <a:latin typeface="Cambria Math" panose="02040503050406030204" pitchFamily="18" charset="0"/>
                        <a:cs typeface="Times"/>
                      </a:rPr>
                      <m:t>Cutoff</m:t>
                    </m:r>
                    <m:r>
                      <m:rPr>
                        <m:sty m:val="p"/>
                      </m:rPr>
                      <a:rPr lang="en-US" sz="2400" cap="small" dirty="0" err="1">
                        <a:latin typeface="Cambria Math" panose="02040503050406030204" pitchFamily="18" charset="0"/>
                        <a:cs typeface="Times"/>
                      </a:rPr>
                      <m:t>Test</m:t>
                    </m:r>
                    <m:d>
                      <m:dPr>
                        <m:ctrlPr>
                          <a:rPr lang="en-US" sz="2400" i="1" cap="small" dirty="0" err="1">
                            <a:latin typeface="Cambria Math" panose="02040503050406030204" pitchFamily="18" charset="0"/>
                            <a:cs typeface="Times"/>
                          </a:rPr>
                        </m:ctrlPr>
                      </m:dPr>
                      <m:e>
                        <m:r>
                          <a:rPr lang="en-US" sz="2400" i="1" dirty="0" err="1">
                            <a:latin typeface="Cambria Math" panose="02040503050406030204" pitchFamily="18" charset="0"/>
                            <a:cs typeface="Times"/>
                          </a:rPr>
                          <m:t>𝑠</m:t>
                        </m:r>
                        <m:r>
                          <a:rPr lang="en-US" sz="2400" i="1" dirty="0">
                            <a:latin typeface="Cambria Math" panose="02040503050406030204" pitchFamily="18" charset="0"/>
                            <a:cs typeface="Times"/>
                          </a:rPr>
                          <m:t>, </m:t>
                        </m:r>
                        <m:r>
                          <a:rPr lang="en-US" sz="2400" i="1" dirty="0">
                            <a:latin typeface="Cambria Math" panose="02040503050406030204" pitchFamily="18" charset="0"/>
                            <a:cs typeface="Times"/>
                          </a:rPr>
                          <m:t>𝑑</m:t>
                        </m:r>
                      </m:e>
                    </m:d>
                  </m:oMath>
                </a14:m>
                <a:endParaRPr lang="en-US" sz="2400" dirty="0">
                  <a:latin typeface="Corbel" panose="020B0503020204020204" pitchFamily="34" charset="0"/>
                  <a:cs typeface="Times"/>
                </a:endParaRPr>
              </a:p>
              <a:p>
                <a:pPr marL="687371" lvl="1" indent="-342891">
                  <a:spcBef>
                    <a:spcPts val="1200"/>
                  </a:spcBef>
                </a:pPr>
                <a14:m>
                  <m:oMath xmlns:m="http://schemas.openxmlformats.org/officeDocument/2006/math">
                    <m:r>
                      <m:rPr>
                        <m:sty m:val="p"/>
                      </m:rPr>
                      <a:rPr lang="en-US" sz="2400" cap="small" dirty="0">
                        <a:latin typeface="Cambria Math" panose="02040503050406030204" pitchFamily="18" charset="0"/>
                        <a:cs typeface="Times"/>
                      </a:rPr>
                      <m:t>Utility</m:t>
                    </m:r>
                    <m:d>
                      <m:dPr>
                        <m:ctrlPr>
                          <a:rPr lang="en-US" sz="2400" i="1" cap="small" dirty="0" err="1">
                            <a:latin typeface="Cambria Math" panose="02040503050406030204" pitchFamily="18" charset="0"/>
                            <a:cs typeface="Times"/>
                          </a:rPr>
                        </m:ctrlPr>
                      </m:dPr>
                      <m:e>
                        <m:r>
                          <a:rPr lang="en-US" sz="2400" i="1" dirty="0" err="1">
                            <a:latin typeface="Cambria Math" panose="02040503050406030204" pitchFamily="18" charset="0"/>
                            <a:cs typeface="Times"/>
                          </a:rPr>
                          <m:t>𝑠</m:t>
                        </m:r>
                      </m:e>
                    </m:d>
                  </m:oMath>
                </a14:m>
                <a:r>
                  <a:rPr lang="en-US" sz="2400" dirty="0">
                    <a:latin typeface="Corbel" panose="020B0503020204020204" pitchFamily="34" charset="0"/>
                    <a:cs typeface="Times"/>
                  </a:rPr>
                  <a:t> is replaced by </a:t>
                </a:r>
                <a14:m>
                  <m:oMath xmlns:m="http://schemas.openxmlformats.org/officeDocument/2006/math">
                    <m:r>
                      <m:rPr>
                        <m:sty m:val="p"/>
                      </m:rPr>
                      <a:rPr lang="en-US" sz="2400" cap="small" dirty="0">
                        <a:latin typeface="Cambria Math" panose="02040503050406030204" pitchFamily="18" charset="0"/>
                        <a:cs typeface="Times"/>
                      </a:rPr>
                      <m:t>Eval</m:t>
                    </m:r>
                    <m:r>
                      <a:rPr lang="en-US" sz="2400" i="1" dirty="0" err="1">
                        <a:latin typeface="Cambria Math" panose="02040503050406030204" pitchFamily="18" charset="0"/>
                        <a:cs typeface="Times"/>
                      </a:rPr>
                      <m:t>(</m:t>
                    </m:r>
                    <m:r>
                      <a:rPr lang="en-US" sz="2400" i="1" dirty="0" err="1">
                        <a:latin typeface="Cambria Math" panose="02040503050406030204" pitchFamily="18" charset="0"/>
                        <a:cs typeface="Times"/>
                      </a:rPr>
                      <m:t>𝑠</m:t>
                    </m:r>
                    <m:r>
                      <a:rPr lang="en-US" sz="2400" i="1" dirty="0">
                        <a:latin typeface="Cambria Math" panose="02040503050406030204" pitchFamily="18" charset="0"/>
                        <a:cs typeface="Times"/>
                      </a:rPr>
                      <m:t>)</m:t>
                    </m:r>
                  </m:oMath>
                </a14:m>
                <a:endParaRPr lang="en-US" sz="2400" dirty="0">
                  <a:latin typeface="Corbel" panose="020B0503020204020204" pitchFamily="34" charset="0"/>
                  <a:cs typeface="Times"/>
                </a:endParaRPr>
              </a:p>
              <a:p>
                <a:pPr>
                  <a:spcBef>
                    <a:spcPts val="1200"/>
                  </a:spcBef>
                </a:pPr>
                <a:r>
                  <a:rPr lang="en-US" sz="2400" dirty="0">
                    <a:latin typeface="Corbel" panose="020B0503020204020204" pitchFamily="34" charset="0"/>
                    <a:cs typeface="Times"/>
                  </a:rPr>
                  <a:t>Can also be combined with iterative deepening</a:t>
                </a:r>
              </a:p>
            </p:txBody>
          </p:sp>
        </mc:Choice>
        <mc:Fallback xmlns="">
          <p:sp>
            <p:nvSpPr>
              <p:cNvPr id="360451" name="Rectangle 3"/>
              <p:cNvSpPr>
                <a:spLocks noGrp="1" noRot="1" noChangeAspect="1" noMove="1" noResize="1" noEditPoints="1" noAdjustHandles="1" noChangeArrowheads="1" noChangeShapeType="1" noTextEdit="1"/>
              </p:cNvSpPr>
              <p:nvPr>
                <p:ph idx="1"/>
              </p:nvPr>
            </p:nvSpPr>
            <p:spPr>
              <a:xfrm>
                <a:off x="609600" y="1194517"/>
                <a:ext cx="9872133" cy="2819399"/>
              </a:xfrm>
              <a:blipFill>
                <a:blip r:embed="rId2"/>
                <a:stretch>
                  <a:fillRect l="-257" t="-1351"/>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ea typeface="ＭＳ Ｐゴシック" pitchFamily="-107" charset="-128"/>
                <a:cs typeface="ＭＳ Ｐゴシック" pitchFamily="-107" charset="-128"/>
              </a:rPr>
              <a:t>Stochastic Games</a:t>
            </a:r>
          </a:p>
        </p:txBody>
      </p:sp>
      <p:sp>
        <p:nvSpPr>
          <p:cNvPr id="3" name="Content Placeholder 2"/>
          <p:cNvSpPr>
            <a:spLocks noGrp="1"/>
          </p:cNvSpPr>
          <p:nvPr>
            <p:ph idx="1"/>
          </p:nvPr>
        </p:nvSpPr>
        <p:spPr>
          <a:xfrm>
            <a:off x="609601" y="1752600"/>
            <a:ext cx="9533468" cy="3332816"/>
          </a:xfrm>
        </p:spPr>
        <p:txBody>
          <a:bodyPr>
            <a:normAutofit fontScale="92500" lnSpcReduction="10000"/>
          </a:bodyPr>
          <a:lstStyle/>
          <a:p>
            <a:pPr eaLnBrk="1" hangingPunct="1"/>
            <a:r>
              <a:rPr lang="en-US" sz="3200" dirty="0">
                <a:latin typeface="Corbel" panose="020B0503020204020204" pitchFamily="34" charset="0"/>
                <a:ea typeface="ＭＳ Ｐゴシック" pitchFamily="-107" charset="-128"/>
                <a:cs typeface="Times"/>
              </a:rPr>
              <a:t>Many games have randomization:</a:t>
            </a:r>
          </a:p>
          <a:p>
            <a:pPr lvl="1"/>
            <a:r>
              <a:rPr lang="en-US" sz="2800" dirty="0">
                <a:latin typeface="Corbel" panose="020B0503020204020204" pitchFamily="34" charset="0"/>
                <a:ea typeface="ＭＳ Ｐゴシック" pitchFamily="-107" charset="-128"/>
                <a:cs typeface="Times"/>
              </a:rPr>
              <a:t>Backgammon</a:t>
            </a:r>
          </a:p>
          <a:p>
            <a:pPr lvl="1"/>
            <a:r>
              <a:rPr lang="en-US" sz="2800" dirty="0">
                <a:latin typeface="Corbel" panose="020B0503020204020204" pitchFamily="34" charset="0"/>
                <a:ea typeface="ＭＳ Ｐゴシック" pitchFamily="-107" charset="-128"/>
                <a:cs typeface="Times"/>
              </a:rPr>
              <a:t>Settlers of </a:t>
            </a:r>
            <a:r>
              <a:rPr lang="en-US" sz="2800" dirty="0" err="1">
                <a:latin typeface="Corbel" panose="020B0503020204020204" pitchFamily="34" charset="0"/>
                <a:ea typeface="ＭＳ Ｐゴシック" pitchFamily="-107" charset="-128"/>
                <a:cs typeface="Times"/>
              </a:rPr>
              <a:t>Catan</a:t>
            </a:r>
            <a:endParaRPr lang="en-US" sz="2800" dirty="0">
              <a:latin typeface="Corbel" panose="020B0503020204020204" pitchFamily="34" charset="0"/>
              <a:ea typeface="ＭＳ Ｐゴシック" pitchFamily="-107" charset="-128"/>
              <a:cs typeface="Times"/>
            </a:endParaRPr>
          </a:p>
          <a:p>
            <a:pPr lvl="1"/>
            <a:r>
              <a:rPr lang="en-US" sz="2800" dirty="0">
                <a:latin typeface="Corbel" panose="020B0503020204020204" pitchFamily="34" charset="0"/>
                <a:ea typeface="ＭＳ Ｐゴシック" pitchFamily="-107" charset="-128"/>
                <a:cs typeface="Times"/>
              </a:rPr>
              <a:t>Poker</a:t>
            </a:r>
          </a:p>
          <a:p>
            <a:pPr eaLnBrk="1" hangingPunct="1"/>
            <a:r>
              <a:rPr lang="en-US" sz="3200" dirty="0">
                <a:latin typeface="Corbel" panose="020B0503020204020204" pitchFamily="34" charset="0"/>
                <a:ea typeface="ＭＳ Ｐゴシック" pitchFamily="-107" charset="-128"/>
                <a:cs typeface="Times"/>
              </a:rPr>
              <a:t>How do we deal with uncertainty?</a:t>
            </a:r>
          </a:p>
          <a:p>
            <a:pPr eaLnBrk="1" hangingPunct="1"/>
            <a:r>
              <a:rPr lang="en-US" sz="3200" dirty="0">
                <a:latin typeface="Corbel" panose="020B0503020204020204" pitchFamily="34" charset="0"/>
                <a:ea typeface="ＭＳ Ｐゴシック" pitchFamily="-107" charset="-128"/>
                <a:cs typeface="Times"/>
              </a:rPr>
              <a:t>Can we still use minimax? Yes, but search space is much bigger</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91066" y="100732"/>
            <a:ext cx="7704667" cy="978877"/>
          </a:xfrm>
        </p:spPr>
        <p:txBody>
          <a:bodyPr/>
          <a:lstStyle/>
          <a:p>
            <a:r>
              <a:rPr lang="en-US" dirty="0">
                <a:ea typeface="ＭＳ Ｐゴシック" pitchFamily="-107" charset="-128"/>
                <a:cs typeface="ＭＳ Ｐゴシック" pitchFamily="-107" charset="-128"/>
              </a:rPr>
              <a:t>Adding Chance Layers</a:t>
            </a:r>
          </a:p>
        </p:txBody>
      </p:sp>
      <p:sp>
        <p:nvSpPr>
          <p:cNvPr id="7" name="TextBox 6"/>
          <p:cNvSpPr txBox="1">
            <a:spLocks noChangeArrowheads="1"/>
          </p:cNvSpPr>
          <p:nvPr/>
        </p:nvSpPr>
        <p:spPr bwMode="auto">
          <a:xfrm>
            <a:off x="3971258" y="5966902"/>
            <a:ext cx="4104009" cy="646331"/>
          </a:xfrm>
          <a:prstGeom prst="rect">
            <a:avLst/>
          </a:prstGeom>
          <a:noFill/>
          <a:ln w="9525">
            <a:noFill/>
            <a:miter lim="800000"/>
            <a:headEnd/>
            <a:tailEnd/>
          </a:ln>
        </p:spPr>
        <p:txBody>
          <a:bodyPr wrap="none">
            <a:prstTxWarp prst="textNoShape">
              <a:avLst/>
            </a:prstTxWarp>
            <a:spAutoFit/>
          </a:bodyPr>
          <a:lstStyle/>
          <a:p>
            <a:r>
              <a:rPr lang="en-US" dirty="0">
                <a:latin typeface="Corbel" panose="020B0503020204020204" pitchFamily="34" charset="0"/>
                <a:cs typeface="Times"/>
              </a:rPr>
              <a:t>Calculate the </a:t>
            </a:r>
            <a:r>
              <a:rPr lang="en-US" dirty="0">
                <a:solidFill>
                  <a:srgbClr val="FF0000"/>
                </a:solidFill>
                <a:latin typeface="Corbel" panose="020B0503020204020204" pitchFamily="34" charset="0"/>
                <a:cs typeface="Times"/>
              </a:rPr>
              <a:t>expected</a:t>
            </a:r>
            <a:r>
              <a:rPr lang="en-US" dirty="0">
                <a:latin typeface="Corbel" panose="020B0503020204020204" pitchFamily="34" charset="0"/>
                <a:cs typeface="Times"/>
              </a:rPr>
              <a:t> value of a state </a:t>
            </a:r>
            <a:br>
              <a:rPr lang="en-US" dirty="0">
                <a:latin typeface="Corbel" panose="020B0503020204020204" pitchFamily="34" charset="0"/>
                <a:cs typeface="Times"/>
              </a:rPr>
            </a:br>
            <a:r>
              <a:rPr lang="en-US" dirty="0">
                <a:latin typeface="Corbel" panose="020B0503020204020204" pitchFamily="34" charset="0"/>
                <a:cs typeface="Times"/>
              </a:rPr>
              <a:t>(MUCH harder than deterministic games)</a:t>
            </a:r>
          </a:p>
        </p:txBody>
      </p:sp>
      <mc:AlternateContent xmlns:mc="http://schemas.openxmlformats.org/markup-compatibility/2006" xmlns:a14="http://schemas.microsoft.com/office/drawing/2010/main">
        <mc:Choice Requires="a14">
          <p:sp>
            <p:nvSpPr>
              <p:cNvPr id="8" name="Oval 7"/>
              <p:cNvSpPr/>
              <p:nvPr/>
            </p:nvSpPr>
            <p:spPr>
              <a:xfrm>
                <a:off x="5943600" y="12192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𝑝</m:t>
                          </m:r>
                        </m:e>
                        <m:sub>
                          <m:r>
                            <a:rPr lang="en-US" b="0" i="1" dirty="0" smtClean="0">
                              <a:solidFill>
                                <a:schemeClr val="tx1"/>
                              </a:solidFill>
                              <a:latin typeface="Cambria Math" panose="02040503050406030204" pitchFamily="18" charset="0"/>
                            </a:rPr>
                            <m:t>1</m:t>
                          </m:r>
                        </m:sub>
                      </m:sSub>
                    </m:oMath>
                  </m:oMathPara>
                </a14:m>
                <a:endParaRPr lang="en-US" b="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5943600" y="1219200"/>
                <a:ext cx="533400" cy="533400"/>
              </a:xfrm>
              <a:prstGeom prst="ellipse">
                <a:avLst/>
              </a:prstGeom>
              <a:blipFill>
                <a:blip r:embed="rId3"/>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Oval 21"/>
              <p:cNvSpPr/>
              <p:nvPr/>
            </p:nvSpPr>
            <p:spPr>
              <a:xfrm>
                <a:off x="4953000" y="20574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𝒄</m:t>
                      </m:r>
                    </m:oMath>
                  </m:oMathPara>
                </a14:m>
                <a:endParaRPr lang="en-US" dirty="0">
                  <a:solidFill>
                    <a:schemeClr val="tx1"/>
                  </a:solidFill>
                </a:endParaRPr>
              </a:p>
            </p:txBody>
          </p:sp>
        </mc:Choice>
        <mc:Fallback xmlns="">
          <p:sp>
            <p:nvSpPr>
              <p:cNvPr id="22" name="Oval 21"/>
              <p:cNvSpPr>
                <a:spLocks noRot="1" noChangeAspect="1" noMove="1" noResize="1" noEditPoints="1" noAdjustHandles="1" noChangeArrowheads="1" noChangeShapeType="1" noTextEdit="1"/>
              </p:cNvSpPr>
              <p:nvPr/>
            </p:nvSpPr>
            <p:spPr>
              <a:xfrm>
                <a:off x="4953000" y="2057400"/>
                <a:ext cx="533400" cy="5334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Oval 22"/>
              <p:cNvSpPr/>
              <p:nvPr/>
            </p:nvSpPr>
            <p:spPr>
              <a:xfrm>
                <a:off x="5943600" y="22098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𝒄</m:t>
                      </m:r>
                    </m:oMath>
                  </m:oMathPara>
                </a14:m>
                <a:endParaRPr lang="en-US" dirty="0">
                  <a:solidFill>
                    <a:schemeClr val="tx1"/>
                  </a:solidFill>
                </a:endParaRPr>
              </a:p>
            </p:txBody>
          </p:sp>
        </mc:Choice>
        <mc:Fallback xmlns="">
          <p:sp>
            <p:nvSpPr>
              <p:cNvPr id="23" name="Oval 22"/>
              <p:cNvSpPr>
                <a:spLocks noRot="1" noChangeAspect="1" noMove="1" noResize="1" noEditPoints="1" noAdjustHandles="1" noChangeArrowheads="1" noChangeShapeType="1" noTextEdit="1"/>
              </p:cNvSpPr>
              <p:nvPr/>
            </p:nvSpPr>
            <p:spPr>
              <a:xfrm>
                <a:off x="5943600" y="2209800"/>
                <a:ext cx="533400" cy="533400"/>
              </a:xfrm>
              <a:prstGeom prst="ellipse">
                <a:avLst/>
              </a:prstGeom>
              <a:blipFill>
                <a:blip r:embed="rId5"/>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Oval 23"/>
              <p:cNvSpPr/>
              <p:nvPr/>
            </p:nvSpPr>
            <p:spPr>
              <a:xfrm>
                <a:off x="6934200" y="2057400"/>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dirty="0" smtClean="0">
                          <a:solidFill>
                            <a:schemeClr val="tx1"/>
                          </a:solidFill>
                          <a:latin typeface="Cambria Math" panose="02040503050406030204" pitchFamily="18" charset="0"/>
                        </a:rPr>
                        <m:t>𝒄</m:t>
                      </m:r>
                    </m:oMath>
                  </m:oMathPara>
                </a14:m>
                <a:endParaRPr lang="en-US" dirty="0">
                  <a:solidFill>
                    <a:schemeClr val="tx1"/>
                  </a:solidFill>
                </a:endParaRPr>
              </a:p>
            </p:txBody>
          </p:sp>
        </mc:Choice>
        <mc:Fallback xmlns="">
          <p:sp>
            <p:nvSpPr>
              <p:cNvPr id="24" name="Oval 23"/>
              <p:cNvSpPr>
                <a:spLocks noRot="1" noChangeAspect="1" noMove="1" noResize="1" noEditPoints="1" noAdjustHandles="1" noChangeArrowheads="1" noChangeShapeType="1" noTextEdit="1"/>
              </p:cNvSpPr>
              <p:nvPr/>
            </p:nvSpPr>
            <p:spPr>
              <a:xfrm>
                <a:off x="6934200" y="2057400"/>
                <a:ext cx="533400" cy="5334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Oval 24"/>
              <p:cNvSpPr/>
              <p:nvPr/>
            </p:nvSpPr>
            <p:spPr>
              <a:xfrm>
                <a:off x="3810000" y="3182815"/>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𝑝</m:t>
                          </m:r>
                        </m:e>
                        <m:sub>
                          <m:r>
                            <a:rPr lang="en-US" b="0" i="1" dirty="0" smtClean="0">
                              <a:solidFill>
                                <a:schemeClr val="tx1"/>
                              </a:solidFill>
                              <a:latin typeface="Cambria Math" panose="02040503050406030204" pitchFamily="18" charset="0"/>
                            </a:rPr>
                            <m:t>2</m:t>
                          </m:r>
                        </m:sub>
                      </m:sSub>
                    </m:oMath>
                  </m:oMathPara>
                </a14:m>
                <a:endParaRPr lang="en-US" b="0" dirty="0">
                  <a:solidFill>
                    <a:schemeClr val="tx1"/>
                  </a:solidFill>
                </a:endParaRPr>
              </a:p>
            </p:txBody>
          </p:sp>
        </mc:Choice>
        <mc:Fallback xmlns="">
          <p:sp>
            <p:nvSpPr>
              <p:cNvPr id="25" name="Oval 24"/>
              <p:cNvSpPr>
                <a:spLocks noRot="1" noChangeAspect="1" noMove="1" noResize="1" noEditPoints="1" noAdjustHandles="1" noChangeArrowheads="1" noChangeShapeType="1" noTextEdit="1"/>
              </p:cNvSpPr>
              <p:nvPr/>
            </p:nvSpPr>
            <p:spPr>
              <a:xfrm>
                <a:off x="3810000" y="3182815"/>
                <a:ext cx="533400" cy="5334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Oval 25"/>
              <p:cNvSpPr/>
              <p:nvPr/>
            </p:nvSpPr>
            <p:spPr>
              <a:xfrm>
                <a:off x="4800600" y="3335215"/>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𝑝</m:t>
                          </m:r>
                        </m:e>
                        <m:sub>
                          <m:r>
                            <a:rPr lang="en-US" b="0" i="1" dirty="0" smtClean="0">
                              <a:solidFill>
                                <a:schemeClr val="tx1"/>
                              </a:solidFill>
                              <a:latin typeface="Cambria Math" panose="02040503050406030204" pitchFamily="18" charset="0"/>
                            </a:rPr>
                            <m:t>2</m:t>
                          </m:r>
                        </m:sub>
                      </m:sSub>
                    </m:oMath>
                  </m:oMathPara>
                </a14:m>
                <a:endParaRPr lang="en-US" b="0" dirty="0">
                  <a:solidFill>
                    <a:schemeClr val="tx1"/>
                  </a:solidFill>
                </a:endParaRPr>
              </a:p>
            </p:txBody>
          </p:sp>
        </mc:Choice>
        <mc:Fallback xmlns="">
          <p:sp>
            <p:nvSpPr>
              <p:cNvPr id="26" name="Oval 25"/>
              <p:cNvSpPr>
                <a:spLocks noRot="1" noChangeAspect="1" noMove="1" noResize="1" noEditPoints="1" noAdjustHandles="1" noChangeArrowheads="1" noChangeShapeType="1" noTextEdit="1"/>
              </p:cNvSpPr>
              <p:nvPr/>
            </p:nvSpPr>
            <p:spPr>
              <a:xfrm>
                <a:off x="4800600" y="3335215"/>
                <a:ext cx="533400" cy="5334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Oval 26"/>
              <p:cNvSpPr/>
              <p:nvPr/>
            </p:nvSpPr>
            <p:spPr>
              <a:xfrm>
                <a:off x="5791200" y="3182815"/>
                <a:ext cx="533400" cy="5334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𝑝</m:t>
                          </m:r>
                        </m:e>
                        <m:sub>
                          <m:r>
                            <a:rPr lang="en-US" b="0" i="1" dirty="0" smtClean="0">
                              <a:solidFill>
                                <a:schemeClr val="tx1"/>
                              </a:solidFill>
                              <a:latin typeface="Cambria Math" panose="02040503050406030204" pitchFamily="18" charset="0"/>
                            </a:rPr>
                            <m:t>2</m:t>
                          </m:r>
                        </m:sub>
                      </m:sSub>
                    </m:oMath>
                  </m:oMathPara>
                </a14:m>
                <a:endParaRPr lang="en-US" b="0" dirty="0">
                  <a:solidFill>
                    <a:schemeClr val="tx1"/>
                  </a:solidFill>
                </a:endParaRPr>
              </a:p>
            </p:txBody>
          </p:sp>
        </mc:Choice>
        <mc:Fallback xmlns="">
          <p:sp>
            <p:nvSpPr>
              <p:cNvPr id="27" name="Oval 26"/>
              <p:cNvSpPr>
                <a:spLocks noRot="1" noChangeAspect="1" noMove="1" noResize="1" noEditPoints="1" noAdjustHandles="1" noChangeArrowheads="1" noChangeShapeType="1" noTextEdit="1"/>
              </p:cNvSpPr>
              <p:nvPr/>
            </p:nvSpPr>
            <p:spPr>
              <a:xfrm>
                <a:off x="5791200" y="3182815"/>
                <a:ext cx="533400" cy="533400"/>
              </a:xfrm>
              <a:prstGeom prst="ellipse">
                <a:avLst/>
              </a:prstGeom>
              <a:blipFill>
                <a:blip r:embed="rId6"/>
                <a:stretch>
                  <a:fillRect/>
                </a:stretch>
              </a:blipFill>
              <a:ln>
                <a:solidFill>
                  <a:schemeClr val="tx1"/>
                </a:solidFill>
              </a:ln>
            </p:spPr>
            <p:txBody>
              <a:bodyPr/>
              <a:lstStyle/>
              <a:p>
                <a:r>
                  <a:rPr lang="en-GB">
                    <a:noFill/>
                  </a:rPr>
                  <a:t> </a:t>
                </a:r>
              </a:p>
            </p:txBody>
          </p:sp>
        </mc:Fallback>
      </mc:AlternateContent>
      <p:cxnSp>
        <p:nvCxnSpPr>
          <p:cNvPr id="10" name="Straight Arrow Connector 9"/>
          <p:cNvCxnSpPr>
            <a:stCxn id="8" idx="3"/>
            <a:endCxn id="22" idx="7"/>
          </p:cNvCxnSpPr>
          <p:nvPr/>
        </p:nvCxnSpPr>
        <p:spPr>
          <a:xfrm flipH="1">
            <a:off x="5408286" y="1674486"/>
            <a:ext cx="613431" cy="4610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8" idx="4"/>
            <a:endCxn id="23" idx="0"/>
          </p:cNvCxnSpPr>
          <p:nvPr/>
        </p:nvCxnSpPr>
        <p:spPr>
          <a:xfrm>
            <a:off x="6210300" y="1752600"/>
            <a:ext cx="0" cy="4572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8" idx="5"/>
            <a:endCxn id="24" idx="1"/>
          </p:cNvCxnSpPr>
          <p:nvPr/>
        </p:nvCxnSpPr>
        <p:spPr>
          <a:xfrm>
            <a:off x="6398886" y="1674486"/>
            <a:ext cx="613431" cy="4610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2" idx="3"/>
            <a:endCxn id="25" idx="7"/>
          </p:cNvCxnSpPr>
          <p:nvPr/>
        </p:nvCxnSpPr>
        <p:spPr>
          <a:xfrm flipH="1">
            <a:off x="4265286" y="2512687"/>
            <a:ext cx="765831" cy="7482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2" idx="4"/>
            <a:endCxn id="26" idx="0"/>
          </p:cNvCxnSpPr>
          <p:nvPr/>
        </p:nvCxnSpPr>
        <p:spPr>
          <a:xfrm flipH="1">
            <a:off x="5067300" y="2590802"/>
            <a:ext cx="152400" cy="7444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2" idx="5"/>
            <a:endCxn id="27" idx="1"/>
          </p:cNvCxnSpPr>
          <p:nvPr/>
        </p:nvCxnSpPr>
        <p:spPr>
          <a:xfrm>
            <a:off x="5408286" y="2512687"/>
            <a:ext cx="461031" cy="7482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25" idx="3"/>
          </p:cNvCxnSpPr>
          <p:nvPr/>
        </p:nvCxnSpPr>
        <p:spPr>
          <a:xfrm flipH="1">
            <a:off x="3309315" y="3638102"/>
            <a:ext cx="578800" cy="6017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6" idx="4"/>
          </p:cNvCxnSpPr>
          <p:nvPr/>
        </p:nvCxnSpPr>
        <p:spPr>
          <a:xfrm flipH="1">
            <a:off x="5031117" y="3868615"/>
            <a:ext cx="36185" cy="51773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27" idx="5"/>
          </p:cNvCxnSpPr>
          <p:nvPr/>
        </p:nvCxnSpPr>
        <p:spPr>
          <a:xfrm>
            <a:off x="6246487" y="3638102"/>
            <a:ext cx="459115" cy="6856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23" idx="5"/>
            <a:endCxn id="66" idx="0"/>
          </p:cNvCxnSpPr>
          <p:nvPr/>
        </p:nvCxnSpPr>
        <p:spPr>
          <a:xfrm>
            <a:off x="6398886" y="2665087"/>
            <a:ext cx="1485900" cy="53735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24" idx="6"/>
            <a:endCxn id="69" idx="0"/>
          </p:cNvCxnSpPr>
          <p:nvPr/>
        </p:nvCxnSpPr>
        <p:spPr>
          <a:xfrm>
            <a:off x="7467601" y="2324102"/>
            <a:ext cx="1459875" cy="1668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030" name="Isosceles Triangle 43029"/>
          <p:cNvSpPr/>
          <p:nvPr/>
        </p:nvSpPr>
        <p:spPr>
          <a:xfrm>
            <a:off x="2813059" y="4235832"/>
            <a:ext cx="992515" cy="1543645"/>
          </a:xfrm>
          <a:prstGeom prst="triangle">
            <a:avLst/>
          </a:prstGeom>
          <a:solidFill>
            <a:schemeClr val="bg1"/>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Isosceles Triangle 63"/>
          <p:cNvSpPr/>
          <p:nvPr/>
        </p:nvSpPr>
        <p:spPr>
          <a:xfrm>
            <a:off x="4534859" y="4355922"/>
            <a:ext cx="992515" cy="1543645"/>
          </a:xfrm>
          <a:prstGeom prst="triangle">
            <a:avLst/>
          </a:prstGeom>
          <a:solidFill>
            <a:schemeClr val="bg1"/>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p:cNvSpPr/>
          <p:nvPr/>
        </p:nvSpPr>
        <p:spPr>
          <a:xfrm>
            <a:off x="6224421" y="4307084"/>
            <a:ext cx="992515" cy="1543645"/>
          </a:xfrm>
          <a:prstGeom prst="triangle">
            <a:avLst/>
          </a:prstGeom>
          <a:solidFill>
            <a:schemeClr val="bg1"/>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Isosceles Triangle 65"/>
          <p:cNvSpPr/>
          <p:nvPr/>
        </p:nvSpPr>
        <p:spPr>
          <a:xfrm>
            <a:off x="6740829" y="3202446"/>
            <a:ext cx="2287915" cy="940981"/>
          </a:xfrm>
          <a:prstGeom prst="triangle">
            <a:avLst/>
          </a:prstGeom>
          <a:solidFill>
            <a:schemeClr val="bg1"/>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Isosceles Triangle 68"/>
          <p:cNvSpPr/>
          <p:nvPr/>
        </p:nvSpPr>
        <p:spPr>
          <a:xfrm>
            <a:off x="8409982" y="2490951"/>
            <a:ext cx="1034988" cy="940981"/>
          </a:xfrm>
          <a:prstGeom prst="triangle">
            <a:avLst/>
          </a:prstGeom>
          <a:solidFill>
            <a:schemeClr val="bg1"/>
          </a:solid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3034" name="TextBox 43033"/>
              <p:cNvSpPr txBox="1"/>
              <p:nvPr/>
            </p:nvSpPr>
            <p:spPr>
              <a:xfrm>
                <a:off x="4256033" y="2328828"/>
                <a:ext cx="477985"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m:oMathPara>
                </a14:m>
                <a:endParaRPr lang="en-US" dirty="0"/>
              </a:p>
            </p:txBody>
          </p:sp>
        </mc:Choice>
        <mc:Fallback xmlns="">
          <p:sp>
            <p:nvSpPr>
              <p:cNvPr id="43034" name="TextBox 43033"/>
              <p:cNvSpPr txBox="1">
                <a:spLocks noRot="1" noChangeAspect="1" noMove="1" noResize="1" noEditPoints="1" noAdjustHandles="1" noChangeArrowheads="1" noChangeShapeType="1" noTextEdit="1"/>
              </p:cNvSpPr>
              <p:nvPr/>
            </p:nvSpPr>
            <p:spPr>
              <a:xfrm>
                <a:off x="4256033" y="2328828"/>
                <a:ext cx="477985" cy="610936"/>
              </a:xfrm>
              <a:prstGeom prst="rect">
                <a:avLst/>
              </a:prstGeom>
              <a:blipFill>
                <a:blip r:embed="rId8"/>
                <a:stretch>
                  <a:fillRect b="-40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4678418" y="2696569"/>
                <a:ext cx="477985"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3</m:t>
                          </m:r>
                        </m:den>
                      </m:f>
                    </m:oMath>
                  </m:oMathPara>
                </a14:m>
                <a:endParaRPr lang="en-US" dirty="0"/>
              </a:p>
            </p:txBody>
          </p:sp>
        </mc:Choice>
        <mc:Fallback xmlns="">
          <p:sp>
            <p:nvSpPr>
              <p:cNvPr id="73" name="TextBox 72"/>
              <p:cNvSpPr txBox="1">
                <a:spLocks noRot="1" noChangeAspect="1" noMove="1" noResize="1" noEditPoints="1" noAdjustHandles="1" noChangeArrowheads="1" noChangeShapeType="1" noTextEdit="1"/>
              </p:cNvSpPr>
              <p:nvPr/>
            </p:nvSpPr>
            <p:spPr>
              <a:xfrm>
                <a:off x="4678418" y="2696569"/>
                <a:ext cx="477985" cy="612732"/>
              </a:xfrm>
              <a:prstGeom prst="rect">
                <a:avLst/>
              </a:prstGeom>
              <a:blipFill>
                <a:blip r:embed="rId9"/>
                <a:stretch>
                  <a:fillRect b="-40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5548118" y="2407524"/>
                <a:ext cx="477985" cy="612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oMath>
                  </m:oMathPara>
                </a14:m>
                <a:endParaRPr lang="en-US" dirty="0"/>
              </a:p>
            </p:txBody>
          </p:sp>
        </mc:Choice>
        <mc:Fallback xmlns="">
          <p:sp>
            <p:nvSpPr>
              <p:cNvPr id="74" name="TextBox 73"/>
              <p:cNvSpPr txBox="1">
                <a:spLocks noRot="1" noChangeAspect="1" noMove="1" noResize="1" noEditPoints="1" noAdjustHandles="1" noChangeArrowheads="1" noChangeShapeType="1" noTextEdit="1"/>
              </p:cNvSpPr>
              <p:nvPr/>
            </p:nvSpPr>
            <p:spPr>
              <a:xfrm>
                <a:off x="5548118" y="2407524"/>
                <a:ext cx="477985" cy="612732"/>
              </a:xfrm>
              <a:prstGeom prst="rect">
                <a:avLst/>
              </a:prstGeom>
              <a:blipFill>
                <a:blip r:embed="rId10"/>
                <a:stretch>
                  <a:fillRect b="-4082"/>
                </a:stretch>
              </a:blipFill>
            </p:spPr>
            <p:txBody>
              <a:bodyPr/>
              <a:lstStyle/>
              <a:p>
                <a:r>
                  <a:rPr lang="en-GB">
                    <a:noFill/>
                  </a:rPr>
                  <a:t> </a:t>
                </a:r>
              </a:p>
            </p:txBody>
          </p:sp>
        </mc:Fallback>
      </mc:AlternateContent>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502635" y="152402"/>
            <a:ext cx="9945234" cy="1604665"/>
          </a:xfrm>
        </p:spPr>
        <p:txBody>
          <a:bodyPr>
            <a:normAutofit/>
          </a:bodyPr>
          <a:lstStyle/>
          <a:p>
            <a:r>
              <a:rPr lang="en-US" dirty="0">
                <a:ea typeface="ＭＳ Ｐゴシック" pitchFamily="-107" charset="-128"/>
                <a:cs typeface="ＭＳ Ｐゴシック" pitchFamily="-107" charset="-128"/>
              </a:rPr>
              <a:t>Example: Coin Toss Game</a:t>
            </a:r>
            <a:br>
              <a:rPr lang="en-US" dirty="0">
                <a:ea typeface="ＭＳ Ｐゴシック" pitchFamily="-107" charset="-128"/>
                <a:cs typeface="ＭＳ Ｐゴシック" pitchFamily="-107" charset="-128"/>
              </a:rPr>
            </a:br>
            <a:r>
              <a:rPr lang="en-US" sz="2000" dirty="0">
                <a:ea typeface="ＭＳ Ｐゴシック" pitchFamily="-107" charset="-128"/>
                <a:cs typeface="ＭＳ Ｐゴシック" pitchFamily="-107" charset="-128"/>
              </a:rPr>
              <a:t>(example from Brown and </a:t>
            </a:r>
            <a:r>
              <a:rPr lang="en-US" sz="2000" dirty="0" err="1">
                <a:ea typeface="ＭＳ Ｐゴシック" pitchFamily="-107" charset="-128"/>
                <a:cs typeface="ＭＳ Ｐゴシック" pitchFamily="-107" charset="-128"/>
              </a:rPr>
              <a:t>Sandholm</a:t>
            </a:r>
            <a:r>
              <a:rPr lang="en-US" sz="2000" dirty="0">
                <a:ea typeface="ＭＳ Ｐゴシック" pitchFamily="-107" charset="-128"/>
                <a:cs typeface="ＭＳ Ｐゴシック" pitchFamily="-107" charset="-128"/>
              </a:rPr>
              <a:t> “Safe and Nested Subgame Solving for Imperfect-Information Games”, NIPS 2017)</a:t>
            </a:r>
            <a:endParaRPr lang="en-US" dirty="0">
              <a:ea typeface="ＭＳ Ｐゴシック" pitchFamily="-107" charset="-128"/>
              <a:cs typeface="ＭＳ Ｐゴシック" pitchFamily="-107" charset="-128"/>
            </a:endParaRPr>
          </a:p>
        </p:txBody>
      </p:sp>
      <mc:AlternateContent xmlns:mc="http://schemas.openxmlformats.org/markup-compatibility/2006" xmlns:a14="http://schemas.microsoft.com/office/drawing/2010/main">
        <mc:Choice Requires="a14">
          <p:sp>
            <p:nvSpPr>
              <p:cNvPr id="2" name="TextBox 1"/>
              <p:cNvSpPr txBox="1"/>
              <p:nvPr/>
            </p:nvSpPr>
            <p:spPr>
              <a:xfrm>
                <a:off x="528035" y="1748599"/>
                <a:ext cx="9945234" cy="3539430"/>
              </a:xfrm>
              <a:prstGeom prst="rect">
                <a:avLst/>
              </a:prstGeom>
              <a:noFill/>
            </p:spPr>
            <p:txBody>
              <a:bodyPr wrap="square" rtlCol="0">
                <a:spAutoFit/>
              </a:bodyPr>
              <a:lstStyle/>
              <a:p>
                <a:pPr marL="342891" indent="-342891">
                  <a:buFont typeface="Arial" charset="0"/>
                  <a:buChar char="•"/>
                </a:pPr>
                <a:r>
                  <a:rPr lang="en-US" sz="2800" dirty="0"/>
                  <a:t>An unbiased coin is tossed; MAX player sees the result, MIN player doesn’t.</a:t>
                </a:r>
              </a:p>
              <a:p>
                <a:pPr marL="342891" indent="-342891">
                  <a:buFont typeface="Arial" charset="0"/>
                  <a:buChar char="•"/>
                </a:pPr>
                <a:r>
                  <a:rPr lang="en-US" sz="2800" dirty="0"/>
                  <a:t>MAX player can choose to: </a:t>
                </a:r>
              </a:p>
              <a:p>
                <a:pPr marL="800080" lvl="1" indent="-342891">
                  <a:buFont typeface="Arial" charset="0"/>
                  <a:buChar char="•"/>
                </a:pPr>
                <a:r>
                  <a:rPr lang="en-US" sz="2800" dirty="0"/>
                  <a:t>Sell the coin, getting a reward of </a:t>
                </a:r>
                <a14:m>
                  <m:oMath xmlns:m="http://schemas.openxmlformats.org/officeDocument/2006/math">
                    <m:r>
                      <a:rPr lang="en-US" sz="2800" i="1">
                        <a:latin typeface="Cambria Math" charset="0"/>
                      </a:rPr>
                      <m:t>𝑟</m:t>
                    </m:r>
                  </m:oMath>
                </a14:m>
                <a:r>
                  <a:rPr lang="en-US" sz="2800" dirty="0"/>
                  <a:t>, if the coin lands on heads and </a:t>
                </a:r>
                <a14:m>
                  <m:oMath xmlns:m="http://schemas.openxmlformats.org/officeDocument/2006/math">
                    <m:r>
                      <a:rPr lang="en-US" sz="2800">
                        <a:latin typeface="Cambria Math" charset="0"/>
                      </a:rPr>
                      <m:t>−</m:t>
                    </m:r>
                    <m:r>
                      <a:rPr lang="en-US" sz="2800" i="1">
                        <a:latin typeface="Cambria Math" charset="0"/>
                      </a:rPr>
                      <m:t>𝑟</m:t>
                    </m:r>
                  </m:oMath>
                </a14:m>
                <a:r>
                  <a:rPr lang="en-US" sz="2800" dirty="0"/>
                  <a:t> otherwise.</a:t>
                </a:r>
              </a:p>
              <a:p>
                <a:pPr marL="800080" lvl="1" indent="-342891">
                  <a:buFont typeface="Arial" charset="0"/>
                  <a:buChar char="•"/>
                </a:pPr>
                <a:r>
                  <a:rPr lang="en-US" sz="2800" dirty="0"/>
                  <a:t>Play, in which case it’s player MIN’s turn. </a:t>
                </a:r>
              </a:p>
              <a:p>
                <a:pPr marL="342891" indent="-342891">
                  <a:buFont typeface="Arial" charset="0"/>
                  <a:buChar char="•"/>
                </a:pPr>
                <a:r>
                  <a:rPr lang="en-US" sz="2800" dirty="0"/>
                  <a:t>In player MIN’s turn, needs to guess either “heads” or “tails”. Gets reward of 1 for correct guess. </a:t>
                </a:r>
              </a:p>
            </p:txBody>
          </p:sp>
        </mc:Choice>
        <mc:Fallback xmlns="">
          <p:sp>
            <p:nvSpPr>
              <p:cNvPr id="2" name="TextBox 1"/>
              <p:cNvSpPr txBox="1">
                <a:spLocks noRot="1" noChangeAspect="1" noMove="1" noResize="1" noEditPoints="1" noAdjustHandles="1" noChangeArrowheads="1" noChangeShapeType="1" noTextEdit="1"/>
              </p:cNvSpPr>
              <p:nvPr/>
            </p:nvSpPr>
            <p:spPr>
              <a:xfrm>
                <a:off x="528035" y="1748599"/>
                <a:ext cx="9945234" cy="3539430"/>
              </a:xfrm>
              <a:prstGeom prst="rect">
                <a:avLst/>
              </a:prstGeom>
              <a:blipFill>
                <a:blip r:embed="rId3"/>
                <a:stretch>
                  <a:fillRect l="-1020" t="-1786" b="-3571"/>
                </a:stretch>
              </a:blipFill>
            </p:spPr>
            <p:txBody>
              <a:bodyPr/>
              <a:lstStyle/>
              <a:p>
                <a:r>
                  <a:rPr lang="en-GB">
                    <a:noFill/>
                  </a:rPr>
                  <a:t> </a:t>
                </a:r>
              </a:p>
            </p:txBody>
          </p:sp>
        </mc:Fallback>
      </mc:AlternateContent>
    </p:spTree>
    <p:extLst>
      <p:ext uri="{BB962C8B-B14F-4D97-AF65-F5344CB8AC3E}">
        <p14:creationId xmlns:p14="http://schemas.microsoft.com/office/powerpoint/2010/main" val="187278412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618187" y="152402"/>
            <a:ext cx="9829682" cy="1604665"/>
          </a:xfrm>
        </p:spPr>
        <p:txBody>
          <a:bodyPr>
            <a:normAutofit/>
          </a:bodyPr>
          <a:lstStyle/>
          <a:p>
            <a:r>
              <a:rPr lang="en-US" dirty="0">
                <a:ea typeface="ＭＳ Ｐゴシック" pitchFamily="-107" charset="-128"/>
                <a:cs typeface="ＭＳ Ｐゴシック" pitchFamily="-107" charset="-128"/>
              </a:rPr>
              <a:t>Example: Coin Toss Game</a:t>
            </a:r>
            <a:br>
              <a:rPr lang="en-US" dirty="0">
                <a:ea typeface="ＭＳ Ｐゴシック" pitchFamily="-107" charset="-128"/>
                <a:cs typeface="ＭＳ Ｐゴシック" pitchFamily="-107" charset="-128"/>
              </a:rPr>
            </a:br>
            <a:r>
              <a:rPr lang="en-US" sz="2000" dirty="0">
                <a:ea typeface="ＭＳ Ｐゴシック" pitchFamily="-107" charset="-128"/>
                <a:cs typeface="ＭＳ Ｐゴシック" pitchFamily="-107" charset="-128"/>
              </a:rPr>
              <a:t>(example from Brown and </a:t>
            </a:r>
            <a:r>
              <a:rPr lang="en-US" sz="2000" dirty="0" err="1">
                <a:ea typeface="ＭＳ Ｐゴシック" pitchFamily="-107" charset="-128"/>
                <a:cs typeface="ＭＳ Ｐゴシック" pitchFamily="-107" charset="-128"/>
              </a:rPr>
              <a:t>Sandholm</a:t>
            </a:r>
            <a:r>
              <a:rPr lang="en-US" sz="2000" dirty="0">
                <a:ea typeface="ＭＳ Ｐゴシック" pitchFamily="-107" charset="-128"/>
                <a:cs typeface="ＭＳ Ｐゴシック" pitchFamily="-107" charset="-128"/>
              </a:rPr>
              <a:t> “Safe and Nested Subgame Solving for Imperfect-Information Games”, NIPS 2017)</a:t>
            </a:r>
            <a:endParaRPr lang="en-US" dirty="0">
              <a:ea typeface="ＭＳ Ｐゴシック" pitchFamily="-107" charset="-128"/>
              <a:cs typeface="ＭＳ Ｐゴシック" pitchFamily="-107" charset="-128"/>
            </a:endParaRPr>
          </a:p>
        </p:txBody>
      </p:sp>
      <mc:AlternateContent xmlns:mc="http://schemas.openxmlformats.org/markup-compatibility/2006" xmlns:a14="http://schemas.microsoft.com/office/drawing/2010/main">
        <mc:Choice Requires="a14">
          <p:sp>
            <p:nvSpPr>
              <p:cNvPr id="3" name="Oval 2"/>
              <p:cNvSpPr/>
              <p:nvPr/>
            </p:nvSpPr>
            <p:spPr>
              <a:xfrm>
                <a:off x="5638800" y="1828800"/>
                <a:ext cx="990600" cy="990600"/>
              </a:xfrm>
              <a:prstGeom prst="ellipse">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𝑁</m:t>
                      </m:r>
                    </m:oMath>
                  </m:oMathPara>
                </a14:m>
                <a:endParaRPr lang="en-US" b="0" dirty="0">
                  <a:solidFill>
                    <a:schemeClr val="tx1"/>
                  </a:solidFill>
                </a:endParaRPr>
              </a:p>
            </p:txBody>
          </p:sp>
        </mc:Choice>
        <mc:Fallback xmlns="">
          <p:sp>
            <p:nvSpPr>
              <p:cNvPr id="3" name="Oval 2"/>
              <p:cNvSpPr>
                <a:spLocks noRot="1" noChangeAspect="1" noMove="1" noResize="1" noEditPoints="1" noAdjustHandles="1" noChangeArrowheads="1" noChangeShapeType="1" noTextEdit="1"/>
              </p:cNvSpPr>
              <p:nvPr/>
            </p:nvSpPr>
            <p:spPr>
              <a:xfrm>
                <a:off x="5638800" y="1828800"/>
                <a:ext cx="990600" cy="990600"/>
              </a:xfrm>
              <a:prstGeom prst="ellipse">
                <a:avLst/>
              </a:prstGeom>
              <a:blipFill>
                <a:blip r:embed="rId3"/>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Oval 4"/>
              <p:cNvSpPr/>
              <p:nvPr/>
            </p:nvSpPr>
            <p:spPr>
              <a:xfrm>
                <a:off x="3588731" y="3200400"/>
                <a:ext cx="990600" cy="990600"/>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𝑀𝐴𝑋</m:t>
                      </m:r>
                    </m:oMath>
                  </m:oMathPara>
                </a14:m>
                <a:endParaRPr lang="en-US" b="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588731" y="3200400"/>
                <a:ext cx="990600" cy="990600"/>
              </a:xfrm>
              <a:prstGeom prst="ellipse">
                <a:avLst/>
              </a:prstGeom>
              <a:blipFill>
                <a:blip r:embed="rId4"/>
                <a:stretch>
                  <a:fillRect/>
                </a:stretch>
              </a:blipFill>
              <a:ln>
                <a:solidFill>
                  <a:schemeClr val="tx1"/>
                </a:solidFill>
              </a:ln>
            </p:spPr>
            <p:txBody>
              <a:bodyPr/>
              <a:lstStyle/>
              <a:p>
                <a:r>
                  <a:rPr lang="en-GB">
                    <a:noFill/>
                  </a:rPr>
                  <a:t> </a:t>
                </a:r>
              </a:p>
            </p:txBody>
          </p:sp>
        </mc:Fallback>
      </mc:AlternateContent>
      <p:cxnSp>
        <p:nvCxnSpPr>
          <p:cNvPr id="6" name="Straight Arrow Connector 5"/>
          <p:cNvCxnSpPr>
            <a:stCxn id="3" idx="3"/>
            <a:endCxn id="5" idx="0"/>
          </p:cNvCxnSpPr>
          <p:nvPr/>
        </p:nvCxnSpPr>
        <p:spPr>
          <a:xfrm flipH="1">
            <a:off x="4084034" y="2674330"/>
            <a:ext cx="1699839" cy="5260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3" idx="5"/>
            <a:endCxn id="41" idx="0"/>
          </p:cNvCxnSpPr>
          <p:nvPr/>
        </p:nvCxnSpPr>
        <p:spPr>
          <a:xfrm>
            <a:off x="6484333" y="2674331"/>
            <a:ext cx="1651001" cy="5108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p:cNvSpPr txBox="1"/>
              <p:nvPr/>
            </p:nvSpPr>
            <p:spPr>
              <a:xfrm>
                <a:off x="3028949" y="2443119"/>
                <a:ext cx="2362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𝐻𝑒𝑎𝑑𝑠</m:t>
                      </m:r>
                      <m:r>
                        <a:rPr lang="en-US" b="0" i="1" smtClean="0">
                          <a:latin typeface="Cambria Math" charset="0"/>
                        </a:rPr>
                        <m:t> </m:t>
                      </m:r>
                      <m:d>
                        <m:dPr>
                          <m:ctrlPr>
                            <a:rPr lang="en-US" b="0" i="1" smtClean="0">
                              <a:latin typeface="Cambria Math" panose="02040503050406030204" pitchFamily="18" charset="0"/>
                            </a:rPr>
                          </m:ctrlPr>
                        </m:dPr>
                        <m:e>
                          <m:r>
                            <a:rPr lang="en-US" b="0" i="1" smtClean="0">
                              <a:latin typeface="Cambria Math" charset="0"/>
                            </a:rPr>
                            <m:t>𝑝</m:t>
                          </m:r>
                          <m:r>
                            <a:rPr lang="en-US" b="0" i="1" smtClean="0">
                              <a:latin typeface="Cambria Math" charset="0"/>
                            </a:rPr>
                            <m:t>=0.5</m:t>
                          </m:r>
                        </m:e>
                      </m:d>
                    </m:oMath>
                  </m:oMathPara>
                </a14:m>
                <a:endParaRPr lang="en-US" b="0" dirty="0"/>
              </a:p>
            </p:txBody>
          </p:sp>
        </mc:Choice>
        <mc:Fallback xmlns="">
          <p:sp>
            <p:nvSpPr>
              <p:cNvPr id="14" name="TextBox 13"/>
              <p:cNvSpPr txBox="1">
                <a:spLocks noRot="1" noChangeAspect="1" noMove="1" noResize="1" noEditPoints="1" noAdjustHandles="1" noChangeArrowheads="1" noChangeShapeType="1" noTextEdit="1"/>
              </p:cNvSpPr>
              <p:nvPr/>
            </p:nvSpPr>
            <p:spPr>
              <a:xfrm>
                <a:off x="3028949" y="2443119"/>
                <a:ext cx="2362200" cy="369332"/>
              </a:xfrm>
              <a:prstGeom prst="rect">
                <a:avLst/>
              </a:prstGeom>
              <a:blipFill>
                <a:blip r:embed="rId5"/>
                <a:stretch>
                  <a:fillRect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6877051" y="2457943"/>
                <a:ext cx="2362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𝑇𝑎𝑖𝑙𝑠</m:t>
                      </m:r>
                      <m:r>
                        <a:rPr lang="en-US" b="0" i="1" smtClean="0">
                          <a:latin typeface="Cambria Math" charset="0"/>
                        </a:rPr>
                        <m:t> </m:t>
                      </m:r>
                      <m:d>
                        <m:dPr>
                          <m:ctrlPr>
                            <a:rPr lang="en-US" b="0" i="1" smtClean="0">
                              <a:latin typeface="Cambria Math" panose="02040503050406030204" pitchFamily="18" charset="0"/>
                            </a:rPr>
                          </m:ctrlPr>
                        </m:dPr>
                        <m:e>
                          <m:r>
                            <a:rPr lang="en-US" b="0" i="1" smtClean="0">
                              <a:latin typeface="Cambria Math" charset="0"/>
                            </a:rPr>
                            <m:t>𝑝</m:t>
                          </m:r>
                          <m:r>
                            <a:rPr lang="en-US" b="0" i="1" smtClean="0">
                              <a:latin typeface="Cambria Math" charset="0"/>
                            </a:rPr>
                            <m:t>=0.5</m:t>
                          </m:r>
                        </m:e>
                      </m:d>
                    </m:oMath>
                  </m:oMathPara>
                </a14:m>
                <a:endParaRPr lang="en-US" b="0" dirty="0"/>
              </a:p>
            </p:txBody>
          </p:sp>
        </mc:Choice>
        <mc:Fallback xmlns="">
          <p:sp>
            <p:nvSpPr>
              <p:cNvPr id="16" name="TextBox 15"/>
              <p:cNvSpPr txBox="1">
                <a:spLocks noRot="1" noChangeAspect="1" noMove="1" noResize="1" noEditPoints="1" noAdjustHandles="1" noChangeArrowheads="1" noChangeShapeType="1" noTextEdit="1"/>
              </p:cNvSpPr>
              <p:nvPr/>
            </p:nvSpPr>
            <p:spPr>
              <a:xfrm>
                <a:off x="6877051" y="2457943"/>
                <a:ext cx="2362200" cy="369332"/>
              </a:xfrm>
              <a:prstGeom prst="rect">
                <a:avLst/>
              </a:prstGeom>
              <a:blipFill>
                <a:blip r:embed="rId6"/>
                <a:stretch>
                  <a:fillRect b="-20000"/>
                </a:stretch>
              </a:blipFill>
            </p:spPr>
            <p:txBody>
              <a:bodyPr/>
              <a:lstStyle/>
              <a:p>
                <a:r>
                  <a:rPr lang="en-GB">
                    <a:noFill/>
                  </a:rPr>
                  <a:t> </a:t>
                </a:r>
              </a:p>
            </p:txBody>
          </p:sp>
        </mc:Fallback>
      </mc:AlternateContent>
      <p:cxnSp>
        <p:nvCxnSpPr>
          <p:cNvPr id="18" name="Straight Arrow Connector 17"/>
          <p:cNvCxnSpPr>
            <a:stCxn id="5" idx="3"/>
            <a:endCxn id="34" idx="0"/>
          </p:cNvCxnSpPr>
          <p:nvPr/>
        </p:nvCxnSpPr>
        <p:spPr>
          <a:xfrm flipH="1">
            <a:off x="2902931" y="4045931"/>
            <a:ext cx="830871" cy="6965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514601" y="4034136"/>
            <a:ext cx="925395" cy="369332"/>
          </a:xfrm>
          <a:prstGeom prst="rect">
            <a:avLst/>
          </a:prstGeom>
          <a:noFill/>
        </p:spPr>
        <p:txBody>
          <a:bodyPr wrap="square" rtlCol="0">
            <a:spAutoFit/>
          </a:bodyPr>
          <a:lstStyle/>
          <a:p>
            <a:r>
              <a:rPr lang="en-US" b="0"/>
              <a:t>Sell</a:t>
            </a:r>
            <a:endParaRPr lang="en-US" b="0" dirty="0"/>
          </a:p>
        </p:txBody>
      </p:sp>
      <p:cxnSp>
        <p:nvCxnSpPr>
          <p:cNvPr id="23" name="Straight Arrow Connector 22"/>
          <p:cNvCxnSpPr>
            <a:stCxn id="5" idx="5"/>
            <a:endCxn id="27" idx="0"/>
          </p:cNvCxnSpPr>
          <p:nvPr/>
        </p:nvCxnSpPr>
        <p:spPr>
          <a:xfrm>
            <a:off x="4434261" y="4045930"/>
            <a:ext cx="488539" cy="5260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697865" y="3997468"/>
            <a:ext cx="925395" cy="369332"/>
          </a:xfrm>
          <a:prstGeom prst="rect">
            <a:avLst/>
          </a:prstGeom>
          <a:noFill/>
        </p:spPr>
        <p:txBody>
          <a:bodyPr wrap="square" rtlCol="0">
            <a:spAutoFit/>
          </a:bodyPr>
          <a:lstStyle/>
          <a:p>
            <a:r>
              <a:rPr lang="en-US" b="0" dirty="0"/>
              <a:t>Play</a:t>
            </a:r>
          </a:p>
        </p:txBody>
      </p:sp>
      <mc:AlternateContent xmlns:mc="http://schemas.openxmlformats.org/markup-compatibility/2006" xmlns:a14="http://schemas.microsoft.com/office/drawing/2010/main">
        <mc:Choice Requires="a14">
          <p:sp>
            <p:nvSpPr>
              <p:cNvPr id="27" name="Oval 26"/>
              <p:cNvSpPr/>
              <p:nvPr/>
            </p:nvSpPr>
            <p:spPr>
              <a:xfrm>
                <a:off x="4427499" y="4572000"/>
                <a:ext cx="990600" cy="9906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𝑀𝐼𝑁</m:t>
                      </m:r>
                    </m:oMath>
                  </m:oMathPara>
                </a14:m>
                <a:endParaRPr lang="en-US" b="0" dirty="0">
                  <a:solidFill>
                    <a:schemeClr val="tx1"/>
                  </a:solidFill>
                </a:endParaRPr>
              </a:p>
            </p:txBody>
          </p:sp>
        </mc:Choice>
        <mc:Fallback xmlns="">
          <p:sp>
            <p:nvSpPr>
              <p:cNvPr id="27" name="Oval 26"/>
              <p:cNvSpPr>
                <a:spLocks noRot="1" noChangeAspect="1" noMove="1" noResize="1" noEditPoints="1" noAdjustHandles="1" noChangeArrowheads="1" noChangeShapeType="1" noTextEdit="1"/>
              </p:cNvSpPr>
              <p:nvPr/>
            </p:nvSpPr>
            <p:spPr>
              <a:xfrm>
                <a:off x="4427499" y="4572000"/>
                <a:ext cx="990600" cy="990600"/>
              </a:xfrm>
              <a:prstGeom prst="ellipse">
                <a:avLst/>
              </a:prstGeom>
              <a:blipFill>
                <a:blip r:embed="rId7"/>
                <a:stretch>
                  <a:fillRect/>
                </a:stretch>
              </a:blipFill>
              <a:ln>
                <a:solidFill>
                  <a:schemeClr val="tx1"/>
                </a:solidFill>
              </a:ln>
            </p:spPr>
            <p:txBody>
              <a:bodyPr/>
              <a:lstStyle/>
              <a:p>
                <a:r>
                  <a:rPr lang="en-GB">
                    <a:noFill/>
                  </a:rPr>
                  <a:t> </a:t>
                </a:r>
              </a:p>
            </p:txBody>
          </p:sp>
        </mc:Fallback>
      </mc:AlternateContent>
      <p:cxnSp>
        <p:nvCxnSpPr>
          <p:cNvPr id="29" name="Straight Arrow Connector 28"/>
          <p:cNvCxnSpPr>
            <a:stCxn id="27" idx="3"/>
          </p:cNvCxnSpPr>
          <p:nvPr/>
        </p:nvCxnSpPr>
        <p:spPr>
          <a:xfrm flipH="1">
            <a:off x="3911858" y="5417529"/>
            <a:ext cx="660713" cy="7371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352801" y="5361107"/>
            <a:ext cx="925395" cy="369332"/>
          </a:xfrm>
          <a:prstGeom prst="rect">
            <a:avLst/>
          </a:prstGeom>
          <a:noFill/>
        </p:spPr>
        <p:txBody>
          <a:bodyPr wrap="square" rtlCol="0">
            <a:spAutoFit/>
          </a:bodyPr>
          <a:lstStyle/>
          <a:p>
            <a:r>
              <a:rPr lang="en-US" b="0" dirty="0"/>
              <a:t>Tails</a:t>
            </a:r>
          </a:p>
        </p:txBody>
      </p:sp>
      <p:cxnSp>
        <p:nvCxnSpPr>
          <p:cNvPr id="31" name="Straight Arrow Connector 30"/>
          <p:cNvCxnSpPr>
            <a:stCxn id="27" idx="5"/>
          </p:cNvCxnSpPr>
          <p:nvPr/>
        </p:nvCxnSpPr>
        <p:spPr>
          <a:xfrm>
            <a:off x="5273031" y="5417529"/>
            <a:ext cx="623309" cy="7371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499230" y="5324439"/>
            <a:ext cx="1134975" cy="369332"/>
          </a:xfrm>
          <a:prstGeom prst="rect">
            <a:avLst/>
          </a:prstGeom>
          <a:noFill/>
        </p:spPr>
        <p:txBody>
          <a:bodyPr wrap="square" rtlCol="0">
            <a:spAutoFit/>
          </a:bodyPr>
          <a:lstStyle/>
          <a:p>
            <a:r>
              <a:rPr lang="en-US" b="0"/>
              <a:t>Heads</a:t>
            </a:r>
            <a:endParaRPr lang="en-US" b="0" dirty="0"/>
          </a:p>
        </p:txBody>
      </p:sp>
      <mc:AlternateContent xmlns:mc="http://schemas.openxmlformats.org/markup-compatibility/2006" xmlns:a14="http://schemas.microsoft.com/office/drawing/2010/main">
        <mc:Choice Requires="a14">
          <p:sp>
            <p:nvSpPr>
              <p:cNvPr id="34" name="Triangle 33"/>
              <p:cNvSpPr/>
              <p:nvPr/>
            </p:nvSpPr>
            <p:spPr>
              <a:xfrm>
                <a:off x="2365867" y="4742471"/>
                <a:ext cx="1074131" cy="14478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𝑟</m:t>
                      </m:r>
                    </m:oMath>
                  </m:oMathPara>
                </a14:m>
                <a:endParaRPr lang="en-US" b="0" dirty="0">
                  <a:solidFill>
                    <a:schemeClr val="tx1"/>
                  </a:solidFill>
                </a:endParaRPr>
              </a:p>
            </p:txBody>
          </p:sp>
        </mc:Choice>
        <mc:Fallback xmlns="">
          <p:sp>
            <p:nvSpPr>
              <p:cNvPr id="34" name="Triangle 33"/>
              <p:cNvSpPr>
                <a:spLocks noRot="1" noChangeAspect="1" noMove="1" noResize="1" noEditPoints="1" noAdjustHandles="1" noChangeArrowheads="1" noChangeShapeType="1" noTextEdit="1"/>
              </p:cNvSpPr>
              <p:nvPr/>
            </p:nvSpPr>
            <p:spPr>
              <a:xfrm>
                <a:off x="2365867" y="4742471"/>
                <a:ext cx="1074131" cy="1447800"/>
              </a:xfrm>
              <a:prstGeom prst="triangle">
                <a:avLst/>
              </a:prstGeom>
              <a:blipFill>
                <a:blip r:embed="rId8"/>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3478095" y="6190271"/>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−1</m:t>
                      </m:r>
                    </m:oMath>
                  </m:oMathPara>
                </a14:m>
                <a:endParaRPr lang="en-US" b="0" dirty="0"/>
              </a:p>
            </p:txBody>
          </p:sp>
        </mc:Choice>
        <mc:Fallback xmlns="">
          <p:sp>
            <p:nvSpPr>
              <p:cNvPr id="37" name="TextBox 36"/>
              <p:cNvSpPr txBox="1">
                <a:spLocks noRot="1" noChangeAspect="1" noMove="1" noResize="1" noEditPoints="1" noAdjustHandles="1" noChangeArrowheads="1" noChangeShapeType="1" noTextEdit="1"/>
              </p:cNvSpPr>
              <p:nvPr/>
            </p:nvSpPr>
            <p:spPr>
              <a:xfrm>
                <a:off x="3478095" y="6190271"/>
                <a:ext cx="800100"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466626" y="6154677"/>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1</m:t>
                      </m:r>
                    </m:oMath>
                  </m:oMathPara>
                </a14:m>
                <a:endParaRPr lang="en-US" b="0" dirty="0"/>
              </a:p>
            </p:txBody>
          </p:sp>
        </mc:Choice>
        <mc:Fallback xmlns="">
          <p:sp>
            <p:nvSpPr>
              <p:cNvPr id="39" name="TextBox 38"/>
              <p:cNvSpPr txBox="1">
                <a:spLocks noRot="1" noChangeAspect="1" noMove="1" noResize="1" noEditPoints="1" noAdjustHandles="1" noChangeArrowheads="1" noChangeShapeType="1" noTextEdit="1"/>
              </p:cNvSpPr>
              <p:nvPr/>
            </p:nvSpPr>
            <p:spPr>
              <a:xfrm>
                <a:off x="5466626" y="6154677"/>
                <a:ext cx="800100" cy="36933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Oval 40"/>
              <p:cNvSpPr/>
              <p:nvPr/>
            </p:nvSpPr>
            <p:spPr>
              <a:xfrm>
                <a:off x="7640031" y="3185195"/>
                <a:ext cx="990600" cy="990600"/>
              </a:xfrm>
              <a:prstGeom prst="ellipse">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𝑀𝐴𝑋</m:t>
                      </m:r>
                    </m:oMath>
                  </m:oMathPara>
                </a14:m>
                <a:endParaRPr lang="en-US" b="0" dirty="0">
                  <a:solidFill>
                    <a:schemeClr val="tx1"/>
                  </a:solidFill>
                </a:endParaRPr>
              </a:p>
            </p:txBody>
          </p:sp>
        </mc:Choice>
        <mc:Fallback xmlns="">
          <p:sp>
            <p:nvSpPr>
              <p:cNvPr id="41" name="Oval 40"/>
              <p:cNvSpPr>
                <a:spLocks noRot="1" noChangeAspect="1" noMove="1" noResize="1" noEditPoints="1" noAdjustHandles="1" noChangeArrowheads="1" noChangeShapeType="1" noTextEdit="1"/>
              </p:cNvSpPr>
              <p:nvPr/>
            </p:nvSpPr>
            <p:spPr>
              <a:xfrm>
                <a:off x="7640031" y="3185195"/>
                <a:ext cx="990600" cy="990600"/>
              </a:xfrm>
              <a:prstGeom prst="ellipse">
                <a:avLst/>
              </a:prstGeom>
              <a:blipFill>
                <a:blip r:embed="rId11"/>
                <a:stretch>
                  <a:fillRect/>
                </a:stretch>
              </a:blipFill>
              <a:ln>
                <a:solidFill>
                  <a:schemeClr val="tx1"/>
                </a:solidFill>
              </a:ln>
            </p:spPr>
            <p:txBody>
              <a:bodyPr/>
              <a:lstStyle/>
              <a:p>
                <a:r>
                  <a:rPr lang="en-GB">
                    <a:noFill/>
                  </a:rPr>
                  <a:t> </a:t>
                </a:r>
              </a:p>
            </p:txBody>
          </p:sp>
        </mc:Fallback>
      </mc:AlternateContent>
      <p:cxnSp>
        <p:nvCxnSpPr>
          <p:cNvPr id="42" name="Straight Arrow Connector 41"/>
          <p:cNvCxnSpPr>
            <a:stCxn id="41" idx="3"/>
            <a:endCxn id="51" idx="0"/>
          </p:cNvCxnSpPr>
          <p:nvPr/>
        </p:nvCxnSpPr>
        <p:spPr>
          <a:xfrm flipH="1">
            <a:off x="6954231" y="4030725"/>
            <a:ext cx="830871" cy="69654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6565901" y="4018931"/>
            <a:ext cx="925395" cy="369332"/>
          </a:xfrm>
          <a:prstGeom prst="rect">
            <a:avLst/>
          </a:prstGeom>
          <a:noFill/>
        </p:spPr>
        <p:txBody>
          <a:bodyPr wrap="square" rtlCol="0">
            <a:spAutoFit/>
          </a:bodyPr>
          <a:lstStyle/>
          <a:p>
            <a:r>
              <a:rPr lang="en-US" b="0"/>
              <a:t>Sell</a:t>
            </a:r>
            <a:endParaRPr lang="en-US" b="0" dirty="0"/>
          </a:p>
        </p:txBody>
      </p:sp>
      <p:cxnSp>
        <p:nvCxnSpPr>
          <p:cNvPr id="44" name="Straight Arrow Connector 43"/>
          <p:cNvCxnSpPr>
            <a:stCxn id="41" idx="5"/>
            <a:endCxn id="46" idx="0"/>
          </p:cNvCxnSpPr>
          <p:nvPr/>
        </p:nvCxnSpPr>
        <p:spPr>
          <a:xfrm>
            <a:off x="8485561" y="4030725"/>
            <a:ext cx="488539" cy="5260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8749165" y="3982263"/>
            <a:ext cx="925395" cy="369332"/>
          </a:xfrm>
          <a:prstGeom prst="rect">
            <a:avLst/>
          </a:prstGeom>
          <a:noFill/>
        </p:spPr>
        <p:txBody>
          <a:bodyPr wrap="square" rtlCol="0">
            <a:spAutoFit/>
          </a:bodyPr>
          <a:lstStyle/>
          <a:p>
            <a:r>
              <a:rPr lang="en-US" b="0" dirty="0"/>
              <a:t>Play</a:t>
            </a:r>
          </a:p>
        </p:txBody>
      </p:sp>
      <mc:AlternateContent xmlns:mc="http://schemas.openxmlformats.org/markup-compatibility/2006" xmlns:a14="http://schemas.microsoft.com/office/drawing/2010/main">
        <mc:Choice Requires="a14">
          <p:sp>
            <p:nvSpPr>
              <p:cNvPr id="46" name="Oval 45"/>
              <p:cNvSpPr/>
              <p:nvPr/>
            </p:nvSpPr>
            <p:spPr>
              <a:xfrm>
                <a:off x="8478799" y="4556795"/>
                <a:ext cx="990600" cy="990600"/>
              </a:xfrm>
              <a:prstGeom prst="ellipse">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𝑀𝐼𝑁</m:t>
                      </m:r>
                    </m:oMath>
                  </m:oMathPara>
                </a14:m>
                <a:endParaRPr lang="en-US" b="0" dirty="0">
                  <a:solidFill>
                    <a:schemeClr val="tx1"/>
                  </a:solidFill>
                </a:endParaRPr>
              </a:p>
            </p:txBody>
          </p:sp>
        </mc:Choice>
        <mc:Fallback xmlns="">
          <p:sp>
            <p:nvSpPr>
              <p:cNvPr id="46" name="Oval 45"/>
              <p:cNvSpPr>
                <a:spLocks noRot="1" noChangeAspect="1" noMove="1" noResize="1" noEditPoints="1" noAdjustHandles="1" noChangeArrowheads="1" noChangeShapeType="1" noTextEdit="1"/>
              </p:cNvSpPr>
              <p:nvPr/>
            </p:nvSpPr>
            <p:spPr>
              <a:xfrm>
                <a:off x="8478799" y="4556795"/>
                <a:ext cx="990600" cy="990600"/>
              </a:xfrm>
              <a:prstGeom prst="ellipse">
                <a:avLst/>
              </a:prstGeom>
              <a:blipFill>
                <a:blip r:embed="rId12"/>
                <a:stretch>
                  <a:fillRect/>
                </a:stretch>
              </a:blipFill>
              <a:ln>
                <a:solidFill>
                  <a:schemeClr val="tx1"/>
                </a:solidFill>
              </a:ln>
            </p:spPr>
            <p:txBody>
              <a:bodyPr/>
              <a:lstStyle/>
              <a:p>
                <a:r>
                  <a:rPr lang="en-GB">
                    <a:noFill/>
                  </a:rPr>
                  <a:t> </a:t>
                </a:r>
              </a:p>
            </p:txBody>
          </p:sp>
        </mc:Fallback>
      </mc:AlternateContent>
      <p:cxnSp>
        <p:nvCxnSpPr>
          <p:cNvPr id="47" name="Straight Arrow Connector 46"/>
          <p:cNvCxnSpPr>
            <a:stCxn id="46" idx="3"/>
          </p:cNvCxnSpPr>
          <p:nvPr/>
        </p:nvCxnSpPr>
        <p:spPr>
          <a:xfrm flipH="1">
            <a:off x="7963158" y="5402324"/>
            <a:ext cx="660713" cy="7371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7404101" y="5345901"/>
            <a:ext cx="925395" cy="369332"/>
          </a:xfrm>
          <a:prstGeom prst="rect">
            <a:avLst/>
          </a:prstGeom>
          <a:noFill/>
        </p:spPr>
        <p:txBody>
          <a:bodyPr wrap="square" rtlCol="0">
            <a:spAutoFit/>
          </a:bodyPr>
          <a:lstStyle/>
          <a:p>
            <a:r>
              <a:rPr lang="en-US" b="0" dirty="0"/>
              <a:t>Tails</a:t>
            </a:r>
          </a:p>
        </p:txBody>
      </p:sp>
      <p:cxnSp>
        <p:nvCxnSpPr>
          <p:cNvPr id="49" name="Straight Arrow Connector 48"/>
          <p:cNvCxnSpPr>
            <a:stCxn id="46" idx="5"/>
          </p:cNvCxnSpPr>
          <p:nvPr/>
        </p:nvCxnSpPr>
        <p:spPr>
          <a:xfrm>
            <a:off x="9324331" y="5402324"/>
            <a:ext cx="623309" cy="73714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9550530" y="5309233"/>
            <a:ext cx="1134975" cy="369332"/>
          </a:xfrm>
          <a:prstGeom prst="rect">
            <a:avLst/>
          </a:prstGeom>
          <a:noFill/>
        </p:spPr>
        <p:txBody>
          <a:bodyPr wrap="square" rtlCol="0">
            <a:spAutoFit/>
          </a:bodyPr>
          <a:lstStyle/>
          <a:p>
            <a:r>
              <a:rPr lang="en-US" b="0"/>
              <a:t>Heads</a:t>
            </a:r>
            <a:endParaRPr lang="en-US" b="0" dirty="0"/>
          </a:p>
        </p:txBody>
      </p:sp>
      <mc:AlternateContent xmlns:mc="http://schemas.openxmlformats.org/markup-compatibility/2006" xmlns:a14="http://schemas.microsoft.com/office/drawing/2010/main">
        <mc:Choice Requires="a14">
          <p:sp>
            <p:nvSpPr>
              <p:cNvPr id="51" name="Triangle 50"/>
              <p:cNvSpPr/>
              <p:nvPr/>
            </p:nvSpPr>
            <p:spPr>
              <a:xfrm>
                <a:off x="6417167" y="4727264"/>
                <a:ext cx="1074131" cy="14478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charset="0"/>
                        </a:rPr>
                        <m:t>−</m:t>
                      </m:r>
                      <m:r>
                        <a:rPr lang="en-US" b="0" i="1" smtClean="0">
                          <a:solidFill>
                            <a:schemeClr val="tx1"/>
                          </a:solidFill>
                          <a:latin typeface="Cambria Math" charset="0"/>
                        </a:rPr>
                        <m:t>𝑟</m:t>
                      </m:r>
                    </m:oMath>
                  </m:oMathPara>
                </a14:m>
                <a:endParaRPr lang="en-US" b="0" dirty="0">
                  <a:solidFill>
                    <a:schemeClr val="tx1"/>
                  </a:solidFill>
                </a:endParaRPr>
              </a:p>
            </p:txBody>
          </p:sp>
        </mc:Choice>
        <mc:Fallback xmlns="">
          <p:sp>
            <p:nvSpPr>
              <p:cNvPr id="51" name="Triangle 50"/>
              <p:cNvSpPr>
                <a:spLocks noRot="1" noChangeAspect="1" noMove="1" noResize="1" noEditPoints="1" noAdjustHandles="1" noChangeArrowheads="1" noChangeShapeType="1" noTextEdit="1"/>
              </p:cNvSpPr>
              <p:nvPr/>
            </p:nvSpPr>
            <p:spPr>
              <a:xfrm>
                <a:off x="6417167" y="4727264"/>
                <a:ext cx="1074131" cy="1447800"/>
              </a:xfrm>
              <a:prstGeom prst="triangle">
                <a:avLst/>
              </a:prstGeom>
              <a:blipFill>
                <a:blip r:embed="rId13"/>
                <a:stretch>
                  <a:fillRect/>
                </a:stretch>
              </a:blipFill>
              <a:ln>
                <a:solidFill>
                  <a:schemeClr val="tx1"/>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529395" y="6175065"/>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1</m:t>
                      </m:r>
                    </m:oMath>
                  </m:oMathPara>
                </a14:m>
                <a:endParaRPr lang="en-US" b="0" dirty="0"/>
              </a:p>
            </p:txBody>
          </p:sp>
        </mc:Choice>
        <mc:Fallback xmlns="">
          <p:sp>
            <p:nvSpPr>
              <p:cNvPr id="52" name="TextBox 51"/>
              <p:cNvSpPr txBox="1">
                <a:spLocks noRot="1" noChangeAspect="1" noMove="1" noResize="1" noEditPoints="1" noAdjustHandles="1" noChangeArrowheads="1" noChangeShapeType="1" noTextEdit="1"/>
              </p:cNvSpPr>
              <p:nvPr/>
            </p:nvSpPr>
            <p:spPr>
              <a:xfrm>
                <a:off x="7529395" y="6175065"/>
                <a:ext cx="800100" cy="369332"/>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9517926" y="6139471"/>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charset="0"/>
                        </a:rPr>
                        <m:t>−1</m:t>
                      </m:r>
                    </m:oMath>
                  </m:oMathPara>
                </a14:m>
                <a:endParaRPr lang="en-US" b="0" dirty="0"/>
              </a:p>
            </p:txBody>
          </p:sp>
        </mc:Choice>
        <mc:Fallback xmlns="">
          <p:sp>
            <p:nvSpPr>
              <p:cNvPr id="53" name="TextBox 52"/>
              <p:cNvSpPr txBox="1">
                <a:spLocks noRot="1" noChangeAspect="1" noMove="1" noResize="1" noEditPoints="1" noAdjustHandles="1" noChangeArrowheads="1" noChangeShapeType="1" noTextEdit="1"/>
              </p:cNvSpPr>
              <p:nvPr/>
            </p:nvSpPr>
            <p:spPr>
              <a:xfrm>
                <a:off x="9517926" y="6139471"/>
                <a:ext cx="800100" cy="369332"/>
              </a:xfrm>
              <a:prstGeom prst="rect">
                <a:avLst/>
              </a:prstGeom>
              <a:blipFill>
                <a:blip r:embed="rId15"/>
                <a:stretch>
                  <a:fillRect/>
                </a:stretch>
              </a:blipFill>
            </p:spPr>
            <p:txBody>
              <a:bodyPr/>
              <a:lstStyle/>
              <a:p>
                <a:r>
                  <a:rPr lang="en-GB">
                    <a:noFill/>
                  </a:rPr>
                  <a:t> </a:t>
                </a:r>
              </a:p>
            </p:txBody>
          </p:sp>
        </mc:Fallback>
      </mc:AlternateContent>
      <p:cxnSp>
        <p:nvCxnSpPr>
          <p:cNvPr id="56" name="Straight Arrow Connector 55"/>
          <p:cNvCxnSpPr/>
          <p:nvPr/>
        </p:nvCxnSpPr>
        <p:spPr>
          <a:xfrm>
            <a:off x="5584683" y="5108855"/>
            <a:ext cx="2793432" cy="0"/>
          </a:xfrm>
          <a:prstGeom prst="straightConnector1">
            <a:avLst/>
          </a:prstGeom>
          <a:ln w="28575">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0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528393" y="152402"/>
            <a:ext cx="9919476" cy="1604665"/>
          </a:xfrm>
        </p:spPr>
        <p:txBody>
          <a:bodyPr>
            <a:normAutofit/>
          </a:bodyPr>
          <a:lstStyle/>
          <a:p>
            <a:r>
              <a:rPr lang="en-US" dirty="0">
                <a:ea typeface="ＭＳ Ｐゴシック" pitchFamily="-107" charset="-128"/>
                <a:cs typeface="ＭＳ Ｐゴシック" pitchFamily="-107" charset="-128"/>
              </a:rPr>
              <a:t>Example: Coin Toss Game</a:t>
            </a:r>
            <a:br>
              <a:rPr lang="en-US" dirty="0">
                <a:ea typeface="ＭＳ Ｐゴシック" pitchFamily="-107" charset="-128"/>
                <a:cs typeface="ＭＳ Ｐゴシック" pitchFamily="-107" charset="-128"/>
              </a:rPr>
            </a:br>
            <a:r>
              <a:rPr lang="en-US" sz="2000" dirty="0">
                <a:ea typeface="ＭＳ Ｐゴシック" pitchFamily="-107" charset="-128"/>
                <a:cs typeface="ＭＳ Ｐゴシック" pitchFamily="-107" charset="-128"/>
              </a:rPr>
              <a:t>(example from Brown and </a:t>
            </a:r>
            <a:r>
              <a:rPr lang="en-US" sz="2000" dirty="0" err="1">
                <a:ea typeface="ＭＳ Ｐゴシック" pitchFamily="-107" charset="-128"/>
                <a:cs typeface="ＭＳ Ｐゴシック" pitchFamily="-107" charset="-128"/>
              </a:rPr>
              <a:t>Sandholm</a:t>
            </a:r>
            <a:r>
              <a:rPr lang="en-US" sz="2000" dirty="0">
                <a:ea typeface="ＭＳ Ｐゴシック" pitchFamily="-107" charset="-128"/>
                <a:cs typeface="ＭＳ Ｐゴシック" pitchFamily="-107" charset="-128"/>
              </a:rPr>
              <a:t> “Safe and Nested Subgame Solving for Imperfect-Information Games”, NIPS 2017)</a:t>
            </a:r>
            <a:endParaRPr lang="en-US" dirty="0">
              <a:ea typeface="ＭＳ Ｐゴシック" pitchFamily="-107" charset="-128"/>
              <a:cs typeface="ＭＳ Ｐゴシック" pitchFamily="-107" charset="-128"/>
            </a:endParaRPr>
          </a:p>
        </p:txBody>
      </p:sp>
      <mc:AlternateContent xmlns:mc="http://schemas.openxmlformats.org/markup-compatibility/2006" xmlns:a14="http://schemas.microsoft.com/office/drawing/2010/main">
        <mc:Choice Requires="a14">
          <p:sp>
            <p:nvSpPr>
              <p:cNvPr id="85" name="TextBox 84"/>
              <p:cNvSpPr txBox="1"/>
              <p:nvPr/>
            </p:nvSpPr>
            <p:spPr>
              <a:xfrm>
                <a:off x="553793" y="1748599"/>
                <a:ext cx="9919476" cy="2677656"/>
              </a:xfrm>
              <a:prstGeom prst="rect">
                <a:avLst/>
              </a:prstGeom>
              <a:noFill/>
            </p:spPr>
            <p:txBody>
              <a:bodyPr wrap="square" rtlCol="0">
                <a:spAutoFit/>
              </a:bodyPr>
              <a:lstStyle/>
              <a:p>
                <a:pPr marL="342891" indent="-342891">
                  <a:buFont typeface="Arial" charset="0"/>
                  <a:buChar char="•"/>
                </a:pPr>
                <a:r>
                  <a:rPr lang="en-US" sz="2800" dirty="0"/>
                  <a:t>We allow players to choose random strategies</a:t>
                </a:r>
              </a:p>
              <a:p>
                <a:pPr marL="342891" indent="-342891">
                  <a:buFont typeface="Arial" charset="0"/>
                  <a:buChar char="•"/>
                </a:pPr>
                <a:r>
                  <a:rPr lang="en-US" sz="2800" dirty="0"/>
                  <a:t>MIN’s optimal strategy depends on </a:t>
                </a:r>
                <a14:m>
                  <m:oMath xmlns:m="http://schemas.openxmlformats.org/officeDocument/2006/math">
                    <m:r>
                      <a:rPr lang="en-US" sz="2800" i="1">
                        <a:latin typeface="Cambria Math" charset="0"/>
                      </a:rPr>
                      <m:t>𝑟</m:t>
                    </m:r>
                  </m:oMath>
                </a14:m>
                <a:r>
                  <a:rPr lang="en-US" sz="2800" dirty="0"/>
                  <a:t> - a value outside MIN’s subtree! </a:t>
                </a:r>
                <a:br>
                  <a:rPr lang="en-US" sz="2800" dirty="0"/>
                </a:br>
                <a:r>
                  <a:rPr lang="en-US" sz="2800" i="1" dirty="0"/>
                  <a:t>“how desperate was MAX to let me play?”</a:t>
                </a:r>
              </a:p>
              <a:p>
                <a:pPr marL="342891" indent="-342891">
                  <a:buFont typeface="Arial" charset="0"/>
                  <a:buChar char="•"/>
                </a:pPr>
                <a:r>
                  <a:rPr lang="en-US" sz="2800" dirty="0"/>
                  <a:t>Computing optimal strategies in perfect information games: no need to know what happens outside your subtree! </a:t>
                </a:r>
              </a:p>
            </p:txBody>
          </p:sp>
        </mc:Choice>
        <mc:Fallback xmlns="">
          <p:sp>
            <p:nvSpPr>
              <p:cNvPr id="85" name="TextBox 84"/>
              <p:cNvSpPr txBox="1">
                <a:spLocks noRot="1" noChangeAspect="1" noMove="1" noResize="1" noEditPoints="1" noAdjustHandles="1" noChangeArrowheads="1" noChangeShapeType="1" noTextEdit="1"/>
              </p:cNvSpPr>
              <p:nvPr/>
            </p:nvSpPr>
            <p:spPr>
              <a:xfrm>
                <a:off x="553793" y="1748599"/>
                <a:ext cx="9919476" cy="2677656"/>
              </a:xfrm>
              <a:prstGeom prst="rect">
                <a:avLst/>
              </a:prstGeom>
              <a:blipFill>
                <a:blip r:embed="rId3"/>
                <a:stretch>
                  <a:fillRect l="-1023" t="-2358" r="-1407" b="-5189"/>
                </a:stretch>
              </a:blipFill>
            </p:spPr>
            <p:txBody>
              <a:bodyPr/>
              <a:lstStyle/>
              <a:p>
                <a:r>
                  <a:rPr lang="en-GB">
                    <a:noFill/>
                  </a:rPr>
                  <a:t> </a:t>
                </a:r>
              </a:p>
            </p:txBody>
          </p:sp>
        </mc:Fallback>
      </mc:AlternateContent>
    </p:spTree>
    <p:extLst>
      <p:ext uri="{BB962C8B-B14F-4D97-AF65-F5344CB8AC3E}">
        <p14:creationId xmlns:p14="http://schemas.microsoft.com/office/powerpoint/2010/main" val="74030743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dirty="0">
                <a:ea typeface="ＭＳ Ｐゴシック" pitchFamily="-107" charset="-128"/>
                <a:cs typeface="ＭＳ Ｐゴシック" pitchFamily="-107" charset="-128"/>
              </a:rPr>
              <a:t>The Little Black Book</a:t>
            </a:r>
          </a:p>
        </p:txBody>
      </p:sp>
      <p:sp>
        <p:nvSpPr>
          <p:cNvPr id="40963" name="Content Placeholder 6"/>
          <p:cNvSpPr>
            <a:spLocks noGrp="1"/>
          </p:cNvSpPr>
          <p:nvPr>
            <p:ph idx="1"/>
          </p:nvPr>
        </p:nvSpPr>
        <p:spPr>
          <a:xfrm>
            <a:off x="609600" y="1600200"/>
            <a:ext cx="9680448" cy="5257800"/>
          </a:xfrm>
        </p:spPr>
        <p:txBody>
          <a:bodyPr/>
          <a:lstStyle/>
          <a:p>
            <a:pPr>
              <a:spcBef>
                <a:spcPts val="1200"/>
              </a:spcBef>
            </a:pPr>
            <a:r>
              <a:rPr lang="en-US" sz="2800" dirty="0">
                <a:latin typeface="Corbel" panose="020B0503020204020204" pitchFamily="34" charset="0"/>
                <a:ea typeface="ＭＳ Ｐゴシック" pitchFamily="-107" charset="-128"/>
                <a:cs typeface="Times"/>
              </a:rPr>
              <a:t>Opening move search doesn’t result in useful utility estimates</a:t>
            </a:r>
          </a:p>
          <a:p>
            <a:pPr>
              <a:spcBef>
                <a:spcPts val="1200"/>
              </a:spcBef>
            </a:pPr>
            <a:r>
              <a:rPr lang="en-US" sz="2800" dirty="0">
                <a:latin typeface="Corbel" panose="020B0503020204020204" pitchFamily="34" charset="0"/>
                <a:ea typeface="ＭＳ Ｐゴシック" pitchFamily="-107" charset="-128"/>
                <a:cs typeface="Times"/>
              </a:rPr>
              <a:t>Applying evaluation functions on end game scenarios may not </a:t>
            </a:r>
            <a:r>
              <a:rPr lang="en-US" sz="2800" dirty="0">
                <a:solidFill>
                  <a:srgbClr val="FF0000"/>
                </a:solidFill>
                <a:latin typeface="Corbel" panose="020B0503020204020204" pitchFamily="34" charset="0"/>
                <a:ea typeface="ＭＳ Ｐゴシック" pitchFamily="-107" charset="-128"/>
                <a:cs typeface="Times"/>
              </a:rPr>
              <a:t>solve</a:t>
            </a:r>
            <a:r>
              <a:rPr lang="en-US" sz="2800" dirty="0">
                <a:latin typeface="Corbel" panose="020B0503020204020204" pitchFamily="34" charset="0"/>
                <a:ea typeface="ＭＳ Ｐゴシック" pitchFamily="-107" charset="-128"/>
                <a:cs typeface="Times"/>
              </a:rPr>
              <a:t> the game</a:t>
            </a:r>
          </a:p>
          <a:p>
            <a:pPr lvl="1">
              <a:spcBef>
                <a:spcPts val="1200"/>
              </a:spcBef>
            </a:pPr>
            <a:r>
              <a:rPr lang="en-US" sz="2400" dirty="0">
                <a:latin typeface="Corbel" panose="020B0503020204020204" pitchFamily="34" charset="0"/>
                <a:cs typeface="Times"/>
              </a:rPr>
              <a:t>Western chess KRK end game</a:t>
            </a:r>
            <a:endParaRPr lang="en-US" sz="2800" dirty="0">
              <a:latin typeface="Corbel" panose="020B0503020204020204" pitchFamily="34" charset="0"/>
              <a:ea typeface="ＭＳ Ｐゴシック" pitchFamily="-107" charset="-128"/>
              <a:cs typeface="Times"/>
            </a:endParaRPr>
          </a:p>
          <a:p>
            <a:pPr>
              <a:spcBef>
                <a:spcPts val="1200"/>
              </a:spcBef>
            </a:pPr>
            <a:r>
              <a:rPr lang="en-US" sz="2800" dirty="0">
                <a:latin typeface="Corbel" panose="020B0503020204020204" pitchFamily="34" charset="0"/>
                <a:ea typeface="ＭＳ Ｐゴシック" pitchFamily="-107" charset="-128"/>
                <a:cs typeface="Times"/>
              </a:rPr>
              <a:t>Use a </a:t>
            </a:r>
            <a:r>
              <a:rPr lang="en-US" sz="2800" dirty="0">
                <a:solidFill>
                  <a:srgbClr val="FF0000"/>
                </a:solidFill>
                <a:latin typeface="Corbel" panose="020B0503020204020204" pitchFamily="34" charset="0"/>
                <a:ea typeface="ＭＳ Ｐゴシック" pitchFamily="-107" charset="-128"/>
                <a:cs typeface="Times"/>
              </a:rPr>
              <a:t>policy</a:t>
            </a:r>
            <a:r>
              <a:rPr lang="en-US" sz="2800" dirty="0">
                <a:latin typeface="Corbel" panose="020B0503020204020204" pitchFamily="34" charset="0"/>
                <a:ea typeface="ＭＳ Ｐゴシック" pitchFamily="-107" charset="-128"/>
                <a:cs typeface="Times"/>
              </a:rPr>
              <a:t> or lookup table (taken from expert knowledge or previous game history)</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itle 1"/>
          <p:cNvSpPr>
            <a:spLocks noGrp="1"/>
          </p:cNvSpPr>
          <p:nvPr>
            <p:ph type="title"/>
          </p:nvPr>
        </p:nvSpPr>
        <p:spPr/>
        <p:txBody>
          <a:bodyPr/>
          <a:lstStyle/>
          <a:p>
            <a:pPr eaLnBrk="1" hangingPunct="1"/>
            <a:r>
              <a:rPr lang="en-US">
                <a:ea typeface="ＭＳ Ｐゴシック" pitchFamily="-107" charset="-128"/>
                <a:cs typeface="ＭＳ Ｐゴシック" pitchFamily="-107" charset="-128"/>
              </a:rPr>
              <a:t>Horizon Effect</a:t>
            </a:r>
          </a:p>
        </p:txBody>
      </p:sp>
      <p:sp>
        <p:nvSpPr>
          <p:cNvPr id="39940" name="Content Placeholder 6"/>
          <p:cNvSpPr>
            <a:spLocks noGrp="1"/>
          </p:cNvSpPr>
          <p:nvPr>
            <p:ph sz="half" idx="1"/>
          </p:nvPr>
        </p:nvSpPr>
        <p:spPr>
          <a:xfrm>
            <a:off x="6096000" y="1600200"/>
            <a:ext cx="3962400" cy="5257800"/>
          </a:xfrm>
        </p:spPr>
        <p:txBody>
          <a:bodyPr>
            <a:normAutofit/>
          </a:bodyPr>
          <a:lstStyle/>
          <a:p>
            <a:pPr>
              <a:spcBef>
                <a:spcPts val="1200"/>
              </a:spcBef>
            </a:pPr>
            <a:r>
              <a:rPr lang="en-US" dirty="0">
                <a:latin typeface="Corbel" panose="020B0503020204020204" pitchFamily="34" charset="0"/>
                <a:ea typeface="ＭＳ Ｐゴシック" pitchFamily="-107" charset="-128"/>
                <a:cs typeface="Times"/>
              </a:rPr>
              <a:t>An unavoidable damaging move is beyond the current search limit</a:t>
            </a:r>
          </a:p>
          <a:p>
            <a:pPr>
              <a:spcBef>
                <a:spcPts val="1200"/>
              </a:spcBef>
            </a:pPr>
            <a:r>
              <a:rPr lang="en-US" dirty="0">
                <a:latin typeface="Corbel" panose="020B0503020204020204" pitchFamily="34" charset="0"/>
                <a:ea typeface="ＭＳ Ｐゴシック" pitchFamily="-107" charset="-128"/>
                <a:cs typeface="Times"/>
              </a:rPr>
              <a:t>Add </a:t>
            </a:r>
            <a:r>
              <a:rPr lang="en-US" dirty="0">
                <a:solidFill>
                  <a:srgbClr val="FF0000"/>
                </a:solidFill>
                <a:latin typeface="Corbel" panose="020B0503020204020204" pitchFamily="34" charset="0"/>
                <a:ea typeface="ＭＳ Ｐゴシック" pitchFamily="-107" charset="-128"/>
                <a:cs typeface="Times"/>
              </a:rPr>
              <a:t>quiescence </a:t>
            </a:r>
            <a:r>
              <a:rPr lang="en-US" dirty="0">
                <a:latin typeface="Corbel" panose="020B0503020204020204" pitchFamily="34" charset="0"/>
                <a:ea typeface="ＭＳ Ｐゴシック" pitchFamily="-107" charset="-128"/>
                <a:cs typeface="Times"/>
              </a:rPr>
              <a:t>search</a:t>
            </a:r>
          </a:p>
          <a:p>
            <a:pPr lvl="1">
              <a:spcBef>
                <a:spcPts val="1200"/>
              </a:spcBef>
            </a:pPr>
            <a:r>
              <a:rPr lang="en-US" dirty="0">
                <a:latin typeface="Corbel" panose="020B0503020204020204" pitchFamily="34" charset="0"/>
                <a:cs typeface="Times"/>
              </a:rPr>
              <a:t>Evaluate moves that will make evaluation function fluctuate more wildly</a:t>
            </a:r>
          </a:p>
        </p:txBody>
      </p:sp>
      <p:sp>
        <p:nvSpPr>
          <p:cNvPr id="39985" name="TextBox 70"/>
          <p:cNvSpPr txBox="1">
            <a:spLocks noChangeArrowheads="1"/>
          </p:cNvSpPr>
          <p:nvPr/>
        </p:nvSpPr>
        <p:spPr bwMode="auto">
          <a:xfrm>
            <a:off x="2286000" y="5791202"/>
            <a:ext cx="3703258" cy="307777"/>
          </a:xfrm>
          <a:prstGeom prst="rect">
            <a:avLst/>
          </a:prstGeom>
          <a:noFill/>
          <a:ln w="9525">
            <a:noFill/>
            <a:miter lim="800000"/>
            <a:headEnd/>
            <a:tailEnd/>
          </a:ln>
        </p:spPr>
        <p:txBody>
          <a:bodyPr wrap="none">
            <a:prstTxWarp prst="textNoShape">
              <a:avLst/>
            </a:prstTxWarp>
            <a:spAutoFit/>
          </a:bodyPr>
          <a:lstStyle/>
          <a:p>
            <a:pPr eaLnBrk="0" hangingPunct="0"/>
            <a:r>
              <a:rPr lang="en-US" sz="1400" dirty="0">
                <a:latin typeface="Corbel" panose="020B0503020204020204" pitchFamily="34" charset="0"/>
                <a:cs typeface="Times"/>
              </a:rPr>
              <a:t>Black will lose the bishop at some point forward</a:t>
            </a:r>
          </a:p>
        </p:txBody>
      </p:sp>
      <p:pic>
        <p:nvPicPr>
          <p:cNvPr id="48" name="Picture 47" descr="horizon.eps"/>
          <p:cNvPicPr>
            <a:picLocks noChangeAspect="1"/>
          </p:cNvPicPr>
          <p:nvPr/>
        </p:nvPicPr>
        <p:blipFill>
          <a:blip r:embed="rId3"/>
          <a:stretch>
            <a:fillRect/>
          </a:stretch>
        </p:blipFill>
        <p:spPr>
          <a:xfrm>
            <a:off x="2133600" y="1752601"/>
            <a:ext cx="3962400" cy="4009292"/>
          </a:xfrm>
          <a:prstGeom prst="rect">
            <a:avLst/>
          </a:prstGeom>
        </p:spPr>
      </p:pic>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ACCB73-7D4D-DF43-B371-D6BFCCE82D40}"/>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ctr">
              <a:buNone/>
            </a:pPr>
            <a:r>
              <a:rPr lang="en-US" dirty="0"/>
              <a:t>END OF FILE</a:t>
            </a:r>
          </a:p>
        </p:txBody>
      </p:sp>
    </p:spTree>
    <p:extLst>
      <p:ext uri="{BB962C8B-B14F-4D97-AF65-F5344CB8AC3E}">
        <p14:creationId xmlns:p14="http://schemas.microsoft.com/office/powerpoint/2010/main" val="4045940610"/>
      </p:ext>
    </p:extLst>
  </p:cSld>
  <p:clrMapOvr>
    <a:masterClrMapping/>
  </p:clrMapOvr>
  <p:timing>
    <p:tnLst>
      <p:par>
        <p:cTn id="1" dur="indefinite" restart="never" nodeType="tmRoot"/>
      </p:par>
    </p:tnLst>
  </p:timing>
</p:sld>
</file>

<file path=ppt/theme/theme1.xml><?xml version="1.0" encoding="utf-8"?>
<a:theme xmlns:a="http://schemas.openxmlformats.org/drawingml/2006/main" name="CS2106">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S2106" id="{BD053D78-7E81-2946-8F60-5F5E7270001E}" vid="{FFFE8269-1513-0D47-BC36-75E38BB2E4D5}"/>
    </a:ext>
  </a:extLst>
</a:theme>
</file>

<file path=ppt/theme/theme2.xml><?xml version="1.0" encoding="utf-8"?>
<a:theme xmlns:a="http://schemas.openxmlformats.org/drawingml/2006/main" name="L1 - Basic of C++">
  <a:themeElements>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L1 - Basic of C++">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1 - Basic of C++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L1 - Basic of C++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L1 - Basic of C++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L1 - Basic of C++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L1 - Basic of C++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CS2106</Template>
  <TotalTime>17778</TotalTime>
  <Words>4947</Words>
  <Application>Microsoft Office PowerPoint</Application>
  <PresentationFormat>Widescreen</PresentationFormat>
  <Paragraphs>881</Paragraphs>
  <Slides>58</Slides>
  <Notes>53</Notes>
  <HiddenSlides>0</HiddenSlides>
  <MMClips>0</MMClips>
  <ScaleCrop>false</ScaleCrop>
  <HeadingPairs>
    <vt:vector size="6" baseType="variant">
      <vt:variant>
        <vt:lpstr>Fonts Used</vt:lpstr>
      </vt:variant>
      <vt:variant>
        <vt:i4>16</vt:i4>
      </vt:variant>
      <vt:variant>
        <vt:lpstr>Theme</vt:lpstr>
      </vt:variant>
      <vt:variant>
        <vt:i4>3</vt:i4>
      </vt:variant>
      <vt:variant>
        <vt:lpstr>Slide Titles</vt:lpstr>
      </vt:variant>
      <vt:variant>
        <vt:i4>58</vt:i4>
      </vt:variant>
    </vt:vector>
  </HeadingPairs>
  <TitlesOfParts>
    <vt:vector size="77" baseType="lpstr">
      <vt:lpstr>ＭＳ Ｐゴシック</vt:lpstr>
      <vt:lpstr>SimSun</vt:lpstr>
      <vt:lpstr>Aharoni</vt:lpstr>
      <vt:lpstr>Arial</vt:lpstr>
      <vt:lpstr>Arial Black</vt:lpstr>
      <vt:lpstr>Calibri</vt:lpstr>
      <vt:lpstr>Calibri Light</vt:lpstr>
      <vt:lpstr>Cambria Math</vt:lpstr>
      <vt:lpstr>Corbel</vt:lpstr>
      <vt:lpstr>Corbel Regular</vt:lpstr>
      <vt:lpstr>Garamond</vt:lpstr>
      <vt:lpstr>Stencil</vt:lpstr>
      <vt:lpstr>Tahoma</vt:lpstr>
      <vt:lpstr>Times</vt:lpstr>
      <vt:lpstr>Wingdings</vt:lpstr>
      <vt:lpstr>Wingdings 2</vt:lpstr>
      <vt:lpstr>CS2106</vt:lpstr>
      <vt:lpstr>L1 - Basic of C++</vt:lpstr>
      <vt:lpstr>HDOfficeLightV0</vt:lpstr>
      <vt:lpstr>IT5005 Artificial Intelligence</vt:lpstr>
      <vt:lpstr>LOCAL SEARCH</vt:lpstr>
      <vt:lpstr>Local Search Algorithms</vt:lpstr>
      <vt:lpstr>Example: n-queens</vt:lpstr>
      <vt:lpstr>PowerPoint Presentation</vt:lpstr>
      <vt:lpstr>Hill-Climbing Search</vt:lpstr>
      <vt:lpstr>Hill-Climbing Search: 8-Queens</vt:lpstr>
      <vt:lpstr>Hill-Climbing Search</vt:lpstr>
      <vt:lpstr>Hill-Climbing Search: 8-Queens</vt:lpstr>
      <vt:lpstr>Adversarial Search</vt:lpstr>
      <vt:lpstr>AI vs. Human Players: the State of the Art</vt:lpstr>
      <vt:lpstr>AI vs. Human Players: the State of the Art</vt:lpstr>
      <vt:lpstr>AI vs. Human Players: the State of the Art</vt:lpstr>
      <vt:lpstr>Deterministic Games in Practice</vt:lpstr>
      <vt:lpstr>Outline</vt:lpstr>
      <vt:lpstr>Games vs. Search Problems</vt:lpstr>
      <vt:lpstr>Let’s Play!</vt:lpstr>
      <vt:lpstr>Game: Problem Formulation</vt:lpstr>
      <vt:lpstr>Game: Problem Formulation</vt:lpstr>
      <vt:lpstr>Game: Problem Formulation</vt:lpstr>
      <vt:lpstr>Game Tree  (2-Player, Deterministic, Turn-Taking)</vt:lpstr>
      <vt:lpstr>Example : Game of NIM</vt:lpstr>
      <vt:lpstr>Player Strategies</vt:lpstr>
      <vt:lpstr>Winning Strategy</vt:lpstr>
      <vt:lpstr>Optimal Strategy at Node - Minimax</vt:lpstr>
      <vt:lpstr>Minimax Play (Subperfect Nash Equilibrium)</vt:lpstr>
      <vt:lpstr>Minimax Play (Subperfect Nash Equilibrium)</vt:lpstr>
      <vt:lpstr>Minimax Play (Subperfect Nash Equilibrium)</vt:lpstr>
      <vt:lpstr>Minimax Play (Subperfect Nash Equilibrium)</vt:lpstr>
      <vt:lpstr>Minimax Play (Subperfect Nash Equilibrium)</vt:lpstr>
      <vt:lpstr>Backwards Induction</vt:lpstr>
      <vt:lpstr>α-β Pruning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α-β Pruning</vt:lpstr>
      <vt:lpstr>Summary: α-β Pruning Algorithm</vt:lpstr>
      <vt:lpstr>Time Limit</vt:lpstr>
      <vt:lpstr>Heuristic Minimax Value</vt:lpstr>
      <vt:lpstr>Evaluation Functions</vt:lpstr>
      <vt:lpstr>Evaluation Functions</vt:lpstr>
      <vt:lpstr>Evaluation Functions</vt:lpstr>
      <vt:lpstr>Evaluation Functions</vt:lpstr>
      <vt:lpstr>Evaluation Functions</vt:lpstr>
      <vt:lpstr>Cutting Off Search</vt:lpstr>
      <vt:lpstr>Stochastic Games</vt:lpstr>
      <vt:lpstr>Adding Chance Layers</vt:lpstr>
      <vt:lpstr>Example: Coin Toss Game (example from Brown and Sandholm “Safe and Nested Subgame Solving for Imperfect-Information Games”, NIPS 2017)</vt:lpstr>
      <vt:lpstr>Example: Coin Toss Game (example from Brown and Sandholm “Safe and Nested Subgame Solving for Imperfect-Information Games”, NIPS 2017)</vt:lpstr>
      <vt:lpstr>Example: Coin Toss Game (example from Brown and Sandholm “Safe and Nested Subgame Solving for Imperfect-Information Games”, NIPS 2017)</vt:lpstr>
      <vt:lpstr>The Little Black Book</vt:lpstr>
      <vt:lpstr>Horizon Effect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Adipranoto</dc:creator>
  <cp:lastModifiedBy>Tan Keng Yan, Colin</cp:lastModifiedBy>
  <cp:revision>491</cp:revision>
  <dcterms:created xsi:type="dcterms:W3CDTF">2022-01-23T09:22:42Z</dcterms:created>
  <dcterms:modified xsi:type="dcterms:W3CDTF">2023-03-06T12:53:15Z</dcterms:modified>
</cp:coreProperties>
</file>